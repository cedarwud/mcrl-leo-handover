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29"/>
  </p:notesMasterIdLst>
  <p:sldIdLst>
    <p:sldId id="1741" r:id="rId2"/>
    <p:sldId id="257" r:id="rId3"/>
    <p:sldId id="258" r:id="rId4"/>
    <p:sldId id="259" r:id="rId5"/>
    <p:sldId id="260" r:id="rId6"/>
    <p:sldId id="261" r:id="rId7"/>
    <p:sldId id="262" r:id="rId8"/>
    <p:sldId id="263" r:id="rId9"/>
    <p:sldId id="264" r:id="rId10"/>
    <p:sldId id="1743" r:id="rId11"/>
    <p:sldId id="1744" r:id="rId12"/>
    <p:sldId id="266" r:id="rId13"/>
    <p:sldId id="1742" r:id="rId14"/>
    <p:sldId id="268" r:id="rId15"/>
    <p:sldId id="269" r:id="rId16"/>
    <p:sldId id="270" r:id="rId17"/>
    <p:sldId id="271" r:id="rId18"/>
    <p:sldId id="272" r:id="rId19"/>
    <p:sldId id="273" r:id="rId20"/>
    <p:sldId id="1745" r:id="rId21"/>
    <p:sldId id="275" r:id="rId22"/>
    <p:sldId id="276" r:id="rId23"/>
    <p:sldId id="1746" r:id="rId24"/>
    <p:sldId id="278" r:id="rId25"/>
    <p:sldId id="279" r:id="rId26"/>
    <p:sldId id="280" r:id="rId27"/>
    <p:sldId id="282" r:id="rId28"/>
  </p:sldIdLst>
  <p:sldSz cx="12192000" cy="6858000"/>
  <p:notesSz cx="7104063" cy="10234613"/>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0000"/>
    <a:srgbClr val="5169CF"/>
    <a:srgbClr val="A1A1A1"/>
    <a:srgbClr val="5F75D3"/>
    <a:srgbClr val="EFA52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3E01225-43B0-411C-B95D-840C0E9300F8}" v="168" dt="2026-08-26T03:55:46.352"/>
    <p1510:client id="{A6DE686A-2DA1-42BA-9870-673647521EA0}" v="17" dt="2026-08-26T12:44:41.906"/>
  </p1510:revLst>
</p1510:revInfo>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中等深淺樣式 4 - 輔色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5DA37D80-6434-44D0-A028-1B22A696006F}" styleName="淺色樣式 3 - 輔色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346" autoAdjust="0"/>
    <p:restoredTop sz="76848" autoAdjust="0"/>
  </p:normalViewPr>
  <p:slideViewPr>
    <p:cSldViewPr snapToGrid="0">
      <p:cViewPr varScale="1">
        <p:scale>
          <a:sx n="95" d="100"/>
          <a:sy n="95" d="100"/>
        </p:scale>
        <p:origin x="101" y="72"/>
      </p:cViewPr>
      <p:guideLst/>
    </p:cSldViewPr>
  </p:slideViewPr>
  <p:notesTextViewPr>
    <p:cViewPr>
      <p:scale>
        <a:sx n="150" d="100"/>
        <a:sy n="150" d="100"/>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柏宏 吳" userId="4ce1f5e9156e18f0" providerId="LiveId" clId="{77D9D4B7-D214-42D7-95E8-9F07D2B636ED}"/>
    <pc:docChg chg="undo custSel addSld delSld modSld">
      <pc:chgData name="柏宏 吳" userId="4ce1f5e9156e18f0" providerId="LiveId" clId="{77D9D4B7-D214-42D7-95E8-9F07D2B636ED}" dt="2026-08-26T12:44:41.905" v="929"/>
      <pc:docMkLst>
        <pc:docMk/>
      </pc:docMkLst>
      <pc:sldChg chg="delSp modSp mod">
        <pc:chgData name="柏宏 吳" userId="4ce1f5e9156e18f0" providerId="LiveId" clId="{77D9D4B7-D214-42D7-95E8-9F07D2B636ED}" dt="2026-08-26T01:46:25.678" v="601" actId="478"/>
        <pc:sldMkLst>
          <pc:docMk/>
          <pc:sldMk cId="0" sldId="257"/>
        </pc:sldMkLst>
        <pc:spChg chg="del">
          <ac:chgData name="柏宏 吳" userId="4ce1f5e9156e18f0" providerId="LiveId" clId="{77D9D4B7-D214-42D7-95E8-9F07D2B636ED}" dt="2026-08-26T01:46:25.678" v="601" actId="478"/>
          <ac:spMkLst>
            <pc:docMk/>
            <pc:sldMk cId="0" sldId="257"/>
            <ac:spMk id="4" creationId="{00000000-0000-0000-0000-000000000000}"/>
          </ac:spMkLst>
        </pc:spChg>
        <pc:spChg chg="mod">
          <ac:chgData name="柏宏 吳" userId="4ce1f5e9156e18f0" providerId="LiveId" clId="{77D9D4B7-D214-42D7-95E8-9F07D2B636ED}" dt="2026-08-23T08:55:01.166" v="4" actId="14100"/>
          <ac:spMkLst>
            <pc:docMk/>
            <pc:sldMk cId="0" sldId="257"/>
            <ac:spMk id="5" creationId="{00000000-0000-0000-0000-000000000000}"/>
          </ac:spMkLst>
        </pc:spChg>
        <pc:picChg chg="mod">
          <ac:chgData name="柏宏 吳" userId="4ce1f5e9156e18f0" providerId="LiveId" clId="{77D9D4B7-D214-42D7-95E8-9F07D2B636ED}" dt="2026-08-23T08:55:05.710" v="6" actId="1076"/>
          <ac:picMkLst>
            <pc:docMk/>
            <pc:sldMk cId="0" sldId="257"/>
            <ac:picMk id="6" creationId="{00000000-0000-0000-0000-000000000000}"/>
          </ac:picMkLst>
        </pc:picChg>
      </pc:sldChg>
      <pc:sldChg chg="delSp modSp mod">
        <pc:chgData name="柏宏 吳" userId="4ce1f5e9156e18f0" providerId="LiveId" clId="{77D9D4B7-D214-42D7-95E8-9F07D2B636ED}" dt="2026-08-26T01:46:24.535" v="600" actId="478"/>
        <pc:sldMkLst>
          <pc:docMk/>
          <pc:sldMk cId="0" sldId="258"/>
        </pc:sldMkLst>
        <pc:spChg chg="del">
          <ac:chgData name="柏宏 吳" userId="4ce1f5e9156e18f0" providerId="LiveId" clId="{77D9D4B7-D214-42D7-95E8-9F07D2B636ED}" dt="2026-08-26T01:46:24.535" v="600" actId="478"/>
          <ac:spMkLst>
            <pc:docMk/>
            <pc:sldMk cId="0" sldId="258"/>
            <ac:spMk id="3" creationId="{00000000-0000-0000-0000-000000000000}"/>
          </ac:spMkLst>
        </pc:spChg>
        <pc:spChg chg="mod">
          <ac:chgData name="柏宏 吳" userId="4ce1f5e9156e18f0" providerId="LiveId" clId="{77D9D4B7-D214-42D7-95E8-9F07D2B636ED}" dt="2026-08-23T08:55:27.829" v="38" actId="1037"/>
          <ac:spMkLst>
            <pc:docMk/>
            <pc:sldMk cId="0" sldId="258"/>
            <ac:spMk id="5" creationId="{00000000-0000-0000-0000-000000000000}"/>
          </ac:spMkLst>
        </pc:spChg>
        <pc:spChg chg="mod">
          <ac:chgData name="柏宏 吳" userId="4ce1f5e9156e18f0" providerId="LiveId" clId="{77D9D4B7-D214-42D7-95E8-9F07D2B636ED}" dt="2026-08-23T08:55:27.829" v="38" actId="1037"/>
          <ac:spMkLst>
            <pc:docMk/>
            <pc:sldMk cId="0" sldId="258"/>
            <ac:spMk id="6" creationId="{00000000-0000-0000-0000-000000000000}"/>
          </ac:spMkLst>
        </pc:spChg>
        <pc:spChg chg="mod">
          <ac:chgData name="柏宏 吳" userId="4ce1f5e9156e18f0" providerId="LiveId" clId="{77D9D4B7-D214-42D7-95E8-9F07D2B636ED}" dt="2026-08-23T08:55:27.829" v="38" actId="1037"/>
          <ac:spMkLst>
            <pc:docMk/>
            <pc:sldMk cId="0" sldId="258"/>
            <ac:spMk id="8" creationId="{00000000-0000-0000-0000-000000000000}"/>
          </ac:spMkLst>
        </pc:spChg>
        <pc:spChg chg="mod">
          <ac:chgData name="柏宏 吳" userId="4ce1f5e9156e18f0" providerId="LiveId" clId="{77D9D4B7-D214-42D7-95E8-9F07D2B636ED}" dt="2026-08-23T08:55:27.829" v="38" actId="1037"/>
          <ac:spMkLst>
            <pc:docMk/>
            <pc:sldMk cId="0" sldId="258"/>
            <ac:spMk id="10" creationId="{00000000-0000-0000-0000-000000000000}"/>
          </ac:spMkLst>
        </pc:spChg>
        <pc:spChg chg="mod">
          <ac:chgData name="柏宏 吳" userId="4ce1f5e9156e18f0" providerId="LiveId" clId="{77D9D4B7-D214-42D7-95E8-9F07D2B636ED}" dt="2026-08-23T08:55:27.829" v="38" actId="1037"/>
          <ac:spMkLst>
            <pc:docMk/>
            <pc:sldMk cId="0" sldId="258"/>
            <ac:spMk id="12" creationId="{00000000-0000-0000-0000-000000000000}"/>
          </ac:spMkLst>
        </pc:spChg>
        <pc:cxnChg chg="mod">
          <ac:chgData name="柏宏 吳" userId="4ce1f5e9156e18f0" providerId="LiveId" clId="{77D9D4B7-D214-42D7-95E8-9F07D2B636ED}" dt="2026-08-23T08:55:27.829" v="38" actId="1037"/>
          <ac:cxnSpMkLst>
            <pc:docMk/>
            <pc:sldMk cId="0" sldId="258"/>
            <ac:cxnSpMk id="7" creationId="{00000000-0000-0000-0000-000000000000}"/>
          </ac:cxnSpMkLst>
        </pc:cxnChg>
        <pc:cxnChg chg="mod">
          <ac:chgData name="柏宏 吳" userId="4ce1f5e9156e18f0" providerId="LiveId" clId="{77D9D4B7-D214-42D7-95E8-9F07D2B636ED}" dt="2026-08-23T08:55:27.829" v="38" actId="1037"/>
          <ac:cxnSpMkLst>
            <pc:docMk/>
            <pc:sldMk cId="0" sldId="258"/>
            <ac:cxnSpMk id="9" creationId="{00000000-0000-0000-0000-000000000000}"/>
          </ac:cxnSpMkLst>
        </pc:cxnChg>
        <pc:cxnChg chg="mod">
          <ac:chgData name="柏宏 吳" userId="4ce1f5e9156e18f0" providerId="LiveId" clId="{77D9D4B7-D214-42D7-95E8-9F07D2B636ED}" dt="2026-08-23T08:55:27.829" v="38" actId="1037"/>
          <ac:cxnSpMkLst>
            <pc:docMk/>
            <pc:sldMk cId="0" sldId="258"/>
            <ac:cxnSpMk id="11" creationId="{00000000-0000-0000-0000-000000000000}"/>
          </ac:cxnSpMkLst>
        </pc:cxnChg>
        <pc:cxnChg chg="mod">
          <ac:chgData name="柏宏 吳" userId="4ce1f5e9156e18f0" providerId="LiveId" clId="{77D9D4B7-D214-42D7-95E8-9F07D2B636ED}" dt="2026-08-23T08:55:27.829" v="38" actId="1037"/>
          <ac:cxnSpMkLst>
            <pc:docMk/>
            <pc:sldMk cId="0" sldId="258"/>
            <ac:cxnSpMk id="13" creationId="{00000000-0000-0000-0000-000000000000}"/>
          </ac:cxnSpMkLst>
        </pc:cxnChg>
      </pc:sldChg>
      <pc:sldChg chg="delSp modSp mod">
        <pc:chgData name="柏宏 吳" userId="4ce1f5e9156e18f0" providerId="LiveId" clId="{77D9D4B7-D214-42D7-95E8-9F07D2B636ED}" dt="2026-08-26T01:46:23.464" v="599" actId="478"/>
        <pc:sldMkLst>
          <pc:docMk/>
          <pc:sldMk cId="0" sldId="259"/>
        </pc:sldMkLst>
        <pc:spChg chg="del">
          <ac:chgData name="柏宏 吳" userId="4ce1f5e9156e18f0" providerId="LiveId" clId="{77D9D4B7-D214-42D7-95E8-9F07D2B636ED}" dt="2026-08-26T01:46:23.464" v="599" actId="478"/>
          <ac:spMkLst>
            <pc:docMk/>
            <pc:sldMk cId="0" sldId="259"/>
            <ac:spMk id="3" creationId="{00000000-0000-0000-0000-000000000000}"/>
          </ac:spMkLst>
        </pc:spChg>
        <pc:spChg chg="mod">
          <ac:chgData name="柏宏 吳" userId="4ce1f5e9156e18f0" providerId="LiveId" clId="{77D9D4B7-D214-42D7-95E8-9F07D2B636ED}" dt="2026-08-23T09:06:16.755" v="400" actId="1036"/>
          <ac:spMkLst>
            <pc:docMk/>
            <pc:sldMk cId="0" sldId="259"/>
            <ac:spMk id="5" creationId="{00000000-0000-0000-0000-000000000000}"/>
          </ac:spMkLst>
        </pc:spChg>
        <pc:spChg chg="mod">
          <ac:chgData name="柏宏 吳" userId="4ce1f5e9156e18f0" providerId="LiveId" clId="{77D9D4B7-D214-42D7-95E8-9F07D2B636ED}" dt="2026-08-23T09:06:16.755" v="400" actId="1036"/>
          <ac:spMkLst>
            <pc:docMk/>
            <pc:sldMk cId="0" sldId="259"/>
            <ac:spMk id="6" creationId="{00000000-0000-0000-0000-000000000000}"/>
          </ac:spMkLst>
        </pc:spChg>
        <pc:spChg chg="mod">
          <ac:chgData name="柏宏 吳" userId="4ce1f5e9156e18f0" providerId="LiveId" clId="{77D9D4B7-D214-42D7-95E8-9F07D2B636ED}" dt="2026-08-23T09:06:16.755" v="400" actId="1036"/>
          <ac:spMkLst>
            <pc:docMk/>
            <pc:sldMk cId="0" sldId="259"/>
            <ac:spMk id="7" creationId="{00000000-0000-0000-0000-000000000000}"/>
          </ac:spMkLst>
        </pc:spChg>
        <pc:spChg chg="mod">
          <ac:chgData name="柏宏 吳" userId="4ce1f5e9156e18f0" providerId="LiveId" clId="{77D9D4B7-D214-42D7-95E8-9F07D2B636ED}" dt="2026-08-23T08:56:09.223" v="107" actId="1036"/>
          <ac:spMkLst>
            <pc:docMk/>
            <pc:sldMk cId="0" sldId="259"/>
            <ac:spMk id="8" creationId="{00000000-0000-0000-0000-000000000000}"/>
          </ac:spMkLst>
        </pc:spChg>
        <pc:spChg chg="mod">
          <ac:chgData name="柏宏 吳" userId="4ce1f5e9156e18f0" providerId="LiveId" clId="{77D9D4B7-D214-42D7-95E8-9F07D2B636ED}" dt="2026-08-23T08:56:07.228" v="93" actId="1035"/>
          <ac:spMkLst>
            <pc:docMk/>
            <pc:sldMk cId="0" sldId="259"/>
            <ac:spMk id="9" creationId="{00000000-0000-0000-0000-000000000000}"/>
          </ac:spMkLst>
        </pc:spChg>
      </pc:sldChg>
      <pc:sldChg chg="delSp modSp mod">
        <pc:chgData name="柏宏 吳" userId="4ce1f5e9156e18f0" providerId="LiveId" clId="{77D9D4B7-D214-42D7-95E8-9F07D2B636ED}" dt="2026-08-26T01:46:22.273" v="598" actId="478"/>
        <pc:sldMkLst>
          <pc:docMk/>
          <pc:sldMk cId="0" sldId="260"/>
        </pc:sldMkLst>
        <pc:spChg chg="del">
          <ac:chgData name="柏宏 吳" userId="4ce1f5e9156e18f0" providerId="LiveId" clId="{77D9D4B7-D214-42D7-95E8-9F07D2B636ED}" dt="2026-08-26T01:46:22.273" v="598" actId="478"/>
          <ac:spMkLst>
            <pc:docMk/>
            <pc:sldMk cId="0" sldId="260"/>
            <ac:spMk id="4" creationId="{00000000-0000-0000-0000-000000000000}"/>
          </ac:spMkLst>
        </pc:spChg>
        <pc:spChg chg="mod">
          <ac:chgData name="柏宏 吳" userId="4ce1f5e9156e18f0" providerId="LiveId" clId="{77D9D4B7-D214-42D7-95E8-9F07D2B636ED}" dt="2026-08-23T08:56:21.963" v="109" actId="1076"/>
          <ac:spMkLst>
            <pc:docMk/>
            <pc:sldMk cId="0" sldId="260"/>
            <ac:spMk id="8" creationId="{00000000-0000-0000-0000-000000000000}"/>
          </ac:spMkLst>
        </pc:spChg>
      </pc:sldChg>
      <pc:sldChg chg="delSp modSp mod">
        <pc:chgData name="柏宏 吳" userId="4ce1f5e9156e18f0" providerId="LiveId" clId="{77D9D4B7-D214-42D7-95E8-9F07D2B636ED}" dt="2026-08-26T01:46:20.779" v="597" actId="478"/>
        <pc:sldMkLst>
          <pc:docMk/>
          <pc:sldMk cId="0" sldId="261"/>
        </pc:sldMkLst>
        <pc:spChg chg="del">
          <ac:chgData name="柏宏 吳" userId="4ce1f5e9156e18f0" providerId="LiveId" clId="{77D9D4B7-D214-42D7-95E8-9F07D2B636ED}" dt="2026-08-26T01:46:20.779" v="597" actId="478"/>
          <ac:spMkLst>
            <pc:docMk/>
            <pc:sldMk cId="0" sldId="261"/>
            <ac:spMk id="3" creationId="{00000000-0000-0000-0000-000000000000}"/>
          </ac:spMkLst>
        </pc:spChg>
        <pc:spChg chg="mod">
          <ac:chgData name="柏宏 吳" userId="4ce1f5e9156e18f0" providerId="LiveId" clId="{77D9D4B7-D214-42D7-95E8-9F07D2B636ED}" dt="2026-08-23T08:56:39.617" v="134" actId="1037"/>
          <ac:spMkLst>
            <pc:docMk/>
            <pc:sldMk cId="0" sldId="261"/>
            <ac:spMk id="6" creationId="{00000000-0000-0000-0000-000000000000}"/>
          </ac:spMkLst>
        </pc:spChg>
        <pc:spChg chg="mod">
          <ac:chgData name="柏宏 吳" userId="4ce1f5e9156e18f0" providerId="LiveId" clId="{77D9D4B7-D214-42D7-95E8-9F07D2B636ED}" dt="2026-08-23T08:56:39.617" v="134" actId="1037"/>
          <ac:spMkLst>
            <pc:docMk/>
            <pc:sldMk cId="0" sldId="261"/>
            <ac:spMk id="7" creationId="{00000000-0000-0000-0000-000000000000}"/>
          </ac:spMkLst>
        </pc:spChg>
        <pc:spChg chg="mod">
          <ac:chgData name="柏宏 吳" userId="4ce1f5e9156e18f0" providerId="LiveId" clId="{77D9D4B7-D214-42D7-95E8-9F07D2B636ED}" dt="2026-08-23T08:56:32.269" v="121" actId="1035"/>
          <ac:spMkLst>
            <pc:docMk/>
            <pc:sldMk cId="0" sldId="261"/>
            <ac:spMk id="9" creationId="{00000000-0000-0000-0000-000000000000}"/>
          </ac:spMkLst>
        </pc:spChg>
      </pc:sldChg>
      <pc:sldChg chg="delSp modSp mod">
        <pc:chgData name="柏宏 吳" userId="4ce1f5e9156e18f0" providerId="LiveId" clId="{77D9D4B7-D214-42D7-95E8-9F07D2B636ED}" dt="2026-08-26T03:11:08.283" v="616" actId="1036"/>
        <pc:sldMkLst>
          <pc:docMk/>
          <pc:sldMk cId="0" sldId="262"/>
        </pc:sldMkLst>
        <pc:spChg chg="del">
          <ac:chgData name="柏宏 吳" userId="4ce1f5e9156e18f0" providerId="LiveId" clId="{77D9D4B7-D214-42D7-95E8-9F07D2B636ED}" dt="2026-08-26T01:46:19.545" v="596" actId="478"/>
          <ac:spMkLst>
            <pc:docMk/>
            <pc:sldMk cId="0" sldId="262"/>
            <ac:spMk id="3" creationId="{00000000-0000-0000-0000-000000000000}"/>
          </ac:spMkLst>
        </pc:spChg>
        <pc:spChg chg="mod">
          <ac:chgData name="柏宏 吳" userId="4ce1f5e9156e18f0" providerId="LiveId" clId="{77D9D4B7-D214-42D7-95E8-9F07D2B636ED}" dt="2026-08-23T08:56:58.227" v="174" actId="1035"/>
          <ac:spMkLst>
            <pc:docMk/>
            <pc:sldMk cId="0" sldId="262"/>
            <ac:spMk id="5" creationId="{00000000-0000-0000-0000-000000000000}"/>
          </ac:spMkLst>
        </pc:spChg>
        <pc:spChg chg="mod">
          <ac:chgData name="柏宏 吳" userId="4ce1f5e9156e18f0" providerId="LiveId" clId="{77D9D4B7-D214-42D7-95E8-9F07D2B636ED}" dt="2026-08-23T08:56:56.505" v="168" actId="1035"/>
          <ac:spMkLst>
            <pc:docMk/>
            <pc:sldMk cId="0" sldId="262"/>
            <ac:spMk id="6" creationId="{00000000-0000-0000-0000-000000000000}"/>
          </ac:spMkLst>
        </pc:spChg>
        <pc:spChg chg="mod">
          <ac:chgData name="柏宏 吳" userId="4ce1f5e9156e18f0" providerId="LiveId" clId="{77D9D4B7-D214-42D7-95E8-9F07D2B636ED}" dt="2026-08-26T03:11:08.283" v="616" actId="1036"/>
          <ac:spMkLst>
            <pc:docMk/>
            <pc:sldMk cId="0" sldId="262"/>
            <ac:spMk id="7" creationId="{00000000-0000-0000-0000-000000000000}"/>
          </ac:spMkLst>
        </pc:spChg>
        <pc:spChg chg="mod">
          <ac:chgData name="柏宏 吳" userId="4ce1f5e9156e18f0" providerId="LiveId" clId="{77D9D4B7-D214-42D7-95E8-9F07D2B636ED}" dt="2026-08-23T08:56:53.089" v="161" actId="1036"/>
          <ac:spMkLst>
            <pc:docMk/>
            <pc:sldMk cId="0" sldId="262"/>
            <ac:spMk id="8" creationId="{00000000-0000-0000-0000-000000000000}"/>
          </ac:spMkLst>
        </pc:spChg>
      </pc:sldChg>
      <pc:sldChg chg="delSp modSp mod">
        <pc:chgData name="柏宏 吳" userId="4ce1f5e9156e18f0" providerId="LiveId" clId="{77D9D4B7-D214-42D7-95E8-9F07D2B636ED}" dt="2026-08-26T01:46:18.433" v="595" actId="478"/>
        <pc:sldMkLst>
          <pc:docMk/>
          <pc:sldMk cId="0" sldId="263"/>
        </pc:sldMkLst>
        <pc:spChg chg="del">
          <ac:chgData name="柏宏 吳" userId="4ce1f5e9156e18f0" providerId="LiveId" clId="{77D9D4B7-D214-42D7-95E8-9F07D2B636ED}" dt="2026-08-26T01:46:18.433" v="595" actId="478"/>
          <ac:spMkLst>
            <pc:docMk/>
            <pc:sldMk cId="0" sldId="263"/>
            <ac:spMk id="4" creationId="{00000000-0000-0000-0000-000000000000}"/>
          </ac:spMkLst>
        </pc:spChg>
        <pc:spChg chg="mod">
          <ac:chgData name="柏宏 吳" userId="4ce1f5e9156e18f0" providerId="LiveId" clId="{77D9D4B7-D214-42D7-95E8-9F07D2B636ED}" dt="2026-08-23T08:57:09.678" v="177" actId="1076"/>
          <ac:spMkLst>
            <pc:docMk/>
            <pc:sldMk cId="0" sldId="263"/>
            <ac:spMk id="8" creationId="{00000000-0000-0000-0000-000000000000}"/>
          </ac:spMkLst>
        </pc:spChg>
      </pc:sldChg>
      <pc:sldChg chg="addSp delSp modSp mod">
        <pc:chgData name="柏宏 吳" userId="4ce1f5e9156e18f0" providerId="LiveId" clId="{77D9D4B7-D214-42D7-95E8-9F07D2B636ED}" dt="2026-08-26T01:46:17.046" v="594"/>
        <pc:sldMkLst>
          <pc:docMk/>
          <pc:sldMk cId="0" sldId="264"/>
        </pc:sldMkLst>
        <pc:spChg chg="del">
          <ac:chgData name="柏宏 吳" userId="4ce1f5e9156e18f0" providerId="LiveId" clId="{77D9D4B7-D214-42D7-95E8-9F07D2B636ED}" dt="2026-08-26T01:46:16.023" v="591" actId="478"/>
          <ac:spMkLst>
            <pc:docMk/>
            <pc:sldMk cId="0" sldId="264"/>
            <ac:spMk id="3" creationId="{00000000-0000-0000-0000-000000000000}"/>
          </ac:spMkLst>
        </pc:spChg>
        <pc:spChg chg="mod">
          <ac:chgData name="柏宏 吳" userId="4ce1f5e9156e18f0" providerId="LiveId" clId="{77D9D4B7-D214-42D7-95E8-9F07D2B636ED}" dt="2026-08-25T15:13:12.159" v="468" actId="14100"/>
          <ac:spMkLst>
            <pc:docMk/>
            <pc:sldMk cId="0" sldId="264"/>
            <ac:spMk id="4" creationId="{00000000-0000-0000-0000-000000000000}"/>
          </ac:spMkLst>
        </pc:spChg>
        <pc:spChg chg="add del mod">
          <ac:chgData name="柏宏 吳" userId="4ce1f5e9156e18f0" providerId="LiveId" clId="{77D9D4B7-D214-42D7-95E8-9F07D2B636ED}" dt="2026-08-26T01:46:17.046" v="594"/>
          <ac:spMkLst>
            <pc:docMk/>
            <pc:sldMk cId="0" sldId="264"/>
            <ac:spMk id="5" creationId="{9FD3F754-C6E5-8BC6-CAF9-D05A1D0971F3}"/>
          </ac:spMkLst>
        </pc:spChg>
        <pc:spChg chg="mod">
          <ac:chgData name="柏宏 吳" userId="4ce1f5e9156e18f0" providerId="LiveId" clId="{77D9D4B7-D214-42D7-95E8-9F07D2B636ED}" dt="2026-08-25T12:27:58.587" v="457" actId="1076"/>
          <ac:spMkLst>
            <pc:docMk/>
            <pc:sldMk cId="0" sldId="264"/>
            <ac:spMk id="6" creationId="{00000000-0000-0000-0000-000000000000}"/>
          </ac:spMkLst>
        </pc:spChg>
        <pc:spChg chg="mod">
          <ac:chgData name="柏宏 吳" userId="4ce1f5e9156e18f0" providerId="LiveId" clId="{77D9D4B7-D214-42D7-95E8-9F07D2B636ED}" dt="2026-08-23T08:57:40.236" v="201" actId="1038"/>
          <ac:spMkLst>
            <pc:docMk/>
            <pc:sldMk cId="0" sldId="264"/>
            <ac:spMk id="7" creationId="{00000000-0000-0000-0000-000000000000}"/>
          </ac:spMkLst>
        </pc:spChg>
        <pc:picChg chg="del mod">
          <ac:chgData name="柏宏 吳" userId="4ce1f5e9156e18f0" providerId="LiveId" clId="{77D9D4B7-D214-42D7-95E8-9F07D2B636ED}" dt="2026-08-25T15:12:24.955" v="459" actId="478"/>
          <ac:picMkLst>
            <pc:docMk/>
            <pc:sldMk cId="0" sldId="264"/>
            <ac:picMk id="5" creationId="{00000000-0000-0000-0000-000000000000}"/>
          </ac:picMkLst>
        </pc:picChg>
        <pc:picChg chg="add del mod">
          <ac:chgData name="柏宏 吳" userId="4ce1f5e9156e18f0" providerId="LiveId" clId="{77D9D4B7-D214-42D7-95E8-9F07D2B636ED}" dt="2026-08-25T15:12:58.547" v="462" actId="478"/>
          <ac:picMkLst>
            <pc:docMk/>
            <pc:sldMk cId="0" sldId="264"/>
            <ac:picMk id="9" creationId="{F76F884E-9DF9-2556-BF38-E099968BA53B}"/>
          </ac:picMkLst>
        </pc:picChg>
        <pc:picChg chg="add mod">
          <ac:chgData name="柏宏 吳" userId="4ce1f5e9156e18f0" providerId="LiveId" clId="{77D9D4B7-D214-42D7-95E8-9F07D2B636ED}" dt="2026-08-25T15:13:13.963" v="469" actId="1076"/>
          <ac:picMkLst>
            <pc:docMk/>
            <pc:sldMk cId="0" sldId="264"/>
            <ac:picMk id="11" creationId="{00E92AC8-FF0D-68A4-C708-7EB2DAD9C9C0}"/>
          </ac:picMkLst>
        </pc:picChg>
      </pc:sldChg>
      <pc:sldChg chg="modSp del mod">
        <pc:chgData name="柏宏 吳" userId="4ce1f5e9156e18f0" providerId="LiveId" clId="{77D9D4B7-D214-42D7-95E8-9F07D2B636ED}" dt="2026-08-26T01:31:56.656" v="471" actId="47"/>
        <pc:sldMkLst>
          <pc:docMk/>
          <pc:sldMk cId="0" sldId="265"/>
        </pc:sldMkLst>
      </pc:sldChg>
      <pc:sldChg chg="delSp modSp mod">
        <pc:chgData name="柏宏 吳" userId="4ce1f5e9156e18f0" providerId="LiveId" clId="{77D9D4B7-D214-42D7-95E8-9F07D2B636ED}" dt="2026-08-26T03:58:06.854" v="863" actId="1036"/>
        <pc:sldMkLst>
          <pc:docMk/>
          <pc:sldMk cId="0" sldId="266"/>
        </pc:sldMkLst>
        <pc:spChg chg="del">
          <ac:chgData name="柏宏 吳" userId="4ce1f5e9156e18f0" providerId="LiveId" clId="{77D9D4B7-D214-42D7-95E8-9F07D2B636ED}" dt="2026-08-26T01:46:12.622" v="589" actId="478"/>
          <ac:spMkLst>
            <pc:docMk/>
            <pc:sldMk cId="0" sldId="266"/>
            <ac:spMk id="4" creationId="{00000000-0000-0000-0000-000000000000}"/>
          </ac:spMkLst>
        </pc:spChg>
        <pc:spChg chg="mod">
          <ac:chgData name="柏宏 吳" userId="4ce1f5e9156e18f0" providerId="LiveId" clId="{77D9D4B7-D214-42D7-95E8-9F07D2B636ED}" dt="2026-08-26T03:58:06.854" v="863" actId="1036"/>
          <ac:spMkLst>
            <pc:docMk/>
            <pc:sldMk cId="0" sldId="266"/>
            <ac:spMk id="6" creationId="{00000000-0000-0000-0000-000000000000}"/>
          </ac:spMkLst>
        </pc:spChg>
        <pc:spChg chg="mod">
          <ac:chgData name="柏宏 吳" userId="4ce1f5e9156e18f0" providerId="LiveId" clId="{77D9D4B7-D214-42D7-95E8-9F07D2B636ED}" dt="2026-08-26T03:58:06.854" v="863" actId="1036"/>
          <ac:spMkLst>
            <pc:docMk/>
            <pc:sldMk cId="0" sldId="266"/>
            <ac:spMk id="7" creationId="{00000000-0000-0000-0000-000000000000}"/>
          </ac:spMkLst>
        </pc:spChg>
        <pc:spChg chg="mod">
          <ac:chgData name="柏宏 吳" userId="4ce1f5e9156e18f0" providerId="LiveId" clId="{77D9D4B7-D214-42D7-95E8-9F07D2B636ED}" dt="2026-08-23T08:58:07.211" v="237" actId="1035"/>
          <ac:spMkLst>
            <pc:docMk/>
            <pc:sldMk cId="0" sldId="266"/>
            <ac:spMk id="8" creationId="{00000000-0000-0000-0000-000000000000}"/>
          </ac:spMkLst>
        </pc:spChg>
      </pc:sldChg>
      <pc:sldChg chg="delSp modSp mod">
        <pc:chgData name="柏宏 吳" userId="4ce1f5e9156e18f0" providerId="LiveId" clId="{77D9D4B7-D214-42D7-95E8-9F07D2B636ED}" dt="2026-08-26T01:46:09.546" v="587" actId="478"/>
        <pc:sldMkLst>
          <pc:docMk/>
          <pc:sldMk cId="0" sldId="268"/>
        </pc:sldMkLst>
        <pc:spChg chg="del">
          <ac:chgData name="柏宏 吳" userId="4ce1f5e9156e18f0" providerId="LiveId" clId="{77D9D4B7-D214-42D7-95E8-9F07D2B636ED}" dt="2026-08-26T01:46:09.546" v="587" actId="478"/>
          <ac:spMkLst>
            <pc:docMk/>
            <pc:sldMk cId="0" sldId="268"/>
            <ac:spMk id="4" creationId="{00000000-0000-0000-0000-000000000000}"/>
          </ac:spMkLst>
        </pc:spChg>
        <pc:spChg chg="mod">
          <ac:chgData name="柏宏 吳" userId="4ce1f5e9156e18f0" providerId="LiveId" clId="{77D9D4B7-D214-42D7-95E8-9F07D2B636ED}" dt="2026-08-26T01:44:40.745" v="571" actId="1035"/>
          <ac:spMkLst>
            <pc:docMk/>
            <pc:sldMk cId="0" sldId="268"/>
            <ac:spMk id="7" creationId="{00000000-0000-0000-0000-000000000000}"/>
          </ac:spMkLst>
        </pc:spChg>
        <pc:spChg chg="mod">
          <ac:chgData name="柏宏 吳" userId="4ce1f5e9156e18f0" providerId="LiveId" clId="{77D9D4B7-D214-42D7-95E8-9F07D2B636ED}" dt="2026-08-23T08:58:25.701" v="239" actId="1076"/>
          <ac:spMkLst>
            <pc:docMk/>
            <pc:sldMk cId="0" sldId="268"/>
            <ac:spMk id="8" creationId="{00000000-0000-0000-0000-000000000000}"/>
          </ac:spMkLst>
        </pc:spChg>
      </pc:sldChg>
      <pc:sldChg chg="delSp modSp mod">
        <pc:chgData name="柏宏 吳" userId="4ce1f5e9156e18f0" providerId="LiveId" clId="{77D9D4B7-D214-42D7-95E8-9F07D2B636ED}" dt="2026-08-26T01:46:08.467" v="586" actId="478"/>
        <pc:sldMkLst>
          <pc:docMk/>
          <pc:sldMk cId="0" sldId="269"/>
        </pc:sldMkLst>
        <pc:spChg chg="del">
          <ac:chgData name="柏宏 吳" userId="4ce1f5e9156e18f0" providerId="LiveId" clId="{77D9D4B7-D214-42D7-95E8-9F07D2B636ED}" dt="2026-08-26T01:46:08.467" v="586" actId="478"/>
          <ac:spMkLst>
            <pc:docMk/>
            <pc:sldMk cId="0" sldId="269"/>
            <ac:spMk id="4" creationId="{00000000-0000-0000-0000-000000000000}"/>
          </ac:spMkLst>
        </pc:spChg>
        <pc:spChg chg="mod">
          <ac:chgData name="柏宏 吳" userId="4ce1f5e9156e18f0" providerId="LiveId" clId="{77D9D4B7-D214-42D7-95E8-9F07D2B636ED}" dt="2026-08-23T08:58:38.517" v="241" actId="1076"/>
          <ac:spMkLst>
            <pc:docMk/>
            <pc:sldMk cId="0" sldId="269"/>
            <ac:spMk id="9" creationId="{00000000-0000-0000-0000-000000000000}"/>
          </ac:spMkLst>
        </pc:spChg>
      </pc:sldChg>
      <pc:sldChg chg="delSp modSp mod">
        <pc:chgData name="柏宏 吳" userId="4ce1f5e9156e18f0" providerId="LiveId" clId="{77D9D4B7-D214-42D7-95E8-9F07D2B636ED}" dt="2026-08-26T01:46:06.917" v="585" actId="478"/>
        <pc:sldMkLst>
          <pc:docMk/>
          <pc:sldMk cId="0" sldId="270"/>
        </pc:sldMkLst>
        <pc:spChg chg="del">
          <ac:chgData name="柏宏 吳" userId="4ce1f5e9156e18f0" providerId="LiveId" clId="{77D9D4B7-D214-42D7-95E8-9F07D2B636ED}" dt="2026-08-26T01:46:06.917" v="585" actId="478"/>
          <ac:spMkLst>
            <pc:docMk/>
            <pc:sldMk cId="0" sldId="270"/>
            <ac:spMk id="3" creationId="{00000000-0000-0000-0000-000000000000}"/>
          </ac:spMkLst>
        </pc:spChg>
        <pc:spChg chg="mod">
          <ac:chgData name="柏宏 吳" userId="4ce1f5e9156e18f0" providerId="LiveId" clId="{77D9D4B7-D214-42D7-95E8-9F07D2B636ED}" dt="2026-08-26T01:43:49.136" v="562"/>
          <ac:spMkLst>
            <pc:docMk/>
            <pc:sldMk cId="0" sldId="270"/>
            <ac:spMk id="10" creationId="{00000000-0000-0000-0000-000000000000}"/>
          </ac:spMkLst>
        </pc:spChg>
      </pc:sldChg>
      <pc:sldChg chg="addSp delSp modSp mod">
        <pc:chgData name="柏宏 吳" userId="4ce1f5e9156e18f0" providerId="LiveId" clId="{77D9D4B7-D214-42D7-95E8-9F07D2B636ED}" dt="2026-08-26T09:11:17.352" v="879" actId="1035"/>
        <pc:sldMkLst>
          <pc:docMk/>
          <pc:sldMk cId="0" sldId="271"/>
        </pc:sldMkLst>
        <pc:spChg chg="del">
          <ac:chgData name="柏宏 吳" userId="4ce1f5e9156e18f0" providerId="LiveId" clId="{77D9D4B7-D214-42D7-95E8-9F07D2B636ED}" dt="2026-08-26T01:46:05.903" v="584" actId="478"/>
          <ac:spMkLst>
            <pc:docMk/>
            <pc:sldMk cId="0" sldId="271"/>
            <ac:spMk id="4" creationId="{00000000-0000-0000-0000-000000000000}"/>
          </ac:spMkLst>
        </pc:spChg>
        <pc:spChg chg="mod">
          <ac:chgData name="柏宏 吳" userId="4ce1f5e9156e18f0" providerId="LiveId" clId="{77D9D4B7-D214-42D7-95E8-9F07D2B636ED}" dt="2026-08-26T03:14:50.200" v="664"/>
          <ac:spMkLst>
            <pc:docMk/>
            <pc:sldMk cId="0" sldId="271"/>
            <ac:spMk id="5" creationId="{00000000-0000-0000-0000-000000000000}"/>
          </ac:spMkLst>
        </pc:spChg>
        <pc:spChg chg="mod">
          <ac:chgData name="柏宏 吳" userId="4ce1f5e9156e18f0" providerId="LiveId" clId="{77D9D4B7-D214-42D7-95E8-9F07D2B636ED}" dt="2026-08-26T09:11:17.352" v="879" actId="1035"/>
          <ac:spMkLst>
            <pc:docMk/>
            <pc:sldMk cId="0" sldId="271"/>
            <ac:spMk id="7" creationId="{00000000-0000-0000-0000-000000000000}"/>
          </ac:spMkLst>
        </pc:spChg>
        <pc:spChg chg="add mod">
          <ac:chgData name="柏宏 吳" userId="4ce1f5e9156e18f0" providerId="LiveId" clId="{77D9D4B7-D214-42D7-95E8-9F07D2B636ED}" dt="2026-08-26T09:11:04.156" v="869" actId="122"/>
          <ac:spMkLst>
            <pc:docMk/>
            <pc:sldMk cId="0" sldId="271"/>
            <ac:spMk id="9" creationId="{62FCFC50-EBF7-F4A1-7F3B-CA6A321669A6}"/>
          </ac:spMkLst>
        </pc:spChg>
      </pc:sldChg>
      <pc:sldChg chg="delSp modSp mod">
        <pc:chgData name="柏宏 吳" userId="4ce1f5e9156e18f0" providerId="LiveId" clId="{77D9D4B7-D214-42D7-95E8-9F07D2B636ED}" dt="2026-08-26T01:46:04.763" v="583" actId="478"/>
        <pc:sldMkLst>
          <pc:docMk/>
          <pc:sldMk cId="0" sldId="272"/>
        </pc:sldMkLst>
        <pc:spChg chg="del">
          <ac:chgData name="柏宏 吳" userId="4ce1f5e9156e18f0" providerId="LiveId" clId="{77D9D4B7-D214-42D7-95E8-9F07D2B636ED}" dt="2026-08-26T01:46:04.763" v="583" actId="478"/>
          <ac:spMkLst>
            <pc:docMk/>
            <pc:sldMk cId="0" sldId="272"/>
            <ac:spMk id="3" creationId="{00000000-0000-0000-0000-000000000000}"/>
          </ac:spMkLst>
        </pc:spChg>
        <pc:spChg chg="mod">
          <ac:chgData name="柏宏 吳" userId="4ce1f5e9156e18f0" providerId="LiveId" clId="{77D9D4B7-D214-42D7-95E8-9F07D2B636ED}" dt="2026-08-23T10:28:47.340" v="441"/>
          <ac:spMkLst>
            <pc:docMk/>
            <pc:sldMk cId="0" sldId="272"/>
            <ac:spMk id="5" creationId="{00000000-0000-0000-0000-000000000000}"/>
          </ac:spMkLst>
        </pc:spChg>
        <pc:spChg chg="mod">
          <ac:chgData name="柏宏 吳" userId="4ce1f5e9156e18f0" providerId="LiveId" clId="{77D9D4B7-D214-42D7-95E8-9F07D2B636ED}" dt="2026-08-23T10:28:50.628" v="442"/>
          <ac:spMkLst>
            <pc:docMk/>
            <pc:sldMk cId="0" sldId="272"/>
            <ac:spMk id="6" creationId="{00000000-0000-0000-0000-000000000000}"/>
          </ac:spMkLst>
        </pc:spChg>
        <pc:spChg chg="mod">
          <ac:chgData name="柏宏 吳" userId="4ce1f5e9156e18f0" providerId="LiveId" clId="{77D9D4B7-D214-42D7-95E8-9F07D2B636ED}" dt="2026-08-23T08:59:07.481" v="315" actId="1035"/>
          <ac:spMkLst>
            <pc:docMk/>
            <pc:sldMk cId="0" sldId="272"/>
            <ac:spMk id="7" creationId="{00000000-0000-0000-0000-000000000000}"/>
          </ac:spMkLst>
        </pc:spChg>
      </pc:sldChg>
      <pc:sldChg chg="delSp modSp mod">
        <pc:chgData name="柏宏 吳" userId="4ce1f5e9156e18f0" providerId="LiveId" clId="{77D9D4B7-D214-42D7-95E8-9F07D2B636ED}" dt="2026-08-26T01:46:03.707" v="582" actId="478"/>
        <pc:sldMkLst>
          <pc:docMk/>
          <pc:sldMk cId="0" sldId="273"/>
        </pc:sldMkLst>
        <pc:spChg chg="del">
          <ac:chgData name="柏宏 吳" userId="4ce1f5e9156e18f0" providerId="LiveId" clId="{77D9D4B7-D214-42D7-95E8-9F07D2B636ED}" dt="2026-08-26T01:46:03.707" v="582" actId="478"/>
          <ac:spMkLst>
            <pc:docMk/>
            <pc:sldMk cId="0" sldId="273"/>
            <ac:spMk id="4" creationId="{00000000-0000-0000-0000-000000000000}"/>
          </ac:spMkLst>
        </pc:spChg>
        <pc:spChg chg="mod">
          <ac:chgData name="柏宏 吳" userId="4ce1f5e9156e18f0" providerId="LiveId" clId="{77D9D4B7-D214-42D7-95E8-9F07D2B636ED}" dt="2026-08-23T08:59:15.016" v="333" actId="1035"/>
          <ac:spMkLst>
            <pc:docMk/>
            <pc:sldMk cId="0" sldId="273"/>
            <ac:spMk id="7" creationId="{00000000-0000-0000-0000-000000000000}"/>
          </ac:spMkLst>
        </pc:spChg>
      </pc:sldChg>
      <pc:sldChg chg="delSp modSp del mod">
        <pc:chgData name="柏宏 吳" userId="4ce1f5e9156e18f0" providerId="LiveId" clId="{77D9D4B7-D214-42D7-95E8-9F07D2B636ED}" dt="2026-08-26T03:16:02.968" v="672" actId="47"/>
        <pc:sldMkLst>
          <pc:docMk/>
          <pc:sldMk cId="0" sldId="274"/>
        </pc:sldMkLst>
        <pc:spChg chg="del">
          <ac:chgData name="柏宏 吳" userId="4ce1f5e9156e18f0" providerId="LiveId" clId="{77D9D4B7-D214-42D7-95E8-9F07D2B636ED}" dt="2026-08-26T01:46:02.591" v="581" actId="478"/>
          <ac:spMkLst>
            <pc:docMk/>
            <pc:sldMk cId="0" sldId="274"/>
            <ac:spMk id="4" creationId="{00000000-0000-0000-0000-000000000000}"/>
          </ac:spMkLst>
        </pc:spChg>
      </pc:sldChg>
      <pc:sldChg chg="delSp modSp mod">
        <pc:chgData name="柏宏 吳" userId="4ce1f5e9156e18f0" providerId="LiveId" clId="{77D9D4B7-D214-42D7-95E8-9F07D2B636ED}" dt="2026-08-26T03:25:02.428" v="704"/>
        <pc:sldMkLst>
          <pc:docMk/>
          <pc:sldMk cId="0" sldId="275"/>
        </pc:sldMkLst>
        <pc:spChg chg="del">
          <ac:chgData name="柏宏 吳" userId="4ce1f5e9156e18f0" providerId="LiveId" clId="{77D9D4B7-D214-42D7-95E8-9F07D2B636ED}" dt="2026-08-26T01:46:01.443" v="580" actId="478"/>
          <ac:spMkLst>
            <pc:docMk/>
            <pc:sldMk cId="0" sldId="275"/>
            <ac:spMk id="4" creationId="{00000000-0000-0000-0000-000000000000}"/>
          </ac:spMkLst>
        </pc:spChg>
        <pc:spChg chg="mod">
          <ac:chgData name="柏宏 吳" userId="4ce1f5e9156e18f0" providerId="LiveId" clId="{77D9D4B7-D214-42D7-95E8-9F07D2B636ED}" dt="2026-08-23T10:24:50.755" v="438"/>
          <ac:spMkLst>
            <pc:docMk/>
            <pc:sldMk cId="0" sldId="275"/>
            <ac:spMk id="6" creationId="{00000000-0000-0000-0000-000000000000}"/>
          </ac:spMkLst>
        </pc:spChg>
        <pc:spChg chg="mod">
          <ac:chgData name="柏宏 吳" userId="4ce1f5e9156e18f0" providerId="LiveId" clId="{77D9D4B7-D214-42D7-95E8-9F07D2B636ED}" dt="2026-08-26T03:25:02.428" v="704"/>
          <ac:spMkLst>
            <pc:docMk/>
            <pc:sldMk cId="0" sldId="275"/>
            <ac:spMk id="12" creationId="{00000000-0000-0000-0000-000000000000}"/>
          </ac:spMkLst>
        </pc:spChg>
      </pc:sldChg>
      <pc:sldChg chg="delSp modSp mod">
        <pc:chgData name="柏宏 吳" userId="4ce1f5e9156e18f0" providerId="LiveId" clId="{77D9D4B7-D214-42D7-95E8-9F07D2B636ED}" dt="2026-08-26T03:26:48.213" v="706"/>
        <pc:sldMkLst>
          <pc:docMk/>
          <pc:sldMk cId="0" sldId="276"/>
        </pc:sldMkLst>
        <pc:spChg chg="del">
          <ac:chgData name="柏宏 吳" userId="4ce1f5e9156e18f0" providerId="LiveId" clId="{77D9D4B7-D214-42D7-95E8-9F07D2B636ED}" dt="2026-08-26T01:46:00.479" v="579" actId="478"/>
          <ac:spMkLst>
            <pc:docMk/>
            <pc:sldMk cId="0" sldId="276"/>
            <ac:spMk id="3" creationId="{00000000-0000-0000-0000-000000000000}"/>
          </ac:spMkLst>
        </pc:spChg>
        <pc:spChg chg="mod">
          <ac:chgData name="柏宏 吳" userId="4ce1f5e9156e18f0" providerId="LiveId" clId="{77D9D4B7-D214-42D7-95E8-9F07D2B636ED}" dt="2026-08-26T03:26:48.213" v="706"/>
          <ac:spMkLst>
            <pc:docMk/>
            <pc:sldMk cId="0" sldId="276"/>
            <ac:spMk id="4" creationId="{00000000-0000-0000-0000-000000000000}"/>
          </ac:spMkLst>
        </pc:spChg>
        <pc:spChg chg="mod">
          <ac:chgData name="柏宏 吳" userId="4ce1f5e9156e18f0" providerId="LiveId" clId="{77D9D4B7-D214-42D7-95E8-9F07D2B636ED}" dt="2026-08-26T03:25:56.837" v="705"/>
          <ac:spMkLst>
            <pc:docMk/>
            <pc:sldMk cId="0" sldId="276"/>
            <ac:spMk id="6" creationId="{00000000-0000-0000-0000-000000000000}"/>
          </ac:spMkLst>
        </pc:spChg>
      </pc:sldChg>
      <pc:sldChg chg="delSp modSp del mod">
        <pc:chgData name="柏宏 吳" userId="4ce1f5e9156e18f0" providerId="LiveId" clId="{77D9D4B7-D214-42D7-95E8-9F07D2B636ED}" dt="2026-08-26T03:27:36.147" v="708" actId="47"/>
        <pc:sldMkLst>
          <pc:docMk/>
          <pc:sldMk cId="0" sldId="277"/>
        </pc:sldMkLst>
        <pc:spChg chg="del">
          <ac:chgData name="柏宏 吳" userId="4ce1f5e9156e18f0" providerId="LiveId" clId="{77D9D4B7-D214-42D7-95E8-9F07D2B636ED}" dt="2026-08-26T01:45:59.188" v="578" actId="478"/>
          <ac:spMkLst>
            <pc:docMk/>
            <pc:sldMk cId="0" sldId="277"/>
            <ac:spMk id="4" creationId="{00000000-0000-0000-0000-000000000000}"/>
          </ac:spMkLst>
        </pc:spChg>
      </pc:sldChg>
      <pc:sldChg chg="delSp mod">
        <pc:chgData name="柏宏 吳" userId="4ce1f5e9156e18f0" providerId="LiveId" clId="{77D9D4B7-D214-42D7-95E8-9F07D2B636ED}" dt="2026-08-26T01:45:57.910" v="577" actId="478"/>
        <pc:sldMkLst>
          <pc:docMk/>
          <pc:sldMk cId="0" sldId="278"/>
        </pc:sldMkLst>
        <pc:spChg chg="del">
          <ac:chgData name="柏宏 吳" userId="4ce1f5e9156e18f0" providerId="LiveId" clId="{77D9D4B7-D214-42D7-95E8-9F07D2B636ED}" dt="2026-08-26T01:45:57.910" v="577" actId="478"/>
          <ac:spMkLst>
            <pc:docMk/>
            <pc:sldMk cId="0" sldId="278"/>
            <ac:spMk id="4" creationId="{00000000-0000-0000-0000-000000000000}"/>
          </ac:spMkLst>
        </pc:spChg>
      </pc:sldChg>
      <pc:sldChg chg="delSp modSp mod">
        <pc:chgData name="柏宏 吳" userId="4ce1f5e9156e18f0" providerId="LiveId" clId="{77D9D4B7-D214-42D7-95E8-9F07D2B636ED}" dt="2026-08-26T03:50:18.148" v="842" actId="1035"/>
        <pc:sldMkLst>
          <pc:docMk/>
          <pc:sldMk cId="0" sldId="279"/>
        </pc:sldMkLst>
        <pc:spChg chg="del">
          <ac:chgData name="柏宏 吳" userId="4ce1f5e9156e18f0" providerId="LiveId" clId="{77D9D4B7-D214-42D7-95E8-9F07D2B636ED}" dt="2026-08-26T01:45:56.638" v="576" actId="478"/>
          <ac:spMkLst>
            <pc:docMk/>
            <pc:sldMk cId="0" sldId="279"/>
            <ac:spMk id="4" creationId="{00000000-0000-0000-0000-000000000000}"/>
          </ac:spMkLst>
        </pc:spChg>
        <pc:spChg chg="mod">
          <ac:chgData name="柏宏 吳" userId="4ce1f5e9156e18f0" providerId="LiveId" clId="{77D9D4B7-D214-42D7-95E8-9F07D2B636ED}" dt="2026-08-26T03:50:05.860" v="831" actId="20577"/>
          <ac:spMkLst>
            <pc:docMk/>
            <pc:sldMk cId="0" sldId="279"/>
            <ac:spMk id="6" creationId="{00000000-0000-0000-0000-000000000000}"/>
          </ac:spMkLst>
        </pc:spChg>
        <pc:spChg chg="mod">
          <ac:chgData name="柏宏 吳" userId="4ce1f5e9156e18f0" providerId="LiveId" clId="{77D9D4B7-D214-42D7-95E8-9F07D2B636ED}" dt="2026-08-26T03:50:18.148" v="842" actId="1035"/>
          <ac:spMkLst>
            <pc:docMk/>
            <pc:sldMk cId="0" sldId="279"/>
            <ac:spMk id="8" creationId="{00000000-0000-0000-0000-000000000000}"/>
          </ac:spMkLst>
        </pc:spChg>
      </pc:sldChg>
      <pc:sldChg chg="delSp modSp mod">
        <pc:chgData name="柏宏 吳" userId="4ce1f5e9156e18f0" providerId="LiveId" clId="{77D9D4B7-D214-42D7-95E8-9F07D2B636ED}" dt="2026-08-26T03:45:47.200" v="792" actId="1038"/>
        <pc:sldMkLst>
          <pc:docMk/>
          <pc:sldMk cId="0" sldId="280"/>
        </pc:sldMkLst>
        <pc:spChg chg="del">
          <ac:chgData name="柏宏 吳" userId="4ce1f5e9156e18f0" providerId="LiveId" clId="{77D9D4B7-D214-42D7-95E8-9F07D2B636ED}" dt="2026-08-26T01:45:55.485" v="575" actId="478"/>
          <ac:spMkLst>
            <pc:docMk/>
            <pc:sldMk cId="0" sldId="280"/>
            <ac:spMk id="4" creationId="{00000000-0000-0000-0000-000000000000}"/>
          </ac:spMkLst>
        </pc:spChg>
        <pc:spChg chg="mod">
          <ac:chgData name="柏宏 吳" userId="4ce1f5e9156e18f0" providerId="LiveId" clId="{77D9D4B7-D214-42D7-95E8-9F07D2B636ED}" dt="2026-08-26T03:44:39.338" v="769" actId="14100"/>
          <ac:spMkLst>
            <pc:docMk/>
            <pc:sldMk cId="0" sldId="280"/>
            <ac:spMk id="9" creationId="{00000000-0000-0000-0000-000000000000}"/>
          </ac:spMkLst>
        </pc:spChg>
        <pc:spChg chg="mod">
          <ac:chgData name="柏宏 吳" userId="4ce1f5e9156e18f0" providerId="LiveId" clId="{77D9D4B7-D214-42D7-95E8-9F07D2B636ED}" dt="2026-08-26T03:44:44.026" v="776" actId="1038"/>
          <ac:spMkLst>
            <pc:docMk/>
            <pc:sldMk cId="0" sldId="280"/>
            <ac:spMk id="11" creationId="{00000000-0000-0000-0000-000000000000}"/>
          </ac:spMkLst>
        </pc:spChg>
        <pc:spChg chg="mod">
          <ac:chgData name="柏宏 吳" userId="4ce1f5e9156e18f0" providerId="LiveId" clId="{77D9D4B7-D214-42D7-95E8-9F07D2B636ED}" dt="2026-08-26T03:44:54.957" v="786" actId="14100"/>
          <ac:spMkLst>
            <pc:docMk/>
            <pc:sldMk cId="0" sldId="280"/>
            <ac:spMk id="16" creationId="{00000000-0000-0000-0000-000000000000}"/>
          </ac:spMkLst>
        </pc:spChg>
        <pc:spChg chg="mod">
          <ac:chgData name="柏宏 吳" userId="4ce1f5e9156e18f0" providerId="LiveId" clId="{77D9D4B7-D214-42D7-95E8-9F07D2B636ED}" dt="2026-08-26T03:44:58.600" v="791" actId="1037"/>
          <ac:spMkLst>
            <pc:docMk/>
            <pc:sldMk cId="0" sldId="280"/>
            <ac:spMk id="18" creationId="{00000000-0000-0000-0000-000000000000}"/>
          </ac:spMkLst>
        </pc:spChg>
        <pc:cxnChg chg="mod">
          <ac:chgData name="柏宏 吳" userId="4ce1f5e9156e18f0" providerId="LiveId" clId="{77D9D4B7-D214-42D7-95E8-9F07D2B636ED}" dt="2026-08-26T03:45:47.200" v="792" actId="1038"/>
          <ac:cxnSpMkLst>
            <pc:docMk/>
            <pc:sldMk cId="0" sldId="280"/>
            <ac:cxnSpMk id="12" creationId="{00000000-0000-0000-0000-000000000000}"/>
          </ac:cxnSpMkLst>
        </pc:cxnChg>
        <pc:cxnChg chg="mod">
          <ac:chgData name="柏宏 吳" userId="4ce1f5e9156e18f0" providerId="LiveId" clId="{77D9D4B7-D214-42D7-95E8-9F07D2B636ED}" dt="2026-08-26T03:44:58.600" v="791" actId="1037"/>
          <ac:cxnSpMkLst>
            <pc:docMk/>
            <pc:sldMk cId="0" sldId="280"/>
            <ac:cxnSpMk id="19" creationId="{00000000-0000-0000-0000-000000000000}"/>
          </ac:cxnSpMkLst>
        </pc:cxnChg>
      </pc:sldChg>
      <pc:sldChg chg="delSp del mod">
        <pc:chgData name="柏宏 吳" userId="4ce1f5e9156e18f0" providerId="LiveId" clId="{77D9D4B7-D214-42D7-95E8-9F07D2B636ED}" dt="2026-08-26T03:39:55.992" v="768" actId="47"/>
        <pc:sldMkLst>
          <pc:docMk/>
          <pc:sldMk cId="0" sldId="281"/>
        </pc:sldMkLst>
        <pc:spChg chg="del">
          <ac:chgData name="柏宏 吳" userId="4ce1f5e9156e18f0" providerId="LiveId" clId="{77D9D4B7-D214-42D7-95E8-9F07D2B636ED}" dt="2026-08-26T01:45:54.391" v="574" actId="478"/>
          <ac:spMkLst>
            <pc:docMk/>
            <pc:sldMk cId="0" sldId="281"/>
            <ac:spMk id="3" creationId="{00000000-0000-0000-0000-000000000000}"/>
          </ac:spMkLst>
        </pc:spChg>
      </pc:sldChg>
      <pc:sldChg chg="addSp delSp modSp mod">
        <pc:chgData name="柏宏 吳" userId="4ce1f5e9156e18f0" providerId="LiveId" clId="{77D9D4B7-D214-42D7-95E8-9F07D2B636ED}" dt="2026-08-26T09:26:58.221" v="900" actId="20577"/>
        <pc:sldMkLst>
          <pc:docMk/>
          <pc:sldMk cId="0" sldId="282"/>
        </pc:sldMkLst>
        <pc:spChg chg="del">
          <ac:chgData name="柏宏 吳" userId="4ce1f5e9156e18f0" providerId="LiveId" clId="{77D9D4B7-D214-42D7-95E8-9F07D2B636ED}" dt="2026-08-26T01:45:52.383" v="573" actId="478"/>
          <ac:spMkLst>
            <pc:docMk/>
            <pc:sldMk cId="0" sldId="282"/>
            <ac:spMk id="3" creationId="{00000000-0000-0000-0000-000000000000}"/>
          </ac:spMkLst>
        </pc:spChg>
        <pc:spChg chg="del mod">
          <ac:chgData name="柏宏 吳" userId="4ce1f5e9156e18f0" providerId="LiveId" clId="{77D9D4B7-D214-42D7-95E8-9F07D2B636ED}" dt="2026-08-26T09:25:25.936" v="880" actId="478"/>
          <ac:spMkLst>
            <pc:docMk/>
            <pc:sldMk cId="0" sldId="282"/>
            <ac:spMk id="14" creationId="{00000000-0000-0000-0000-000000000000}"/>
          </ac:spMkLst>
        </pc:spChg>
        <pc:spChg chg="del mod">
          <ac:chgData name="柏宏 吳" userId="4ce1f5e9156e18f0" providerId="LiveId" clId="{77D9D4B7-D214-42D7-95E8-9F07D2B636ED}" dt="2026-08-26T09:25:27.143" v="881" actId="478"/>
          <ac:spMkLst>
            <pc:docMk/>
            <pc:sldMk cId="0" sldId="282"/>
            <ac:spMk id="15" creationId="{00000000-0000-0000-0000-000000000000}"/>
          </ac:spMkLst>
        </pc:spChg>
        <pc:spChg chg="add mod">
          <ac:chgData name="柏宏 吳" userId="4ce1f5e9156e18f0" providerId="LiveId" clId="{77D9D4B7-D214-42D7-95E8-9F07D2B636ED}" dt="2026-08-26T09:26:58.221" v="900" actId="20577"/>
          <ac:spMkLst>
            <pc:docMk/>
            <pc:sldMk cId="0" sldId="282"/>
            <ac:spMk id="16" creationId="{4590328D-D037-6472-5C28-0E804F0654A7}"/>
          </ac:spMkLst>
        </pc:spChg>
      </pc:sldChg>
      <pc:sldChg chg="addSp delSp modSp add mod">
        <pc:chgData name="柏宏 吳" userId="4ce1f5e9156e18f0" providerId="LiveId" clId="{77D9D4B7-D214-42D7-95E8-9F07D2B636ED}" dt="2026-08-26T01:46:30.123" v="604"/>
        <pc:sldMkLst>
          <pc:docMk/>
          <pc:sldMk cId="566014316" sldId="1741"/>
        </pc:sldMkLst>
        <pc:spChg chg="add del mod">
          <ac:chgData name="柏宏 吳" userId="4ce1f5e9156e18f0" providerId="LiveId" clId="{77D9D4B7-D214-42D7-95E8-9F07D2B636ED}" dt="2026-08-26T01:46:30.123" v="604"/>
          <ac:spMkLst>
            <pc:docMk/>
            <pc:sldMk cId="566014316" sldId="1741"/>
            <ac:spMk id="2" creationId="{0A7D0836-E1F3-8887-8A69-4251993D4BB6}"/>
          </ac:spMkLst>
        </pc:spChg>
      </pc:sldChg>
      <pc:sldChg chg="delSp modSp add mod">
        <pc:chgData name="柏宏 吳" userId="4ce1f5e9156e18f0" providerId="LiveId" clId="{77D9D4B7-D214-42D7-95E8-9F07D2B636ED}" dt="2026-08-26T01:46:11.230" v="588" actId="478"/>
        <pc:sldMkLst>
          <pc:docMk/>
          <pc:sldMk cId="0" sldId="1742"/>
        </pc:sldMkLst>
        <pc:spChg chg="del">
          <ac:chgData name="柏宏 吳" userId="4ce1f5e9156e18f0" providerId="LiveId" clId="{77D9D4B7-D214-42D7-95E8-9F07D2B636ED}" dt="2026-08-26T01:46:11.230" v="588" actId="478"/>
          <ac:spMkLst>
            <pc:docMk/>
            <pc:sldMk cId="0" sldId="1742"/>
            <ac:spMk id="3" creationId="{00000000-0000-0000-0000-000000000000}"/>
          </ac:spMkLst>
        </pc:spChg>
        <pc:spChg chg="mod">
          <ac:chgData name="柏宏 吳" userId="4ce1f5e9156e18f0" providerId="LiveId" clId="{77D9D4B7-D214-42D7-95E8-9F07D2B636ED}" dt="2026-08-23T10:24:25.744" v="436" actId="20577"/>
          <ac:spMkLst>
            <pc:docMk/>
            <pc:sldMk cId="0" sldId="1742"/>
            <ac:spMk id="5" creationId="{00000000-0000-0000-0000-000000000000}"/>
          </ac:spMkLst>
        </pc:spChg>
        <pc:spChg chg="mod">
          <ac:chgData name="柏宏 吳" userId="4ce1f5e9156e18f0" providerId="LiveId" clId="{77D9D4B7-D214-42D7-95E8-9F07D2B636ED}" dt="2026-08-23T11:02:40.654" v="454" actId="1035"/>
          <ac:spMkLst>
            <pc:docMk/>
            <pc:sldMk cId="0" sldId="1742"/>
            <ac:spMk id="6" creationId="{00000000-0000-0000-0000-000000000000}"/>
          </ac:spMkLst>
        </pc:spChg>
      </pc:sldChg>
      <pc:sldChg chg="delSp modSp add mod">
        <pc:chgData name="柏宏 吳" userId="4ce1f5e9156e18f0" providerId="LiveId" clId="{77D9D4B7-D214-42D7-95E8-9F07D2B636ED}" dt="2026-08-26T09:08:54.753" v="864"/>
        <pc:sldMkLst>
          <pc:docMk/>
          <pc:sldMk cId="0" sldId="1743"/>
        </pc:sldMkLst>
        <pc:spChg chg="del">
          <ac:chgData name="柏宏 吳" userId="4ce1f5e9156e18f0" providerId="LiveId" clId="{77D9D4B7-D214-42D7-95E8-9F07D2B636ED}" dt="2026-08-26T01:45:49.136" v="572" actId="478"/>
          <ac:spMkLst>
            <pc:docMk/>
            <pc:sldMk cId="0" sldId="1743"/>
            <ac:spMk id="4" creationId="{00000000-0000-0000-0000-000000000000}"/>
          </ac:spMkLst>
        </pc:spChg>
        <pc:spChg chg="mod">
          <ac:chgData name="柏宏 吳" userId="4ce1f5e9156e18f0" providerId="LiveId" clId="{77D9D4B7-D214-42D7-95E8-9F07D2B636ED}" dt="2026-08-26T01:32:35.862" v="484" actId="14100"/>
          <ac:spMkLst>
            <pc:docMk/>
            <pc:sldMk cId="0" sldId="1743"/>
            <ac:spMk id="7" creationId="{00000000-0000-0000-0000-000000000000}"/>
          </ac:spMkLst>
        </pc:spChg>
        <pc:spChg chg="mod">
          <ac:chgData name="柏宏 吳" userId="4ce1f5e9156e18f0" providerId="LiveId" clId="{77D9D4B7-D214-42D7-95E8-9F07D2B636ED}" dt="2026-08-26T09:08:54.753" v="864"/>
          <ac:spMkLst>
            <pc:docMk/>
            <pc:sldMk cId="0" sldId="1743"/>
            <ac:spMk id="8" creationId="{00000000-0000-0000-0000-000000000000}"/>
          </ac:spMkLst>
        </pc:spChg>
      </pc:sldChg>
      <pc:sldChg chg="addSp delSp modSp add mod">
        <pc:chgData name="柏宏 吳" userId="4ce1f5e9156e18f0" providerId="LiveId" clId="{77D9D4B7-D214-42D7-95E8-9F07D2B636ED}" dt="2026-08-26T12:44:41.905" v="929"/>
        <pc:sldMkLst>
          <pc:docMk/>
          <pc:sldMk cId="0" sldId="1744"/>
        </pc:sldMkLst>
        <pc:spChg chg="mod">
          <ac:chgData name="柏宏 吳" userId="4ce1f5e9156e18f0" providerId="LiveId" clId="{77D9D4B7-D214-42D7-95E8-9F07D2B636ED}" dt="2026-08-26T12:44:41.905" v="929"/>
          <ac:spMkLst>
            <pc:docMk/>
            <pc:sldMk cId="0" sldId="1744"/>
            <ac:spMk id="2" creationId="{00000000-0000-0000-0000-000000000000}"/>
          </ac:spMkLst>
        </pc:spChg>
        <pc:spChg chg="del">
          <ac:chgData name="柏宏 吳" userId="4ce1f5e9156e18f0" providerId="LiveId" clId="{77D9D4B7-D214-42D7-95E8-9F07D2B636ED}" dt="2026-08-26T01:46:13.955" v="590" actId="478"/>
          <ac:spMkLst>
            <pc:docMk/>
            <pc:sldMk cId="0" sldId="1744"/>
            <ac:spMk id="4" creationId="{00000000-0000-0000-0000-000000000000}"/>
          </ac:spMkLst>
        </pc:spChg>
        <pc:spChg chg="mod">
          <ac:chgData name="柏宏 吳" userId="4ce1f5e9156e18f0" providerId="LiveId" clId="{77D9D4B7-D214-42D7-95E8-9F07D2B636ED}" dt="2026-08-26T01:38:01.533" v="493"/>
          <ac:spMkLst>
            <pc:docMk/>
            <pc:sldMk cId="0" sldId="1744"/>
            <ac:spMk id="5" creationId="{00000000-0000-0000-0000-000000000000}"/>
          </ac:spMkLst>
        </pc:spChg>
        <pc:spChg chg="mod">
          <ac:chgData name="柏宏 吳" userId="4ce1f5e9156e18f0" providerId="LiveId" clId="{77D9D4B7-D214-42D7-95E8-9F07D2B636ED}" dt="2026-08-26T01:42:14.787" v="551" actId="1076"/>
          <ac:spMkLst>
            <pc:docMk/>
            <pc:sldMk cId="0" sldId="1744"/>
            <ac:spMk id="7" creationId="{00000000-0000-0000-0000-000000000000}"/>
          </ac:spMkLst>
        </pc:spChg>
        <pc:spChg chg="mod">
          <ac:chgData name="柏宏 吳" userId="4ce1f5e9156e18f0" providerId="LiveId" clId="{77D9D4B7-D214-42D7-95E8-9F07D2B636ED}" dt="2026-08-26T01:42:12.276" v="550" actId="1076"/>
          <ac:spMkLst>
            <pc:docMk/>
            <pc:sldMk cId="0" sldId="1744"/>
            <ac:spMk id="8" creationId="{00000000-0000-0000-0000-000000000000}"/>
          </ac:spMkLst>
        </pc:spChg>
        <pc:spChg chg="del mod">
          <ac:chgData name="柏宏 吳" userId="4ce1f5e9156e18f0" providerId="LiveId" clId="{77D9D4B7-D214-42D7-95E8-9F07D2B636ED}" dt="2026-08-26T01:42:07.261" v="549" actId="478"/>
          <ac:spMkLst>
            <pc:docMk/>
            <pc:sldMk cId="0" sldId="1744"/>
            <ac:spMk id="9" creationId="{00000000-0000-0000-0000-000000000000}"/>
          </ac:spMkLst>
        </pc:spChg>
        <pc:spChg chg="del mod">
          <ac:chgData name="柏宏 吳" userId="4ce1f5e9156e18f0" providerId="LiveId" clId="{77D9D4B7-D214-42D7-95E8-9F07D2B636ED}" dt="2026-08-26T01:40:34.932" v="526" actId="478"/>
          <ac:spMkLst>
            <pc:docMk/>
            <pc:sldMk cId="0" sldId="1744"/>
            <ac:spMk id="10" creationId="{00000000-0000-0000-0000-000000000000}"/>
          </ac:spMkLst>
        </pc:spChg>
        <pc:spChg chg="add del mod">
          <ac:chgData name="柏宏 吳" userId="4ce1f5e9156e18f0" providerId="LiveId" clId="{77D9D4B7-D214-42D7-95E8-9F07D2B636ED}" dt="2026-08-26T01:40:17.272" v="525"/>
          <ac:spMkLst>
            <pc:docMk/>
            <pc:sldMk cId="0" sldId="1744"/>
            <ac:spMk id="13" creationId="{D5FE6050-B23C-E922-0D49-CE3317446805}"/>
          </ac:spMkLst>
        </pc:spChg>
        <pc:spChg chg="add del mod">
          <ac:chgData name="柏宏 吳" userId="4ce1f5e9156e18f0" providerId="LiveId" clId="{77D9D4B7-D214-42D7-95E8-9F07D2B636ED}" dt="2026-08-26T01:40:36.703" v="529"/>
          <ac:spMkLst>
            <pc:docMk/>
            <pc:sldMk cId="0" sldId="1744"/>
            <ac:spMk id="14" creationId="{CAFFF50F-9A45-E318-3B37-D7833A85011D}"/>
          </ac:spMkLst>
        </pc:spChg>
        <pc:picChg chg="del">
          <ac:chgData name="柏宏 吳" userId="4ce1f5e9156e18f0" providerId="LiveId" clId="{77D9D4B7-D214-42D7-95E8-9F07D2B636ED}" dt="2026-08-26T01:37:26.401" v="485" actId="478"/>
          <ac:picMkLst>
            <pc:docMk/>
            <pc:sldMk cId="0" sldId="1744"/>
            <ac:picMk id="6" creationId="{00000000-0000-0000-0000-000000000000}"/>
          </ac:picMkLst>
        </pc:picChg>
        <pc:picChg chg="add mod">
          <ac:chgData name="柏宏 吳" userId="4ce1f5e9156e18f0" providerId="LiveId" clId="{77D9D4B7-D214-42D7-95E8-9F07D2B636ED}" dt="2026-08-26T11:16:04.594" v="914" actId="14100"/>
          <ac:picMkLst>
            <pc:docMk/>
            <pc:sldMk cId="0" sldId="1744"/>
            <ac:picMk id="12" creationId="{AE6B5D75-9793-BB89-514D-44BED121AF1B}"/>
          </ac:picMkLst>
        </pc:picChg>
      </pc:sldChg>
      <pc:sldChg chg="modSp add mod">
        <pc:chgData name="柏宏 吳" userId="4ce1f5e9156e18f0" providerId="LiveId" clId="{77D9D4B7-D214-42D7-95E8-9F07D2B636ED}" dt="2026-08-26T03:24:10.632" v="703" actId="20577"/>
        <pc:sldMkLst>
          <pc:docMk/>
          <pc:sldMk cId="0" sldId="1745"/>
        </pc:sldMkLst>
        <pc:spChg chg="mod">
          <ac:chgData name="柏宏 吳" userId="4ce1f5e9156e18f0" providerId="LiveId" clId="{77D9D4B7-D214-42D7-95E8-9F07D2B636ED}" dt="2026-08-26T03:20:22.168" v="702" actId="20577"/>
          <ac:spMkLst>
            <pc:docMk/>
            <pc:sldMk cId="0" sldId="1745"/>
            <ac:spMk id="6" creationId="{00000000-0000-0000-0000-000000000000}"/>
          </ac:spMkLst>
        </pc:spChg>
        <pc:spChg chg="mod">
          <ac:chgData name="柏宏 吳" userId="4ce1f5e9156e18f0" providerId="LiveId" clId="{77D9D4B7-D214-42D7-95E8-9F07D2B636ED}" dt="2026-08-26T03:17:51.470" v="686" actId="1076"/>
          <ac:spMkLst>
            <pc:docMk/>
            <pc:sldMk cId="0" sldId="1745"/>
            <ac:spMk id="7" creationId="{00000000-0000-0000-0000-000000000000}"/>
          </ac:spMkLst>
        </pc:spChg>
        <pc:spChg chg="mod">
          <ac:chgData name="柏宏 吳" userId="4ce1f5e9156e18f0" providerId="LiveId" clId="{77D9D4B7-D214-42D7-95E8-9F07D2B636ED}" dt="2026-08-26T03:24:10.632" v="703" actId="20577"/>
          <ac:spMkLst>
            <pc:docMk/>
            <pc:sldMk cId="0" sldId="1745"/>
            <ac:spMk id="8" creationId="{00000000-0000-0000-0000-000000000000}"/>
          </ac:spMkLst>
        </pc:spChg>
      </pc:sldChg>
      <pc:sldChg chg="modSp add mod">
        <pc:chgData name="柏宏 吳" userId="4ce1f5e9156e18f0" providerId="LiveId" clId="{77D9D4B7-D214-42D7-95E8-9F07D2B636ED}" dt="2026-08-26T11:17:05.200" v="928" actId="1038"/>
        <pc:sldMkLst>
          <pc:docMk/>
          <pc:sldMk cId="0" sldId="1746"/>
        </pc:sldMkLst>
        <pc:spChg chg="mod">
          <ac:chgData name="柏宏 吳" userId="4ce1f5e9156e18f0" providerId="LiveId" clId="{77D9D4B7-D214-42D7-95E8-9F07D2B636ED}" dt="2026-08-26T03:33:48.888" v="767" actId="20577"/>
          <ac:spMkLst>
            <pc:docMk/>
            <pc:sldMk cId="0" sldId="1746"/>
            <ac:spMk id="5" creationId="{00000000-0000-0000-0000-000000000000}"/>
          </ac:spMkLst>
        </pc:spChg>
        <pc:spChg chg="mod">
          <ac:chgData name="柏宏 吳" userId="4ce1f5e9156e18f0" providerId="LiveId" clId="{77D9D4B7-D214-42D7-95E8-9F07D2B636ED}" dt="2026-08-26T11:17:05.200" v="928" actId="1038"/>
          <ac:spMkLst>
            <pc:docMk/>
            <pc:sldMk cId="0" sldId="1746"/>
            <ac:spMk id="6" creationId="{00000000-0000-0000-0000-000000000000}"/>
          </ac:spMkLst>
        </pc:spChg>
        <pc:spChg chg="mod">
          <ac:chgData name="柏宏 吳" userId="4ce1f5e9156e18f0" providerId="LiveId" clId="{77D9D4B7-D214-42D7-95E8-9F07D2B636ED}" dt="2026-08-26T03:55:46.352" v="852"/>
          <ac:spMkLst>
            <pc:docMk/>
            <pc:sldMk cId="0" sldId="1746"/>
            <ac:spMk id="8"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1" y="0"/>
            <a:ext cx="3078427" cy="513508"/>
          </a:xfrm>
          <a:prstGeom prst="rect">
            <a:avLst/>
          </a:prstGeom>
        </p:spPr>
        <p:txBody>
          <a:bodyPr vert="horz" lIns="94787" tIns="47393" rIns="94787" bIns="47393" rtlCol="0"/>
          <a:lstStyle>
            <a:lvl1pPr algn="l">
              <a:defRPr sz="1200"/>
            </a:lvl1pPr>
          </a:lstStyle>
          <a:p>
            <a:endParaRPr lang="zh-TW" altLang="en-US"/>
          </a:p>
        </p:txBody>
      </p:sp>
      <p:sp>
        <p:nvSpPr>
          <p:cNvPr id="3" name="日期版面配置區 2"/>
          <p:cNvSpPr>
            <a:spLocks noGrp="1"/>
          </p:cNvSpPr>
          <p:nvPr>
            <p:ph type="dt" idx="1"/>
          </p:nvPr>
        </p:nvSpPr>
        <p:spPr>
          <a:xfrm>
            <a:off x="4023993" y="0"/>
            <a:ext cx="3078427" cy="513508"/>
          </a:xfrm>
          <a:prstGeom prst="rect">
            <a:avLst/>
          </a:prstGeom>
        </p:spPr>
        <p:txBody>
          <a:bodyPr vert="horz" lIns="94787" tIns="47393" rIns="94787" bIns="47393" rtlCol="0"/>
          <a:lstStyle>
            <a:lvl1pPr algn="r">
              <a:defRPr sz="1200"/>
            </a:lvl1pPr>
          </a:lstStyle>
          <a:p>
            <a:fld id="{6E184DA3-7456-445E-B789-C4A3C11A868B}" type="datetimeFigureOut">
              <a:rPr lang="zh-TW" altLang="en-US" smtClean="0"/>
              <a:t>2026/8/26</a:t>
            </a:fld>
            <a:endParaRPr lang="zh-TW" altLang="en-US"/>
          </a:p>
        </p:txBody>
      </p:sp>
      <p:sp>
        <p:nvSpPr>
          <p:cNvPr id="4" name="投影片圖像版面配置區 3"/>
          <p:cNvSpPr>
            <a:spLocks noGrp="1" noRot="1" noChangeAspect="1"/>
          </p:cNvSpPr>
          <p:nvPr>
            <p:ph type="sldImg" idx="2"/>
          </p:nvPr>
        </p:nvSpPr>
        <p:spPr>
          <a:xfrm>
            <a:off x="482600" y="1279525"/>
            <a:ext cx="6138863" cy="3452813"/>
          </a:xfrm>
          <a:prstGeom prst="rect">
            <a:avLst/>
          </a:prstGeom>
          <a:noFill/>
          <a:ln w="12700">
            <a:solidFill>
              <a:prstClr val="black"/>
            </a:solidFill>
          </a:ln>
        </p:spPr>
        <p:txBody>
          <a:bodyPr vert="horz" lIns="94787" tIns="47393" rIns="94787" bIns="47393" rtlCol="0" anchor="ctr"/>
          <a:lstStyle/>
          <a:p>
            <a:endParaRPr lang="zh-TW" altLang="en-US"/>
          </a:p>
        </p:txBody>
      </p:sp>
      <p:sp>
        <p:nvSpPr>
          <p:cNvPr id="5" name="備忘稿版面配置區 4"/>
          <p:cNvSpPr>
            <a:spLocks noGrp="1"/>
          </p:cNvSpPr>
          <p:nvPr>
            <p:ph type="body" sz="quarter" idx="3"/>
          </p:nvPr>
        </p:nvSpPr>
        <p:spPr>
          <a:xfrm>
            <a:off x="710407" y="4925408"/>
            <a:ext cx="5683250" cy="4029879"/>
          </a:xfrm>
          <a:prstGeom prst="rect">
            <a:avLst/>
          </a:prstGeom>
        </p:spPr>
        <p:txBody>
          <a:bodyPr vert="horz" lIns="94787" tIns="47393" rIns="94787" bIns="47393"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1" y="9721106"/>
            <a:ext cx="3078427" cy="513507"/>
          </a:xfrm>
          <a:prstGeom prst="rect">
            <a:avLst/>
          </a:prstGeom>
        </p:spPr>
        <p:txBody>
          <a:bodyPr vert="horz" lIns="94787" tIns="47393" rIns="94787" bIns="47393"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4023993" y="9721106"/>
            <a:ext cx="3078427" cy="513507"/>
          </a:xfrm>
          <a:prstGeom prst="rect">
            <a:avLst/>
          </a:prstGeom>
        </p:spPr>
        <p:txBody>
          <a:bodyPr vert="horz" lIns="94787" tIns="47393" rIns="94787" bIns="47393" rtlCol="0" anchor="b"/>
          <a:lstStyle>
            <a:lvl1pPr algn="r">
              <a:defRPr sz="1200"/>
            </a:lvl1pPr>
          </a:lstStyle>
          <a:p>
            <a:fld id="{E0BAEFB6-4136-4525-B476-790D9DDC5129}" type="slidenum">
              <a:rPr lang="zh-TW" altLang="en-US" smtClean="0"/>
              <a:t>‹#›</a:t>
            </a:fld>
            <a:endParaRPr lang="zh-TW" altLang="en-US"/>
          </a:p>
        </p:txBody>
      </p:sp>
    </p:spTree>
    <p:extLst>
      <p:ext uri="{BB962C8B-B14F-4D97-AF65-F5344CB8AC3E}">
        <p14:creationId xmlns:p14="http://schemas.microsoft.com/office/powerpoint/2010/main" val="28206002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pic>
        <p:nvPicPr>
          <p:cNvPr id="13" name="圖片 12">
            <a:extLst>
              <a:ext uri="{FF2B5EF4-FFF2-40B4-BE49-F238E27FC236}">
                <a16:creationId xmlns:a16="http://schemas.microsoft.com/office/drawing/2014/main" id="{805DCD4E-0403-46F3-858B-5BF02EA5CC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Line 12">
            <a:extLst>
              <a:ext uri="{FF2B5EF4-FFF2-40B4-BE49-F238E27FC236}">
                <a16:creationId xmlns:a16="http://schemas.microsoft.com/office/drawing/2014/main" id="{C41B0D54-DF44-4127-9A39-B15ADA472D5D}"/>
              </a:ext>
            </a:extLst>
          </p:cNvPr>
          <p:cNvSpPr>
            <a:spLocks noChangeShapeType="1"/>
          </p:cNvSpPr>
          <p:nvPr/>
        </p:nvSpPr>
        <p:spPr bwMode="auto">
          <a:xfrm>
            <a:off x="1001184" y="2312353"/>
            <a:ext cx="0" cy="76200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TW" altLang="en-US" sz="2000" baseline="0">
              <a:latin typeface="Times New Roman" panose="02020603050405020304" pitchFamily="18" charset="0"/>
              <a:ea typeface="標楷體" panose="03000509000000000000" pitchFamily="65" charset="-120"/>
            </a:endParaRPr>
          </a:p>
        </p:txBody>
      </p:sp>
      <p:sp>
        <p:nvSpPr>
          <p:cNvPr id="5" name="Line 13">
            <a:extLst>
              <a:ext uri="{FF2B5EF4-FFF2-40B4-BE49-F238E27FC236}">
                <a16:creationId xmlns:a16="http://schemas.microsoft.com/office/drawing/2014/main" id="{B2658828-45E5-4D11-9E76-B8625DD6F827}"/>
              </a:ext>
            </a:extLst>
          </p:cNvPr>
          <p:cNvSpPr>
            <a:spLocks noChangeShapeType="1"/>
          </p:cNvSpPr>
          <p:nvPr/>
        </p:nvSpPr>
        <p:spPr bwMode="auto">
          <a:xfrm>
            <a:off x="683685" y="2844165"/>
            <a:ext cx="10943167" cy="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TW" altLang="en-US" sz="2000" baseline="0">
              <a:latin typeface="Times New Roman" panose="02020603050405020304" pitchFamily="18" charset="0"/>
              <a:ea typeface="標楷體" panose="03000509000000000000" pitchFamily="65" charset="-120"/>
            </a:endParaRPr>
          </a:p>
        </p:txBody>
      </p:sp>
      <p:sp>
        <p:nvSpPr>
          <p:cNvPr id="149508" name="Rectangle 4"/>
          <p:cNvSpPr>
            <a:spLocks noGrp="1" noChangeArrowheads="1"/>
          </p:cNvSpPr>
          <p:nvPr>
            <p:ph type="ctrTitle"/>
          </p:nvPr>
        </p:nvSpPr>
        <p:spPr>
          <a:xfrm>
            <a:off x="1132417" y="1581209"/>
            <a:ext cx="10363200" cy="1143000"/>
          </a:xfrm>
        </p:spPr>
        <p:txBody>
          <a:bodyPr/>
          <a:lstStyle>
            <a:lvl1pPr>
              <a:defRPr sz="3200" b="0" baseline="0">
                <a:solidFill>
                  <a:schemeClr val="tx1"/>
                </a:solidFill>
                <a:latin typeface="Times New Roman" panose="02020603050405020304" pitchFamily="18" charset="0"/>
                <a:ea typeface="標楷體" panose="03000509000000000000" pitchFamily="65" charset="-120"/>
              </a:defRPr>
            </a:lvl1pPr>
          </a:lstStyle>
          <a:p>
            <a:r>
              <a:rPr lang="zh-TW" altLang="en-US"/>
              <a:t>按一下以編輯母片標題樣式</a:t>
            </a:r>
            <a:endParaRPr lang="de-DE"/>
          </a:p>
        </p:txBody>
      </p:sp>
      <p:sp>
        <p:nvSpPr>
          <p:cNvPr id="149509" name="Rectangle 5"/>
          <p:cNvSpPr>
            <a:spLocks noGrp="1" noChangeArrowheads="1"/>
          </p:cNvSpPr>
          <p:nvPr>
            <p:ph type="subTitle" idx="1"/>
          </p:nvPr>
        </p:nvSpPr>
        <p:spPr>
          <a:xfrm>
            <a:off x="1780117" y="2935777"/>
            <a:ext cx="8534400" cy="1438103"/>
          </a:xfrm>
        </p:spPr>
        <p:txBody>
          <a:bodyPr/>
          <a:lstStyle>
            <a:lvl1pPr marL="0" indent="0" algn="ctr">
              <a:buFont typeface="Symbol" pitchFamily="18" charset="2"/>
              <a:buNone/>
              <a:defRPr sz="2800" baseline="0">
                <a:latin typeface="Times New Roman" panose="02020603050405020304" pitchFamily="18" charset="0"/>
                <a:ea typeface="標楷體" panose="03000509000000000000" pitchFamily="65" charset="-120"/>
              </a:defRPr>
            </a:lvl1pPr>
          </a:lstStyle>
          <a:p>
            <a:r>
              <a:rPr lang="zh-TW" altLang="en-US"/>
              <a:t>按一下以編輯母片副標題樣式</a:t>
            </a:r>
            <a:endParaRPr lang="de-DE" dirty="0"/>
          </a:p>
        </p:txBody>
      </p:sp>
      <p:sp>
        <p:nvSpPr>
          <p:cNvPr id="10" name="Rectangle 28">
            <a:extLst>
              <a:ext uri="{FF2B5EF4-FFF2-40B4-BE49-F238E27FC236}">
                <a16:creationId xmlns:a16="http://schemas.microsoft.com/office/drawing/2014/main" id="{8B435778-36B6-470A-939D-7E55FA1407F8}"/>
              </a:ext>
            </a:extLst>
          </p:cNvPr>
          <p:cNvSpPr txBox="1">
            <a:spLocks noChangeArrowheads="1"/>
          </p:cNvSpPr>
          <p:nvPr/>
        </p:nvSpPr>
        <p:spPr bwMode="auto">
          <a:xfrm>
            <a:off x="10934700" y="6340475"/>
            <a:ext cx="889000" cy="47625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kumimoji="0" sz="1400" kern="1200">
                <a:solidFill>
                  <a:schemeClr val="tx1"/>
                </a:solidFill>
                <a:latin typeface="Arial" panose="020B0604020202020204" pitchFamily="34" charset="0"/>
                <a:ea typeface="新細明體" panose="02020500000000000000" pitchFamily="18" charset="-120"/>
                <a:cs typeface="+mn-cs"/>
              </a:defRPr>
            </a:lvl1pPr>
            <a:lvl2pPr marL="457200" algn="l" rtl="0" eaLnBrk="0" fontAlgn="base" hangingPunct="0">
              <a:spcBef>
                <a:spcPct val="0"/>
              </a:spcBef>
              <a:spcAft>
                <a:spcPct val="0"/>
              </a:spcAft>
              <a:defRPr kumimoji="1" sz="2000" kern="1200">
                <a:solidFill>
                  <a:schemeClr val="tx1"/>
                </a:solidFill>
                <a:latin typeface="Arial" panose="020B0604020202020204" pitchFamily="34" charset="0"/>
                <a:ea typeface="新細明體" panose="02020500000000000000" pitchFamily="18" charset="-120"/>
                <a:cs typeface="+mn-cs"/>
              </a:defRPr>
            </a:lvl2pPr>
            <a:lvl3pPr marL="914400" algn="l" rtl="0" eaLnBrk="0" fontAlgn="base" hangingPunct="0">
              <a:spcBef>
                <a:spcPct val="0"/>
              </a:spcBef>
              <a:spcAft>
                <a:spcPct val="0"/>
              </a:spcAft>
              <a:defRPr kumimoji="1" sz="2000" kern="1200">
                <a:solidFill>
                  <a:schemeClr val="tx1"/>
                </a:solidFill>
                <a:latin typeface="Arial" panose="020B0604020202020204" pitchFamily="34" charset="0"/>
                <a:ea typeface="新細明體" panose="02020500000000000000" pitchFamily="18" charset="-120"/>
                <a:cs typeface="+mn-cs"/>
              </a:defRPr>
            </a:lvl3pPr>
            <a:lvl4pPr marL="1371600" algn="l" rtl="0" eaLnBrk="0" fontAlgn="base" hangingPunct="0">
              <a:spcBef>
                <a:spcPct val="0"/>
              </a:spcBef>
              <a:spcAft>
                <a:spcPct val="0"/>
              </a:spcAft>
              <a:defRPr kumimoji="1" sz="2000" kern="1200">
                <a:solidFill>
                  <a:schemeClr val="tx1"/>
                </a:solidFill>
                <a:latin typeface="Arial" panose="020B0604020202020204" pitchFamily="34" charset="0"/>
                <a:ea typeface="新細明體" panose="02020500000000000000" pitchFamily="18" charset="-120"/>
                <a:cs typeface="+mn-cs"/>
              </a:defRPr>
            </a:lvl4pPr>
            <a:lvl5pPr marL="1828800" algn="l" rtl="0" eaLnBrk="0" fontAlgn="base" hangingPunct="0">
              <a:spcBef>
                <a:spcPct val="0"/>
              </a:spcBef>
              <a:spcAft>
                <a:spcPct val="0"/>
              </a:spcAft>
              <a:defRPr kumimoji="1" sz="2000" kern="1200">
                <a:solidFill>
                  <a:schemeClr val="tx1"/>
                </a:solidFill>
                <a:latin typeface="Arial" panose="020B0604020202020204" pitchFamily="34" charset="0"/>
                <a:ea typeface="新細明體" panose="02020500000000000000" pitchFamily="18" charset="-120"/>
                <a:cs typeface="+mn-cs"/>
              </a:defRPr>
            </a:lvl5pPr>
            <a:lvl6pPr marL="2286000" algn="l" defTabSz="914400" rtl="0" eaLnBrk="1" latinLnBrk="0" hangingPunct="1">
              <a:defRPr kumimoji="1" sz="2000" kern="1200">
                <a:solidFill>
                  <a:schemeClr val="tx1"/>
                </a:solidFill>
                <a:latin typeface="Arial" panose="020B0604020202020204" pitchFamily="34" charset="0"/>
                <a:ea typeface="新細明體" panose="02020500000000000000" pitchFamily="18" charset="-120"/>
                <a:cs typeface="+mn-cs"/>
              </a:defRPr>
            </a:lvl6pPr>
            <a:lvl7pPr marL="2743200" algn="l" defTabSz="914400" rtl="0" eaLnBrk="1" latinLnBrk="0" hangingPunct="1">
              <a:defRPr kumimoji="1" sz="2000" kern="1200">
                <a:solidFill>
                  <a:schemeClr val="tx1"/>
                </a:solidFill>
                <a:latin typeface="Arial" panose="020B0604020202020204" pitchFamily="34" charset="0"/>
                <a:ea typeface="新細明體" panose="02020500000000000000" pitchFamily="18" charset="-120"/>
                <a:cs typeface="+mn-cs"/>
              </a:defRPr>
            </a:lvl7pPr>
            <a:lvl8pPr marL="3200400" algn="l" defTabSz="914400" rtl="0" eaLnBrk="1" latinLnBrk="0" hangingPunct="1">
              <a:defRPr kumimoji="1" sz="2000" kern="1200">
                <a:solidFill>
                  <a:schemeClr val="tx1"/>
                </a:solidFill>
                <a:latin typeface="Arial" panose="020B0604020202020204" pitchFamily="34" charset="0"/>
                <a:ea typeface="新細明體" panose="02020500000000000000" pitchFamily="18" charset="-120"/>
                <a:cs typeface="+mn-cs"/>
              </a:defRPr>
            </a:lvl8pPr>
            <a:lvl9pPr marL="3657600" algn="l" defTabSz="914400" rtl="0" eaLnBrk="1" latinLnBrk="0" hangingPunct="1">
              <a:defRPr kumimoji="1" sz="2000" kern="1200">
                <a:solidFill>
                  <a:schemeClr val="tx1"/>
                </a:solidFill>
                <a:latin typeface="Arial" panose="020B0604020202020204" pitchFamily="34" charset="0"/>
                <a:ea typeface="新細明體" panose="02020500000000000000" pitchFamily="18" charset="-120"/>
                <a:cs typeface="+mn-cs"/>
              </a:defRPr>
            </a:lvl9pPr>
          </a:lstStyle>
          <a:p>
            <a:pPr>
              <a:defRPr/>
            </a:pPr>
            <a:fld id="{69B0E891-B98C-44D2-AD8F-C733BD4A6D71}" type="slidenum">
              <a:rPr lang="zh-TW" altLang="en-US" sz="1400" baseline="0" smtClean="0">
                <a:latin typeface="Times New Roman" panose="02020603050405020304" pitchFamily="18" charset="0"/>
                <a:ea typeface="標楷體" panose="03000509000000000000" pitchFamily="65" charset="-120"/>
              </a:rPr>
              <a:pPr>
                <a:defRPr/>
              </a:pPr>
              <a:t>‹#›</a:t>
            </a:fld>
            <a:endParaRPr lang="en-US" altLang="zh-TW" sz="1400" baseline="0" dirty="0">
              <a:latin typeface="Times New Roman" panose="02020603050405020304" pitchFamily="18" charset="0"/>
              <a:ea typeface="標楷體" panose="03000509000000000000" pitchFamily="65" charset="-120"/>
            </a:endParaRPr>
          </a:p>
        </p:txBody>
      </p:sp>
      <p:pic>
        <p:nvPicPr>
          <p:cNvPr id="11" name="圖片 10">
            <a:extLst>
              <a:ext uri="{FF2B5EF4-FFF2-40B4-BE49-F238E27FC236}">
                <a16:creationId xmlns:a16="http://schemas.microsoft.com/office/drawing/2014/main" id="{7F80F928-0BFD-43F3-B309-F20FD4B2E042}"/>
              </a:ext>
            </a:extLst>
          </p:cNvPr>
          <p:cNvPicPr>
            <a:picLocks noChangeAspect="1"/>
          </p:cNvPicPr>
          <p:nvPr userDrawn="1"/>
        </p:nvPicPr>
        <p:blipFill>
          <a:blip r:embed="rId3"/>
          <a:stretch>
            <a:fillRect/>
          </a:stretch>
        </p:blipFill>
        <p:spPr>
          <a:xfrm>
            <a:off x="0" y="6113509"/>
            <a:ext cx="12192000" cy="216208"/>
          </a:xfrm>
          <a:prstGeom prst="rect">
            <a:avLst/>
          </a:prstGeom>
        </p:spPr>
      </p:pic>
      <p:pic>
        <p:nvPicPr>
          <p:cNvPr id="12" name="圖片 11">
            <a:extLst>
              <a:ext uri="{FF2B5EF4-FFF2-40B4-BE49-F238E27FC236}">
                <a16:creationId xmlns:a16="http://schemas.microsoft.com/office/drawing/2014/main" id="{4DFD7906-056A-47BA-A5D9-39A4EA473B57}"/>
              </a:ext>
            </a:extLst>
          </p:cNvPr>
          <p:cNvPicPr>
            <a:picLocks noChangeAspect="1"/>
          </p:cNvPicPr>
          <p:nvPr userDrawn="1"/>
        </p:nvPicPr>
        <p:blipFill>
          <a:blip r:embed="rId4"/>
          <a:stretch>
            <a:fillRect/>
          </a:stretch>
        </p:blipFill>
        <p:spPr>
          <a:xfrm>
            <a:off x="9875182" y="0"/>
            <a:ext cx="2265448" cy="323636"/>
          </a:xfrm>
          <a:prstGeom prst="rect">
            <a:avLst/>
          </a:prstGeom>
        </p:spPr>
      </p:pic>
    </p:spTree>
    <p:extLst>
      <p:ext uri="{BB962C8B-B14F-4D97-AF65-F5344CB8AC3E}">
        <p14:creationId xmlns:p14="http://schemas.microsoft.com/office/powerpoint/2010/main" val="37332835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5" name="Rectangle 28">
            <a:extLst>
              <a:ext uri="{FF2B5EF4-FFF2-40B4-BE49-F238E27FC236}">
                <a16:creationId xmlns:a16="http://schemas.microsoft.com/office/drawing/2014/main" id="{46B19FCD-9041-49CE-B2A7-94FA63606CE8}"/>
              </a:ext>
            </a:extLst>
          </p:cNvPr>
          <p:cNvSpPr txBox="1">
            <a:spLocks noChangeArrowheads="1"/>
          </p:cNvSpPr>
          <p:nvPr/>
        </p:nvSpPr>
        <p:spPr bwMode="auto">
          <a:xfrm>
            <a:off x="10934700" y="6340475"/>
            <a:ext cx="889000" cy="47625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kumimoji="0" sz="1400" kern="1200">
                <a:solidFill>
                  <a:schemeClr val="tx1"/>
                </a:solidFill>
                <a:latin typeface="Arial" panose="020B0604020202020204" pitchFamily="34" charset="0"/>
                <a:ea typeface="新細明體" panose="02020500000000000000" pitchFamily="18" charset="-120"/>
                <a:cs typeface="+mn-cs"/>
              </a:defRPr>
            </a:lvl1pPr>
            <a:lvl2pPr marL="457200" algn="l" rtl="0" eaLnBrk="0" fontAlgn="base" hangingPunct="0">
              <a:spcBef>
                <a:spcPct val="0"/>
              </a:spcBef>
              <a:spcAft>
                <a:spcPct val="0"/>
              </a:spcAft>
              <a:defRPr kumimoji="1" sz="2000" kern="1200">
                <a:solidFill>
                  <a:schemeClr val="tx1"/>
                </a:solidFill>
                <a:latin typeface="Arial" panose="020B0604020202020204" pitchFamily="34" charset="0"/>
                <a:ea typeface="新細明體" panose="02020500000000000000" pitchFamily="18" charset="-120"/>
                <a:cs typeface="+mn-cs"/>
              </a:defRPr>
            </a:lvl2pPr>
            <a:lvl3pPr marL="914400" algn="l" rtl="0" eaLnBrk="0" fontAlgn="base" hangingPunct="0">
              <a:spcBef>
                <a:spcPct val="0"/>
              </a:spcBef>
              <a:spcAft>
                <a:spcPct val="0"/>
              </a:spcAft>
              <a:defRPr kumimoji="1" sz="2000" kern="1200">
                <a:solidFill>
                  <a:schemeClr val="tx1"/>
                </a:solidFill>
                <a:latin typeface="Arial" panose="020B0604020202020204" pitchFamily="34" charset="0"/>
                <a:ea typeface="新細明體" panose="02020500000000000000" pitchFamily="18" charset="-120"/>
                <a:cs typeface="+mn-cs"/>
              </a:defRPr>
            </a:lvl3pPr>
            <a:lvl4pPr marL="1371600" algn="l" rtl="0" eaLnBrk="0" fontAlgn="base" hangingPunct="0">
              <a:spcBef>
                <a:spcPct val="0"/>
              </a:spcBef>
              <a:spcAft>
                <a:spcPct val="0"/>
              </a:spcAft>
              <a:defRPr kumimoji="1" sz="2000" kern="1200">
                <a:solidFill>
                  <a:schemeClr val="tx1"/>
                </a:solidFill>
                <a:latin typeface="Arial" panose="020B0604020202020204" pitchFamily="34" charset="0"/>
                <a:ea typeface="新細明體" panose="02020500000000000000" pitchFamily="18" charset="-120"/>
                <a:cs typeface="+mn-cs"/>
              </a:defRPr>
            </a:lvl4pPr>
            <a:lvl5pPr marL="1828800" algn="l" rtl="0" eaLnBrk="0" fontAlgn="base" hangingPunct="0">
              <a:spcBef>
                <a:spcPct val="0"/>
              </a:spcBef>
              <a:spcAft>
                <a:spcPct val="0"/>
              </a:spcAft>
              <a:defRPr kumimoji="1" sz="2000" kern="1200">
                <a:solidFill>
                  <a:schemeClr val="tx1"/>
                </a:solidFill>
                <a:latin typeface="Arial" panose="020B0604020202020204" pitchFamily="34" charset="0"/>
                <a:ea typeface="新細明體" panose="02020500000000000000" pitchFamily="18" charset="-120"/>
                <a:cs typeface="+mn-cs"/>
              </a:defRPr>
            </a:lvl5pPr>
            <a:lvl6pPr marL="2286000" algn="l" defTabSz="914400" rtl="0" eaLnBrk="1" latinLnBrk="0" hangingPunct="1">
              <a:defRPr kumimoji="1" sz="2000" kern="1200">
                <a:solidFill>
                  <a:schemeClr val="tx1"/>
                </a:solidFill>
                <a:latin typeface="Arial" panose="020B0604020202020204" pitchFamily="34" charset="0"/>
                <a:ea typeface="新細明體" panose="02020500000000000000" pitchFamily="18" charset="-120"/>
                <a:cs typeface="+mn-cs"/>
              </a:defRPr>
            </a:lvl6pPr>
            <a:lvl7pPr marL="2743200" algn="l" defTabSz="914400" rtl="0" eaLnBrk="1" latinLnBrk="0" hangingPunct="1">
              <a:defRPr kumimoji="1" sz="2000" kern="1200">
                <a:solidFill>
                  <a:schemeClr val="tx1"/>
                </a:solidFill>
                <a:latin typeface="Arial" panose="020B0604020202020204" pitchFamily="34" charset="0"/>
                <a:ea typeface="新細明體" panose="02020500000000000000" pitchFamily="18" charset="-120"/>
                <a:cs typeface="+mn-cs"/>
              </a:defRPr>
            </a:lvl7pPr>
            <a:lvl8pPr marL="3200400" algn="l" defTabSz="914400" rtl="0" eaLnBrk="1" latinLnBrk="0" hangingPunct="1">
              <a:defRPr kumimoji="1" sz="2000" kern="1200">
                <a:solidFill>
                  <a:schemeClr val="tx1"/>
                </a:solidFill>
                <a:latin typeface="Arial" panose="020B0604020202020204" pitchFamily="34" charset="0"/>
                <a:ea typeface="新細明體" panose="02020500000000000000" pitchFamily="18" charset="-120"/>
                <a:cs typeface="+mn-cs"/>
              </a:defRPr>
            </a:lvl8pPr>
            <a:lvl9pPr marL="3657600" algn="l" defTabSz="914400" rtl="0" eaLnBrk="1" latinLnBrk="0" hangingPunct="1">
              <a:defRPr kumimoji="1" sz="2000" kern="1200">
                <a:solidFill>
                  <a:schemeClr val="tx1"/>
                </a:solidFill>
                <a:latin typeface="Arial" panose="020B0604020202020204" pitchFamily="34" charset="0"/>
                <a:ea typeface="新細明體" panose="02020500000000000000" pitchFamily="18" charset="-120"/>
                <a:cs typeface="+mn-cs"/>
              </a:defRPr>
            </a:lvl9pPr>
          </a:lstStyle>
          <a:p>
            <a:pPr>
              <a:defRPr/>
            </a:pPr>
            <a:fld id="{69B0E891-B98C-44D2-AD8F-C733BD4A6D71}" type="slidenum">
              <a:rPr lang="zh-TW" altLang="en-US" sz="1400" baseline="0" smtClean="0">
                <a:latin typeface="Times New Roman" panose="02020603050405020304" pitchFamily="18" charset="0"/>
                <a:ea typeface="標楷體" panose="03000509000000000000" pitchFamily="65" charset="-120"/>
              </a:rPr>
              <a:pPr>
                <a:defRPr/>
              </a:pPr>
              <a:t>‹#›</a:t>
            </a:fld>
            <a:endParaRPr lang="en-US" altLang="zh-TW" sz="1400" baseline="0" dirty="0">
              <a:latin typeface="Times New Roman" panose="02020603050405020304" pitchFamily="18" charset="0"/>
              <a:ea typeface="標楷體" panose="03000509000000000000" pitchFamily="65" charset="-120"/>
            </a:endParaRPr>
          </a:p>
        </p:txBody>
      </p:sp>
      <p:sp>
        <p:nvSpPr>
          <p:cNvPr id="2" name="標題 1"/>
          <p:cNvSpPr>
            <a:spLocks noGrp="1"/>
          </p:cNvSpPr>
          <p:nvPr>
            <p:ph type="title"/>
          </p:nvPr>
        </p:nvSpPr>
        <p:spPr/>
        <p:txBody>
          <a:bodyPr/>
          <a:lstStyle>
            <a:lvl1pPr>
              <a:defRPr sz="3200" baseline="0">
                <a:latin typeface="Times New Roman" panose="02020603050405020304" pitchFamily="18" charset="0"/>
                <a:ea typeface="標楷體" panose="03000509000000000000" pitchFamily="65" charset="-120"/>
              </a:defRPr>
            </a:lvl1pPr>
          </a:lstStyle>
          <a:p>
            <a:r>
              <a:rPr lang="zh-TW" altLang="en-US" dirty="0"/>
              <a:t>按一下以編輯母片標題樣式</a:t>
            </a:r>
          </a:p>
        </p:txBody>
      </p:sp>
      <p:sp>
        <p:nvSpPr>
          <p:cNvPr id="3" name="內容版面配置區 2"/>
          <p:cNvSpPr>
            <a:spLocks noGrp="1"/>
          </p:cNvSpPr>
          <p:nvPr>
            <p:ph idx="1"/>
          </p:nvPr>
        </p:nvSpPr>
        <p:spPr/>
        <p:txBody>
          <a:bodyPr/>
          <a:lstStyle>
            <a:lvl1pPr>
              <a:defRPr sz="2800" baseline="0">
                <a:latin typeface="Times New Roman" panose="02020603050405020304" pitchFamily="18" charset="0"/>
                <a:ea typeface="標楷體" panose="03000509000000000000" pitchFamily="65" charset="-120"/>
              </a:defRPr>
            </a:lvl1pPr>
            <a:lvl2pPr>
              <a:defRPr sz="2400" baseline="0">
                <a:latin typeface="Times New Roman" panose="02020603050405020304" pitchFamily="18" charset="0"/>
                <a:ea typeface="標楷體" panose="03000509000000000000" pitchFamily="65" charset="-120"/>
              </a:defRPr>
            </a:lvl2pPr>
            <a:lvl3pPr>
              <a:defRPr sz="2200" baseline="0">
                <a:latin typeface="Times New Roman" panose="02020603050405020304" pitchFamily="18" charset="0"/>
                <a:ea typeface="標楷體" panose="03000509000000000000" pitchFamily="65" charset="-120"/>
              </a:defRPr>
            </a:lvl3pPr>
            <a:lvl4pPr>
              <a:defRPr sz="2000" baseline="0">
                <a:latin typeface="Times New Roman" panose="02020603050405020304" pitchFamily="18" charset="0"/>
                <a:ea typeface="標楷體" panose="03000509000000000000" pitchFamily="65" charset="-120"/>
              </a:defRPr>
            </a:lvl4pPr>
            <a:lvl5pPr>
              <a:defRPr sz="2000" baseline="0">
                <a:latin typeface="Times New Roman" panose="02020603050405020304" pitchFamily="18" charset="0"/>
                <a:ea typeface="標楷體" panose="03000509000000000000" pitchFamily="65" charset="-120"/>
              </a:defRPr>
            </a:lvl5pPr>
          </a:lstStyle>
          <a:p>
            <a:pPr lvl="0"/>
            <a:r>
              <a:rPr lang="zh-TW" altLang="en-US" dirty="0"/>
              <a:t>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pic>
        <p:nvPicPr>
          <p:cNvPr id="6" name="圖片 5">
            <a:extLst>
              <a:ext uri="{FF2B5EF4-FFF2-40B4-BE49-F238E27FC236}">
                <a16:creationId xmlns:a16="http://schemas.microsoft.com/office/drawing/2014/main" id="{CB7FDDD4-34FF-4C30-A3FA-0C9DE9C65A82}"/>
              </a:ext>
            </a:extLst>
          </p:cNvPr>
          <p:cNvPicPr>
            <a:picLocks noChangeAspect="1"/>
          </p:cNvPicPr>
          <p:nvPr userDrawn="1"/>
        </p:nvPicPr>
        <p:blipFill>
          <a:blip r:embed="rId2"/>
          <a:stretch>
            <a:fillRect/>
          </a:stretch>
        </p:blipFill>
        <p:spPr>
          <a:xfrm>
            <a:off x="0" y="6121662"/>
            <a:ext cx="12192000" cy="216208"/>
          </a:xfrm>
          <a:prstGeom prst="rect">
            <a:avLst/>
          </a:prstGeom>
        </p:spPr>
      </p:pic>
      <p:pic>
        <p:nvPicPr>
          <p:cNvPr id="8" name="圖片 7">
            <a:extLst>
              <a:ext uri="{FF2B5EF4-FFF2-40B4-BE49-F238E27FC236}">
                <a16:creationId xmlns:a16="http://schemas.microsoft.com/office/drawing/2014/main" id="{7BBD6104-E76A-4DD4-96A1-B5DFE36EE11D}"/>
              </a:ext>
            </a:extLst>
          </p:cNvPr>
          <p:cNvPicPr>
            <a:picLocks noChangeAspect="1"/>
          </p:cNvPicPr>
          <p:nvPr userDrawn="1"/>
        </p:nvPicPr>
        <p:blipFill>
          <a:blip r:embed="rId3"/>
          <a:stretch>
            <a:fillRect/>
          </a:stretch>
        </p:blipFill>
        <p:spPr>
          <a:xfrm>
            <a:off x="10210800" y="0"/>
            <a:ext cx="1981200" cy="283029"/>
          </a:xfrm>
          <a:prstGeom prst="rect">
            <a:avLst/>
          </a:prstGeom>
        </p:spPr>
      </p:pic>
      <p:sp>
        <p:nvSpPr>
          <p:cNvPr id="9" name="內容版面配置區 2">
            <a:extLst>
              <a:ext uri="{FF2B5EF4-FFF2-40B4-BE49-F238E27FC236}">
                <a16:creationId xmlns:a16="http://schemas.microsoft.com/office/drawing/2014/main" id="{6537E7AB-D74C-4DDB-911A-5E4E55C8C56F}"/>
              </a:ext>
            </a:extLst>
          </p:cNvPr>
          <p:cNvSpPr>
            <a:spLocks noGrp="1"/>
          </p:cNvSpPr>
          <p:nvPr>
            <p:ph idx="10" hasCustomPrompt="1"/>
          </p:nvPr>
        </p:nvSpPr>
        <p:spPr>
          <a:xfrm>
            <a:off x="495728" y="6340475"/>
            <a:ext cx="10705672" cy="350555"/>
          </a:xfrm>
        </p:spPr>
        <p:txBody>
          <a:bodyPr/>
          <a:lstStyle>
            <a:lvl1pPr marL="0" indent="0">
              <a:buFontTx/>
              <a:buNone/>
              <a:defRPr sz="1400" baseline="0">
                <a:latin typeface="Times New Roman" panose="02020603050405020304" pitchFamily="18" charset="0"/>
                <a:ea typeface="標楷體" panose="03000509000000000000" pitchFamily="65" charset="-120"/>
              </a:defRPr>
            </a:lvl1pPr>
            <a:lvl2pPr>
              <a:defRPr sz="2400" baseline="0">
                <a:latin typeface="Times New Roman" panose="02020603050405020304" pitchFamily="18" charset="0"/>
                <a:ea typeface="標楷體" panose="03000509000000000000" pitchFamily="65" charset="-120"/>
              </a:defRPr>
            </a:lvl2pPr>
          </a:lstStyle>
          <a:p>
            <a:pPr lvl="0"/>
            <a:r>
              <a:rPr lang="zh-TW" altLang="en-US" dirty="0"/>
              <a:t>編輯母片文字樣式</a:t>
            </a:r>
          </a:p>
        </p:txBody>
      </p:sp>
    </p:spTree>
    <p:extLst>
      <p:ext uri="{BB962C8B-B14F-4D97-AF65-F5344CB8AC3E}">
        <p14:creationId xmlns:p14="http://schemas.microsoft.com/office/powerpoint/2010/main" val="37873401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baseline="0"/>
            </a:lvl1pPr>
          </a:lstStyle>
          <a:p>
            <a:r>
              <a:rPr lang="zh-TW" altLang="en-US"/>
              <a:t>按一下以編輯母片標題樣式</a:t>
            </a:r>
          </a:p>
        </p:txBody>
      </p:sp>
      <p:sp>
        <p:nvSpPr>
          <p:cNvPr id="3" name="內容版面配置區 2"/>
          <p:cNvSpPr>
            <a:spLocks noGrp="1"/>
          </p:cNvSpPr>
          <p:nvPr>
            <p:ph sz="half" idx="1"/>
          </p:nvPr>
        </p:nvSpPr>
        <p:spPr>
          <a:xfrm>
            <a:off x="565152" y="914400"/>
            <a:ext cx="5556249" cy="5191125"/>
          </a:xfrm>
        </p:spPr>
        <p:txBody>
          <a:bodyPr/>
          <a:lstStyle>
            <a:lvl1pPr>
              <a:defRPr sz="2800" baseline="0"/>
            </a:lvl1pPr>
            <a:lvl2pPr>
              <a:defRPr sz="2400" baseline="0"/>
            </a:lvl2pPr>
            <a:lvl3pPr>
              <a:defRPr sz="2000" baseline="0"/>
            </a:lvl3pPr>
            <a:lvl4pPr>
              <a:defRPr sz="1800" baseline="0"/>
            </a:lvl4pPr>
            <a:lvl5pPr>
              <a:defRPr sz="1800" baseline="0"/>
            </a:lvl5pPr>
            <a:lvl6pPr>
              <a:defRPr sz="1800"/>
            </a:lvl6pPr>
            <a:lvl7pPr>
              <a:defRPr sz="1800"/>
            </a:lvl7pPr>
            <a:lvl8pPr>
              <a:defRPr sz="1800"/>
            </a:lvl8pPr>
            <a:lvl9pPr>
              <a:defRPr sz="18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324601" y="914400"/>
            <a:ext cx="5558367" cy="5191125"/>
          </a:xfrm>
        </p:spPr>
        <p:txBody>
          <a:bodyPr/>
          <a:lstStyle>
            <a:lvl1pPr>
              <a:defRPr sz="2800" baseline="0"/>
            </a:lvl1pPr>
            <a:lvl2pPr>
              <a:defRPr sz="2400" baseline="0"/>
            </a:lvl2pPr>
            <a:lvl3pPr>
              <a:defRPr sz="2000" baseline="0"/>
            </a:lvl3pPr>
            <a:lvl4pPr>
              <a:defRPr sz="1800" baseline="0"/>
            </a:lvl4pPr>
            <a:lvl5pPr>
              <a:defRPr sz="1800" baseline="0"/>
            </a:lvl5pPr>
            <a:lvl6pPr>
              <a:defRPr sz="1800"/>
            </a:lvl6pPr>
            <a:lvl7pPr>
              <a:defRPr sz="1800"/>
            </a:lvl7pPr>
            <a:lvl8pPr>
              <a:defRPr sz="1800"/>
            </a:lvl8pPr>
            <a:lvl9pPr>
              <a:defRPr sz="18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Rectangle 28">
            <a:extLst>
              <a:ext uri="{FF2B5EF4-FFF2-40B4-BE49-F238E27FC236}">
                <a16:creationId xmlns:a16="http://schemas.microsoft.com/office/drawing/2014/main" id="{C777D388-01C3-486D-A87C-B924DC57D28F}"/>
              </a:ext>
            </a:extLst>
          </p:cNvPr>
          <p:cNvSpPr>
            <a:spLocks noGrp="1" noChangeArrowheads="1"/>
          </p:cNvSpPr>
          <p:nvPr>
            <p:ph type="sldNum" sz="quarter" idx="10"/>
          </p:nvPr>
        </p:nvSpPr>
        <p:spPr>
          <a:ln/>
        </p:spPr>
        <p:txBody>
          <a:bodyPr/>
          <a:lstStyle>
            <a:lvl1pPr>
              <a:defRPr baseline="0"/>
            </a:lvl1pPr>
          </a:lstStyle>
          <a:p>
            <a:fld id="{45D5892C-9710-48A3-8372-2122A7AD32EA}" type="slidenum">
              <a:rPr lang="zh-TW" altLang="en-US" smtClean="0"/>
              <a:pPr/>
              <a:t>‹#›</a:t>
            </a:fld>
            <a:endParaRPr lang="zh-TW" altLang="en-US"/>
          </a:p>
        </p:txBody>
      </p:sp>
      <p:pic>
        <p:nvPicPr>
          <p:cNvPr id="6" name="圖片 5">
            <a:extLst>
              <a:ext uri="{FF2B5EF4-FFF2-40B4-BE49-F238E27FC236}">
                <a16:creationId xmlns:a16="http://schemas.microsoft.com/office/drawing/2014/main" id="{4D893B48-16BE-E45D-6372-999419BFA527}"/>
              </a:ext>
            </a:extLst>
          </p:cNvPr>
          <p:cNvPicPr>
            <a:picLocks noChangeAspect="1"/>
          </p:cNvPicPr>
          <p:nvPr userDrawn="1"/>
        </p:nvPicPr>
        <p:blipFill>
          <a:blip r:embed="rId2"/>
          <a:stretch>
            <a:fillRect/>
          </a:stretch>
        </p:blipFill>
        <p:spPr>
          <a:xfrm>
            <a:off x="0" y="6116283"/>
            <a:ext cx="12192000" cy="216208"/>
          </a:xfrm>
          <a:prstGeom prst="rect">
            <a:avLst/>
          </a:prstGeom>
        </p:spPr>
      </p:pic>
    </p:spTree>
    <p:extLst>
      <p:ext uri="{BB962C8B-B14F-4D97-AF65-F5344CB8AC3E}">
        <p14:creationId xmlns:p14="http://schemas.microsoft.com/office/powerpoint/2010/main" val="17673081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609600" y="177801"/>
            <a:ext cx="10972800" cy="575732"/>
          </a:xfrm>
        </p:spPr>
        <p:txBody>
          <a:bodyPr/>
          <a:lstStyle>
            <a:lvl1pPr>
              <a:defRPr baseline="0"/>
            </a:lvl1pPr>
          </a:lstStyle>
          <a:p>
            <a:r>
              <a:rPr lang="zh-TW" altLang="en-US"/>
              <a:t>按一下以編輯母片標題樣式</a:t>
            </a:r>
          </a:p>
        </p:txBody>
      </p:sp>
      <p:sp>
        <p:nvSpPr>
          <p:cNvPr id="3" name="文字版面配置區 2"/>
          <p:cNvSpPr>
            <a:spLocks noGrp="1"/>
          </p:cNvSpPr>
          <p:nvPr>
            <p:ph type="body" idx="1"/>
          </p:nvPr>
        </p:nvSpPr>
        <p:spPr>
          <a:xfrm>
            <a:off x="609600" y="1535113"/>
            <a:ext cx="5386917" cy="639762"/>
          </a:xfrm>
        </p:spPr>
        <p:txBody>
          <a:bodyPr anchor="b"/>
          <a:lstStyle>
            <a:lvl1pPr marL="0" indent="0">
              <a:buNone/>
              <a:defRPr sz="2400" b="1"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p:cNvSpPr>
            <a:spLocks noGrp="1"/>
          </p:cNvSpPr>
          <p:nvPr>
            <p:ph sz="half" idx="2"/>
          </p:nvPr>
        </p:nvSpPr>
        <p:spPr>
          <a:xfrm>
            <a:off x="609600" y="2174875"/>
            <a:ext cx="5386917" cy="3951288"/>
          </a:xfrm>
        </p:spPr>
        <p:txBody>
          <a:bodyPr/>
          <a:lstStyle>
            <a:lvl1pPr>
              <a:defRPr sz="2400" baseline="0"/>
            </a:lvl1pPr>
            <a:lvl2pPr>
              <a:defRPr sz="2000" baseline="0"/>
            </a:lvl2pPr>
            <a:lvl3pPr>
              <a:defRPr sz="1800" baseline="0"/>
            </a:lvl3pPr>
            <a:lvl4pPr>
              <a:defRPr sz="1600" baseline="0"/>
            </a:lvl4pPr>
            <a:lvl5pPr>
              <a:defRPr sz="1600" baseline="0"/>
            </a:lvl5pPr>
            <a:lvl6pPr>
              <a:defRPr sz="1600"/>
            </a:lvl6pPr>
            <a:lvl7pPr>
              <a:defRPr sz="1600"/>
            </a:lvl7pPr>
            <a:lvl8pPr>
              <a:defRPr sz="1600"/>
            </a:lvl8pPr>
            <a:lvl9pPr>
              <a:defRPr sz="16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93368" y="1535113"/>
            <a:ext cx="5389033" cy="639762"/>
          </a:xfrm>
        </p:spPr>
        <p:txBody>
          <a:bodyPr anchor="b"/>
          <a:lstStyle>
            <a:lvl1pPr marL="0" indent="0">
              <a:buNone/>
              <a:defRPr sz="2400" b="1"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p:cNvSpPr>
            <a:spLocks noGrp="1"/>
          </p:cNvSpPr>
          <p:nvPr>
            <p:ph sz="quarter" idx="4"/>
          </p:nvPr>
        </p:nvSpPr>
        <p:spPr>
          <a:xfrm>
            <a:off x="6193368" y="2174875"/>
            <a:ext cx="5389033" cy="3951288"/>
          </a:xfrm>
        </p:spPr>
        <p:txBody>
          <a:bodyPr/>
          <a:lstStyle>
            <a:lvl1pPr>
              <a:defRPr sz="2400" baseline="0"/>
            </a:lvl1pPr>
            <a:lvl2pPr>
              <a:defRPr sz="2000" baseline="0"/>
            </a:lvl2pPr>
            <a:lvl3pPr>
              <a:defRPr sz="1800" baseline="0"/>
            </a:lvl3pPr>
            <a:lvl4pPr>
              <a:defRPr sz="1600" baseline="0"/>
            </a:lvl4pPr>
            <a:lvl5pPr>
              <a:defRPr sz="1600" baseline="0"/>
            </a:lvl5pPr>
            <a:lvl6pPr>
              <a:defRPr sz="1600"/>
            </a:lvl6pPr>
            <a:lvl7pPr>
              <a:defRPr sz="1600"/>
            </a:lvl7pPr>
            <a:lvl8pPr>
              <a:defRPr sz="1600"/>
            </a:lvl8pPr>
            <a:lvl9pPr>
              <a:defRPr sz="16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Rectangle 28">
            <a:extLst>
              <a:ext uri="{FF2B5EF4-FFF2-40B4-BE49-F238E27FC236}">
                <a16:creationId xmlns:a16="http://schemas.microsoft.com/office/drawing/2014/main" id="{B243DEEE-11C0-45AB-B44D-DA0457D58046}"/>
              </a:ext>
            </a:extLst>
          </p:cNvPr>
          <p:cNvSpPr>
            <a:spLocks noGrp="1" noChangeArrowheads="1"/>
          </p:cNvSpPr>
          <p:nvPr>
            <p:ph type="sldNum" sz="quarter" idx="10"/>
          </p:nvPr>
        </p:nvSpPr>
        <p:spPr>
          <a:ln/>
        </p:spPr>
        <p:txBody>
          <a:bodyPr/>
          <a:lstStyle>
            <a:lvl1pPr>
              <a:defRPr baseline="0"/>
            </a:lvl1pPr>
          </a:lstStyle>
          <a:p>
            <a:fld id="{45D5892C-9710-48A3-8372-2122A7AD32EA}" type="slidenum">
              <a:rPr lang="zh-TW" altLang="en-US" smtClean="0"/>
              <a:pPr/>
              <a:t>‹#›</a:t>
            </a:fld>
            <a:endParaRPr lang="zh-TW" altLang="en-US"/>
          </a:p>
        </p:txBody>
      </p:sp>
      <p:pic>
        <p:nvPicPr>
          <p:cNvPr id="8" name="圖片 7">
            <a:extLst>
              <a:ext uri="{FF2B5EF4-FFF2-40B4-BE49-F238E27FC236}">
                <a16:creationId xmlns:a16="http://schemas.microsoft.com/office/drawing/2014/main" id="{B112EF57-5A2F-97E4-31F4-6B2593170BE7}"/>
              </a:ext>
            </a:extLst>
          </p:cNvPr>
          <p:cNvPicPr>
            <a:picLocks noChangeAspect="1"/>
          </p:cNvPicPr>
          <p:nvPr userDrawn="1"/>
        </p:nvPicPr>
        <p:blipFill>
          <a:blip r:embed="rId2"/>
          <a:stretch>
            <a:fillRect/>
          </a:stretch>
        </p:blipFill>
        <p:spPr>
          <a:xfrm>
            <a:off x="0" y="6116283"/>
            <a:ext cx="12192000" cy="216208"/>
          </a:xfrm>
          <a:prstGeom prst="rect">
            <a:avLst/>
          </a:prstGeom>
        </p:spPr>
      </p:pic>
    </p:spTree>
    <p:extLst>
      <p:ext uri="{BB962C8B-B14F-4D97-AF65-F5344CB8AC3E}">
        <p14:creationId xmlns:p14="http://schemas.microsoft.com/office/powerpoint/2010/main" val="19884284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a:xfrm>
            <a:off x="550333" y="150813"/>
            <a:ext cx="11438467" cy="571500"/>
          </a:xfrm>
        </p:spPr>
        <p:txBody>
          <a:bodyPr/>
          <a:lstStyle/>
          <a:p>
            <a:r>
              <a:rPr lang="zh-TW" altLang="en-US"/>
              <a:t>按一下以編輯母片標題樣式</a:t>
            </a:r>
          </a:p>
        </p:txBody>
      </p:sp>
      <p:sp>
        <p:nvSpPr>
          <p:cNvPr id="3" name="Rectangle 28">
            <a:extLst>
              <a:ext uri="{FF2B5EF4-FFF2-40B4-BE49-F238E27FC236}">
                <a16:creationId xmlns:a16="http://schemas.microsoft.com/office/drawing/2014/main" id="{C39D7682-F964-461A-AAAE-372642E0A382}"/>
              </a:ext>
            </a:extLst>
          </p:cNvPr>
          <p:cNvSpPr>
            <a:spLocks noGrp="1" noChangeArrowheads="1"/>
          </p:cNvSpPr>
          <p:nvPr>
            <p:ph type="sldNum" sz="quarter" idx="10"/>
          </p:nvPr>
        </p:nvSpPr>
        <p:spPr>
          <a:ln/>
        </p:spPr>
        <p:txBody>
          <a:bodyPr/>
          <a:lstStyle>
            <a:lvl1pPr>
              <a:defRPr/>
            </a:lvl1pPr>
          </a:lstStyle>
          <a:p>
            <a:fld id="{45D5892C-9710-48A3-8372-2122A7AD32EA}" type="slidenum">
              <a:rPr lang="zh-TW" altLang="en-US" smtClean="0"/>
              <a:t>‹#›</a:t>
            </a:fld>
            <a:endParaRPr lang="zh-TW" altLang="en-US"/>
          </a:p>
        </p:txBody>
      </p:sp>
      <p:pic>
        <p:nvPicPr>
          <p:cNvPr id="4" name="圖片 3">
            <a:extLst>
              <a:ext uri="{FF2B5EF4-FFF2-40B4-BE49-F238E27FC236}">
                <a16:creationId xmlns:a16="http://schemas.microsoft.com/office/drawing/2014/main" id="{20D15BFF-517B-3F62-F57C-7D32F1722A22}"/>
              </a:ext>
            </a:extLst>
          </p:cNvPr>
          <p:cNvPicPr>
            <a:picLocks noChangeAspect="1"/>
          </p:cNvPicPr>
          <p:nvPr userDrawn="1"/>
        </p:nvPicPr>
        <p:blipFill>
          <a:blip r:embed="rId2"/>
          <a:stretch>
            <a:fillRect/>
          </a:stretch>
        </p:blipFill>
        <p:spPr>
          <a:xfrm>
            <a:off x="0" y="6116283"/>
            <a:ext cx="12192000" cy="216208"/>
          </a:xfrm>
          <a:prstGeom prst="rect">
            <a:avLst/>
          </a:prstGeom>
        </p:spPr>
      </p:pic>
    </p:spTree>
    <p:extLst>
      <p:ext uri="{BB962C8B-B14F-4D97-AF65-F5344CB8AC3E}">
        <p14:creationId xmlns:p14="http://schemas.microsoft.com/office/powerpoint/2010/main" val="21040158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8">
            <a:extLst>
              <a:ext uri="{FF2B5EF4-FFF2-40B4-BE49-F238E27FC236}">
                <a16:creationId xmlns:a16="http://schemas.microsoft.com/office/drawing/2014/main" id="{F27029BD-E6AF-407F-ACA5-95E13AE34ACC}"/>
              </a:ext>
            </a:extLst>
          </p:cNvPr>
          <p:cNvSpPr>
            <a:spLocks noGrp="1" noChangeArrowheads="1"/>
          </p:cNvSpPr>
          <p:nvPr>
            <p:ph type="sldNum" sz="quarter" idx="10"/>
          </p:nvPr>
        </p:nvSpPr>
        <p:spPr>
          <a:ln/>
        </p:spPr>
        <p:txBody>
          <a:bodyPr/>
          <a:lstStyle>
            <a:lvl1pPr>
              <a:defRPr/>
            </a:lvl1pPr>
          </a:lstStyle>
          <a:p>
            <a:fld id="{45D5892C-9710-48A3-8372-2122A7AD32EA}" type="slidenum">
              <a:rPr lang="zh-TW" altLang="en-US" smtClean="0"/>
              <a:t>‹#›</a:t>
            </a:fld>
            <a:endParaRPr lang="zh-TW" altLang="en-US"/>
          </a:p>
        </p:txBody>
      </p:sp>
      <p:pic>
        <p:nvPicPr>
          <p:cNvPr id="3" name="圖片 2">
            <a:extLst>
              <a:ext uri="{FF2B5EF4-FFF2-40B4-BE49-F238E27FC236}">
                <a16:creationId xmlns:a16="http://schemas.microsoft.com/office/drawing/2014/main" id="{76503788-F803-DC83-ED63-88E8F575E8A2}"/>
              </a:ext>
            </a:extLst>
          </p:cNvPr>
          <p:cNvPicPr>
            <a:picLocks noChangeAspect="1"/>
          </p:cNvPicPr>
          <p:nvPr userDrawn="1"/>
        </p:nvPicPr>
        <p:blipFill>
          <a:blip r:embed="rId2"/>
          <a:stretch>
            <a:fillRect/>
          </a:stretch>
        </p:blipFill>
        <p:spPr>
          <a:xfrm>
            <a:off x="0" y="6116283"/>
            <a:ext cx="12192000" cy="216208"/>
          </a:xfrm>
          <a:prstGeom prst="rect">
            <a:avLst/>
          </a:prstGeom>
        </p:spPr>
      </p:pic>
    </p:spTree>
    <p:extLst>
      <p:ext uri="{BB962C8B-B14F-4D97-AF65-F5344CB8AC3E}">
        <p14:creationId xmlns:p14="http://schemas.microsoft.com/office/powerpoint/2010/main" val="19841512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09599" y="228601"/>
            <a:ext cx="11356623" cy="505355"/>
          </a:xfrm>
        </p:spPr>
        <p:txBody>
          <a:bodyPr/>
          <a:lstStyle>
            <a:lvl1pPr algn="l">
              <a:defRPr sz="2000" b="1"/>
            </a:lvl1pPr>
          </a:lstStyle>
          <a:p>
            <a:r>
              <a:rPr lang="zh-TW" altLang="en-US"/>
              <a:t>按一下以編輯母片標題樣式</a:t>
            </a:r>
            <a:endParaRPr lang="zh-TW" altLang="en-US" dirty="0"/>
          </a:p>
        </p:txBody>
      </p:sp>
      <p:sp>
        <p:nvSpPr>
          <p:cNvPr id="3" name="內容版面配置區 2"/>
          <p:cNvSpPr>
            <a:spLocks noGrp="1"/>
          </p:cNvSpPr>
          <p:nvPr>
            <p:ph idx="1"/>
          </p:nvPr>
        </p:nvSpPr>
        <p:spPr>
          <a:xfrm>
            <a:off x="4766733" y="948267"/>
            <a:ext cx="7199488" cy="5177896"/>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609601" y="948268"/>
            <a:ext cx="4011084" cy="517789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編輯母片文字樣式</a:t>
            </a:r>
          </a:p>
        </p:txBody>
      </p:sp>
      <p:sp>
        <p:nvSpPr>
          <p:cNvPr id="5" name="Rectangle 28">
            <a:extLst>
              <a:ext uri="{FF2B5EF4-FFF2-40B4-BE49-F238E27FC236}">
                <a16:creationId xmlns:a16="http://schemas.microsoft.com/office/drawing/2014/main" id="{E618970D-DD05-4ECF-8733-3A668C35F980}"/>
              </a:ext>
            </a:extLst>
          </p:cNvPr>
          <p:cNvSpPr>
            <a:spLocks noGrp="1" noChangeArrowheads="1"/>
          </p:cNvSpPr>
          <p:nvPr>
            <p:ph type="sldNum" sz="quarter" idx="10"/>
          </p:nvPr>
        </p:nvSpPr>
        <p:spPr>
          <a:ln/>
        </p:spPr>
        <p:txBody>
          <a:bodyPr/>
          <a:lstStyle>
            <a:lvl1pPr>
              <a:defRPr/>
            </a:lvl1pPr>
          </a:lstStyle>
          <a:p>
            <a:fld id="{45D5892C-9710-48A3-8372-2122A7AD32EA}" type="slidenum">
              <a:rPr lang="zh-TW" altLang="en-US" smtClean="0"/>
              <a:t>‹#›</a:t>
            </a:fld>
            <a:endParaRPr lang="zh-TW" altLang="en-US"/>
          </a:p>
        </p:txBody>
      </p:sp>
      <p:pic>
        <p:nvPicPr>
          <p:cNvPr id="6" name="圖片 5">
            <a:extLst>
              <a:ext uri="{FF2B5EF4-FFF2-40B4-BE49-F238E27FC236}">
                <a16:creationId xmlns:a16="http://schemas.microsoft.com/office/drawing/2014/main" id="{50F9C425-8EE6-52EC-F828-4140E6EFA47A}"/>
              </a:ext>
            </a:extLst>
          </p:cNvPr>
          <p:cNvPicPr>
            <a:picLocks noChangeAspect="1"/>
          </p:cNvPicPr>
          <p:nvPr userDrawn="1"/>
        </p:nvPicPr>
        <p:blipFill>
          <a:blip r:embed="rId2"/>
          <a:stretch>
            <a:fillRect/>
          </a:stretch>
        </p:blipFill>
        <p:spPr>
          <a:xfrm>
            <a:off x="0" y="6116283"/>
            <a:ext cx="12192000" cy="216208"/>
          </a:xfrm>
          <a:prstGeom prst="rect">
            <a:avLst/>
          </a:prstGeom>
        </p:spPr>
      </p:pic>
    </p:spTree>
    <p:extLst>
      <p:ext uri="{BB962C8B-B14F-4D97-AF65-F5344CB8AC3E}">
        <p14:creationId xmlns:p14="http://schemas.microsoft.com/office/powerpoint/2010/main" val="14053242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594783" y="135466"/>
            <a:ext cx="11360151" cy="566738"/>
          </a:xfrm>
        </p:spPr>
        <p:txBody>
          <a:bodyPr/>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2389717" y="939800"/>
            <a:ext cx="7315200" cy="378777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TW" altLang="en-US" noProof="0"/>
              <a:t>按一下圖示以新增圖片</a:t>
            </a:r>
          </a:p>
        </p:txBody>
      </p:sp>
      <p:sp>
        <p:nvSpPr>
          <p:cNvPr id="4" name="文字版面配置區 3"/>
          <p:cNvSpPr>
            <a:spLocks noGrp="1"/>
          </p:cNvSpPr>
          <p:nvPr>
            <p:ph type="body" sz="half" idx="2"/>
          </p:nvPr>
        </p:nvSpPr>
        <p:spPr>
          <a:xfrm>
            <a:off x="2389717" y="5028672"/>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編輯母片文字樣式</a:t>
            </a:r>
          </a:p>
        </p:txBody>
      </p:sp>
      <p:sp>
        <p:nvSpPr>
          <p:cNvPr id="5" name="Rectangle 28">
            <a:extLst>
              <a:ext uri="{FF2B5EF4-FFF2-40B4-BE49-F238E27FC236}">
                <a16:creationId xmlns:a16="http://schemas.microsoft.com/office/drawing/2014/main" id="{C45A8477-25E2-4F3E-A2CA-70F6EA99A4A9}"/>
              </a:ext>
            </a:extLst>
          </p:cNvPr>
          <p:cNvSpPr>
            <a:spLocks noGrp="1" noChangeArrowheads="1"/>
          </p:cNvSpPr>
          <p:nvPr>
            <p:ph type="sldNum" sz="quarter" idx="10"/>
          </p:nvPr>
        </p:nvSpPr>
        <p:spPr>
          <a:ln/>
        </p:spPr>
        <p:txBody>
          <a:bodyPr/>
          <a:lstStyle>
            <a:lvl1pPr>
              <a:defRPr/>
            </a:lvl1pPr>
          </a:lstStyle>
          <a:p>
            <a:fld id="{45D5892C-9710-48A3-8372-2122A7AD32EA}" type="slidenum">
              <a:rPr lang="zh-TW" altLang="en-US" smtClean="0"/>
              <a:t>‹#›</a:t>
            </a:fld>
            <a:endParaRPr lang="zh-TW" altLang="en-US"/>
          </a:p>
        </p:txBody>
      </p:sp>
      <p:pic>
        <p:nvPicPr>
          <p:cNvPr id="6" name="圖片 5">
            <a:extLst>
              <a:ext uri="{FF2B5EF4-FFF2-40B4-BE49-F238E27FC236}">
                <a16:creationId xmlns:a16="http://schemas.microsoft.com/office/drawing/2014/main" id="{302888C7-1B6B-55CD-3260-A183B3AD7E30}"/>
              </a:ext>
            </a:extLst>
          </p:cNvPr>
          <p:cNvPicPr>
            <a:picLocks noChangeAspect="1"/>
          </p:cNvPicPr>
          <p:nvPr userDrawn="1"/>
        </p:nvPicPr>
        <p:blipFill>
          <a:blip r:embed="rId2"/>
          <a:stretch>
            <a:fillRect/>
          </a:stretch>
        </p:blipFill>
        <p:spPr>
          <a:xfrm>
            <a:off x="0" y="6116283"/>
            <a:ext cx="12192000" cy="216208"/>
          </a:xfrm>
          <a:prstGeom prst="rect">
            <a:avLst/>
          </a:prstGeom>
        </p:spPr>
      </p:pic>
    </p:spTree>
    <p:extLst>
      <p:ext uri="{BB962C8B-B14F-4D97-AF65-F5344CB8AC3E}">
        <p14:creationId xmlns:p14="http://schemas.microsoft.com/office/powerpoint/2010/main" val="7773602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Rectangle 28">
            <a:extLst>
              <a:ext uri="{FF2B5EF4-FFF2-40B4-BE49-F238E27FC236}">
                <a16:creationId xmlns:a16="http://schemas.microsoft.com/office/drawing/2014/main" id="{A425C922-DC02-4EB7-87C5-86932890B28B}"/>
              </a:ext>
            </a:extLst>
          </p:cNvPr>
          <p:cNvSpPr>
            <a:spLocks noGrp="1" noChangeArrowheads="1"/>
          </p:cNvSpPr>
          <p:nvPr>
            <p:ph type="sldNum" sz="quarter" idx="10"/>
          </p:nvPr>
        </p:nvSpPr>
        <p:spPr>
          <a:ln/>
        </p:spPr>
        <p:txBody>
          <a:bodyPr/>
          <a:lstStyle>
            <a:lvl1pPr>
              <a:defRPr/>
            </a:lvl1pPr>
          </a:lstStyle>
          <a:p>
            <a:fld id="{45D5892C-9710-48A3-8372-2122A7AD32EA}" type="slidenum">
              <a:rPr lang="zh-TW" altLang="en-US" smtClean="0"/>
              <a:t>‹#›</a:t>
            </a:fld>
            <a:endParaRPr lang="zh-TW" altLang="en-US"/>
          </a:p>
        </p:txBody>
      </p:sp>
      <p:pic>
        <p:nvPicPr>
          <p:cNvPr id="5" name="圖片 4">
            <a:extLst>
              <a:ext uri="{FF2B5EF4-FFF2-40B4-BE49-F238E27FC236}">
                <a16:creationId xmlns:a16="http://schemas.microsoft.com/office/drawing/2014/main" id="{BE837BF0-9322-459D-EC50-1D7F6B46FE5A}"/>
              </a:ext>
            </a:extLst>
          </p:cNvPr>
          <p:cNvPicPr>
            <a:picLocks noChangeAspect="1"/>
          </p:cNvPicPr>
          <p:nvPr userDrawn="1"/>
        </p:nvPicPr>
        <p:blipFill>
          <a:blip r:embed="rId2"/>
          <a:stretch>
            <a:fillRect/>
          </a:stretch>
        </p:blipFill>
        <p:spPr>
          <a:xfrm>
            <a:off x="0" y="6116283"/>
            <a:ext cx="12192000" cy="216208"/>
          </a:xfrm>
          <a:prstGeom prst="rect">
            <a:avLst/>
          </a:prstGeom>
        </p:spPr>
      </p:pic>
    </p:spTree>
    <p:extLst>
      <p:ext uri="{BB962C8B-B14F-4D97-AF65-F5344CB8AC3E}">
        <p14:creationId xmlns:p14="http://schemas.microsoft.com/office/powerpoint/2010/main" val="20688488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9139063" y="931333"/>
            <a:ext cx="2842683" cy="5174192"/>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550334" y="931333"/>
            <a:ext cx="8329084" cy="5174192"/>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4" name="Rectangle 28">
            <a:extLst>
              <a:ext uri="{FF2B5EF4-FFF2-40B4-BE49-F238E27FC236}">
                <a16:creationId xmlns:a16="http://schemas.microsoft.com/office/drawing/2014/main" id="{42F45190-893E-4A4D-AC70-724C5AF4D211}"/>
              </a:ext>
            </a:extLst>
          </p:cNvPr>
          <p:cNvSpPr>
            <a:spLocks noGrp="1" noChangeArrowheads="1"/>
          </p:cNvSpPr>
          <p:nvPr>
            <p:ph type="sldNum" sz="quarter" idx="10"/>
          </p:nvPr>
        </p:nvSpPr>
        <p:spPr>
          <a:ln/>
        </p:spPr>
        <p:txBody>
          <a:bodyPr/>
          <a:lstStyle>
            <a:lvl1pPr>
              <a:defRPr/>
            </a:lvl1pPr>
          </a:lstStyle>
          <a:p>
            <a:fld id="{45D5892C-9710-48A3-8372-2122A7AD32EA}" type="slidenum">
              <a:rPr lang="zh-TW" altLang="en-US" smtClean="0"/>
              <a:t>‹#›</a:t>
            </a:fld>
            <a:endParaRPr lang="zh-TW" altLang="en-US"/>
          </a:p>
        </p:txBody>
      </p:sp>
      <p:pic>
        <p:nvPicPr>
          <p:cNvPr id="5" name="圖片 4">
            <a:extLst>
              <a:ext uri="{FF2B5EF4-FFF2-40B4-BE49-F238E27FC236}">
                <a16:creationId xmlns:a16="http://schemas.microsoft.com/office/drawing/2014/main" id="{5B2D1CF3-7FC4-BA66-E0BC-42D6639BC533}"/>
              </a:ext>
            </a:extLst>
          </p:cNvPr>
          <p:cNvPicPr>
            <a:picLocks noChangeAspect="1"/>
          </p:cNvPicPr>
          <p:nvPr userDrawn="1"/>
        </p:nvPicPr>
        <p:blipFill>
          <a:blip r:embed="rId2"/>
          <a:stretch>
            <a:fillRect/>
          </a:stretch>
        </p:blipFill>
        <p:spPr>
          <a:xfrm>
            <a:off x="0" y="6116283"/>
            <a:ext cx="12192000" cy="216208"/>
          </a:xfrm>
          <a:prstGeom prst="rect">
            <a:avLst/>
          </a:prstGeom>
        </p:spPr>
      </p:pic>
    </p:spTree>
    <p:extLst>
      <p:ext uri="{BB962C8B-B14F-4D97-AF65-F5344CB8AC3E}">
        <p14:creationId xmlns:p14="http://schemas.microsoft.com/office/powerpoint/2010/main" val="23184733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A9ABF8AB-B0B8-4681-BD44-8CF5E845AA7F}"/>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26" name="Rectangle 4">
            <a:extLst>
              <a:ext uri="{FF2B5EF4-FFF2-40B4-BE49-F238E27FC236}">
                <a16:creationId xmlns:a16="http://schemas.microsoft.com/office/drawing/2014/main" id="{E37310E9-2521-4BB7-B15D-959B68467A8B}"/>
              </a:ext>
            </a:extLst>
          </p:cNvPr>
          <p:cNvSpPr>
            <a:spLocks noGrp="1" noChangeArrowheads="1"/>
          </p:cNvSpPr>
          <p:nvPr>
            <p:ph type="title"/>
          </p:nvPr>
        </p:nvSpPr>
        <p:spPr bwMode="auto">
          <a:xfrm>
            <a:off x="565151" y="141288"/>
            <a:ext cx="114173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endParaRPr lang="en-US" altLang="zh-TW" dirty="0"/>
          </a:p>
        </p:txBody>
      </p:sp>
      <p:sp>
        <p:nvSpPr>
          <p:cNvPr id="1027" name="Rectangle 5">
            <a:extLst>
              <a:ext uri="{FF2B5EF4-FFF2-40B4-BE49-F238E27FC236}">
                <a16:creationId xmlns:a16="http://schemas.microsoft.com/office/drawing/2014/main" id="{794864E5-9918-4FF7-9866-35661BF2624E}"/>
              </a:ext>
            </a:extLst>
          </p:cNvPr>
          <p:cNvSpPr>
            <a:spLocks noGrp="1" noChangeArrowheads="1"/>
          </p:cNvSpPr>
          <p:nvPr>
            <p:ph type="body" idx="1"/>
          </p:nvPr>
        </p:nvSpPr>
        <p:spPr bwMode="auto">
          <a:xfrm>
            <a:off x="565151" y="914400"/>
            <a:ext cx="11417300" cy="519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TW" dirty="0" err="1"/>
              <a:t>Klicken</a:t>
            </a:r>
            <a:r>
              <a:rPr lang="en-US" altLang="zh-TW" dirty="0"/>
              <a:t> Sie, um die </a:t>
            </a:r>
            <a:r>
              <a:rPr lang="en-US" altLang="zh-TW" dirty="0" err="1"/>
              <a:t>Formate</a:t>
            </a:r>
            <a:r>
              <a:rPr lang="en-US" altLang="zh-TW" dirty="0"/>
              <a:t> des </a:t>
            </a:r>
            <a:r>
              <a:rPr lang="en-US" altLang="zh-TW" dirty="0" err="1"/>
              <a:t>Vorlagentextes</a:t>
            </a:r>
            <a:r>
              <a:rPr lang="en-US" altLang="zh-TW" dirty="0"/>
              <a:t> </a:t>
            </a:r>
            <a:r>
              <a:rPr lang="en-US" altLang="zh-TW" dirty="0" err="1"/>
              <a:t>zu</a:t>
            </a:r>
            <a:r>
              <a:rPr lang="en-US" altLang="zh-TW" dirty="0"/>
              <a:t> </a:t>
            </a:r>
            <a:r>
              <a:rPr lang="en-US" altLang="zh-TW" dirty="0" err="1"/>
              <a:t>bearbeiten</a:t>
            </a:r>
            <a:endParaRPr lang="en-US" altLang="zh-TW" dirty="0"/>
          </a:p>
          <a:p>
            <a:pPr lvl="1"/>
            <a:r>
              <a:rPr lang="en-US" altLang="zh-TW" dirty="0" err="1"/>
              <a:t>Zweite</a:t>
            </a:r>
            <a:r>
              <a:rPr lang="en-US" altLang="zh-TW" dirty="0"/>
              <a:t> </a:t>
            </a:r>
            <a:r>
              <a:rPr lang="en-US" altLang="zh-TW" dirty="0" err="1"/>
              <a:t>Ebene</a:t>
            </a:r>
            <a:endParaRPr lang="en-US" altLang="zh-TW" dirty="0"/>
          </a:p>
          <a:p>
            <a:pPr lvl="2"/>
            <a:r>
              <a:rPr lang="en-US" altLang="zh-TW" dirty="0" err="1"/>
              <a:t>Dritte</a:t>
            </a:r>
            <a:r>
              <a:rPr lang="en-US" altLang="zh-TW" dirty="0"/>
              <a:t> </a:t>
            </a:r>
            <a:r>
              <a:rPr lang="en-US" altLang="zh-TW" dirty="0" err="1"/>
              <a:t>Ebene</a:t>
            </a:r>
            <a:endParaRPr lang="en-US" altLang="zh-TW" dirty="0"/>
          </a:p>
          <a:p>
            <a:pPr lvl="3"/>
            <a:r>
              <a:rPr lang="en-US" altLang="zh-TW" dirty="0" err="1"/>
              <a:t>Vierte</a:t>
            </a:r>
            <a:r>
              <a:rPr lang="en-US" altLang="zh-TW" dirty="0"/>
              <a:t> </a:t>
            </a:r>
            <a:r>
              <a:rPr lang="en-US" altLang="zh-TW" dirty="0" err="1"/>
              <a:t>Ebene</a:t>
            </a:r>
            <a:endParaRPr lang="en-US" altLang="zh-TW" dirty="0"/>
          </a:p>
          <a:p>
            <a:pPr lvl="4"/>
            <a:r>
              <a:rPr lang="en-US" altLang="zh-TW" dirty="0" err="1"/>
              <a:t>Fünfte</a:t>
            </a:r>
            <a:r>
              <a:rPr lang="en-US" altLang="zh-TW" dirty="0"/>
              <a:t> </a:t>
            </a:r>
            <a:r>
              <a:rPr lang="en-US" altLang="zh-TW" dirty="0" err="1"/>
              <a:t>Ebene</a:t>
            </a:r>
            <a:endParaRPr lang="en-US" altLang="zh-TW" dirty="0"/>
          </a:p>
        </p:txBody>
      </p:sp>
      <p:sp>
        <p:nvSpPr>
          <p:cNvPr id="1028" name="Line 22">
            <a:extLst>
              <a:ext uri="{FF2B5EF4-FFF2-40B4-BE49-F238E27FC236}">
                <a16:creationId xmlns:a16="http://schemas.microsoft.com/office/drawing/2014/main" id="{AB7F6124-04C7-45E8-AA65-7F9F759D65F9}"/>
              </a:ext>
            </a:extLst>
          </p:cNvPr>
          <p:cNvSpPr>
            <a:spLocks noChangeShapeType="1"/>
          </p:cNvSpPr>
          <p:nvPr/>
        </p:nvSpPr>
        <p:spPr bwMode="auto">
          <a:xfrm>
            <a:off x="425451" y="252413"/>
            <a:ext cx="0" cy="69215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TW" altLang="en-US" sz="2000" baseline="0">
              <a:latin typeface="Times New Roman" panose="02020603050405020304" pitchFamily="18" charset="0"/>
              <a:ea typeface="標楷體" panose="03000509000000000000" pitchFamily="65" charset="-120"/>
            </a:endParaRPr>
          </a:p>
        </p:txBody>
      </p:sp>
      <p:sp>
        <p:nvSpPr>
          <p:cNvPr id="1029" name="Line 24">
            <a:extLst>
              <a:ext uri="{FF2B5EF4-FFF2-40B4-BE49-F238E27FC236}">
                <a16:creationId xmlns:a16="http://schemas.microsoft.com/office/drawing/2014/main" id="{C8074568-B491-4B67-9A93-41BE6E79B626}"/>
              </a:ext>
            </a:extLst>
          </p:cNvPr>
          <p:cNvSpPr>
            <a:spLocks noChangeShapeType="1"/>
          </p:cNvSpPr>
          <p:nvPr/>
        </p:nvSpPr>
        <p:spPr bwMode="auto">
          <a:xfrm>
            <a:off x="209551" y="784225"/>
            <a:ext cx="11772900" cy="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TW" altLang="en-US" sz="2000" baseline="0">
              <a:latin typeface="Times New Roman" panose="02020603050405020304" pitchFamily="18" charset="0"/>
              <a:ea typeface="標楷體" panose="03000509000000000000" pitchFamily="65" charset="-120"/>
            </a:endParaRPr>
          </a:p>
        </p:txBody>
      </p:sp>
      <p:sp>
        <p:nvSpPr>
          <p:cNvPr id="1030" name="Line 25">
            <a:extLst>
              <a:ext uri="{FF2B5EF4-FFF2-40B4-BE49-F238E27FC236}">
                <a16:creationId xmlns:a16="http://schemas.microsoft.com/office/drawing/2014/main" id="{311CE126-5E96-48EA-A8E4-423F29F2B71C}"/>
              </a:ext>
            </a:extLst>
          </p:cNvPr>
          <p:cNvSpPr>
            <a:spLocks noChangeShapeType="1"/>
          </p:cNvSpPr>
          <p:nvPr/>
        </p:nvSpPr>
        <p:spPr bwMode="auto">
          <a:xfrm>
            <a:off x="209551" y="6240463"/>
            <a:ext cx="11772900" cy="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TW" altLang="en-US" sz="2000" baseline="0">
              <a:latin typeface="Times New Roman" panose="02020603050405020304" pitchFamily="18" charset="0"/>
              <a:ea typeface="標楷體" panose="03000509000000000000" pitchFamily="65" charset="-120"/>
            </a:endParaRPr>
          </a:p>
        </p:txBody>
      </p:sp>
      <p:sp>
        <p:nvSpPr>
          <p:cNvPr id="148508" name="Rectangle 28">
            <a:extLst>
              <a:ext uri="{FF2B5EF4-FFF2-40B4-BE49-F238E27FC236}">
                <a16:creationId xmlns:a16="http://schemas.microsoft.com/office/drawing/2014/main" id="{87C75FDA-A8B1-4916-8A2B-A105EA9C4F4B}"/>
              </a:ext>
            </a:extLst>
          </p:cNvPr>
          <p:cNvSpPr>
            <a:spLocks noGrp="1" noChangeArrowheads="1"/>
          </p:cNvSpPr>
          <p:nvPr>
            <p:ph type="sldNum" sz="quarter" idx="4"/>
          </p:nvPr>
        </p:nvSpPr>
        <p:spPr bwMode="auto">
          <a:xfrm>
            <a:off x="10934700" y="6340475"/>
            <a:ext cx="889000" cy="47625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r" eaLnBrk="1" hangingPunct="1">
              <a:defRPr kumimoji="0" sz="1400" baseline="0">
                <a:latin typeface="Times New Roman" panose="02020603050405020304" pitchFamily="18" charset="0"/>
                <a:ea typeface="標楷體" panose="03000509000000000000" pitchFamily="65" charset="-120"/>
              </a:defRPr>
            </a:lvl1pPr>
          </a:lstStyle>
          <a:p>
            <a:fld id="{45D5892C-9710-48A3-8372-2122A7AD32EA}" type="slidenum">
              <a:rPr lang="zh-TW" altLang="en-US" smtClean="0"/>
              <a:pPr/>
              <a:t>‹#›</a:t>
            </a:fld>
            <a:endParaRPr lang="zh-TW" altLang="en-US"/>
          </a:p>
        </p:txBody>
      </p:sp>
      <p:pic>
        <p:nvPicPr>
          <p:cNvPr id="2" name="圖片 1">
            <a:extLst>
              <a:ext uri="{FF2B5EF4-FFF2-40B4-BE49-F238E27FC236}">
                <a16:creationId xmlns:a16="http://schemas.microsoft.com/office/drawing/2014/main" id="{70913959-438C-19FB-F2F8-1592E452ADC8}"/>
              </a:ext>
            </a:extLst>
          </p:cNvPr>
          <p:cNvPicPr>
            <a:picLocks noChangeAspect="1"/>
          </p:cNvPicPr>
          <p:nvPr userDrawn="1"/>
        </p:nvPicPr>
        <p:blipFill>
          <a:blip r:embed="rId13"/>
          <a:stretch>
            <a:fillRect/>
          </a:stretch>
        </p:blipFill>
        <p:spPr>
          <a:xfrm>
            <a:off x="0" y="6116283"/>
            <a:ext cx="12192000" cy="216208"/>
          </a:xfrm>
          <a:prstGeom prst="rect">
            <a:avLst/>
          </a:prstGeom>
        </p:spPr>
      </p:pic>
      <p:pic>
        <p:nvPicPr>
          <p:cNvPr id="4" name="圖片 3">
            <a:extLst>
              <a:ext uri="{FF2B5EF4-FFF2-40B4-BE49-F238E27FC236}">
                <a16:creationId xmlns:a16="http://schemas.microsoft.com/office/drawing/2014/main" id="{D03BE1FC-A522-6621-C15D-29238ADFB2C5}"/>
              </a:ext>
            </a:extLst>
          </p:cNvPr>
          <p:cNvPicPr>
            <a:picLocks noChangeAspect="1"/>
          </p:cNvPicPr>
          <p:nvPr userDrawn="1"/>
        </p:nvPicPr>
        <p:blipFill>
          <a:blip r:embed="rId14"/>
          <a:stretch>
            <a:fillRect/>
          </a:stretch>
        </p:blipFill>
        <p:spPr>
          <a:xfrm>
            <a:off x="10210800" y="0"/>
            <a:ext cx="1981200" cy="283029"/>
          </a:xfrm>
          <a:prstGeom prst="rect">
            <a:avLst/>
          </a:prstGeom>
        </p:spPr>
      </p:pic>
    </p:spTree>
    <p:extLst>
      <p:ext uri="{BB962C8B-B14F-4D97-AF65-F5344CB8AC3E}">
        <p14:creationId xmlns:p14="http://schemas.microsoft.com/office/powerpoint/2010/main" val="2030889740"/>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Lst>
  <p:txStyles>
    <p:titleStyle>
      <a:lvl1pPr algn="l" rtl="0" eaLnBrk="1" fontAlgn="base" hangingPunct="1">
        <a:spcBef>
          <a:spcPct val="0"/>
        </a:spcBef>
        <a:spcAft>
          <a:spcPct val="0"/>
        </a:spcAft>
        <a:defRPr sz="2800" b="1" baseline="0">
          <a:solidFill>
            <a:schemeClr val="tx1"/>
          </a:solidFill>
          <a:latin typeface="Times New Roman" panose="02020603050405020304" pitchFamily="18" charset="0"/>
          <a:ea typeface="標楷體" panose="03000509000000000000" pitchFamily="65" charset="-120"/>
          <a:cs typeface="+mj-cs"/>
        </a:defRPr>
      </a:lvl1pPr>
      <a:lvl2pPr algn="l" rtl="0" eaLnBrk="1" fontAlgn="base" hangingPunct="1">
        <a:spcBef>
          <a:spcPct val="0"/>
        </a:spcBef>
        <a:spcAft>
          <a:spcPct val="0"/>
        </a:spcAft>
        <a:defRPr sz="2800">
          <a:solidFill>
            <a:schemeClr val="tx1"/>
          </a:solidFill>
          <a:latin typeface="Arial" pitchFamily="34" charset="0"/>
        </a:defRPr>
      </a:lvl2pPr>
      <a:lvl3pPr algn="l" rtl="0" eaLnBrk="1" fontAlgn="base" hangingPunct="1">
        <a:spcBef>
          <a:spcPct val="0"/>
        </a:spcBef>
        <a:spcAft>
          <a:spcPct val="0"/>
        </a:spcAft>
        <a:defRPr sz="2800">
          <a:solidFill>
            <a:schemeClr val="tx1"/>
          </a:solidFill>
          <a:latin typeface="Arial" pitchFamily="34" charset="0"/>
        </a:defRPr>
      </a:lvl3pPr>
      <a:lvl4pPr algn="l" rtl="0" eaLnBrk="1" fontAlgn="base" hangingPunct="1">
        <a:spcBef>
          <a:spcPct val="0"/>
        </a:spcBef>
        <a:spcAft>
          <a:spcPct val="0"/>
        </a:spcAft>
        <a:defRPr sz="2800">
          <a:solidFill>
            <a:schemeClr val="tx1"/>
          </a:solidFill>
          <a:latin typeface="Arial" pitchFamily="34" charset="0"/>
        </a:defRPr>
      </a:lvl4pPr>
      <a:lvl5pPr algn="l" rtl="0" eaLnBrk="1" fontAlgn="base" hangingPunct="1">
        <a:spcBef>
          <a:spcPct val="0"/>
        </a:spcBef>
        <a:spcAft>
          <a:spcPct val="0"/>
        </a:spcAft>
        <a:defRPr sz="2800">
          <a:solidFill>
            <a:schemeClr val="tx1"/>
          </a:solidFill>
          <a:latin typeface="Arial" pitchFamily="34" charset="0"/>
        </a:defRPr>
      </a:lvl5pPr>
      <a:lvl6pPr marL="457200" algn="l" rtl="0" eaLnBrk="1" fontAlgn="base" hangingPunct="1">
        <a:spcBef>
          <a:spcPct val="0"/>
        </a:spcBef>
        <a:spcAft>
          <a:spcPct val="0"/>
        </a:spcAft>
        <a:defRPr sz="2800">
          <a:solidFill>
            <a:schemeClr val="tx1"/>
          </a:solidFill>
          <a:latin typeface="Arial" pitchFamily="34" charset="0"/>
        </a:defRPr>
      </a:lvl6pPr>
      <a:lvl7pPr marL="914400" algn="l" rtl="0" eaLnBrk="1" fontAlgn="base" hangingPunct="1">
        <a:spcBef>
          <a:spcPct val="0"/>
        </a:spcBef>
        <a:spcAft>
          <a:spcPct val="0"/>
        </a:spcAft>
        <a:defRPr sz="2800">
          <a:solidFill>
            <a:schemeClr val="tx1"/>
          </a:solidFill>
          <a:latin typeface="Arial" pitchFamily="34" charset="0"/>
        </a:defRPr>
      </a:lvl7pPr>
      <a:lvl8pPr marL="1371600" algn="l" rtl="0" eaLnBrk="1" fontAlgn="base" hangingPunct="1">
        <a:spcBef>
          <a:spcPct val="0"/>
        </a:spcBef>
        <a:spcAft>
          <a:spcPct val="0"/>
        </a:spcAft>
        <a:defRPr sz="2800">
          <a:solidFill>
            <a:schemeClr val="tx1"/>
          </a:solidFill>
          <a:latin typeface="Arial" pitchFamily="34" charset="0"/>
        </a:defRPr>
      </a:lvl8pPr>
      <a:lvl9pPr marL="1828800" algn="l" rtl="0" eaLnBrk="1" fontAlgn="base" hangingPunct="1">
        <a:spcBef>
          <a:spcPct val="0"/>
        </a:spcBef>
        <a:spcAft>
          <a:spcPct val="0"/>
        </a:spcAft>
        <a:defRPr sz="2800">
          <a:solidFill>
            <a:schemeClr val="tx1"/>
          </a:solidFill>
          <a:latin typeface="Arial" pitchFamily="34" charset="0"/>
        </a:defRPr>
      </a:lvl9pPr>
    </p:titleStyle>
    <p:bodyStyle>
      <a:lvl1pPr marL="285750" indent="-285750" algn="l" rtl="0" eaLnBrk="1" fontAlgn="base" hangingPunct="1">
        <a:spcBef>
          <a:spcPct val="20000"/>
        </a:spcBef>
        <a:spcAft>
          <a:spcPct val="0"/>
        </a:spcAft>
        <a:buClr>
          <a:schemeClr val="tx1"/>
        </a:buClr>
        <a:buFont typeface="Symbol" panose="05050102010706020507" pitchFamily="18" charset="2"/>
        <a:buChar char="·"/>
        <a:defRPr sz="2400" baseline="0">
          <a:solidFill>
            <a:srgbClr val="000000"/>
          </a:solidFill>
          <a:latin typeface="Times New Roman" panose="02020603050405020304" pitchFamily="18" charset="0"/>
          <a:ea typeface="標楷體" panose="03000509000000000000" pitchFamily="65" charset="-120"/>
          <a:cs typeface="+mn-cs"/>
        </a:defRPr>
      </a:lvl1pPr>
      <a:lvl2pPr marL="762000" indent="-285750" algn="l" rtl="0" eaLnBrk="1" fontAlgn="base" hangingPunct="1">
        <a:spcBef>
          <a:spcPct val="20000"/>
        </a:spcBef>
        <a:spcAft>
          <a:spcPct val="0"/>
        </a:spcAft>
        <a:buClr>
          <a:schemeClr val="tx1"/>
        </a:buClr>
        <a:buFont typeface="Symbol" panose="05050102010706020507" pitchFamily="18" charset="2"/>
        <a:buChar char="·"/>
        <a:defRPr sz="2000" baseline="0">
          <a:solidFill>
            <a:srgbClr val="000000"/>
          </a:solidFill>
          <a:latin typeface="Times New Roman" panose="02020603050405020304" pitchFamily="18" charset="0"/>
          <a:ea typeface="標楷體" panose="03000509000000000000" pitchFamily="65" charset="-120"/>
        </a:defRPr>
      </a:lvl2pPr>
      <a:lvl3pPr marL="1238250" indent="-285750" algn="l" rtl="0" eaLnBrk="1" fontAlgn="base" hangingPunct="1">
        <a:spcBef>
          <a:spcPct val="20000"/>
        </a:spcBef>
        <a:spcAft>
          <a:spcPct val="0"/>
        </a:spcAft>
        <a:buClr>
          <a:schemeClr val="tx1"/>
        </a:buClr>
        <a:buFont typeface="Symbol" panose="05050102010706020507" pitchFamily="18" charset="2"/>
        <a:buChar char="·"/>
        <a:defRPr sz="2400" baseline="0">
          <a:solidFill>
            <a:srgbClr val="000000"/>
          </a:solidFill>
          <a:latin typeface="Times New Roman" panose="02020603050405020304" pitchFamily="18" charset="0"/>
          <a:ea typeface="標楷體" panose="03000509000000000000" pitchFamily="65" charset="-120"/>
        </a:defRPr>
      </a:lvl3pPr>
      <a:lvl4pPr marL="1619250" indent="-190500" algn="l" rtl="0" eaLnBrk="1" fontAlgn="base" hangingPunct="1">
        <a:spcBef>
          <a:spcPct val="20000"/>
        </a:spcBef>
        <a:spcAft>
          <a:spcPct val="0"/>
        </a:spcAft>
        <a:buClr>
          <a:schemeClr val="tx1"/>
        </a:buClr>
        <a:buFont typeface="Symbol" panose="05050102010706020507" pitchFamily="18" charset="2"/>
        <a:buChar char="·"/>
        <a:defRPr sz="1600" baseline="0">
          <a:solidFill>
            <a:srgbClr val="000000"/>
          </a:solidFill>
          <a:latin typeface="Times New Roman" panose="02020603050405020304" pitchFamily="18" charset="0"/>
          <a:ea typeface="標楷體" panose="03000509000000000000" pitchFamily="65" charset="-120"/>
        </a:defRPr>
      </a:lvl4pPr>
      <a:lvl5pPr marL="2000250" indent="-190500" algn="l" rtl="0" eaLnBrk="1" fontAlgn="base" hangingPunct="1">
        <a:spcBef>
          <a:spcPct val="20000"/>
        </a:spcBef>
        <a:spcAft>
          <a:spcPct val="0"/>
        </a:spcAft>
        <a:buClr>
          <a:schemeClr val="tx1"/>
        </a:buClr>
        <a:buFont typeface="Symbol" panose="05050102010706020507" pitchFamily="18" charset="2"/>
        <a:buChar char="·"/>
        <a:defRPr sz="1600" baseline="0">
          <a:solidFill>
            <a:srgbClr val="000000"/>
          </a:solidFill>
          <a:latin typeface="Times New Roman" panose="02020603050405020304" pitchFamily="18" charset="0"/>
          <a:ea typeface="標楷體" panose="03000509000000000000" pitchFamily="65" charset="-120"/>
        </a:defRPr>
      </a:lvl5pPr>
      <a:lvl6pPr marL="2457450" indent="-190500" algn="l" rtl="0" eaLnBrk="1" fontAlgn="base" hangingPunct="1">
        <a:spcBef>
          <a:spcPct val="20000"/>
        </a:spcBef>
        <a:spcAft>
          <a:spcPct val="0"/>
        </a:spcAft>
        <a:buClr>
          <a:schemeClr val="tx1"/>
        </a:buClr>
        <a:buFont typeface="Symbol" pitchFamily="18" charset="2"/>
        <a:buChar char="·"/>
        <a:defRPr sz="1600">
          <a:solidFill>
            <a:srgbClr val="000000"/>
          </a:solidFill>
          <a:latin typeface="+mn-lt"/>
        </a:defRPr>
      </a:lvl6pPr>
      <a:lvl7pPr marL="2914650" indent="-190500" algn="l" rtl="0" eaLnBrk="1" fontAlgn="base" hangingPunct="1">
        <a:spcBef>
          <a:spcPct val="20000"/>
        </a:spcBef>
        <a:spcAft>
          <a:spcPct val="0"/>
        </a:spcAft>
        <a:buClr>
          <a:schemeClr val="tx1"/>
        </a:buClr>
        <a:buFont typeface="Symbol" pitchFamily="18" charset="2"/>
        <a:buChar char="·"/>
        <a:defRPr sz="1600">
          <a:solidFill>
            <a:srgbClr val="000000"/>
          </a:solidFill>
          <a:latin typeface="+mn-lt"/>
        </a:defRPr>
      </a:lvl7pPr>
      <a:lvl8pPr marL="3371850" indent="-190500" algn="l" rtl="0" eaLnBrk="1" fontAlgn="base" hangingPunct="1">
        <a:spcBef>
          <a:spcPct val="20000"/>
        </a:spcBef>
        <a:spcAft>
          <a:spcPct val="0"/>
        </a:spcAft>
        <a:buClr>
          <a:schemeClr val="tx1"/>
        </a:buClr>
        <a:buFont typeface="Symbol" pitchFamily="18" charset="2"/>
        <a:buChar char="·"/>
        <a:defRPr sz="1600">
          <a:solidFill>
            <a:srgbClr val="000000"/>
          </a:solidFill>
          <a:latin typeface="+mn-lt"/>
        </a:defRPr>
      </a:lvl8pPr>
      <a:lvl9pPr marL="3829050" indent="-190500" algn="l" rtl="0" eaLnBrk="1" fontAlgn="base" hangingPunct="1">
        <a:spcBef>
          <a:spcPct val="20000"/>
        </a:spcBef>
        <a:spcAft>
          <a:spcPct val="0"/>
        </a:spcAft>
        <a:buClr>
          <a:schemeClr val="tx1"/>
        </a:buClr>
        <a:buFont typeface="Symbol" pitchFamily="18" charset="2"/>
        <a:buChar char="·"/>
        <a:defRPr sz="1600">
          <a:solidFill>
            <a:srgbClr val="000000"/>
          </a:solidFill>
          <a:latin typeface="+mn-lt"/>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6.xml"/><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image" Target="../media/image23.png"/><Relationship Id="rId5" Type="http://schemas.openxmlformats.org/officeDocument/2006/relationships/image" Target="../media/image25.png"/><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6.xml"/><Relationship Id="rId5" Type="http://schemas.openxmlformats.org/officeDocument/2006/relationships/image" Target="../media/image28.png"/><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0.png"/></Relationships>
</file>

<file path=ppt/slides/_rels/slide1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1.xml"/><Relationship Id="rId1" Type="http://schemas.openxmlformats.org/officeDocument/2006/relationships/slideLayout" Target="../slideLayouts/slideLayout6.xml"/><Relationship Id="rId5" Type="http://schemas.openxmlformats.org/officeDocument/2006/relationships/image" Target="../media/image300.png"/><Relationship Id="rId4" Type="http://schemas.openxmlformats.org/officeDocument/2006/relationships/image" Target="../media/image34.png"/></Relationships>
</file>

<file path=ppt/slides/_rels/slide13.xml.rels><?xml version="1.0" encoding="UTF-8" standalone="yes"?>
<Relationships xmlns="http://schemas.openxmlformats.org/package/2006/relationships"><Relationship Id="rId3" Type="http://schemas.openxmlformats.org/officeDocument/2006/relationships/image" Target="../media/image311.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310.png"/><Relationship Id="rId2" Type="http://schemas.openxmlformats.org/officeDocument/2006/relationships/notesSlide" Target="../notesSlides/notesSlide13.xml"/><Relationship Id="rId1" Type="http://schemas.openxmlformats.org/officeDocument/2006/relationships/slideLayout" Target="../slideLayouts/slideLayout6.xml"/><Relationship Id="rId5" Type="http://schemas.openxmlformats.org/officeDocument/2006/relationships/image" Target="../media/image320.png"/><Relationship Id="rId4" Type="http://schemas.openxmlformats.org/officeDocument/2006/relationships/image" Target="../media/image331.png"/></Relationships>
</file>

<file path=ppt/slides/_rels/slide15.xml.rels><?xml version="1.0" encoding="UTF-8" standalone="yes"?>
<Relationships xmlns="http://schemas.openxmlformats.org/package/2006/relationships"><Relationship Id="rId3" Type="http://schemas.openxmlformats.org/officeDocument/2006/relationships/image" Target="../media/image330.png"/><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340.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7.xml"/><Relationship Id="rId1" Type="http://schemas.openxmlformats.org/officeDocument/2006/relationships/slideLayout" Target="../slideLayouts/slideLayout6.xml"/><Relationship Id="rId5" Type="http://schemas.openxmlformats.org/officeDocument/2006/relationships/image" Target="../media/image38.png"/><Relationship Id="rId4" Type="http://schemas.openxmlformats.org/officeDocument/2006/relationships/image" Target="../media/image37.png"/></Relationships>
</file>

<file path=ppt/slides/_rels/slide1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8.xml"/><Relationship Id="rId1" Type="http://schemas.openxmlformats.org/officeDocument/2006/relationships/slideLayout" Target="../slideLayouts/slideLayout6.xml"/><Relationship Id="rId4" Type="http://schemas.openxmlformats.org/officeDocument/2006/relationships/image" Target="../media/image40.png"/></Relationships>
</file>

<file path=ppt/slides/_rels/slide2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9.xml"/><Relationship Id="rId1" Type="http://schemas.openxmlformats.org/officeDocument/2006/relationships/slideLayout" Target="../slideLayouts/slideLayout6.xml"/><Relationship Id="rId4" Type="http://schemas.openxmlformats.org/officeDocument/2006/relationships/image" Target="../media/image42.png"/></Relationships>
</file>

<file path=ppt/slides/_rels/slide2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2.xml"/><Relationship Id="rId1" Type="http://schemas.openxmlformats.org/officeDocument/2006/relationships/slideLayout" Target="../slideLayouts/slideLayout6.xml"/><Relationship Id="rId5" Type="http://schemas.openxmlformats.org/officeDocument/2006/relationships/image" Target="../media/image46.png"/><Relationship Id="rId4" Type="http://schemas.openxmlformats.org/officeDocument/2006/relationships/image" Target="../media/image45.png"/></Relationships>
</file>

<file path=ppt/slides/_rels/slide2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4.xml"/><Relationship Id="rId1" Type="http://schemas.openxmlformats.org/officeDocument/2006/relationships/slideLayout" Target="../slideLayouts/slideLayout6.xml"/><Relationship Id="rId4" Type="http://schemas.openxmlformats.org/officeDocument/2006/relationships/image" Target="../media/image49.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3C231B-6ECF-BED2-8D1A-4B59AAEEE4C7}"/>
            </a:ext>
          </a:extLst>
        </p:cNvPr>
        <p:cNvGrpSpPr/>
        <p:nvPr/>
      </p:nvGrpSpPr>
      <p:grpSpPr>
        <a:xfrm>
          <a:off x="0" y="0"/>
          <a:ext cx="0" cy="0"/>
          <a:chOff x="0" y="0"/>
          <a:chExt cx="0" cy="0"/>
        </a:xfrm>
      </p:grpSpPr>
      <p:sp>
        <p:nvSpPr>
          <p:cNvPr id="3" name="副標題 2">
            <a:extLst>
              <a:ext uri="{FF2B5EF4-FFF2-40B4-BE49-F238E27FC236}">
                <a16:creationId xmlns:a16="http://schemas.microsoft.com/office/drawing/2014/main" id="{FB534E6F-2B29-EDAE-BC53-9058A9A13E8A}"/>
              </a:ext>
            </a:extLst>
          </p:cNvPr>
          <p:cNvSpPr>
            <a:spLocks noGrp="1"/>
          </p:cNvSpPr>
          <p:nvPr>
            <p:ph type="subTitle" idx="1"/>
          </p:nvPr>
        </p:nvSpPr>
        <p:spPr>
          <a:xfrm>
            <a:off x="3623523" y="4666024"/>
            <a:ext cx="7824976" cy="1438103"/>
          </a:xfrm>
        </p:spPr>
        <p:txBody>
          <a:bodyPr/>
          <a:lstStyle/>
          <a:p>
            <a:pPr algn="r"/>
            <a:r>
              <a:rPr lang="zh-TW" altLang="en-US" b="1" dirty="0">
                <a:latin typeface="Times New Roman" panose="02020603050405020304" pitchFamily="18" charset="0"/>
                <a:ea typeface="標楷體" panose="03000509000000000000" pitchFamily="65" charset="-120"/>
              </a:rPr>
              <a:t>陳裕賢</a:t>
            </a:r>
            <a:r>
              <a:rPr lang="zh-TW" altLang="en-US" dirty="0">
                <a:latin typeface="Times New Roman" panose="02020603050405020304" pitchFamily="18" charset="0"/>
                <a:ea typeface="標楷體" panose="03000509000000000000" pitchFamily="65" charset="-120"/>
              </a:rPr>
              <a:t>  特聘教授 </a:t>
            </a:r>
            <a:endParaRPr lang="en-US" altLang="zh-TW" dirty="0">
              <a:latin typeface="Times New Roman" panose="02020603050405020304" pitchFamily="18" charset="0"/>
              <a:ea typeface="標楷體" panose="03000509000000000000" pitchFamily="65" charset="-120"/>
            </a:endParaRPr>
          </a:p>
          <a:p>
            <a:pPr algn="r"/>
            <a:r>
              <a:rPr lang="zh-TW" altLang="en-US" dirty="0">
                <a:latin typeface="Times New Roman" panose="02020603050405020304" pitchFamily="18" charset="0"/>
                <a:ea typeface="標楷體" panose="03000509000000000000" pitchFamily="65" charset="-120"/>
              </a:rPr>
              <a:t>國立臺北大學資訊工程系</a:t>
            </a:r>
            <a:r>
              <a:rPr lang="zh-TW" altLang="en-US" b="1" dirty="0"/>
              <a:t>                      </a:t>
            </a:r>
            <a:endParaRPr lang="en-US" altLang="zh-TW" dirty="0"/>
          </a:p>
          <a:p>
            <a:pPr algn="l"/>
            <a:endParaRPr lang="en-US" altLang="zh-TW" b="1" dirty="0"/>
          </a:p>
          <a:p>
            <a:pPr algn="l"/>
            <a:endParaRPr lang="en-US" altLang="zh-TW" dirty="0"/>
          </a:p>
          <a:p>
            <a:pPr algn="l"/>
            <a:endParaRPr lang="en-US" altLang="zh-TW" dirty="0"/>
          </a:p>
        </p:txBody>
      </p:sp>
      <p:sp>
        <p:nvSpPr>
          <p:cNvPr id="5" name="標題 4">
            <a:extLst>
              <a:ext uri="{FF2B5EF4-FFF2-40B4-BE49-F238E27FC236}">
                <a16:creationId xmlns:a16="http://schemas.microsoft.com/office/drawing/2014/main" id="{A600AC6D-58AC-BCAE-5870-E302746A8FA1}"/>
              </a:ext>
            </a:extLst>
          </p:cNvPr>
          <p:cNvSpPr>
            <a:spLocks noGrp="1"/>
          </p:cNvSpPr>
          <p:nvPr>
            <p:ph type="ctrTitle"/>
          </p:nvPr>
        </p:nvSpPr>
        <p:spPr>
          <a:xfrm>
            <a:off x="414662" y="1464903"/>
            <a:ext cx="10868082" cy="1143000"/>
          </a:xfrm>
        </p:spPr>
        <p:txBody>
          <a:bodyPr/>
          <a:lstStyle/>
          <a:p>
            <a:pPr algn="r"/>
            <a:r>
              <a:rPr lang="en-US" altLang="zh-TW" sz="4800" b="1" dirty="0">
                <a:solidFill>
                  <a:srgbClr val="000000"/>
                </a:solidFill>
              </a:rPr>
              <a:t>Chapter 4:</a:t>
            </a:r>
            <a:br>
              <a:rPr lang="en-US" altLang="zh-TW" sz="4800" b="1" dirty="0"/>
            </a:br>
            <a:r>
              <a:rPr lang="en-US" altLang="zh-TW" sz="4400" b="1" dirty="0"/>
              <a:t>Beam-Centric Mobility and Handover (Multi-Beam Networks)</a:t>
            </a:r>
            <a:endParaRPr lang="zh-TW" altLang="en-US" sz="4400" b="1" dirty="0">
              <a:solidFill>
                <a:srgbClr val="002060"/>
              </a:solidFill>
              <a:latin typeface="Arial" panose="020B0604020202020204" pitchFamily="34" charset="0"/>
              <a:cs typeface="Arial" panose="020B0604020202020204" pitchFamily="34" charset="0"/>
            </a:endParaRPr>
          </a:p>
        </p:txBody>
      </p:sp>
      <p:pic>
        <p:nvPicPr>
          <p:cNvPr id="9220" name="Picture 4" descr="http://www.csie.ntpu.edu.tw/images/logo.png">
            <a:extLst>
              <a:ext uri="{FF2B5EF4-FFF2-40B4-BE49-F238E27FC236}">
                <a16:creationId xmlns:a16="http://schemas.microsoft.com/office/drawing/2014/main" id="{47A5DBDD-C6EC-50DD-EAFD-A973EF46517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2257"/>
            <a:ext cx="4043589" cy="580680"/>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a:extLst>
              <a:ext uri="{FF2B5EF4-FFF2-40B4-BE49-F238E27FC236}">
                <a16:creationId xmlns:a16="http://schemas.microsoft.com/office/drawing/2014/main" id="{D8C1596C-A1CC-644D-F582-0087E9A62597}"/>
              </a:ext>
            </a:extLst>
          </p:cNvPr>
          <p:cNvSpPr/>
          <p:nvPr/>
        </p:nvSpPr>
        <p:spPr>
          <a:xfrm>
            <a:off x="1517496" y="3445912"/>
            <a:ext cx="261610" cy="461665"/>
          </a:xfrm>
          <a:prstGeom prst="rect">
            <a:avLst/>
          </a:prstGeom>
        </p:spPr>
        <p:txBody>
          <a:bodyPr wrap="none">
            <a:spAutoFit/>
          </a:bodyPr>
          <a:lstStyle/>
          <a:p>
            <a:r>
              <a:rPr lang="en-US" altLang="zh-TW" sz="2400" b="1" dirty="0">
                <a:ea typeface="新細明體" panose="02020500000000000000" pitchFamily="18" charset="-120"/>
              </a:rPr>
              <a:t> </a:t>
            </a:r>
            <a:endParaRPr lang="zh-TW" altLang="en-US" sz="2400" dirty="0"/>
          </a:p>
        </p:txBody>
      </p:sp>
      <p:pic>
        <p:nvPicPr>
          <p:cNvPr id="7" name="圖片 6">
            <a:extLst>
              <a:ext uri="{FF2B5EF4-FFF2-40B4-BE49-F238E27FC236}">
                <a16:creationId xmlns:a16="http://schemas.microsoft.com/office/drawing/2014/main" id="{F3752DBD-9A31-7671-CCD1-FFC7D6B0F2EC}"/>
              </a:ext>
            </a:extLst>
          </p:cNvPr>
          <p:cNvPicPr>
            <a:picLocks noChangeAspect="1"/>
          </p:cNvPicPr>
          <p:nvPr/>
        </p:nvPicPr>
        <p:blipFill>
          <a:blip r:embed="rId3"/>
          <a:stretch>
            <a:fillRect/>
          </a:stretch>
        </p:blipFill>
        <p:spPr>
          <a:xfrm>
            <a:off x="1049350" y="3088105"/>
            <a:ext cx="4079260" cy="2885196"/>
          </a:xfrm>
          <a:prstGeom prst="rect">
            <a:avLst/>
          </a:prstGeom>
        </p:spPr>
      </p:pic>
    </p:spTree>
    <p:extLst>
      <p:ext uri="{BB962C8B-B14F-4D97-AF65-F5344CB8AC3E}">
        <p14:creationId xmlns:p14="http://schemas.microsoft.com/office/powerpoint/2010/main" val="5660143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du:title"/>
          <p:cNvSpPr txBox="1"/>
          <p:nvPr/>
        </p:nvSpPr>
        <p:spPr>
          <a:xfrm>
            <a:off x="565190" y="141274"/>
            <a:ext cx="11417289" cy="571500"/>
          </a:xfrm>
          <a:prstGeom prst="rect">
            <a:avLst/>
          </a:prstGeom>
          <a:noFill/>
        </p:spPr>
        <p:txBody>
          <a:bodyPr wrap="square" lIns="0" tIns="0" rIns="0" bIns="0" anchor="b">
            <a:spAutoFit/>
          </a:bodyPr>
          <a:lstStyle/>
          <a:p>
            <a:pPr algn="l"/>
            <a:r>
              <a:rPr lang="en-US" altLang="en-US" sz="2800" b="1" i="0" noProof="1">
                <a:solidFill>
                  <a:srgbClr val="1B365D"/>
                </a:solidFill>
                <a:latin typeface="Times New Roman"/>
                <a:ea typeface="標楷體"/>
                <a:cs typeface="Times New Roman"/>
              </a:rPr>
              <a:t>Multi-Beam Coverage</a:t>
            </a:r>
          </a:p>
        </p:txBody>
      </p:sp>
      <p:sp>
        <p:nvSpPr>
          <p:cNvPr id="3" name="edu:citation"/>
          <p:cNvSpPr txBox="1"/>
          <p:nvPr/>
        </p:nvSpPr>
        <p:spPr>
          <a:xfrm>
            <a:off x="495330" y="6316675"/>
            <a:ext cx="11018520" cy="505663"/>
          </a:xfrm>
          <a:prstGeom prst="rect">
            <a:avLst/>
          </a:prstGeom>
          <a:noFill/>
        </p:spPr>
        <p:txBody>
          <a:bodyPr wrap="square" lIns="0" tIns="0" rIns="0" bIns="0" anchor="t">
            <a:spAutoFit/>
          </a:bodyPr>
          <a:lstStyle/>
          <a:p>
            <a:pPr algn="l">
              <a:lnSpc>
                <a:spcPct val="105000"/>
              </a:lnSpc>
            </a:pPr>
            <a:r>
              <a:rPr lang="en-US" altLang="en-US" sz="1400" b="0" i="0" noProof="1">
                <a:solidFill>
                  <a:srgbClr val="000000"/>
                </a:solidFill>
                <a:latin typeface="Times New Roman"/>
                <a:ea typeface="標楷體"/>
                <a:cs typeface="Times New Roman"/>
              </a:rPr>
              <a:t>Y. Sun et al., “Handover for Multi-Beam LEO Satellite Networks: A Multi-Objective Reinforcement Learning Method,” IEEE Communications Letters, Dec. 2024.</a:t>
            </a:r>
          </a:p>
        </p:txBody>
      </p:sp>
      <p:sp>
        <p:nvSpPr>
          <p:cNvPr id="5" name="edu:body"/>
          <p:cNvSpPr txBox="1"/>
          <p:nvPr/>
        </p:nvSpPr>
        <p:spPr>
          <a:xfrm>
            <a:off x="565190" y="896112"/>
            <a:ext cx="11289926" cy="796052"/>
          </a:xfrm>
          <a:prstGeom prst="rect">
            <a:avLst/>
          </a:prstGeom>
          <a:noFill/>
        </p:spPr>
        <p:txBody>
          <a:bodyPr wrap="square" lIns="0" tIns="0" rIns="0" bIns="0" anchor="t">
            <a:spAutoFit/>
          </a:bodyPr>
          <a:lstStyle/>
          <a:p>
            <a:pPr algn="l">
              <a:lnSpc>
                <a:spcPct val="112000"/>
              </a:lnSpc>
              <a:spcAft>
                <a:spcPts val="0"/>
              </a:spcAft>
            </a:pPr>
            <a:r>
              <a:rPr lang="en-US" altLang="en-US" sz="2400" b="0" i="0" noProof="1">
                <a:solidFill>
                  <a:srgbClr val="000000"/>
                </a:solidFill>
                <a:latin typeface="Times New Roman"/>
                <a:ea typeface="標楷體"/>
                <a:cs typeface="Times New Roman"/>
              </a:rPr>
              <a:t>Each satellite radiates several beams at once, users of different kinds share the same ground coverage:</a:t>
            </a:r>
          </a:p>
        </p:txBody>
      </p:sp>
      <p:pic>
        <p:nvPicPr>
          <p:cNvPr id="6" name="edu:source-figure-setting" descr="1.png"/>
          <p:cNvPicPr>
            <a:picLocks noChangeAspect="1"/>
          </p:cNvPicPr>
          <p:nvPr/>
        </p:nvPicPr>
        <p:blipFill>
          <a:blip r:embed="rId3"/>
          <a:srcRect/>
          <a:stretch>
            <a:fillRect/>
          </a:stretch>
        </p:blipFill>
        <p:spPr>
          <a:xfrm>
            <a:off x="1636546" y="1692164"/>
            <a:ext cx="8447330" cy="412668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du:title"/>
          <p:cNvSpPr txBox="1"/>
          <p:nvPr/>
        </p:nvSpPr>
        <p:spPr>
          <a:xfrm>
            <a:off x="565190" y="141274"/>
            <a:ext cx="11417289" cy="571500"/>
          </a:xfrm>
          <a:prstGeom prst="rect">
            <a:avLst/>
          </a:prstGeom>
          <a:noFill/>
        </p:spPr>
        <p:txBody>
          <a:bodyPr wrap="square" lIns="0" tIns="0" rIns="0" bIns="0" anchor="b">
            <a:spAutoFit/>
          </a:bodyPr>
          <a:lstStyle/>
          <a:p>
            <a:pPr algn="l"/>
            <a:r>
              <a:rPr lang="en-US" altLang="en-US" sz="2800" b="1" i="0" noProof="1">
                <a:solidFill>
                  <a:srgbClr val="1B365D"/>
                </a:solidFill>
                <a:latin typeface="Times New Roman"/>
                <a:ea typeface="標楷體"/>
                <a:cs typeface="Times New Roman"/>
              </a:rPr>
              <a:t>Chain Overview</a:t>
            </a:r>
          </a:p>
        </p:txBody>
      </p:sp>
      <p:sp>
        <p:nvSpPr>
          <p:cNvPr id="4" name="edu:body"/>
          <p:cNvSpPr txBox="1"/>
          <p:nvPr/>
        </p:nvSpPr>
        <p:spPr>
          <a:xfrm>
            <a:off x="565190" y="896112"/>
            <a:ext cx="11064240" cy="386791"/>
          </a:xfrm>
          <a:prstGeom prst="rect">
            <a:avLst/>
          </a:prstGeom>
          <a:noFill/>
        </p:spPr>
        <p:txBody>
          <a:bodyPr wrap="square" lIns="0" tIns="0" rIns="0" bIns="0" anchor="t">
            <a:spAutoFit/>
          </a:bodyPr>
          <a:lstStyle/>
          <a:p>
            <a:pPr algn="l">
              <a:lnSpc>
                <a:spcPct val="112000"/>
              </a:lnSpc>
              <a:spcAft>
                <a:spcPts val="0"/>
              </a:spcAft>
            </a:pPr>
            <a:r>
              <a:rPr lang="en-US" altLang="en-US" sz="2400" b="0" i="0" noProof="1">
                <a:solidFill>
                  <a:srgbClr val="000000"/>
                </a:solidFill>
                <a:latin typeface="Times New Roman"/>
                <a:ea typeface="標楷體"/>
                <a:cs typeface="Times New Roman"/>
              </a:rPr>
              <a:t>A single causal chain runs from beam geometry to a learned handover policy:</a:t>
            </a:r>
          </a:p>
        </p:txBody>
      </p:sp>
      <p:sp>
        <p:nvSpPr>
          <p:cNvPr id="5" name="edu:flow-node"/>
          <p:cNvSpPr/>
          <p:nvPr/>
        </p:nvSpPr>
        <p:spPr>
          <a:xfrm>
            <a:off x="344906" y="1447495"/>
            <a:ext cx="2005578" cy="960120"/>
          </a:xfrm>
          <a:prstGeom prst="roundRect">
            <a:avLst/>
          </a:prstGeom>
          <a:solidFill>
            <a:srgbClr val="F6F8FA"/>
          </a:solidFill>
          <a:ln w="11430">
            <a:solidFill>
              <a:srgbClr val="9AA5B1"/>
            </a:solidFill>
          </a:ln>
          <a:effectLst/>
        </p:spPr>
        <p:txBody>
          <a:bodyPr wrap="square" tIns="0" bIns="0" rtlCol="0" anchor="ctr"/>
          <a:lstStyle/>
          <a:p>
            <a:pPr algn="ctr">
              <a:lnSpc>
                <a:spcPct val="105000"/>
              </a:lnSpc>
            </a:pPr>
            <a:r>
              <a:rPr lang="en-US" altLang="en-US" sz="2000" b="1" i="0" noProof="1">
                <a:solidFill>
                  <a:srgbClr val="000000"/>
                </a:solidFill>
                <a:latin typeface="Times New Roman"/>
                <a:ea typeface="標楷體"/>
                <a:cs typeface="Times New Roman"/>
              </a:rPr>
              <a:t>Beam geometry</a:t>
            </a:r>
          </a:p>
          <a:p>
            <a:pPr algn="ctr">
              <a:lnSpc>
                <a:spcPct val="105000"/>
              </a:lnSpc>
              <a:spcBef>
                <a:spcPts val="200"/>
              </a:spcBef>
            </a:pPr>
            <a:r>
              <a:rPr lang="en-US" altLang="en-US" sz="2000" b="0" i="0" noProof="1">
                <a:solidFill>
                  <a:srgbClr val="000000"/>
                </a:solidFill>
                <a:latin typeface="Times New Roman"/>
                <a:ea typeface="標楷體"/>
                <a:cs typeface="Times New Roman"/>
              </a:rPr>
              <a:t>position in beam</a:t>
            </a:r>
          </a:p>
        </p:txBody>
      </p:sp>
      <p:sp>
        <p:nvSpPr>
          <p:cNvPr id="6" name="edu:flow-node"/>
          <p:cNvSpPr/>
          <p:nvPr/>
        </p:nvSpPr>
        <p:spPr>
          <a:xfrm>
            <a:off x="2742554" y="1447495"/>
            <a:ext cx="1905609" cy="960120"/>
          </a:xfrm>
          <a:prstGeom prst="roundRect">
            <a:avLst/>
          </a:prstGeom>
          <a:solidFill>
            <a:srgbClr val="F6F8FA"/>
          </a:solidFill>
          <a:ln w="11430">
            <a:solidFill>
              <a:srgbClr val="9AA5B1"/>
            </a:solidFill>
          </a:ln>
          <a:effectLst/>
        </p:spPr>
        <p:txBody>
          <a:bodyPr wrap="square" tIns="0" bIns="0" rtlCol="0" anchor="ctr"/>
          <a:lstStyle/>
          <a:p>
            <a:pPr algn="ctr">
              <a:lnSpc>
                <a:spcPct val="105000"/>
              </a:lnSpc>
            </a:pPr>
            <a:r>
              <a:rPr lang="en-US" altLang="en-US" sz="2000" b="1" i="0" noProof="1">
                <a:solidFill>
                  <a:srgbClr val="000000"/>
                </a:solidFill>
                <a:latin typeface="Times New Roman"/>
                <a:ea typeface="標楷體"/>
                <a:cs typeface="Times New Roman"/>
              </a:rPr>
              <a:t>Signal quality</a:t>
            </a:r>
          </a:p>
          <a:p>
            <a:pPr algn="ctr">
              <a:lnSpc>
                <a:spcPct val="105000"/>
              </a:lnSpc>
              <a:spcBef>
                <a:spcPts val="200"/>
              </a:spcBef>
            </a:pPr>
            <a:r>
              <a:rPr lang="en-US" altLang="en-US" sz="2000" b="0" i="0" noProof="1">
                <a:solidFill>
                  <a:srgbClr val="000000"/>
                </a:solidFill>
                <a:latin typeface="Times New Roman"/>
                <a:ea typeface="標楷體"/>
                <a:cs typeface="Times New Roman"/>
              </a:rPr>
              <a:t>SINR</a:t>
            </a:r>
          </a:p>
        </p:txBody>
      </p:sp>
      <p:cxnSp>
        <p:nvCxnSpPr>
          <p:cNvPr id="7" name="edu:arrow"/>
          <p:cNvCxnSpPr/>
          <p:nvPr/>
        </p:nvCxnSpPr>
        <p:spPr>
          <a:xfrm>
            <a:off x="2358506" y="1927555"/>
            <a:ext cx="384048" cy="0"/>
          </a:xfrm>
          <a:prstGeom prst="line">
            <a:avLst/>
          </a:prstGeom>
          <a:ln w="13970">
            <a:solidFill>
              <a:srgbClr val="6B7683"/>
            </a:solidFill>
            <a:tailEnd type="triangle" w="sm" len="sm"/>
          </a:ln>
        </p:spPr>
        <p:style>
          <a:lnRef idx="2">
            <a:schemeClr val="accent1"/>
          </a:lnRef>
          <a:fillRef idx="0">
            <a:schemeClr val="accent1"/>
          </a:fillRef>
          <a:effectRef idx="1">
            <a:schemeClr val="accent1"/>
          </a:effectRef>
          <a:fontRef idx="minor">
            <a:schemeClr val="tx1"/>
          </a:fontRef>
        </p:style>
      </p:cxnSp>
      <p:sp>
        <p:nvSpPr>
          <p:cNvPr id="8" name="edu:flow-node"/>
          <p:cNvSpPr/>
          <p:nvPr/>
        </p:nvSpPr>
        <p:spPr>
          <a:xfrm>
            <a:off x="5032211" y="1447495"/>
            <a:ext cx="1905609" cy="960120"/>
          </a:xfrm>
          <a:prstGeom prst="roundRect">
            <a:avLst/>
          </a:prstGeom>
          <a:solidFill>
            <a:srgbClr val="F6F8FA"/>
          </a:solidFill>
          <a:ln w="11430">
            <a:solidFill>
              <a:srgbClr val="9AA5B1"/>
            </a:solidFill>
          </a:ln>
          <a:effectLst/>
        </p:spPr>
        <p:txBody>
          <a:bodyPr wrap="square" tIns="0" bIns="0" rtlCol="0" anchor="ctr"/>
          <a:lstStyle/>
          <a:p>
            <a:pPr algn="ctr">
              <a:lnSpc>
                <a:spcPct val="105000"/>
              </a:lnSpc>
            </a:pPr>
            <a:r>
              <a:rPr lang="en-US" altLang="en-US" sz="2000" b="1" i="0" noProof="1">
                <a:solidFill>
                  <a:srgbClr val="000000"/>
                </a:solidFill>
                <a:latin typeface="Times New Roman"/>
                <a:ea typeface="標楷體"/>
                <a:cs typeface="Times New Roman"/>
              </a:rPr>
              <a:t>Service rate</a:t>
            </a:r>
          </a:p>
          <a:p>
            <a:pPr algn="ctr">
              <a:lnSpc>
                <a:spcPct val="105000"/>
              </a:lnSpc>
              <a:spcBef>
                <a:spcPts val="200"/>
              </a:spcBef>
            </a:pPr>
            <a:r>
              <a:rPr lang="en-US" altLang="en-US" sz="2000" b="0" i="0" noProof="1">
                <a:solidFill>
                  <a:srgbClr val="000000"/>
                </a:solidFill>
                <a:latin typeface="Times New Roman"/>
                <a:ea typeface="標楷體"/>
                <a:cs typeface="Times New Roman"/>
              </a:rPr>
              <a:t>throughput</a:t>
            </a:r>
          </a:p>
        </p:txBody>
      </p:sp>
      <p:cxnSp>
        <p:nvCxnSpPr>
          <p:cNvPr id="9" name="edu:arrow"/>
          <p:cNvCxnSpPr/>
          <p:nvPr/>
        </p:nvCxnSpPr>
        <p:spPr>
          <a:xfrm>
            <a:off x="4648163" y="1927555"/>
            <a:ext cx="384048" cy="0"/>
          </a:xfrm>
          <a:prstGeom prst="line">
            <a:avLst/>
          </a:prstGeom>
          <a:ln w="13970">
            <a:solidFill>
              <a:srgbClr val="6B7683"/>
            </a:solidFill>
            <a:tailEnd type="triangle" w="sm" len="sm"/>
          </a:ln>
        </p:spPr>
        <p:style>
          <a:lnRef idx="2">
            <a:schemeClr val="accent1"/>
          </a:lnRef>
          <a:fillRef idx="0">
            <a:schemeClr val="accent1"/>
          </a:fillRef>
          <a:effectRef idx="1">
            <a:schemeClr val="accent1"/>
          </a:effectRef>
          <a:fontRef idx="minor">
            <a:schemeClr val="tx1"/>
          </a:fontRef>
        </p:style>
      </p:cxnSp>
      <p:sp>
        <p:nvSpPr>
          <p:cNvPr id="10" name="edu:flow-node"/>
          <p:cNvSpPr/>
          <p:nvPr/>
        </p:nvSpPr>
        <p:spPr>
          <a:xfrm>
            <a:off x="7321868" y="1447495"/>
            <a:ext cx="2062763" cy="960120"/>
          </a:xfrm>
          <a:prstGeom prst="roundRect">
            <a:avLst/>
          </a:prstGeom>
          <a:solidFill>
            <a:srgbClr val="F6F8FA"/>
          </a:solidFill>
          <a:ln w="11430">
            <a:solidFill>
              <a:srgbClr val="9AA5B1"/>
            </a:solidFill>
          </a:ln>
          <a:effectLst/>
        </p:spPr>
        <p:txBody>
          <a:bodyPr wrap="square" tIns="0" bIns="0" rtlCol="0" anchor="ctr"/>
          <a:lstStyle/>
          <a:p>
            <a:pPr algn="ctr">
              <a:lnSpc>
                <a:spcPct val="105000"/>
              </a:lnSpc>
            </a:pPr>
            <a:r>
              <a:rPr lang="en-US" altLang="en-US" sz="2000" b="1" i="0" noProof="1">
                <a:solidFill>
                  <a:srgbClr val="000000"/>
                </a:solidFill>
                <a:latin typeface="Times New Roman"/>
                <a:ea typeface="標楷體"/>
                <a:cs typeface="Times New Roman"/>
              </a:rPr>
              <a:t>Three objectives</a:t>
            </a:r>
          </a:p>
          <a:p>
            <a:pPr algn="ctr">
              <a:lnSpc>
                <a:spcPct val="105000"/>
              </a:lnSpc>
              <a:spcBef>
                <a:spcPts val="200"/>
              </a:spcBef>
            </a:pPr>
            <a:r>
              <a:rPr lang="en-US" altLang="en-US" sz="2000" b="0" i="0" noProof="1">
                <a:solidFill>
                  <a:srgbClr val="000000"/>
                </a:solidFill>
                <a:latin typeface="Times New Roman"/>
                <a:ea typeface="標楷體"/>
                <a:cs typeface="Times New Roman"/>
              </a:rPr>
              <a:t>combined reward</a:t>
            </a:r>
          </a:p>
        </p:txBody>
      </p:sp>
      <p:cxnSp>
        <p:nvCxnSpPr>
          <p:cNvPr id="11" name="edu:arrow"/>
          <p:cNvCxnSpPr/>
          <p:nvPr/>
        </p:nvCxnSpPr>
        <p:spPr>
          <a:xfrm>
            <a:off x="6937821" y="1927555"/>
            <a:ext cx="384048" cy="0"/>
          </a:xfrm>
          <a:prstGeom prst="line">
            <a:avLst/>
          </a:prstGeom>
          <a:ln w="13970">
            <a:solidFill>
              <a:srgbClr val="6B7683"/>
            </a:solidFill>
            <a:tailEnd type="triangle" w="sm" len="sm"/>
          </a:ln>
        </p:spPr>
        <p:style>
          <a:lnRef idx="2">
            <a:schemeClr val="accent1"/>
          </a:lnRef>
          <a:fillRef idx="0">
            <a:schemeClr val="accent1"/>
          </a:fillRef>
          <a:effectRef idx="1">
            <a:schemeClr val="accent1"/>
          </a:effectRef>
          <a:fontRef idx="minor">
            <a:schemeClr val="tx1"/>
          </a:fontRef>
        </p:style>
      </p:cxnSp>
      <p:sp>
        <p:nvSpPr>
          <p:cNvPr id="12" name="edu:flow-node"/>
          <p:cNvSpPr/>
          <p:nvPr/>
        </p:nvSpPr>
        <p:spPr>
          <a:xfrm>
            <a:off x="9771947" y="1447495"/>
            <a:ext cx="1905609" cy="960120"/>
          </a:xfrm>
          <a:prstGeom prst="roundRect">
            <a:avLst/>
          </a:prstGeom>
          <a:solidFill>
            <a:srgbClr val="F6F8FA"/>
          </a:solidFill>
          <a:ln w="11430">
            <a:solidFill>
              <a:srgbClr val="9AA5B1"/>
            </a:solidFill>
          </a:ln>
          <a:effectLst/>
        </p:spPr>
        <p:txBody>
          <a:bodyPr wrap="square" tIns="0" bIns="0" rtlCol="0" anchor="ctr"/>
          <a:lstStyle/>
          <a:p>
            <a:pPr algn="ctr">
              <a:lnSpc>
                <a:spcPct val="105000"/>
              </a:lnSpc>
            </a:pPr>
            <a:r>
              <a:rPr lang="en-US" altLang="en-US" sz="2000" b="1" i="0" noProof="1">
                <a:solidFill>
                  <a:srgbClr val="000000"/>
                </a:solidFill>
                <a:latin typeface="Times New Roman"/>
                <a:ea typeface="標楷體"/>
                <a:cs typeface="Times New Roman"/>
              </a:rPr>
              <a:t>Learned policy</a:t>
            </a:r>
          </a:p>
          <a:p>
            <a:pPr algn="ctr">
              <a:lnSpc>
                <a:spcPct val="105000"/>
              </a:lnSpc>
              <a:spcBef>
                <a:spcPts val="200"/>
              </a:spcBef>
            </a:pPr>
            <a:r>
              <a:rPr lang="en-US" altLang="en-US" sz="2000" b="0" i="0" noProof="1">
                <a:solidFill>
                  <a:srgbClr val="000000"/>
                </a:solidFill>
                <a:latin typeface="Times New Roman"/>
                <a:ea typeface="標楷體"/>
                <a:cs typeface="Times New Roman"/>
              </a:rPr>
              <a:t>MODQN</a:t>
            </a:r>
          </a:p>
        </p:txBody>
      </p:sp>
      <p:cxnSp>
        <p:nvCxnSpPr>
          <p:cNvPr id="13" name="edu:arrow"/>
          <p:cNvCxnSpPr/>
          <p:nvPr/>
        </p:nvCxnSpPr>
        <p:spPr>
          <a:xfrm>
            <a:off x="9387899" y="1927555"/>
            <a:ext cx="384048" cy="0"/>
          </a:xfrm>
          <a:prstGeom prst="line">
            <a:avLst/>
          </a:prstGeom>
          <a:ln w="13970">
            <a:solidFill>
              <a:srgbClr val="6B7683"/>
            </a:solidFill>
            <a:tailEnd type="triangle" w="sm" len="sm"/>
          </a:ln>
        </p:spPr>
        <p:style>
          <a:lnRef idx="2">
            <a:schemeClr val="accent1"/>
          </a:lnRef>
          <a:fillRef idx="0">
            <a:schemeClr val="accent1"/>
          </a:fillRef>
          <a:effectRef idx="1">
            <a:schemeClr val="accent1"/>
          </a:effectRef>
          <a:fontRef idx="minor">
            <a:schemeClr val="tx1"/>
          </a:fontRef>
        </p:style>
      </p:cxnSp>
      <p:sp>
        <p:nvSpPr>
          <p:cNvPr id="14" name="edu:body"/>
          <p:cNvSpPr txBox="1"/>
          <p:nvPr/>
        </p:nvSpPr>
        <p:spPr>
          <a:xfrm>
            <a:off x="565190" y="2572207"/>
            <a:ext cx="11064240" cy="2499969"/>
          </a:xfrm>
          <a:prstGeom prst="rect">
            <a:avLst/>
          </a:prstGeom>
          <a:noFill/>
        </p:spPr>
        <p:txBody>
          <a:bodyPr wrap="square" lIns="0" tIns="0" rIns="0" bIns="0" anchor="t">
            <a:spAutoFit/>
          </a:bodyPr>
          <a:lstStyle/>
          <a:p>
            <a:pPr marL="285750" indent="-285750" algn="l">
              <a:lnSpc>
                <a:spcPct val="112000"/>
              </a:lnSpc>
              <a:spcAft>
                <a:spcPts val="700"/>
              </a:spcAft>
              <a:buSzPts val="2800"/>
              <a:buFont typeface="Arial"/>
              <a:buChar char="•"/>
            </a:pPr>
            <a:r>
              <a:rPr lang="en-US" altLang="en-US" sz="2400" b="0" i="0" noProof="1">
                <a:solidFill>
                  <a:srgbClr val="000000"/>
                </a:solidFill>
                <a:latin typeface="Times New Roman"/>
                <a:ea typeface="標楷體"/>
                <a:cs typeface="Times New Roman"/>
              </a:rPr>
              <a:t>Continuous satellite motion changes which beam best serves a user, making the next beam a recurring decision.</a:t>
            </a:r>
          </a:p>
          <a:p>
            <a:pPr marL="285750" indent="-285750" algn="l">
              <a:lnSpc>
                <a:spcPct val="112000"/>
              </a:lnSpc>
              <a:spcAft>
                <a:spcPts val="700"/>
              </a:spcAft>
              <a:buSzPts val="2800"/>
              <a:buFont typeface="Arial"/>
              <a:buChar char="•"/>
            </a:pPr>
            <a:r>
              <a:rPr lang="en-US" altLang="en-US" sz="2400" b="0" i="0" noProof="1">
                <a:solidFill>
                  <a:srgbClr val="000000"/>
                </a:solidFill>
                <a:latin typeface="Times New Roman"/>
                <a:ea typeface="標楷體"/>
                <a:cs typeface="Times New Roman"/>
              </a:rPr>
              <a:t>Signal strength alone ignores current beam load and switching cost, and is therefore a poor criterion on its own.</a:t>
            </a:r>
          </a:p>
          <a:p>
            <a:pPr marL="285750" indent="-285750" algn="l">
              <a:lnSpc>
                <a:spcPct val="112000"/>
              </a:lnSpc>
              <a:spcAft>
                <a:spcPts val="0"/>
              </a:spcAft>
              <a:buSzPts val="2800"/>
              <a:buFont typeface="Arial"/>
              <a:buChar char="•"/>
            </a:pPr>
            <a:r>
              <a:rPr lang="en-US" altLang="en-US" sz="2400" b="0" i="0" noProof="1">
                <a:solidFill>
                  <a:srgbClr val="000000"/>
                </a:solidFill>
                <a:latin typeface="Times New Roman"/>
                <a:ea typeface="標楷體"/>
                <a:cs typeface="Times New Roman"/>
              </a:rPr>
              <a:t>The handover decision is evaluated against three simultaneous objectives, learned by a neural network.</a:t>
            </a:r>
          </a:p>
        </p:txBody>
      </p:sp>
      <p:sp>
        <p:nvSpPr>
          <p:cNvPr id="15" name="edu:body"/>
          <p:cNvSpPr txBox="1"/>
          <p:nvPr/>
        </p:nvSpPr>
        <p:spPr>
          <a:xfrm>
            <a:off x="565190" y="5236768"/>
            <a:ext cx="11064240" cy="774496"/>
          </a:xfrm>
          <a:prstGeom prst="rect">
            <a:avLst/>
          </a:prstGeom>
          <a:noFill/>
        </p:spPr>
        <p:txBody>
          <a:bodyPr wrap="square" lIns="0" tIns="0" rIns="0" bIns="0" anchor="t">
            <a:spAutoFit/>
          </a:bodyPr>
          <a:lstStyle/>
          <a:p>
            <a:pPr algn="l">
              <a:lnSpc>
                <a:spcPct val="112000"/>
              </a:lnSpc>
              <a:spcAft>
                <a:spcPts val="0"/>
              </a:spcAft>
            </a:pPr>
            <a:r>
              <a:rPr lang="en-US" altLang="en-US" sz="2400" b="0" i="0" noProof="1">
                <a:solidFill>
                  <a:srgbClr val="000000"/>
                </a:solidFill>
                <a:latin typeface="Times New Roman"/>
                <a:ea typeface="標楷體"/>
                <a:cs typeface="Times New Roman"/>
              </a:rPr>
              <a:t>System power inside the reward box is treated as a given quantity until its own dedicated derivation.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du:title"/>
          <p:cNvSpPr txBox="1"/>
          <p:nvPr/>
        </p:nvSpPr>
        <p:spPr>
          <a:xfrm>
            <a:off x="565190" y="141274"/>
            <a:ext cx="11417289" cy="571500"/>
          </a:xfrm>
          <a:prstGeom prst="rect">
            <a:avLst/>
          </a:prstGeom>
          <a:noFill/>
        </p:spPr>
        <p:txBody>
          <a:bodyPr wrap="square" lIns="0" tIns="0" rIns="0" bIns="0" anchor="b">
            <a:spAutoFit/>
          </a:bodyPr>
          <a:lstStyle/>
          <a:p>
            <a:pPr algn="l"/>
            <a:r>
              <a:rPr lang="en-US" altLang="en-US" sz="2800" b="1" i="0" noProof="1">
                <a:solidFill>
                  <a:srgbClr val="1B365D"/>
                </a:solidFill>
                <a:latin typeface="Times New Roman"/>
                <a:ea typeface="標楷體"/>
                <a:cs typeface="Times New Roman"/>
              </a:rPr>
              <a:t>System Indices</a:t>
            </a:r>
          </a:p>
        </p:txBody>
      </p:sp>
      <p:sp>
        <p:nvSpPr>
          <p:cNvPr id="4" name="edu:body"/>
          <p:cNvSpPr txBox="1"/>
          <p:nvPr/>
        </p:nvSpPr>
        <p:spPr>
          <a:xfrm>
            <a:off x="565190" y="896112"/>
            <a:ext cx="11064240" cy="774496"/>
          </a:xfrm>
          <a:prstGeom prst="rect">
            <a:avLst/>
          </a:prstGeom>
          <a:noFill/>
        </p:spPr>
        <p:txBody>
          <a:bodyPr wrap="square" lIns="0" tIns="0" rIns="0" bIns="0" anchor="t">
            <a:spAutoFit/>
          </a:bodyPr>
          <a:lstStyle/>
          <a:p>
            <a:pPr algn="l">
              <a:lnSpc>
                <a:spcPct val="112000"/>
              </a:lnSpc>
              <a:spcAft>
                <a:spcPts val="0"/>
              </a:spcAft>
            </a:pPr>
            <a:r>
              <a:rPr lang="en-US" altLang="en-US" sz="2400" b="0" i="0" noProof="1">
                <a:solidFill>
                  <a:srgbClr val="000000"/>
                </a:solidFill>
                <a:latin typeface="Times New Roman"/>
                <a:ea typeface="標楷體"/>
                <a:cs typeface="Times New Roman"/>
              </a:rPr>
              <a:t>Time is discretized into steps, at every step the network assigns each user one service beam:</a:t>
            </a:r>
          </a:p>
        </p:txBody>
      </p:sp>
      <mc:AlternateContent xmlns:mc="http://schemas.openxmlformats.org/markup-compatibility/2006" xmlns:a14="http://schemas.microsoft.com/office/drawing/2010/main">
        <mc:Choice Requires="a14">
          <p:sp>
            <p:nvSpPr>
              <p:cNvPr id="5" name="edu:formula-omml" descr="Native Office Math: a03_sets_u"/>
              <p:cNvSpPr txBox="1"/>
              <p:nvPr/>
            </p:nvSpPr>
            <p:spPr>
              <a:xfrm>
                <a:off x="4796028" y="1474255"/>
                <a:ext cx="2603296" cy="587959"/>
              </a:xfrm>
              <a:prstGeom prst="rect">
                <a:avLst/>
              </a:prstGeom>
              <a:noFill/>
              <a:effectLst/>
            </p:spPr>
            <p:txBody>
              <a:bodyPr wrap="none" lIns="0" tIns="0" rIns="0" bIns="0" anchor="ctr">
                <a:noAutofit/>
              </a:bodyPr>
              <a:lstStyle/>
              <a:p>
                <a:pPr algn="ctr"/>
                <a14:m>
                  <m:oMathPara xmlns:m="http://schemas.openxmlformats.org/officeDocument/2006/math">
                    <m:oMath>
                      <m:r>
                        <a:rPr lang="en-US" altLang="en-US" sz="2400" i="1" dirty="0" smtClean="0">
                          <a:solidFill>
                            <a:srgbClr val="000000"/>
                          </a:solidFill>
                          <a:latin typeface="Cambria Math" panose="02040503050406030204" pitchFamily="18" charset="0"/>
                          <a:ea typeface="Times New Roman"/>
                          <a:cs typeface="Times New Roman"/>
                        </a:rPr>
                        <m:t>𝒰</m:t>
                      </m:r>
                      <m:r>
                        <a:rPr lang="en-US" altLang="en-US" sz="2400" i="0" dirty="0" smtClean="0">
                          <a:solidFill>
                            <a:srgbClr val="000000"/>
                          </a:solidFill>
                          <a:latin typeface="Cambria Math" panose="02040503050406030204" pitchFamily="18" charset="0"/>
                          <a:ea typeface="Times New Roman"/>
                          <a:cs typeface="Times New Roman"/>
                        </a:rPr>
                        <m:t>={1,2,…,</m:t>
                      </m:r>
                      <m:r>
                        <a:rPr lang="en-US" altLang="en-US" sz="2400" i="1" dirty="0" smtClean="0">
                          <a:solidFill>
                            <a:srgbClr val="000000"/>
                          </a:solidFill>
                          <a:latin typeface="Cambria Math" panose="02040503050406030204" pitchFamily="18" charset="0"/>
                          <a:ea typeface="Times New Roman"/>
                          <a:cs typeface="Times New Roman"/>
                        </a:rPr>
                        <m:t>𝑢</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𝑈</m:t>
                      </m:r>
                      <m:r>
                        <a:rPr lang="en-US" altLang="en-US" sz="2400" i="0" dirty="0" smtClean="0">
                          <a:solidFill>
                            <a:srgbClr val="000000"/>
                          </a:solidFill>
                          <a:latin typeface="Cambria Math" panose="02040503050406030204" pitchFamily="18" charset="0"/>
                          <a:ea typeface="Times New Roman"/>
                          <a:cs typeface="Times New Roman"/>
                        </a:rPr>
                        <m:t>}</m:t>
                      </m:r>
                    </m:oMath>
                  </m:oMathPara>
                </a14:m>
                <a:endParaRPr lang="en-US" altLang="en-US" sz="2400" dirty="0">
                  <a:solidFill>
                    <a:srgbClr val="000000"/>
                  </a:solidFill>
                  <a:latin typeface="Times New Roman"/>
                  <a:ea typeface="Times New Roman"/>
                  <a:cs typeface="Times New Roman"/>
                </a:endParaRPr>
              </a:p>
            </p:txBody>
          </p:sp>
        </mc:Choice>
        <mc:Fallback xmlns="">
          <p:sp>
            <p:nvSpPr>
              <p:cNvPr id="5" name="edu:formula-omml" descr="Native Office Math: a03_sets_u"/>
              <p:cNvSpPr txBox="1">
                <a:spLocks noRot="1" noChangeAspect="1" noMove="1" noResize="1" noEditPoints="1" noAdjustHandles="1" noChangeArrowheads="1" noChangeShapeType="1" noTextEdit="1"/>
              </p:cNvSpPr>
              <p:nvPr/>
            </p:nvSpPr>
            <p:spPr>
              <a:xfrm>
                <a:off x="4796028" y="1474255"/>
                <a:ext cx="2603296" cy="587959"/>
              </a:xfrm>
              <a:prstGeom prst="rect">
                <a:avLst/>
              </a:prstGeom>
              <a:blipFill>
                <a:blip r:embed="rId3"/>
                <a:stretch>
                  <a:fillRect l="-7026" r="-5386" b="-5208"/>
                </a:stretch>
              </a:blipFill>
              <a:effectLst/>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edu:formula-omml" descr="Native Office Math: a03_sets_s"/>
              <p:cNvSpPr txBox="1"/>
              <p:nvPr/>
            </p:nvSpPr>
            <p:spPr>
              <a:xfrm>
                <a:off x="4853635" y="2226807"/>
                <a:ext cx="2488082" cy="587959"/>
              </a:xfrm>
              <a:prstGeom prst="rect">
                <a:avLst/>
              </a:prstGeom>
              <a:noFill/>
              <a:effectLst/>
            </p:spPr>
            <p:txBody>
              <a:bodyPr wrap="none" lIns="0" tIns="0" rIns="0" bIns="0" anchor="ctr">
                <a:noAutofit/>
              </a:bodyPr>
              <a:lstStyle/>
              <a:p>
                <a:pPr algn="ctr"/>
                <a14:m>
                  <m:oMathPara xmlns:m="http://schemas.openxmlformats.org/officeDocument/2006/math">
                    <m:oMath>
                      <m:r>
                        <a:rPr lang="en-US" altLang="en-US" sz="2400" i="1" dirty="0" smtClean="0">
                          <a:solidFill>
                            <a:srgbClr val="000000"/>
                          </a:solidFill>
                          <a:latin typeface="Cambria Math" panose="02040503050406030204" pitchFamily="18" charset="0"/>
                          <a:ea typeface="Times New Roman"/>
                          <a:cs typeface="Times New Roman"/>
                        </a:rPr>
                        <m:t>𝒮</m:t>
                      </m:r>
                      <m:r>
                        <a:rPr lang="en-US" altLang="en-US" sz="2400" i="0" dirty="0" smtClean="0">
                          <a:solidFill>
                            <a:srgbClr val="000000"/>
                          </a:solidFill>
                          <a:latin typeface="Cambria Math" panose="02040503050406030204" pitchFamily="18" charset="0"/>
                          <a:ea typeface="Times New Roman"/>
                          <a:cs typeface="Times New Roman"/>
                        </a:rPr>
                        <m:t>={1,2,…,</m:t>
                      </m:r>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𝑆</m:t>
                      </m:r>
                      <m:r>
                        <a:rPr lang="en-US" altLang="en-US" sz="2400" i="0" dirty="0" smtClean="0">
                          <a:solidFill>
                            <a:srgbClr val="000000"/>
                          </a:solidFill>
                          <a:latin typeface="Cambria Math" panose="02040503050406030204" pitchFamily="18" charset="0"/>
                          <a:ea typeface="Times New Roman"/>
                          <a:cs typeface="Times New Roman"/>
                        </a:rPr>
                        <m:t>}</m:t>
                      </m:r>
                    </m:oMath>
                  </m:oMathPara>
                </a14:m>
                <a:endParaRPr lang="en-US" altLang="en-US" sz="2400" dirty="0">
                  <a:solidFill>
                    <a:srgbClr val="000000"/>
                  </a:solidFill>
                  <a:latin typeface="Times New Roman"/>
                  <a:ea typeface="Times New Roman"/>
                  <a:cs typeface="Times New Roman"/>
                </a:endParaRPr>
              </a:p>
            </p:txBody>
          </p:sp>
        </mc:Choice>
        <mc:Fallback xmlns="">
          <p:sp>
            <p:nvSpPr>
              <p:cNvPr id="6" name="edu:formula-omml" descr="Native Office Math: a03_sets_s"/>
              <p:cNvSpPr txBox="1">
                <a:spLocks noRot="1" noChangeAspect="1" noMove="1" noResize="1" noEditPoints="1" noAdjustHandles="1" noChangeArrowheads="1" noChangeShapeType="1" noTextEdit="1"/>
              </p:cNvSpPr>
              <p:nvPr/>
            </p:nvSpPr>
            <p:spPr>
              <a:xfrm>
                <a:off x="4853635" y="2226807"/>
                <a:ext cx="2488082" cy="587959"/>
              </a:xfrm>
              <a:prstGeom prst="rect">
                <a:avLst/>
              </a:prstGeom>
              <a:blipFill>
                <a:blip r:embed="rId4"/>
                <a:stretch>
                  <a:fillRect l="-6863" r="-5392" b="-4124"/>
                </a:stretch>
              </a:blipFill>
              <a:effectLst/>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edu:formula-omml" descr="Native Office Math: a03_sets_v"/>
              <p:cNvSpPr txBox="1"/>
              <p:nvPr/>
            </p:nvSpPr>
            <p:spPr>
              <a:xfrm>
                <a:off x="4838090" y="2979358"/>
                <a:ext cx="2519172" cy="587959"/>
              </a:xfrm>
              <a:prstGeom prst="rect">
                <a:avLst/>
              </a:prstGeom>
              <a:noFill/>
              <a:effectLst/>
            </p:spPr>
            <p:txBody>
              <a:bodyPr wrap="none" lIns="0" tIns="0" rIns="0" bIns="0" anchor="ctr">
                <a:noAutofit/>
              </a:bodyPr>
              <a:lstStyle/>
              <a:p>
                <a:pPr algn="ctr"/>
                <a14:m>
                  <m:oMathPara xmlns:m="http://schemas.openxmlformats.org/officeDocument/2006/math">
                    <m:oMath>
                      <m:r>
                        <a:rPr lang="en-US" altLang="en-US" sz="2400" i="1" dirty="0" smtClean="0">
                          <a:solidFill>
                            <a:srgbClr val="000000"/>
                          </a:solidFill>
                          <a:latin typeface="Cambria Math" panose="02040503050406030204" pitchFamily="18" charset="0"/>
                          <a:ea typeface="Times New Roman"/>
                          <a:cs typeface="Times New Roman"/>
                        </a:rPr>
                        <m:t>𝒱</m:t>
                      </m:r>
                      <m:r>
                        <a:rPr lang="en-US" altLang="en-US" sz="2400" i="0" dirty="0" smtClean="0">
                          <a:solidFill>
                            <a:srgbClr val="000000"/>
                          </a:solidFill>
                          <a:latin typeface="Cambria Math" panose="02040503050406030204" pitchFamily="18" charset="0"/>
                          <a:ea typeface="Times New Roman"/>
                          <a:cs typeface="Times New Roman"/>
                        </a:rPr>
                        <m:t>={1,2,…,</m:t>
                      </m:r>
                      <m:r>
                        <a:rPr lang="en-US" altLang="en-US" sz="2400" i="1" dirty="0" smtClean="0">
                          <a:solidFill>
                            <a:srgbClr val="000000"/>
                          </a:solidFill>
                          <a:latin typeface="Cambria Math" panose="02040503050406030204" pitchFamily="18" charset="0"/>
                          <a:ea typeface="Times New Roman"/>
                          <a:cs typeface="Times New Roman"/>
                        </a:rPr>
                        <m:t>𝑣</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𝑉</m:t>
                      </m:r>
                      <m:r>
                        <a:rPr lang="en-US" altLang="en-US" sz="2400" i="0" dirty="0" smtClean="0">
                          <a:solidFill>
                            <a:srgbClr val="000000"/>
                          </a:solidFill>
                          <a:latin typeface="Cambria Math" panose="02040503050406030204" pitchFamily="18" charset="0"/>
                          <a:ea typeface="Times New Roman"/>
                          <a:cs typeface="Times New Roman"/>
                        </a:rPr>
                        <m:t>}</m:t>
                      </m:r>
                    </m:oMath>
                  </m:oMathPara>
                </a14:m>
                <a:endParaRPr lang="en-US" altLang="en-US" sz="2400" dirty="0">
                  <a:solidFill>
                    <a:srgbClr val="000000"/>
                  </a:solidFill>
                  <a:latin typeface="Times New Roman"/>
                  <a:ea typeface="Times New Roman"/>
                  <a:cs typeface="Times New Roman"/>
                </a:endParaRPr>
              </a:p>
            </p:txBody>
          </p:sp>
        </mc:Choice>
        <mc:Fallback xmlns="">
          <p:sp>
            <p:nvSpPr>
              <p:cNvPr id="7" name="edu:formula-omml" descr="Native Office Math: a03_sets_v"/>
              <p:cNvSpPr txBox="1">
                <a:spLocks noRot="1" noChangeAspect="1" noMove="1" noResize="1" noEditPoints="1" noAdjustHandles="1" noChangeArrowheads="1" noChangeShapeType="1" noTextEdit="1"/>
              </p:cNvSpPr>
              <p:nvPr/>
            </p:nvSpPr>
            <p:spPr>
              <a:xfrm>
                <a:off x="4838090" y="2979358"/>
                <a:ext cx="2519172" cy="587959"/>
              </a:xfrm>
              <a:prstGeom prst="rect">
                <a:avLst/>
              </a:prstGeom>
              <a:blipFill>
                <a:blip r:embed="rId5"/>
                <a:stretch>
                  <a:fillRect l="-7990" r="-6295" b="-4167"/>
                </a:stretch>
              </a:blipFill>
              <a:effectLst/>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edu:body"/>
              <p:cNvSpPr txBox="1"/>
              <p:nvPr/>
            </p:nvSpPr>
            <p:spPr>
              <a:xfrm>
                <a:off x="565190" y="3868266"/>
                <a:ext cx="11064240" cy="386791"/>
              </a:xfrm>
              <a:prstGeom prst="rect">
                <a:avLst/>
              </a:prstGeom>
              <a:noFill/>
              <a:effectLst/>
            </p:spPr>
            <p:txBody>
              <a:bodyPr wrap="square" lIns="0" tIns="0" rIns="0" bIns="0" anchor="t">
                <a:noAutofit/>
              </a:bodyPr>
              <a:lstStyle/>
              <a:p>
                <a:pPr algn="l">
                  <a:lnSpc>
                    <a:spcPct val="112000"/>
                  </a:lnSpc>
                  <a:spcAft>
                    <a:spcPts val="0"/>
                  </a:spcAft>
                </a:pPr>
                <a:r>
                  <a:rPr lang="en-US" altLang="en-US" sz="2400" b="0" i="0" noProof="1">
                    <a:solidFill>
                      <a:srgbClr val="000000"/>
                    </a:solidFill>
                    <a:latin typeface="Times New Roman"/>
                    <a:ea typeface="標楷體"/>
                    <a:cs typeface="Times New Roman"/>
                  </a:rPr>
                  <a:t>A physical beam is always the pair </a:t>
                </a:r>
                <a14:m>
                  <m:oMath xmlns:m="http://schemas.openxmlformats.org/officeDocument/2006/math">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r>
                      <a:rPr lang="en-US" altLang="en-US" sz="2400" i="0" dirty="0" smtClean="0">
                        <a:solidFill>
                          <a:srgbClr val="000000"/>
                        </a:solidFill>
                        <a:latin typeface="Cambria Math" panose="02040503050406030204" pitchFamily="18" charset="0"/>
                        <a:ea typeface="Times New Roman"/>
                        <a:cs typeface="Times New Roman"/>
                      </a:rPr>
                      <m:t>)</m:t>
                    </m:r>
                  </m:oMath>
                </a14:m>
                <a:r>
                  <a:rPr lang="en-US" altLang="en-US" sz="2400" b="0" i="0" noProof="1">
                    <a:solidFill>
                      <a:srgbClr val="000000"/>
                    </a:solidFill>
                    <a:latin typeface="Times New Roman"/>
                    <a:ea typeface="標楷體"/>
                    <a:cs typeface="Times New Roman"/>
                  </a:rPr>
                  <a:t>, the beam index is reused on every satellite.</a:t>
                </a:r>
                <a:endParaRPr lang="en-US" altLang="en-US" dirty="0">
                  <a:solidFill>
                    <a:srgbClr val="000000"/>
                  </a:solidFill>
                  <a:latin typeface="Times New Roman"/>
                  <a:ea typeface="Times New Roman"/>
                  <a:cs typeface="Times New Roman"/>
                </a:endParaRPr>
              </a:p>
            </p:txBody>
          </p:sp>
        </mc:Choice>
        <mc:Fallback xmlns="">
          <p:sp>
            <p:nvSpPr>
              <p:cNvPr id="8" name="edu:body"/>
              <p:cNvSpPr txBox="1">
                <a:spLocks noRot="1" noChangeAspect="1" noMove="1" noResize="1" noEditPoints="1" noAdjustHandles="1" noChangeArrowheads="1" noChangeShapeType="1" noTextEdit="1"/>
              </p:cNvSpPr>
              <p:nvPr/>
            </p:nvSpPr>
            <p:spPr>
              <a:xfrm>
                <a:off x="565190" y="3868266"/>
                <a:ext cx="11064240" cy="386791"/>
              </a:xfrm>
              <a:prstGeom prst="rect">
                <a:avLst/>
              </a:prstGeom>
              <a:blipFill>
                <a:blip r:embed="rId6"/>
                <a:stretch>
                  <a:fillRect l="-1708" t="-22222" b="-46032"/>
                </a:stretch>
              </a:blipFill>
              <a:effectLst/>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 name="edu:notation"/>
              <p:cNvSpPr txBox="1"/>
              <p:nvPr/>
            </p:nvSpPr>
            <p:spPr>
              <a:xfrm>
                <a:off x="565190" y="4468401"/>
                <a:ext cx="11064240" cy="1391716"/>
              </a:xfrm>
              <a:prstGeom prst="rect">
                <a:avLst/>
              </a:prstGeom>
              <a:noFill/>
              <a:effectLst/>
            </p:spPr>
            <p:txBody>
              <a:bodyPr wrap="square" lIns="0" tIns="0" rIns="0" bIns="0" anchor="t">
                <a:noAutofit/>
              </a:bodyPr>
              <a:lstStyle/>
              <a:p>
                <a:pPr algn="l">
                  <a:lnSpc>
                    <a:spcPct val="100000"/>
                  </a:lnSpc>
                  <a:spcAft>
                    <a:spcPts val="200"/>
                  </a:spcAft>
                </a:pPr>
                <a:r>
                  <a:rPr lang="en-US" altLang="en-US" sz="2400" b="1" i="0" noProof="1">
                    <a:solidFill>
                      <a:srgbClr val="000000"/>
                    </a:solidFill>
                    <a:latin typeface="Times New Roman"/>
                    <a:ea typeface="標楷體"/>
                    <a:cs typeface="Times New Roman"/>
                  </a:rPr>
                  <a:t>Notation</a:t>
                </a:r>
              </a:p>
              <a:p>
                <a:pPr algn="l">
                  <a:lnSpc>
                    <a:spcPct val="100000"/>
                  </a:lnSpc>
                  <a:spcAft>
                    <a:spcPts val="200"/>
                  </a:spcAft>
                </a:pPr>
                <a14:m>
                  <m:oMath xmlns:m="http://schemas.openxmlformats.org/officeDocument/2006/math">
                    <m:r>
                      <a:rPr lang="en-US" altLang="en-US" sz="2400" i="1" dirty="0" smtClean="0">
                        <a:solidFill>
                          <a:srgbClr val="000000"/>
                        </a:solidFill>
                        <a:latin typeface="Cambria Math" panose="02040503050406030204" pitchFamily="18" charset="0"/>
                        <a:ea typeface="Times New Roman"/>
                        <a:cs typeface="Times New Roman"/>
                      </a:rPr>
                      <m:t>𝒰</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 </m:t>
                    </m:r>
                    <m:r>
                      <a:rPr lang="en-US" altLang="en-US" sz="2400" i="1" dirty="0" smtClean="0">
                        <a:solidFill>
                          <a:srgbClr val="000000"/>
                        </a:solidFill>
                        <a:latin typeface="Cambria Math" panose="02040503050406030204" pitchFamily="18" charset="0"/>
                        <a:ea typeface="Times New Roman"/>
                        <a:cs typeface="Times New Roman"/>
                      </a:rPr>
                      <m:t>𝒮</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 </m:t>
                    </m:r>
                    <m:r>
                      <a:rPr lang="en-US" altLang="en-US" sz="2400" i="1" dirty="0" smtClean="0">
                        <a:solidFill>
                          <a:srgbClr val="000000"/>
                        </a:solidFill>
                        <a:latin typeface="Cambria Math" panose="02040503050406030204" pitchFamily="18" charset="0"/>
                        <a:ea typeface="Times New Roman"/>
                        <a:cs typeface="Times New Roman"/>
                      </a:rPr>
                      <m:t>𝒱</m:t>
                    </m:r>
                  </m:oMath>
                </a14:m>
                <a:r>
                  <a:rPr lang="en-US" altLang="en-US" sz="2400" b="0" i="0" noProof="1">
                    <a:solidFill>
                      <a:srgbClr val="000000"/>
                    </a:solidFill>
                    <a:latin typeface="Times New Roman"/>
                    <a:ea typeface="標楷體"/>
                    <a:cs typeface="Times New Roman"/>
                  </a:rPr>
                  <a:t>: index sets of users, satellites, and per-satellite beams, sized </a:t>
                </a:r>
                <a:r>
                  <a:rPr lang="en-US" altLang="en-US" sz="2400" b="0" i="1" noProof="1">
                    <a:solidFill>
                      <a:srgbClr val="000000"/>
                    </a:solidFill>
                    <a:latin typeface="Times New Roman"/>
                    <a:ea typeface="標楷體"/>
                    <a:cs typeface="Times New Roman"/>
                  </a:rPr>
                  <a:t>U</a:t>
                </a:r>
                <a:r>
                  <a:rPr lang="en-US" altLang="en-US" sz="2400" b="0" i="0" noProof="1">
                    <a:solidFill>
                      <a:srgbClr val="000000"/>
                    </a:solidFill>
                    <a:latin typeface="Times New Roman"/>
                    <a:ea typeface="標楷體"/>
                    <a:cs typeface="Times New Roman"/>
                  </a:rPr>
                  <a:t>, </a:t>
                </a:r>
                <a:r>
                  <a:rPr lang="en-US" altLang="en-US" sz="2400" b="0" i="1" noProof="1">
                    <a:solidFill>
                      <a:srgbClr val="000000"/>
                    </a:solidFill>
                    <a:latin typeface="Times New Roman"/>
                    <a:ea typeface="標楷體"/>
                    <a:cs typeface="Times New Roman"/>
                  </a:rPr>
                  <a:t>S</a:t>
                </a:r>
                <a:r>
                  <a:rPr lang="en-US" altLang="en-US" sz="2400" b="0" i="0" noProof="1">
                    <a:solidFill>
                      <a:srgbClr val="000000"/>
                    </a:solidFill>
                    <a:latin typeface="Times New Roman"/>
                    <a:ea typeface="標楷體"/>
                    <a:cs typeface="Times New Roman"/>
                  </a:rPr>
                  <a:t>, </a:t>
                </a:r>
                <a:r>
                  <a:rPr lang="en-US" altLang="en-US" sz="2400" b="0" i="1" noProof="1">
                    <a:solidFill>
                      <a:srgbClr val="000000"/>
                    </a:solidFill>
                    <a:latin typeface="Times New Roman"/>
                    <a:ea typeface="標楷體"/>
                    <a:cs typeface="Times New Roman"/>
                  </a:rPr>
                  <a:t>V</a:t>
                </a:r>
                <a:endParaRPr lang="en-US" altLang="en-US" sz="2400" dirty="0">
                  <a:solidFill>
                    <a:srgbClr val="000000"/>
                  </a:solidFill>
                  <a:latin typeface="Times New Roman"/>
                  <a:ea typeface="Times New Roman"/>
                  <a:cs typeface="Times New Roman"/>
                </a:endParaRPr>
              </a:p>
              <a:p>
                <a:pPr algn="l">
                  <a:lnSpc>
                    <a:spcPct val="100000"/>
                  </a:lnSpc>
                  <a:spcAft>
                    <a:spcPts val="200"/>
                  </a:spcAft>
                </a:pPr>
                <a14:m>
                  <m:oMath xmlns:m="http://schemas.openxmlformats.org/officeDocument/2006/math">
                    <m:r>
                      <a:rPr lang="en-US" altLang="en-US" sz="2400" i="1" dirty="0" smtClean="0">
                        <a:solidFill>
                          <a:srgbClr val="000000"/>
                        </a:solidFill>
                        <a:latin typeface="Cambria Math" panose="02040503050406030204" pitchFamily="18" charset="0"/>
                        <a:ea typeface="Times New Roman"/>
                        <a:cs typeface="Times New Roman"/>
                      </a:rPr>
                      <m:t>𝑢</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 </m:t>
                    </m:r>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 </m:t>
                    </m:r>
                    <m:r>
                      <a:rPr lang="en-US" altLang="en-US" sz="2400" i="1" dirty="0" smtClean="0">
                        <a:solidFill>
                          <a:srgbClr val="000000"/>
                        </a:solidFill>
                        <a:latin typeface="Cambria Math" panose="02040503050406030204" pitchFamily="18" charset="0"/>
                        <a:ea typeface="Times New Roman"/>
                        <a:cs typeface="Times New Roman"/>
                      </a:rPr>
                      <m:t>𝑣</m:t>
                    </m:r>
                  </m:oMath>
                </a14:m>
                <a:r>
                  <a:rPr lang="en-US" altLang="en-US" sz="2400" b="0" i="0" noProof="1">
                    <a:solidFill>
                      <a:srgbClr val="000000"/>
                    </a:solidFill>
                    <a:latin typeface="Times New Roman"/>
                    <a:ea typeface="標楷體"/>
                    <a:cs typeface="Times New Roman"/>
                  </a:rPr>
                  <a:t>: one user, one satellite, one beam index</a:t>
                </a:r>
                <a:endParaRPr lang="en-US" altLang="en-US" sz="2400" dirty="0">
                  <a:solidFill>
                    <a:srgbClr val="000000"/>
                  </a:solidFill>
                  <a:latin typeface="Times New Roman"/>
                  <a:ea typeface="Times New Roman"/>
                  <a:cs typeface="Times New Roman"/>
                </a:endParaRPr>
              </a:p>
              <a:p>
                <a:pPr algn="l">
                  <a:lnSpc>
                    <a:spcPct val="100000"/>
                  </a:lnSpc>
                  <a:spcAft>
                    <a:spcPts val="200"/>
                  </a:spcAft>
                </a:pPr>
                <a14:m>
                  <m:oMath xmlns:m="http://schemas.openxmlformats.org/officeDocument/2006/math">
                    <m:r>
                      <a:rPr lang="en-US" altLang="en-US" sz="2400" i="1" dirty="0" smtClean="0">
                        <a:solidFill>
                          <a:srgbClr val="000000"/>
                        </a:solidFill>
                        <a:latin typeface="Cambria Math" panose="02040503050406030204" pitchFamily="18" charset="0"/>
                        <a:ea typeface="Times New Roman"/>
                        <a:cs typeface="Times New Roman"/>
                      </a:rPr>
                      <m:t>𝑡</m:t>
                    </m:r>
                  </m:oMath>
                </a14:m>
                <a:r>
                  <a:rPr lang="en-US" altLang="en-US" sz="2400" b="0" i="0" noProof="1">
                    <a:solidFill>
                      <a:srgbClr val="000000"/>
                    </a:solidFill>
                    <a:latin typeface="Times New Roman"/>
                    <a:ea typeface="標楷體"/>
                    <a:cs typeface="Times New Roman"/>
                  </a:rPr>
                  <a:t>: one discrete decision step</a:t>
                </a:r>
                <a:endParaRPr lang="en-US" altLang="en-US" sz="2400" dirty="0">
                  <a:solidFill>
                    <a:srgbClr val="000000"/>
                  </a:solidFill>
                  <a:latin typeface="Times New Roman"/>
                  <a:ea typeface="Times New Roman"/>
                  <a:cs typeface="Times New Roman"/>
                </a:endParaRPr>
              </a:p>
            </p:txBody>
          </p:sp>
        </mc:Choice>
        <mc:Fallback xmlns="">
          <p:sp>
            <p:nvSpPr>
              <p:cNvPr id="9" name="edu:notation"/>
              <p:cNvSpPr txBox="1">
                <a:spLocks noRot="1" noChangeAspect="1" noMove="1" noResize="1" noEditPoints="1" noAdjustHandles="1" noChangeArrowheads="1" noChangeShapeType="1" noTextEdit="1"/>
              </p:cNvSpPr>
              <p:nvPr/>
            </p:nvSpPr>
            <p:spPr>
              <a:xfrm>
                <a:off x="565190" y="4468401"/>
                <a:ext cx="11064240" cy="1391716"/>
              </a:xfrm>
              <a:prstGeom prst="rect">
                <a:avLst/>
              </a:prstGeom>
              <a:blipFill>
                <a:blip r:embed="rId7"/>
                <a:stretch>
                  <a:fillRect l="-1708" t="-6579" b="-24561"/>
                </a:stretch>
              </a:blipFill>
              <a:effectLst/>
            </p:spPr>
            <p:txBody>
              <a:bodyPr/>
              <a:lstStyle/>
              <a:p>
                <a:r>
                  <a:rPr lang="zh-TW" altLang="en-US">
                    <a:noFill/>
                  </a:rPr>
                  <a:t> </a:t>
                </a:r>
              </a:p>
            </p:txBody>
          </p:sp>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du:title"/>
          <p:cNvSpPr txBox="1"/>
          <p:nvPr/>
        </p:nvSpPr>
        <p:spPr>
          <a:xfrm>
            <a:off x="565190" y="141274"/>
            <a:ext cx="11417289" cy="571500"/>
          </a:xfrm>
          <a:prstGeom prst="rect">
            <a:avLst/>
          </a:prstGeom>
          <a:noFill/>
        </p:spPr>
        <p:txBody>
          <a:bodyPr wrap="square" lIns="0" tIns="0" rIns="0" bIns="0" anchor="b">
            <a:spAutoFit/>
          </a:bodyPr>
          <a:lstStyle/>
          <a:p>
            <a:pPr algn="l"/>
            <a:r>
              <a:rPr lang="en-US" altLang="en-US" sz="2800" b="1" i="0" noProof="1">
                <a:solidFill>
                  <a:srgbClr val="1B365D"/>
                </a:solidFill>
                <a:latin typeface="Times New Roman"/>
                <a:ea typeface="標楷體"/>
                <a:cs typeface="Times New Roman"/>
              </a:rPr>
              <a:t>Realized Connection</a:t>
            </a:r>
          </a:p>
        </p:txBody>
      </p:sp>
      <p:sp>
        <p:nvSpPr>
          <p:cNvPr id="3" name="edu:citation"/>
          <p:cNvSpPr txBox="1"/>
          <p:nvPr/>
        </p:nvSpPr>
        <p:spPr>
          <a:xfrm>
            <a:off x="495330" y="6316675"/>
            <a:ext cx="11018520" cy="505663"/>
          </a:xfrm>
          <a:prstGeom prst="rect">
            <a:avLst/>
          </a:prstGeom>
          <a:noFill/>
        </p:spPr>
        <p:txBody>
          <a:bodyPr wrap="square" lIns="0" tIns="0" rIns="0" bIns="0" anchor="t">
            <a:spAutoFit/>
          </a:bodyPr>
          <a:lstStyle/>
          <a:p>
            <a:pPr algn="l">
              <a:lnSpc>
                <a:spcPct val="105000"/>
              </a:lnSpc>
            </a:pPr>
            <a:r>
              <a:rPr lang="en-US" altLang="en-US" sz="1400" b="0" i="0" noProof="1">
                <a:solidFill>
                  <a:srgbClr val="000000"/>
                </a:solidFill>
                <a:latin typeface="Times New Roman"/>
                <a:ea typeface="標楷體"/>
                <a:cs typeface="Times New Roman"/>
              </a:rPr>
              <a:t>Y. Sun et al., “Handover for Multi-Beam LEO Satellite Networks: A Multi-Objective Reinforcement Learning Method,” IEEE Communications Letters, Dec. 2024.</a:t>
            </a:r>
          </a:p>
        </p:txBody>
      </p:sp>
      <p:sp>
        <p:nvSpPr>
          <p:cNvPr id="5" name="edu:body"/>
          <p:cNvSpPr txBox="1"/>
          <p:nvPr/>
        </p:nvSpPr>
        <p:spPr>
          <a:xfrm>
            <a:off x="565190" y="896112"/>
            <a:ext cx="11064240" cy="774496"/>
          </a:xfrm>
          <a:prstGeom prst="rect">
            <a:avLst/>
          </a:prstGeom>
          <a:noFill/>
        </p:spPr>
        <p:txBody>
          <a:bodyPr wrap="square" lIns="0" tIns="0" rIns="0" bIns="0" anchor="t">
            <a:spAutoFit/>
          </a:bodyPr>
          <a:lstStyle/>
          <a:p>
            <a:pPr algn="l">
              <a:lnSpc>
                <a:spcPct val="112000"/>
              </a:lnSpc>
              <a:spcAft>
                <a:spcPts val="0"/>
              </a:spcAft>
            </a:pPr>
            <a:r>
              <a:rPr lang="en-US" altLang="en-US" sz="2400" b="0" i="0" noProof="1">
                <a:solidFill>
                  <a:srgbClr val="000000"/>
                </a:solidFill>
                <a:latin typeface="Times New Roman"/>
                <a:ea typeface="標楷體"/>
                <a:cs typeface="Times New Roman"/>
              </a:rPr>
              <a:t>The realized connection records what the network actually delivered at each step, one binary value per candidate link:</a:t>
            </a:r>
          </a:p>
        </p:txBody>
      </p:sp>
      <mc:AlternateContent xmlns:mc="http://schemas.openxmlformats.org/markup-compatibility/2006" xmlns:a14="http://schemas.microsoft.com/office/drawing/2010/main">
        <mc:Choice Requires="a14">
          <p:sp>
            <p:nvSpPr>
              <p:cNvPr id="6" name="edu:formula-omml" descr="Native Office Math: a04_connection"/>
              <p:cNvSpPr txBox="1"/>
              <p:nvPr/>
            </p:nvSpPr>
            <p:spPr>
              <a:xfrm>
                <a:off x="3458260" y="1835200"/>
                <a:ext cx="5278831" cy="862279"/>
              </a:xfrm>
              <a:prstGeom prst="rect">
                <a:avLst/>
              </a:prstGeom>
              <a:noFill/>
              <a:effectLst/>
            </p:spPr>
            <p:txBody>
              <a:bodyPr wrap="none" lIns="0" tIns="0" rIns="0" bIns="0" anchor="ctr">
                <a:noAutofit/>
              </a:bodyPr>
              <a:lstStyle/>
              <a:p>
                <a:pPr algn="ctr"/>
                <a14:m>
                  <m:oMathPara xmlns:m="http://schemas.openxmlformats.org/officeDocument/2006/math">
                    <m:oMath>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𝑥</m:t>
                          </m:r>
                        </m:e>
                        <m:sub>
                          <m:r>
                            <a:rPr lang="en-US" altLang="en-US" sz="2400" i="1" dirty="0" smtClean="0">
                              <a:solidFill>
                                <a:srgbClr val="000000"/>
                              </a:solidFill>
                              <a:latin typeface="Cambria Math" panose="02040503050406030204" pitchFamily="18" charset="0"/>
                              <a:ea typeface="Times New Roman"/>
                              <a:cs typeface="Times New Roman"/>
                            </a:rPr>
                            <m:t>𝑢</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Sub>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)∈{0,1},</m:t>
                      </m:r>
                      <m:r>
                        <a:rPr lang="en-US" altLang="en-US" sz="2400" i="1" dirty="0" smtClean="0">
                          <a:solidFill>
                            <a:srgbClr val="000000"/>
                          </a:solidFill>
                          <a:latin typeface="Cambria Math" panose="02040503050406030204" pitchFamily="18" charset="0"/>
                          <a:ea typeface="Times New Roman"/>
                          <a:cs typeface="Times New Roman"/>
                        </a:rPr>
                        <m:t>  </m:t>
                      </m:r>
                      <m:nary>
                        <m:naryPr>
                          <m:chr m:val="∑"/>
                          <m:limLoc m:val="undOvr"/>
                          <m:ctrlPr>
                            <a:rPr lang="en-US" altLang="en-US" sz="2400" i="1" dirty="0" smtClean="0">
                              <a:solidFill>
                                <a:srgbClr val="000000"/>
                              </a:solidFill>
                              <a:latin typeface="Cambria Math" panose="02040503050406030204" pitchFamily="18" charset="0"/>
                              <a:ea typeface="Times New Roman"/>
                              <a:cs typeface="Times New Roman"/>
                            </a:rPr>
                          </m:ctrlPr>
                        </m:naryPr>
                        <m:sub>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𝒮</m:t>
                          </m:r>
                        </m:sub>
                        <m:sup>
                          <m:r>
                            <a:rPr lang="en-US" altLang="en-US" sz="2400" i="1" dirty="0" smtClean="0">
                              <a:solidFill>
                                <a:srgbClr val="000000"/>
                              </a:solidFill>
                              <a:latin typeface="Cambria Math" panose="02040503050406030204" pitchFamily="18" charset="0"/>
                              <a:ea typeface="Times New Roman"/>
                              <a:cs typeface="Times New Roman"/>
                            </a:rPr>
                            <m:t>​</m:t>
                          </m:r>
                        </m:sup>
                        <m:e>
                          <m:nary>
                            <m:naryPr>
                              <m:chr m:val="∑"/>
                              <m:limLoc m:val="undOvr"/>
                              <m:ctrlPr>
                                <a:rPr lang="en-US" altLang="en-US" sz="2400" i="1" dirty="0" smtClean="0">
                                  <a:solidFill>
                                    <a:srgbClr val="000000"/>
                                  </a:solidFill>
                                  <a:latin typeface="Cambria Math" panose="02040503050406030204" pitchFamily="18" charset="0"/>
                                  <a:ea typeface="Times New Roman"/>
                                  <a:cs typeface="Times New Roman"/>
                                </a:rPr>
                              </m:ctrlPr>
                            </m:naryPr>
                            <m:sub>
                              <m:r>
                                <a:rPr lang="en-US" altLang="en-US" sz="2400" i="1" dirty="0" smtClean="0">
                                  <a:solidFill>
                                    <a:srgbClr val="000000"/>
                                  </a:solidFill>
                                  <a:latin typeface="Cambria Math" panose="02040503050406030204" pitchFamily="18" charset="0"/>
                                  <a:ea typeface="Times New Roman"/>
                                  <a:cs typeface="Times New Roman"/>
                                </a:rPr>
                                <m:t>𝑣</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𝒱</m:t>
                              </m:r>
                            </m:sub>
                            <m:sup>
                              <m:r>
                                <a:rPr lang="en-US" altLang="en-US" sz="2400" i="1" dirty="0" smtClean="0">
                                  <a:solidFill>
                                    <a:srgbClr val="000000"/>
                                  </a:solidFill>
                                  <a:latin typeface="Cambria Math" panose="02040503050406030204" pitchFamily="18" charset="0"/>
                                  <a:ea typeface="Times New Roman"/>
                                  <a:cs typeface="Times New Roman"/>
                                </a:rPr>
                                <m:t>​</m:t>
                              </m:r>
                            </m:sup>
                            <m:e>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𝑥</m:t>
                                  </m:r>
                                </m:e>
                                <m:sub>
                                  <m:r>
                                    <a:rPr lang="en-US" altLang="en-US" sz="2400" i="1" dirty="0" smtClean="0">
                                      <a:solidFill>
                                        <a:srgbClr val="000000"/>
                                      </a:solidFill>
                                      <a:latin typeface="Cambria Math" panose="02040503050406030204" pitchFamily="18" charset="0"/>
                                      <a:ea typeface="Times New Roman"/>
                                      <a:cs typeface="Times New Roman"/>
                                    </a:rPr>
                                    <m:t>𝑢</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Sub>
                            </m:e>
                          </m:nary>
                        </m:e>
                      </m:nary>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)≤1</m:t>
                      </m:r>
                    </m:oMath>
                  </m:oMathPara>
                </a14:m>
                <a:endParaRPr lang="en-US" altLang="en-US" sz="2400" dirty="0">
                  <a:solidFill>
                    <a:srgbClr val="000000"/>
                  </a:solidFill>
                  <a:latin typeface="Times New Roman"/>
                  <a:ea typeface="Times New Roman"/>
                  <a:cs typeface="Times New Roman"/>
                </a:endParaRPr>
              </a:p>
            </p:txBody>
          </p:sp>
        </mc:Choice>
        <mc:Fallback xmlns="">
          <p:sp>
            <p:nvSpPr>
              <p:cNvPr id="6" name="edu:formula-omml" descr="Native Office Math: a04_connection"/>
              <p:cNvSpPr txBox="1">
                <a:spLocks noRot="1" noChangeAspect="1" noMove="1" noResize="1" noEditPoints="1" noAdjustHandles="1" noChangeArrowheads="1" noChangeShapeType="1" noTextEdit="1"/>
              </p:cNvSpPr>
              <p:nvPr/>
            </p:nvSpPr>
            <p:spPr>
              <a:xfrm>
                <a:off x="3458260" y="1835200"/>
                <a:ext cx="5278831" cy="862279"/>
              </a:xfrm>
              <a:prstGeom prst="rect">
                <a:avLst/>
              </a:prstGeom>
              <a:blipFill>
                <a:blip r:embed="rId3"/>
                <a:stretch>
                  <a:fillRect l="-1270" b="-2128"/>
                </a:stretch>
              </a:blipFill>
              <a:effectLst/>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edu:body"/>
              <p:cNvSpPr txBox="1"/>
              <p:nvPr/>
            </p:nvSpPr>
            <p:spPr>
              <a:xfrm>
                <a:off x="565190" y="2862072"/>
                <a:ext cx="11064240" cy="1338681"/>
              </a:xfrm>
              <a:prstGeom prst="rect">
                <a:avLst/>
              </a:prstGeom>
              <a:noFill/>
              <a:effectLst/>
            </p:spPr>
            <p:txBody>
              <a:bodyPr wrap="square" lIns="0" tIns="0" rIns="0" bIns="0" anchor="t">
                <a:noAutofit/>
              </a:bodyPr>
              <a:lstStyle/>
              <a:p>
                <a:pPr marL="285750" indent="-285750" algn="l">
                  <a:lnSpc>
                    <a:spcPct val="112000"/>
                  </a:lnSpc>
                  <a:spcAft>
                    <a:spcPts val="700"/>
                  </a:spcAft>
                  <a:buSzPts val="2800"/>
                  <a:buFont typeface="Arial"/>
                  <a:buChar char="•"/>
                </a:pPr>
                <a14:m>
                  <m:oMath xmlns:m="http://schemas.openxmlformats.org/officeDocument/2006/math">
                    <m:r>
                      <a:rPr lang="en-US" altLang="en-US" sz="2400" i="1" dirty="0" smtClean="0">
                        <a:solidFill>
                          <a:srgbClr val="000000"/>
                        </a:solidFill>
                        <a:latin typeface="Cambria Math" panose="02040503050406030204" pitchFamily="18" charset="0"/>
                        <a:ea typeface="Times New Roman"/>
                        <a:cs typeface="Times New Roman"/>
                      </a:rPr>
                      <m:t>𝑥</m:t>
                    </m:r>
                    <m:r>
                      <a:rPr lang="en-US" altLang="en-US" sz="2400" i="0" dirty="0" smtClean="0">
                        <a:solidFill>
                          <a:srgbClr val="000000"/>
                        </a:solidFill>
                        <a:latin typeface="Cambria Math" panose="02040503050406030204" pitchFamily="18" charset="0"/>
                        <a:ea typeface="Times New Roman"/>
                        <a:cs typeface="Times New Roman"/>
                      </a:rPr>
                      <m:t>=1</m:t>
                    </m:r>
                  </m:oMath>
                </a14:m>
                <a:r>
                  <a:rPr lang="en-US" altLang="en-US" sz="2400" b="1" i="0" noProof="1">
                    <a:solidFill>
                      <a:srgbClr val="000000"/>
                    </a:solidFill>
                    <a:latin typeface="Times New Roman"/>
                    <a:ea typeface="標楷體"/>
                    <a:cs typeface="Times New Roman"/>
                  </a:rPr>
                  <a:t>: </a:t>
                </a:r>
                <a:r>
                  <a:rPr lang="en-US" altLang="en-US" sz="2400" b="0" i="0" noProof="1">
                    <a:solidFill>
                      <a:srgbClr val="000000"/>
                    </a:solidFill>
                    <a:latin typeface="Times New Roman"/>
                    <a:ea typeface="標楷體"/>
                    <a:cs typeface="Times New Roman"/>
                  </a:rPr>
                  <a:t>the network connects user </a:t>
                </a:r>
                <a14:m>
                  <m:oMath xmlns:m="http://schemas.openxmlformats.org/officeDocument/2006/math">
                    <m:r>
                      <a:rPr lang="en-US" altLang="en-US" sz="2400" i="1" dirty="0" smtClean="0">
                        <a:solidFill>
                          <a:srgbClr val="000000"/>
                        </a:solidFill>
                        <a:latin typeface="Cambria Math" panose="02040503050406030204" pitchFamily="18" charset="0"/>
                        <a:ea typeface="Times New Roman"/>
                        <a:cs typeface="Times New Roman"/>
                      </a:rPr>
                      <m:t>𝑢</m:t>
                    </m:r>
                  </m:oMath>
                </a14:m>
                <a:r>
                  <a:rPr lang="en-US" altLang="en-US" sz="2400" b="0" i="0" noProof="1">
                    <a:solidFill>
                      <a:srgbClr val="000000"/>
                    </a:solidFill>
                    <a:latin typeface="Times New Roman"/>
                    <a:ea typeface="標楷體"/>
                    <a:cs typeface="Times New Roman"/>
                  </a:rPr>
                  <a:t> to beam </a:t>
                </a:r>
                <a14:m>
                  <m:oMath xmlns:m="http://schemas.openxmlformats.org/officeDocument/2006/math">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r>
                      <a:rPr lang="en-US" altLang="en-US" sz="2400" i="0" dirty="0" smtClean="0">
                        <a:solidFill>
                          <a:srgbClr val="000000"/>
                        </a:solidFill>
                        <a:latin typeface="Cambria Math" panose="02040503050406030204" pitchFamily="18" charset="0"/>
                        <a:ea typeface="Times New Roman"/>
                        <a:cs typeface="Times New Roman"/>
                      </a:rPr>
                      <m:t>)</m:t>
                    </m:r>
                  </m:oMath>
                </a14:m>
                <a:r>
                  <a:rPr lang="en-US" altLang="en-US" sz="2400" b="0" i="0" noProof="1">
                    <a:solidFill>
                      <a:srgbClr val="000000"/>
                    </a:solidFill>
                    <a:latin typeface="Times New Roman"/>
                    <a:ea typeface="標楷體"/>
                    <a:cs typeface="Times New Roman"/>
                  </a:rPr>
                  <a:t> at step </a:t>
                </a:r>
                <a14:m>
                  <m:oMath xmlns:m="http://schemas.openxmlformats.org/officeDocument/2006/math">
                    <m:r>
                      <a:rPr lang="en-US" altLang="en-US" sz="2400" i="1" dirty="0" smtClean="0">
                        <a:solidFill>
                          <a:srgbClr val="000000"/>
                        </a:solidFill>
                        <a:latin typeface="Cambria Math" panose="02040503050406030204" pitchFamily="18" charset="0"/>
                        <a:ea typeface="Times New Roman"/>
                        <a:cs typeface="Times New Roman"/>
                      </a:rPr>
                      <m:t>𝑡</m:t>
                    </m:r>
                  </m:oMath>
                </a14:m>
                <a:r>
                  <a:rPr lang="en-US" altLang="en-US" sz="2400" b="0" i="0" noProof="1">
                    <a:solidFill>
                      <a:srgbClr val="000000"/>
                    </a:solidFill>
                    <a:latin typeface="Times New Roman"/>
                    <a:ea typeface="標楷體"/>
                    <a:cs typeface="Times New Roman"/>
                  </a:rPr>
                  <a:t>.</a:t>
                </a:r>
                <a:endParaRPr lang="en-US" altLang="en-US" dirty="0">
                  <a:solidFill>
                    <a:srgbClr val="000000"/>
                  </a:solidFill>
                  <a:latin typeface="Times New Roman"/>
                  <a:ea typeface="Times New Roman"/>
                  <a:cs typeface="Times New Roman"/>
                </a:endParaRPr>
              </a:p>
              <a:p>
                <a:pPr marL="285750" indent="-285750" algn="l">
                  <a:lnSpc>
                    <a:spcPct val="112000"/>
                  </a:lnSpc>
                  <a:spcAft>
                    <a:spcPts val="700"/>
                  </a:spcAft>
                  <a:buSzPts val="2800"/>
                  <a:buFont typeface="Arial"/>
                  <a:buChar char="•"/>
                </a:pPr>
                <a:r>
                  <a:rPr lang="en-US" altLang="en-US" sz="2400" b="1" i="0" noProof="1">
                    <a:solidFill>
                      <a:srgbClr val="000000"/>
                    </a:solidFill>
                    <a:latin typeface="Times New Roman"/>
                    <a:ea typeface="標楷體"/>
                    <a:cs typeface="Times New Roman"/>
                  </a:rPr>
                  <a:t>Sum at most 1: </a:t>
                </a:r>
                <a:r>
                  <a:rPr lang="en-US" altLang="en-US" sz="2400" b="0" i="0" noProof="1">
                    <a:solidFill>
                      <a:srgbClr val="000000"/>
                    </a:solidFill>
                    <a:latin typeface="Times New Roman"/>
                    <a:ea typeface="標楷體"/>
                    <a:cs typeface="Times New Roman"/>
                  </a:rPr>
                  <a:t>a user connects to at most one beam in each step.</a:t>
                </a:r>
              </a:p>
              <a:p>
                <a:pPr marL="285750" indent="-285750" algn="l">
                  <a:lnSpc>
                    <a:spcPct val="112000"/>
                  </a:lnSpc>
                  <a:spcAft>
                    <a:spcPts val="0"/>
                  </a:spcAft>
                  <a:buSzPts val="2800"/>
                  <a:buFont typeface="Arial"/>
                  <a:buChar char="•"/>
                </a:pPr>
                <a14:m>
                  <m:oMath xmlns:m="http://schemas.openxmlformats.org/officeDocument/2006/math">
                    <m:r>
                      <a:rPr lang="en-US" altLang="en-US" sz="2400" i="1" dirty="0" smtClean="0">
                        <a:solidFill>
                          <a:srgbClr val="000000"/>
                        </a:solidFill>
                        <a:latin typeface="Cambria Math" panose="02040503050406030204" pitchFamily="18" charset="0"/>
                        <a:ea typeface="Times New Roman"/>
                        <a:cs typeface="Times New Roman"/>
                      </a:rPr>
                      <m:t>𝑥</m:t>
                    </m:r>
                    <m:r>
                      <a:rPr lang="en-US" altLang="en-US" sz="2400" i="0" dirty="0" smtClean="0">
                        <a:solidFill>
                          <a:srgbClr val="000000"/>
                        </a:solidFill>
                        <a:latin typeface="Cambria Math" panose="02040503050406030204" pitchFamily="18" charset="0"/>
                        <a:ea typeface="Times New Roman"/>
                        <a:cs typeface="Times New Roman"/>
                      </a:rPr>
                      <m:t>=0</m:t>
                    </m:r>
                  </m:oMath>
                </a14:m>
                <a:r>
                  <a:rPr lang="en-US" altLang="en-US" sz="2400" b="1" i="0" noProof="1">
                    <a:solidFill>
                      <a:srgbClr val="000000"/>
                    </a:solidFill>
                    <a:latin typeface="Times New Roman"/>
                    <a:ea typeface="標楷體"/>
                    <a:cs typeface="Times New Roman"/>
                  </a:rPr>
                  <a:t>: </a:t>
                </a:r>
                <a:r>
                  <a:rPr lang="en-US" altLang="en-US" sz="2400" b="0" i="0" noProof="1">
                    <a:solidFill>
                      <a:srgbClr val="000000"/>
                    </a:solidFill>
                    <a:latin typeface="Times New Roman"/>
                    <a:ea typeface="標楷體"/>
                    <a:cs typeface="Times New Roman"/>
                  </a:rPr>
                  <a:t>the user is not served at that step.</a:t>
                </a:r>
                <a:endParaRPr lang="en-US" altLang="en-US" dirty="0">
                  <a:solidFill>
                    <a:srgbClr val="000000"/>
                  </a:solidFill>
                  <a:latin typeface="Times New Roman"/>
                  <a:ea typeface="Times New Roman"/>
                  <a:cs typeface="Times New Roman"/>
                </a:endParaRPr>
              </a:p>
            </p:txBody>
          </p:sp>
        </mc:Choice>
        <mc:Fallback xmlns="">
          <p:sp>
            <p:nvSpPr>
              <p:cNvPr id="7" name="edu:body"/>
              <p:cNvSpPr txBox="1"/>
              <p:nvPr/>
            </p:nvSpPr>
            <p:spPr>
              <a:xfrm>
                <a:off x="565190" y="2862072"/>
                <a:ext cx="11064240" cy="1338681"/>
              </a:xfrm>
              <a:prstGeom prst="rect">
                <a:avLst/>
              </a:prstGeom>
              <a:noFill/>
            </p:spPr>
            <p:txBody>
              <a:bodyPr wrap="square" anchor="t" lIns="0" rIns="0" tIns="0" bIns="0">
                <a:spAutoFit/>
              </a:bodyPr>
              <a:lstStyle/>
              <a:p>
                <a:pPr algn="l" marL="285750" indent="-285750">
                  <a:lnSpc>
                    <a:spcPct val="112000"/>
                  </a:lnSpc>
                  <a:spcAft>
                    <a:spcPts val="700"/>
                  </a:spcAft>
                  <a:buSzPts val="2800"/>
                  <a:buFont typeface="Arial"/>
                  <a:buChar char="•"/>
                </a:pPr>
                <a:r>
                  <a:rPr sz="2400" b="0" i="0" lang="en-US" altLang="en-US" noProof="1" dirty="0">
                    <a:solidFill>
                      <a:srgbClr val="000000"/>
                    </a:solidFill>
                    <a:latin typeface="Times New Roman"/>
                    <a:ea typeface="標楷體"/>
                    <a:cs typeface="Times New Roman"/>
                  </a:rPr>
                  <a:t/>
                </a:r>
                <a:r>
                  <a:rPr sz="2400" b="1" i="0" lang="en-US" altLang="en-US" noProof="1" dirty="0">
                    <a:solidFill>
                      <a:srgbClr val="000000"/>
                    </a:solidFill>
                    <a:latin typeface="Times New Roman"/>
                    <a:ea typeface="標楷體"/>
                    <a:cs typeface="Times New Roman"/>
                  </a:rPr>
                  <a:t xml:space="preserve">: </a:t>
                </a:r>
                <a:r>
                  <a:rPr sz="2400" b="0" i="0" lang="en-US" altLang="en-US" noProof="1" dirty="0">
                    <a:solidFill>
                      <a:srgbClr val="000000"/>
                    </a:solidFill>
                    <a:latin typeface="Times New Roman"/>
                    <a:ea typeface="標楷體"/>
                    <a:cs typeface="Times New Roman"/>
                  </a:rPr>
                  <a:t xml:space="preserve">the network connects user </a:t>
                </a:r>
                <a:r>
                  <a:rPr sz="2400" b="0" i="0" lang="en-US" altLang="en-US" noProof="1" dirty="0">
                    <a:solidFill>
                      <a:srgbClr val="000000"/>
                    </a:solidFill>
                    <a:latin typeface="Times New Roman"/>
                    <a:ea typeface="標楷體"/>
                    <a:cs typeface="Times New Roman"/>
                  </a:rPr>
                  <a:t/>
                </a:r>
                <a:r>
                  <a:rPr sz="2400" b="0" i="0" lang="en-US" altLang="en-US" noProof="1" dirty="0">
                    <a:solidFill>
                      <a:srgbClr val="000000"/>
                    </a:solidFill>
                    <a:latin typeface="Times New Roman"/>
                    <a:ea typeface="標楷體"/>
                    <a:cs typeface="Times New Roman"/>
                  </a:rPr>
                  <a:t xml:space="preserve"> to beam </a:t>
                </a:r>
                <a:r>
                  <a:rPr sz="2400" b="0" i="0" lang="en-US" altLang="en-US" noProof="1" dirty="0">
                    <a:solidFill>
                      <a:srgbClr val="000000"/>
                    </a:solidFill>
                    <a:latin typeface="Times New Roman"/>
                    <a:ea typeface="標楷體"/>
                    <a:cs typeface="Times New Roman"/>
                  </a:rPr>
                  <a:t/>
                </a:r>
                <a:r>
                  <a:rPr sz="2400" b="0" i="0" lang="en-US" altLang="en-US" noProof="1" dirty="0">
                    <a:solidFill>
                      <a:srgbClr val="000000"/>
                    </a:solidFill>
                    <a:latin typeface="Times New Roman"/>
                    <a:ea typeface="標楷體"/>
                    <a:cs typeface="Times New Roman"/>
                  </a:rPr>
                  <a:t xml:space="preserve"> at step </a:t>
                </a:r>
                <a:r>
                  <a:rPr sz="2400" b="0" i="0" lang="en-US" altLang="en-US" noProof="1" dirty="0">
                    <a:solidFill>
                      <a:srgbClr val="000000"/>
                    </a:solidFill>
                    <a:latin typeface="Times New Roman"/>
                    <a:ea typeface="標楷體"/>
                    <a:cs typeface="Times New Roman"/>
                  </a:rPr>
                  <a:t/>
                </a:r>
                <a:r>
                  <a:rPr sz="2400" b="0" i="0" lang="en-US" altLang="en-US" noProof="1" dirty="0">
                    <a:solidFill>
                      <a:srgbClr val="000000"/>
                    </a:solidFill>
                    <a:latin typeface="Times New Roman"/>
                    <a:ea typeface="標楷體"/>
                    <a:cs typeface="Times New Roman"/>
                  </a:rPr>
                  <a:t>.</a:t>
                </a:r>
              </a:p>
              <a:p>
                <a:pPr algn="l" marL="285750" indent="-285750">
                  <a:lnSpc>
                    <a:spcPct val="112000"/>
                  </a:lnSpc>
                  <a:spcAft>
                    <a:spcPts val="700"/>
                  </a:spcAft>
                  <a:buSzPts val="2800"/>
                  <a:buFont typeface="Arial"/>
                  <a:buChar char="•"/>
                </a:pPr>
                <a:r>
                  <a:rPr sz="2400" b="1" i="0" lang="en-US" altLang="en-US" noProof="1" dirty="0">
                    <a:solidFill>
                      <a:srgbClr val="000000"/>
                    </a:solidFill>
                    <a:latin typeface="Times New Roman"/>
                    <a:ea typeface="標楷體"/>
                    <a:cs typeface="Times New Roman"/>
                  </a:rPr>
                  <a:t xml:space="preserve">Sum at most 1: </a:t>
                </a:r>
                <a:r>
                  <a:rPr sz="2400" b="0" i="0" lang="en-US" altLang="en-US" noProof="1" dirty="0">
                    <a:solidFill>
                      <a:srgbClr val="000000"/>
                    </a:solidFill>
                    <a:latin typeface="Times New Roman"/>
                    <a:ea typeface="標楷體"/>
                    <a:cs typeface="Times New Roman"/>
                  </a:rPr>
                  <a:t>a user connects to at most one beam in each step.</a:t>
                </a:r>
              </a:p>
              <a:p>
                <a:pPr algn="l" marL="285750" indent="-285750">
                  <a:lnSpc>
                    <a:spcPct val="112000"/>
                  </a:lnSpc>
                  <a:spcAft>
                    <a:spcPts val="0"/>
                  </a:spcAft>
                  <a:buSzPts val="2800"/>
                  <a:buFont typeface="Arial"/>
                  <a:buChar char="•"/>
                </a:pPr>
                <a:r>
                  <a:rPr sz="2400" b="0" i="0" lang="en-US" altLang="en-US" noProof="1" dirty="0">
                    <a:solidFill>
                      <a:srgbClr val="000000"/>
                    </a:solidFill>
                    <a:latin typeface="Times New Roman"/>
                    <a:ea typeface="標楷體"/>
                    <a:cs typeface="Times New Roman"/>
                  </a:rPr>
                  <a:t/>
                </a:r>
                <a:r>
                  <a:rPr sz="2400" b="1" i="0" lang="en-US" altLang="en-US" noProof="1" dirty="0">
                    <a:solidFill>
                      <a:srgbClr val="000000"/>
                    </a:solidFill>
                    <a:latin typeface="Times New Roman"/>
                    <a:ea typeface="標楷體"/>
                    <a:cs typeface="Times New Roman"/>
                  </a:rPr>
                  <a:t xml:space="preserve">: </a:t>
                </a:r>
                <a:r>
                  <a:rPr sz="2400" b="0" i="0" lang="en-US" altLang="en-US" noProof="1" dirty="0">
                    <a:solidFill>
                      <a:srgbClr val="000000"/>
                    </a:solidFill>
                    <a:latin typeface="Times New Roman"/>
                    <a:ea typeface="標楷體"/>
                    <a:cs typeface="Times New Roman"/>
                  </a:rPr>
                  <a:t>the user is not served at that step.</a:t>
                </a:r>
              </a:p>
            </p:txBody>
          </p:sp>
        </mc:Fallback>
      </mc:AlternateContent>
      <mc:AlternateContent xmlns:mc="http://schemas.openxmlformats.org/markup-compatibility/2006" xmlns:a14="http://schemas.microsoft.com/office/drawing/2010/main">
        <mc:Choice Requires="a14">
          <p:sp>
            <p:nvSpPr>
              <p:cNvPr id="8" name="edu:notation"/>
              <p:cNvSpPr txBox="1"/>
              <p:nvPr/>
            </p:nvSpPr>
            <p:spPr>
              <a:xfrm>
                <a:off x="565190" y="5172279"/>
                <a:ext cx="11064240" cy="695858"/>
              </a:xfrm>
              <a:prstGeom prst="rect">
                <a:avLst/>
              </a:prstGeom>
              <a:noFill/>
              <a:effectLst/>
            </p:spPr>
            <p:txBody>
              <a:bodyPr wrap="square" lIns="0" tIns="0" rIns="0" bIns="0" anchor="t">
                <a:noAutofit/>
              </a:bodyPr>
              <a:lstStyle/>
              <a:p>
                <a:pPr algn="l">
                  <a:lnSpc>
                    <a:spcPct val="100000"/>
                  </a:lnSpc>
                  <a:spcAft>
                    <a:spcPts val="200"/>
                  </a:spcAft>
                </a:pPr>
                <a:r>
                  <a:rPr lang="en-US" altLang="en-US" sz="2400" b="1" i="0" noProof="1">
                    <a:solidFill>
                      <a:srgbClr val="000000"/>
                    </a:solidFill>
                    <a:latin typeface="Times New Roman"/>
                    <a:ea typeface="標楷體"/>
                    <a:cs typeface="Times New Roman"/>
                  </a:rPr>
                  <a:t>Notation</a:t>
                </a:r>
              </a:p>
              <a:p>
                <a:pPr algn="l">
                  <a:lnSpc>
                    <a:spcPct val="100000"/>
                  </a:lnSpc>
                  <a:spcAft>
                    <a:spcPts val="200"/>
                  </a:spcAft>
                </a:pPr>
                <a14:m>
                  <m:oMath xmlns:m="http://schemas.openxmlformats.org/officeDocument/2006/math">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𝑥</m:t>
                        </m:r>
                      </m:e>
                      <m:sub>
                        <m:r>
                          <a:rPr lang="en-US" altLang="en-US" sz="2400" i="1" dirty="0" smtClean="0">
                            <a:solidFill>
                              <a:srgbClr val="000000"/>
                            </a:solidFill>
                            <a:latin typeface="Cambria Math" panose="02040503050406030204" pitchFamily="18" charset="0"/>
                            <a:ea typeface="Times New Roman"/>
                            <a:cs typeface="Times New Roman"/>
                          </a:rPr>
                          <m:t>𝑢</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Sub>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oMath>
                </a14:m>
                <a:r>
                  <a:rPr lang="en-US" altLang="en-US" sz="2400" b="0" i="0" noProof="1">
                    <a:solidFill>
                      <a:srgbClr val="000000"/>
                    </a:solidFill>
                    <a:latin typeface="Times New Roman"/>
                    <a:ea typeface="標楷體"/>
                    <a:cs typeface="Times New Roman"/>
                  </a:rPr>
                  <a:t>: indicator that user </a:t>
                </a:r>
                <a:r>
                  <a:rPr lang="en-US" altLang="en-US" sz="2400" b="0" i="1" noProof="1">
                    <a:solidFill>
                      <a:srgbClr val="000000"/>
                    </a:solidFill>
                    <a:latin typeface="Times New Roman"/>
                    <a:ea typeface="標楷體"/>
                    <a:cs typeface="Times New Roman"/>
                  </a:rPr>
                  <a:t>u</a:t>
                </a:r>
                <a:r>
                  <a:rPr lang="en-US" altLang="en-US" sz="2400" b="0" i="0" noProof="1">
                    <a:solidFill>
                      <a:srgbClr val="000000"/>
                    </a:solidFill>
                    <a:latin typeface="Times New Roman"/>
                    <a:ea typeface="標楷體"/>
                    <a:cs typeface="Times New Roman"/>
                  </a:rPr>
                  <a:t> is served by beam </a:t>
                </a:r>
                <a:r>
                  <a:rPr lang="en-US" altLang="en-US" sz="2400" b="0" i="1" noProof="1">
                    <a:solidFill>
                      <a:srgbClr val="000000"/>
                    </a:solidFill>
                    <a:latin typeface="Times New Roman"/>
                    <a:ea typeface="標楷體"/>
                    <a:cs typeface="Times New Roman"/>
                  </a:rPr>
                  <a:t>(s, v)</a:t>
                </a:r>
                <a:r>
                  <a:rPr lang="en-US" altLang="en-US" sz="2400" b="0" i="0" noProof="1">
                    <a:solidFill>
                      <a:srgbClr val="000000"/>
                    </a:solidFill>
                    <a:latin typeface="Times New Roman"/>
                    <a:ea typeface="標楷體"/>
                    <a:cs typeface="Times New Roman"/>
                  </a:rPr>
                  <a:t> at step </a:t>
                </a:r>
                <a:r>
                  <a:rPr lang="en-US" altLang="en-US" sz="2400" b="0" i="1" noProof="1">
                    <a:solidFill>
                      <a:srgbClr val="000000"/>
                    </a:solidFill>
                    <a:latin typeface="Times New Roman"/>
                    <a:ea typeface="標楷體"/>
                    <a:cs typeface="Times New Roman"/>
                  </a:rPr>
                  <a:t>t</a:t>
                </a:r>
                <a:endParaRPr lang="en-US" altLang="en-US" sz="2000" dirty="0">
                  <a:solidFill>
                    <a:srgbClr val="000000"/>
                  </a:solidFill>
                  <a:latin typeface="Times New Roman"/>
                  <a:ea typeface="Times New Roman"/>
                  <a:cs typeface="Times New Roman"/>
                </a:endParaRPr>
              </a:p>
            </p:txBody>
          </p:sp>
        </mc:Choice>
        <mc:Fallback xmlns="">
          <p:sp>
            <p:nvSpPr>
              <p:cNvPr id="8" name="edu:notation"/>
              <p:cNvSpPr txBox="1">
                <a:spLocks noRot="1" noChangeAspect="1" noMove="1" noResize="1" noEditPoints="1" noAdjustHandles="1" noChangeArrowheads="1" noChangeShapeType="1" noTextEdit="1"/>
              </p:cNvSpPr>
              <p:nvPr/>
            </p:nvSpPr>
            <p:spPr>
              <a:xfrm>
                <a:off x="565190" y="5172279"/>
                <a:ext cx="11064240" cy="695858"/>
              </a:xfrm>
              <a:prstGeom prst="rect">
                <a:avLst/>
              </a:prstGeom>
              <a:blipFill>
                <a:blip r:embed="rId4"/>
                <a:stretch>
                  <a:fillRect l="-1708" t="-13043" b="-34783"/>
                </a:stretch>
              </a:blipFill>
              <a:effectLst/>
            </p:spPr>
            <p:txBody>
              <a:bodyPr/>
              <a:lstStyle/>
              <a:p>
                <a:r>
                  <a:rPr lang="zh-TW" altLang="en-US">
                    <a:noFill/>
                  </a:rPr>
                  <a:t> </a:t>
                </a:r>
              </a:p>
            </p:txBody>
          </p:sp>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du:title"/>
          <p:cNvSpPr txBox="1"/>
          <p:nvPr/>
        </p:nvSpPr>
        <p:spPr>
          <a:xfrm>
            <a:off x="565190" y="141274"/>
            <a:ext cx="11417289" cy="571500"/>
          </a:xfrm>
          <a:prstGeom prst="rect">
            <a:avLst/>
          </a:prstGeom>
          <a:noFill/>
        </p:spPr>
        <p:txBody>
          <a:bodyPr wrap="square" lIns="0" tIns="0" rIns="0" bIns="0" anchor="b">
            <a:spAutoFit/>
          </a:bodyPr>
          <a:lstStyle/>
          <a:p>
            <a:pPr algn="l"/>
            <a:r>
              <a:rPr lang="en-US" altLang="en-US" sz="2800" b="1" i="0" noProof="1">
                <a:solidFill>
                  <a:srgbClr val="1B365D"/>
                </a:solidFill>
                <a:latin typeface="Times New Roman"/>
                <a:ea typeface="標楷體"/>
                <a:cs typeface="Times New Roman"/>
              </a:rPr>
              <a:t>Beam Activation</a:t>
            </a:r>
          </a:p>
        </p:txBody>
      </p:sp>
      <p:sp>
        <p:nvSpPr>
          <p:cNvPr id="4" name="edu:body"/>
          <p:cNvSpPr txBox="1"/>
          <p:nvPr/>
        </p:nvSpPr>
        <p:spPr>
          <a:xfrm>
            <a:off x="565190" y="896112"/>
            <a:ext cx="11064240" cy="386791"/>
          </a:xfrm>
          <a:prstGeom prst="rect">
            <a:avLst/>
          </a:prstGeom>
          <a:noFill/>
        </p:spPr>
        <p:txBody>
          <a:bodyPr wrap="square" lIns="0" tIns="0" rIns="0" bIns="0" anchor="t">
            <a:spAutoFit/>
          </a:bodyPr>
          <a:lstStyle/>
          <a:p>
            <a:pPr algn="l">
              <a:lnSpc>
                <a:spcPct val="112000"/>
              </a:lnSpc>
              <a:spcAft>
                <a:spcPts val="0"/>
              </a:spcAft>
            </a:pPr>
            <a:r>
              <a:rPr lang="en-US" altLang="en-US" sz="2400" b="0" i="0" noProof="1">
                <a:solidFill>
                  <a:srgbClr val="000000"/>
                </a:solidFill>
                <a:latin typeface="Times New Roman"/>
                <a:ea typeface="標楷體"/>
                <a:cs typeface="Times New Roman"/>
              </a:rPr>
              <a:t>A user can connect only to an active beam:</a:t>
            </a:r>
          </a:p>
        </p:txBody>
      </p:sp>
      <mc:AlternateContent xmlns:mc="http://schemas.openxmlformats.org/markup-compatibility/2006" xmlns:a14="http://schemas.microsoft.com/office/drawing/2010/main">
        <mc:Choice Requires="a14">
          <p:sp>
            <p:nvSpPr>
              <p:cNvPr id="5" name="edu:formula-omml" descr="Native Office Math: a05_activation"/>
              <p:cNvSpPr txBox="1"/>
              <p:nvPr/>
            </p:nvSpPr>
            <p:spPr>
              <a:xfrm>
                <a:off x="3899915" y="1447495"/>
                <a:ext cx="4395520" cy="587959"/>
              </a:xfrm>
              <a:prstGeom prst="rect">
                <a:avLst/>
              </a:prstGeom>
              <a:noFill/>
              <a:effectLst/>
            </p:spPr>
            <p:txBody>
              <a:bodyPr wrap="none" lIns="0" tIns="0" rIns="0" bIns="0" anchor="ctr">
                <a:noAutofit/>
              </a:bodyPr>
              <a:lstStyle/>
              <a:p>
                <a:pPr algn="ctr"/>
                <a14:m>
                  <m:oMathPara xmlns:m="http://schemas.openxmlformats.org/officeDocument/2006/math">
                    <m:oMath>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𝑧</m:t>
                          </m:r>
                        </m:e>
                        <m:sub>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Sub>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)∈{0,1},</m:t>
                      </m:r>
                      <m:r>
                        <a:rPr lang="en-US" altLang="en-US" sz="2400" i="1" dirty="0" smtClean="0">
                          <a:solidFill>
                            <a:srgbClr val="000000"/>
                          </a:solidFill>
                          <a:latin typeface="Cambria Math" panose="02040503050406030204" pitchFamily="18" charset="0"/>
                          <a:ea typeface="Times New Roman"/>
                          <a:cs typeface="Times New Roman"/>
                        </a:rPr>
                        <m:t>  </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𝑥</m:t>
                          </m:r>
                        </m:e>
                        <m:sub>
                          <m:r>
                            <a:rPr lang="en-US" altLang="en-US" sz="2400" i="1" dirty="0" smtClean="0">
                              <a:solidFill>
                                <a:srgbClr val="000000"/>
                              </a:solidFill>
                              <a:latin typeface="Cambria Math" panose="02040503050406030204" pitchFamily="18" charset="0"/>
                              <a:ea typeface="Times New Roman"/>
                              <a:cs typeface="Times New Roman"/>
                            </a:rPr>
                            <m:t>𝑢</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Sub>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𝑧</m:t>
                          </m:r>
                        </m:e>
                        <m:sub>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Sub>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oMath>
                  </m:oMathPara>
                </a14:m>
                <a:endParaRPr lang="en-US" altLang="en-US" sz="2400" dirty="0">
                  <a:solidFill>
                    <a:srgbClr val="000000"/>
                  </a:solidFill>
                  <a:latin typeface="Times New Roman"/>
                  <a:ea typeface="Times New Roman"/>
                  <a:cs typeface="Times New Roman"/>
                </a:endParaRPr>
              </a:p>
            </p:txBody>
          </p:sp>
        </mc:Choice>
        <mc:Fallback xmlns="">
          <p:sp>
            <p:nvSpPr>
              <p:cNvPr id="5" name="edu:formula-omml" descr="Native Office Math: a05_activation"/>
              <p:cNvSpPr txBox="1">
                <a:spLocks noRot="1" noChangeAspect="1" noMove="1" noResize="1" noEditPoints="1" noAdjustHandles="1" noChangeArrowheads="1" noChangeShapeType="1" noTextEdit="1"/>
              </p:cNvSpPr>
              <p:nvPr/>
            </p:nvSpPr>
            <p:spPr>
              <a:xfrm>
                <a:off x="3899915" y="1447495"/>
                <a:ext cx="4395520" cy="587959"/>
              </a:xfrm>
              <a:prstGeom prst="rect">
                <a:avLst/>
              </a:prstGeom>
              <a:blipFill>
                <a:blip r:embed="rId3"/>
                <a:stretch>
                  <a:fillRect l="-7212" r="-7074" b="-3093"/>
                </a:stretch>
              </a:blipFill>
              <a:effectLst/>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edu:card"/>
              <p:cNvSpPr/>
              <p:nvPr/>
            </p:nvSpPr>
            <p:spPr>
              <a:xfrm>
                <a:off x="412791" y="2200046"/>
                <a:ext cx="5417820" cy="1269187"/>
              </a:xfrm>
              <a:prstGeom prst="roundRect">
                <a:avLst/>
              </a:prstGeom>
              <a:solidFill>
                <a:srgbClr val="F6F8FA"/>
              </a:solidFill>
              <a:ln w="11430">
                <a:solidFill>
                  <a:srgbClr val="9AA5B1"/>
                </a:solidFill>
              </a:ln>
              <a:effectLst/>
            </p:spPr>
            <p:txBody>
              <a:bodyPr wrap="square" tIns="0" bIns="0" rtlCol="0" anchor="ctr">
                <a:noAutofit/>
              </a:bodyPr>
              <a:lstStyle/>
              <a:p>
                <a:pPr algn="ctr">
                  <a:lnSpc>
                    <a:spcPct val="105000"/>
                  </a:lnSpc>
                </a:pPr>
                <a:r>
                  <a:rPr lang="en-US" altLang="en-US" sz="2000" b="1" i="0" noProof="1">
                    <a:solidFill>
                      <a:srgbClr val="000000"/>
                    </a:solidFill>
                    <a:latin typeface="Times New Roman"/>
                    <a:ea typeface="標楷體"/>
                    <a:cs typeface="Times New Roman"/>
                  </a:rPr>
                  <a:t>Beam is active</a:t>
                </a:r>
              </a:p>
              <a:p>
                <a:pPr algn="ctr">
                  <a:lnSpc>
                    <a:spcPct val="105000"/>
                  </a:lnSpc>
                  <a:spcBef>
                    <a:spcPts val="200"/>
                  </a:spcBef>
                </a:pPr>
                <a14:m>
                  <m:oMath xmlns:m="http://schemas.openxmlformats.org/officeDocument/2006/math">
                    <m:sSub>
                      <m:sSubPr>
                        <m:ctrlPr>
                          <a:rPr lang="en-US" altLang="en-US" sz="2000" i="1" dirty="0" smtClean="0">
                            <a:solidFill>
                              <a:srgbClr val="000000"/>
                            </a:solidFill>
                            <a:latin typeface="Cambria Math" panose="02040503050406030204" pitchFamily="18" charset="0"/>
                            <a:ea typeface="Times New Roman"/>
                            <a:cs typeface="Times New Roman"/>
                          </a:rPr>
                        </m:ctrlPr>
                      </m:sSubPr>
                      <m:e>
                        <m:r>
                          <a:rPr lang="en-US" altLang="en-US" sz="2000" i="1" dirty="0" smtClean="0">
                            <a:solidFill>
                              <a:srgbClr val="000000"/>
                            </a:solidFill>
                            <a:latin typeface="Cambria Math" panose="02040503050406030204" pitchFamily="18" charset="0"/>
                            <a:ea typeface="Times New Roman"/>
                            <a:cs typeface="Times New Roman"/>
                          </a:rPr>
                          <m:t>𝑧</m:t>
                        </m:r>
                      </m:e>
                      <m:sub>
                        <m:r>
                          <a:rPr lang="en-US" altLang="en-US" sz="2000" i="1" dirty="0" smtClean="0">
                            <a:solidFill>
                              <a:srgbClr val="000000"/>
                            </a:solidFill>
                            <a:latin typeface="Cambria Math" panose="02040503050406030204" pitchFamily="18" charset="0"/>
                            <a:ea typeface="Times New Roman"/>
                            <a:cs typeface="Times New Roman"/>
                          </a:rPr>
                          <m:t>𝑠</m:t>
                        </m:r>
                        <m:r>
                          <a:rPr lang="en-US" altLang="en-US" sz="2000" i="0" dirty="0" smtClean="0">
                            <a:solidFill>
                              <a:srgbClr val="000000"/>
                            </a:solidFill>
                            <a:latin typeface="Cambria Math" panose="02040503050406030204" pitchFamily="18" charset="0"/>
                            <a:ea typeface="Times New Roman"/>
                            <a:cs typeface="Times New Roman"/>
                          </a:rPr>
                          <m:t>,</m:t>
                        </m:r>
                        <m:r>
                          <a:rPr lang="en-US" altLang="en-US" sz="2000" i="1" dirty="0" smtClean="0">
                            <a:solidFill>
                              <a:srgbClr val="000000"/>
                            </a:solidFill>
                            <a:latin typeface="Cambria Math" panose="02040503050406030204" pitchFamily="18" charset="0"/>
                            <a:ea typeface="Times New Roman"/>
                            <a:cs typeface="Times New Roman"/>
                          </a:rPr>
                          <m:t>𝑣</m:t>
                        </m:r>
                      </m:sub>
                    </m:sSub>
                    <m:r>
                      <a:rPr lang="en-US" altLang="en-US" sz="2000" i="0" dirty="0" smtClean="0">
                        <a:solidFill>
                          <a:srgbClr val="000000"/>
                        </a:solidFill>
                        <a:latin typeface="Cambria Math" panose="02040503050406030204" pitchFamily="18" charset="0"/>
                        <a:ea typeface="Times New Roman"/>
                        <a:cs typeface="Times New Roman"/>
                      </a:rPr>
                      <m:t>(</m:t>
                    </m:r>
                    <m:r>
                      <a:rPr lang="en-US" altLang="en-US" sz="2000" i="1" dirty="0" smtClean="0">
                        <a:solidFill>
                          <a:srgbClr val="000000"/>
                        </a:solidFill>
                        <a:latin typeface="Cambria Math" panose="02040503050406030204" pitchFamily="18" charset="0"/>
                        <a:ea typeface="Times New Roman"/>
                        <a:cs typeface="Times New Roman"/>
                      </a:rPr>
                      <m:t>𝑡</m:t>
                    </m:r>
                    <m:r>
                      <a:rPr lang="en-US" altLang="en-US" sz="2000" i="0" dirty="0" smtClean="0">
                        <a:solidFill>
                          <a:srgbClr val="000000"/>
                        </a:solidFill>
                        <a:latin typeface="Cambria Math" panose="02040503050406030204" pitchFamily="18" charset="0"/>
                        <a:ea typeface="Times New Roman"/>
                        <a:cs typeface="Times New Roman"/>
                      </a:rPr>
                      <m:t>)=1</m:t>
                    </m:r>
                  </m:oMath>
                </a14:m>
                <a:r>
                  <a:rPr lang="en-US" altLang="en-US" sz="2000" b="0" i="0" noProof="1">
                    <a:solidFill>
                      <a:srgbClr val="000000"/>
                    </a:solidFill>
                    <a:latin typeface="Times New Roman"/>
                    <a:ea typeface="標楷體"/>
                    <a:cs typeface="Times New Roman"/>
                  </a:rPr>
                  <a:t> — users may connect, and the beam transmits.</a:t>
                </a:r>
                <a:endParaRPr lang="en-US" altLang="en-US" dirty="0">
                  <a:solidFill>
                    <a:srgbClr val="000000"/>
                  </a:solidFill>
                  <a:latin typeface="Times New Roman"/>
                  <a:ea typeface="Times New Roman"/>
                  <a:cs typeface="Times New Roman"/>
                </a:endParaRPr>
              </a:p>
            </p:txBody>
          </p:sp>
        </mc:Choice>
        <mc:Fallback xmlns="">
          <p:sp>
            <p:nvSpPr>
              <p:cNvPr id="6" name="edu:card"/>
              <p:cNvSpPr>
                <a:spLocks noRot="1" noChangeAspect="1" noMove="1" noResize="1" noEditPoints="1" noAdjustHandles="1" noChangeArrowheads="1" noChangeShapeType="1" noTextEdit="1"/>
              </p:cNvSpPr>
              <p:nvPr/>
            </p:nvSpPr>
            <p:spPr>
              <a:xfrm>
                <a:off x="412791" y="2200046"/>
                <a:ext cx="5417820" cy="1269187"/>
              </a:xfrm>
              <a:prstGeom prst="roundRect">
                <a:avLst/>
              </a:prstGeom>
              <a:blipFill>
                <a:blip r:embed="rId4"/>
                <a:stretch>
                  <a:fillRect b="-476"/>
                </a:stretch>
              </a:blipFill>
              <a:ln w="11430">
                <a:solidFill>
                  <a:srgbClr val="9AA5B1"/>
                </a:solidFill>
              </a:ln>
              <a:effectLst/>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edu:card"/>
              <p:cNvSpPr/>
              <p:nvPr/>
            </p:nvSpPr>
            <p:spPr>
              <a:xfrm>
                <a:off x="6059210" y="2200046"/>
                <a:ext cx="5635485" cy="1269187"/>
              </a:xfrm>
              <a:prstGeom prst="roundRect">
                <a:avLst/>
              </a:prstGeom>
              <a:solidFill>
                <a:srgbClr val="F6F8FA"/>
              </a:solidFill>
              <a:ln w="11430">
                <a:solidFill>
                  <a:srgbClr val="9AA5B1"/>
                </a:solidFill>
              </a:ln>
              <a:effectLst/>
            </p:spPr>
            <p:txBody>
              <a:bodyPr wrap="square" tIns="0" bIns="0" rtlCol="0" anchor="ctr">
                <a:noAutofit/>
              </a:bodyPr>
              <a:lstStyle/>
              <a:p>
                <a:pPr algn="ctr">
                  <a:lnSpc>
                    <a:spcPct val="105000"/>
                  </a:lnSpc>
                </a:pPr>
                <a:r>
                  <a:rPr lang="en-US" altLang="en-US" sz="2000" b="1" i="0" noProof="1">
                    <a:solidFill>
                      <a:srgbClr val="000000"/>
                    </a:solidFill>
                    <a:latin typeface="Times New Roman"/>
                    <a:ea typeface="標楷體"/>
                    <a:cs typeface="Times New Roman"/>
                  </a:rPr>
                  <a:t>Beam is inactive</a:t>
                </a:r>
              </a:p>
              <a:p>
                <a:pPr algn="ctr">
                  <a:lnSpc>
                    <a:spcPct val="105000"/>
                  </a:lnSpc>
                  <a:spcBef>
                    <a:spcPts val="200"/>
                  </a:spcBef>
                </a:pPr>
                <a14:m>
                  <m:oMath xmlns:m="http://schemas.openxmlformats.org/officeDocument/2006/math">
                    <m:sSub>
                      <m:sSubPr>
                        <m:ctrlPr>
                          <a:rPr lang="en-US" altLang="en-US" sz="2000" i="1" dirty="0" smtClean="0">
                            <a:solidFill>
                              <a:srgbClr val="000000"/>
                            </a:solidFill>
                            <a:latin typeface="Cambria Math" panose="02040503050406030204" pitchFamily="18" charset="0"/>
                            <a:ea typeface="Times New Roman"/>
                            <a:cs typeface="Times New Roman"/>
                          </a:rPr>
                        </m:ctrlPr>
                      </m:sSubPr>
                      <m:e>
                        <m:r>
                          <a:rPr lang="en-US" altLang="en-US" sz="2000" i="1" dirty="0" smtClean="0">
                            <a:solidFill>
                              <a:srgbClr val="000000"/>
                            </a:solidFill>
                            <a:latin typeface="Cambria Math" panose="02040503050406030204" pitchFamily="18" charset="0"/>
                            <a:ea typeface="Times New Roman"/>
                            <a:cs typeface="Times New Roman"/>
                          </a:rPr>
                          <m:t>𝑧</m:t>
                        </m:r>
                      </m:e>
                      <m:sub>
                        <m:r>
                          <a:rPr lang="en-US" altLang="en-US" sz="2000" i="1" dirty="0" smtClean="0">
                            <a:solidFill>
                              <a:srgbClr val="000000"/>
                            </a:solidFill>
                            <a:latin typeface="Cambria Math" panose="02040503050406030204" pitchFamily="18" charset="0"/>
                            <a:ea typeface="Times New Roman"/>
                            <a:cs typeface="Times New Roman"/>
                          </a:rPr>
                          <m:t>𝑠</m:t>
                        </m:r>
                        <m:r>
                          <a:rPr lang="en-US" altLang="en-US" sz="2000" i="0" dirty="0" smtClean="0">
                            <a:solidFill>
                              <a:srgbClr val="000000"/>
                            </a:solidFill>
                            <a:latin typeface="Cambria Math" panose="02040503050406030204" pitchFamily="18" charset="0"/>
                            <a:ea typeface="Times New Roman"/>
                            <a:cs typeface="Times New Roman"/>
                          </a:rPr>
                          <m:t>,</m:t>
                        </m:r>
                        <m:r>
                          <a:rPr lang="en-US" altLang="en-US" sz="2000" i="1" dirty="0" smtClean="0">
                            <a:solidFill>
                              <a:srgbClr val="000000"/>
                            </a:solidFill>
                            <a:latin typeface="Cambria Math" panose="02040503050406030204" pitchFamily="18" charset="0"/>
                            <a:ea typeface="Times New Roman"/>
                            <a:cs typeface="Times New Roman"/>
                          </a:rPr>
                          <m:t>𝑣</m:t>
                        </m:r>
                      </m:sub>
                    </m:sSub>
                    <m:r>
                      <a:rPr lang="en-US" altLang="en-US" sz="2000" i="0" dirty="0" smtClean="0">
                        <a:solidFill>
                          <a:srgbClr val="000000"/>
                        </a:solidFill>
                        <a:latin typeface="Cambria Math" panose="02040503050406030204" pitchFamily="18" charset="0"/>
                        <a:ea typeface="Times New Roman"/>
                        <a:cs typeface="Times New Roman"/>
                      </a:rPr>
                      <m:t>(</m:t>
                    </m:r>
                    <m:r>
                      <a:rPr lang="en-US" altLang="en-US" sz="2000" i="1" dirty="0" smtClean="0">
                        <a:solidFill>
                          <a:srgbClr val="000000"/>
                        </a:solidFill>
                        <a:latin typeface="Cambria Math" panose="02040503050406030204" pitchFamily="18" charset="0"/>
                        <a:ea typeface="Times New Roman"/>
                        <a:cs typeface="Times New Roman"/>
                      </a:rPr>
                      <m:t>𝑡</m:t>
                    </m:r>
                    <m:r>
                      <a:rPr lang="en-US" altLang="en-US" sz="2000" i="0" dirty="0" smtClean="0">
                        <a:solidFill>
                          <a:srgbClr val="000000"/>
                        </a:solidFill>
                        <a:latin typeface="Cambria Math" panose="02040503050406030204" pitchFamily="18" charset="0"/>
                        <a:ea typeface="Times New Roman"/>
                        <a:cs typeface="Times New Roman"/>
                      </a:rPr>
                      <m:t>)=0</m:t>
                    </m:r>
                  </m:oMath>
                </a14:m>
                <a:r>
                  <a:rPr lang="en-US" altLang="en-US" sz="2000" b="0" i="0" noProof="1">
                    <a:solidFill>
                      <a:srgbClr val="000000"/>
                    </a:solidFill>
                    <a:latin typeface="Times New Roman"/>
                    <a:ea typeface="標楷體"/>
                    <a:cs typeface="Times New Roman"/>
                  </a:rPr>
                  <a:t> — every </a:t>
                </a:r>
                <a14:m>
                  <m:oMath xmlns:m="http://schemas.openxmlformats.org/officeDocument/2006/math">
                    <m:sSub>
                      <m:sSubPr>
                        <m:ctrlPr>
                          <a:rPr lang="en-US" altLang="en-US" sz="2000" i="1" dirty="0" smtClean="0">
                            <a:solidFill>
                              <a:srgbClr val="000000"/>
                            </a:solidFill>
                            <a:latin typeface="Cambria Math" panose="02040503050406030204" pitchFamily="18" charset="0"/>
                            <a:ea typeface="Times New Roman"/>
                            <a:cs typeface="Times New Roman"/>
                          </a:rPr>
                        </m:ctrlPr>
                      </m:sSubPr>
                      <m:e>
                        <m:r>
                          <a:rPr lang="en-US" altLang="en-US" sz="2000" i="1" dirty="0" smtClean="0">
                            <a:solidFill>
                              <a:srgbClr val="000000"/>
                            </a:solidFill>
                            <a:latin typeface="Cambria Math" panose="02040503050406030204" pitchFamily="18" charset="0"/>
                            <a:ea typeface="Times New Roman"/>
                            <a:cs typeface="Times New Roman"/>
                          </a:rPr>
                          <m:t>𝑥</m:t>
                        </m:r>
                      </m:e>
                      <m:sub>
                        <m:r>
                          <a:rPr lang="en-US" altLang="en-US" sz="2000" i="1" dirty="0" smtClean="0">
                            <a:solidFill>
                              <a:srgbClr val="000000"/>
                            </a:solidFill>
                            <a:latin typeface="Cambria Math" panose="02040503050406030204" pitchFamily="18" charset="0"/>
                            <a:ea typeface="Times New Roman"/>
                            <a:cs typeface="Times New Roman"/>
                          </a:rPr>
                          <m:t>𝑢</m:t>
                        </m:r>
                        <m:r>
                          <a:rPr lang="en-US" altLang="en-US" sz="2000" i="0" dirty="0" smtClean="0">
                            <a:solidFill>
                              <a:srgbClr val="000000"/>
                            </a:solidFill>
                            <a:latin typeface="Cambria Math" panose="02040503050406030204" pitchFamily="18" charset="0"/>
                            <a:ea typeface="Times New Roman"/>
                            <a:cs typeface="Times New Roman"/>
                          </a:rPr>
                          <m:t>,</m:t>
                        </m:r>
                        <m:r>
                          <a:rPr lang="en-US" altLang="en-US" sz="2000" i="1" dirty="0" smtClean="0">
                            <a:solidFill>
                              <a:srgbClr val="000000"/>
                            </a:solidFill>
                            <a:latin typeface="Cambria Math" panose="02040503050406030204" pitchFamily="18" charset="0"/>
                            <a:ea typeface="Times New Roman"/>
                            <a:cs typeface="Times New Roman"/>
                          </a:rPr>
                          <m:t>𝑠</m:t>
                        </m:r>
                        <m:r>
                          <a:rPr lang="en-US" altLang="en-US" sz="2000" i="0" dirty="0" smtClean="0">
                            <a:solidFill>
                              <a:srgbClr val="000000"/>
                            </a:solidFill>
                            <a:latin typeface="Cambria Math" panose="02040503050406030204" pitchFamily="18" charset="0"/>
                            <a:ea typeface="Times New Roman"/>
                            <a:cs typeface="Times New Roman"/>
                          </a:rPr>
                          <m:t>,</m:t>
                        </m:r>
                        <m:r>
                          <a:rPr lang="en-US" altLang="en-US" sz="2000" i="1" dirty="0" smtClean="0">
                            <a:solidFill>
                              <a:srgbClr val="000000"/>
                            </a:solidFill>
                            <a:latin typeface="Cambria Math" panose="02040503050406030204" pitchFamily="18" charset="0"/>
                            <a:ea typeface="Times New Roman"/>
                            <a:cs typeface="Times New Roman"/>
                          </a:rPr>
                          <m:t>𝑣</m:t>
                        </m:r>
                      </m:sub>
                    </m:sSub>
                    <m:r>
                      <a:rPr lang="en-US" altLang="en-US" sz="2000" i="0" dirty="0" smtClean="0">
                        <a:solidFill>
                          <a:srgbClr val="000000"/>
                        </a:solidFill>
                        <a:latin typeface="Cambria Math" panose="02040503050406030204" pitchFamily="18" charset="0"/>
                        <a:ea typeface="Times New Roman"/>
                        <a:cs typeface="Times New Roman"/>
                      </a:rPr>
                      <m:t>(</m:t>
                    </m:r>
                    <m:r>
                      <a:rPr lang="en-US" altLang="en-US" sz="2000" i="1" dirty="0" smtClean="0">
                        <a:solidFill>
                          <a:srgbClr val="000000"/>
                        </a:solidFill>
                        <a:latin typeface="Cambria Math" panose="02040503050406030204" pitchFamily="18" charset="0"/>
                        <a:ea typeface="Times New Roman"/>
                        <a:cs typeface="Times New Roman"/>
                      </a:rPr>
                      <m:t>𝑡</m:t>
                    </m:r>
                    <m:r>
                      <a:rPr lang="en-US" altLang="en-US" sz="2000" i="0" dirty="0" smtClean="0">
                        <a:solidFill>
                          <a:srgbClr val="000000"/>
                        </a:solidFill>
                        <a:latin typeface="Cambria Math" panose="02040503050406030204" pitchFamily="18" charset="0"/>
                        <a:ea typeface="Times New Roman"/>
                        <a:cs typeface="Times New Roman"/>
                      </a:rPr>
                      <m:t>)</m:t>
                    </m:r>
                  </m:oMath>
                </a14:m>
                <a:r>
                  <a:rPr lang="en-US" altLang="en-US" sz="2000" b="0" i="0" noProof="1">
                    <a:solidFill>
                      <a:srgbClr val="000000"/>
                    </a:solidFill>
                    <a:latin typeface="Times New Roman"/>
                    <a:ea typeface="標楷體"/>
                    <a:cs typeface="Times New Roman"/>
                  </a:rPr>
                  <a:t> on it is forced to zero.</a:t>
                </a:r>
                <a:endParaRPr lang="en-US" altLang="en-US" dirty="0">
                  <a:solidFill>
                    <a:srgbClr val="000000"/>
                  </a:solidFill>
                  <a:latin typeface="Times New Roman"/>
                  <a:ea typeface="Times New Roman"/>
                  <a:cs typeface="Times New Roman"/>
                </a:endParaRPr>
              </a:p>
            </p:txBody>
          </p:sp>
        </mc:Choice>
        <mc:Fallback xmlns="">
          <p:sp>
            <p:nvSpPr>
              <p:cNvPr id="7" name="edu:card"/>
              <p:cNvSpPr>
                <a:spLocks noRot="1" noChangeAspect="1" noMove="1" noResize="1" noEditPoints="1" noAdjustHandles="1" noChangeArrowheads="1" noChangeShapeType="1" noTextEdit="1"/>
              </p:cNvSpPr>
              <p:nvPr/>
            </p:nvSpPr>
            <p:spPr>
              <a:xfrm>
                <a:off x="6059210" y="2200046"/>
                <a:ext cx="5635485" cy="1269187"/>
              </a:xfrm>
              <a:prstGeom prst="roundRect">
                <a:avLst/>
              </a:prstGeom>
              <a:blipFill>
                <a:blip r:embed="rId5"/>
                <a:stretch>
                  <a:fillRect/>
                </a:stretch>
              </a:blipFill>
              <a:ln w="11430">
                <a:solidFill>
                  <a:srgbClr val="9AA5B1"/>
                </a:solidFill>
              </a:ln>
              <a:effectLst/>
            </p:spPr>
            <p:txBody>
              <a:bodyPr/>
              <a:lstStyle/>
              <a:p>
                <a:r>
                  <a:rPr lang="zh-TW" altLang="en-US">
                    <a:noFill/>
                  </a:rPr>
                  <a:t> </a:t>
                </a:r>
              </a:p>
            </p:txBody>
          </p:sp>
        </mc:Fallback>
      </mc:AlternateContent>
      <p:sp>
        <p:nvSpPr>
          <p:cNvPr id="8" name="edu:body"/>
          <p:cNvSpPr txBox="1"/>
          <p:nvPr/>
        </p:nvSpPr>
        <p:spPr>
          <a:xfrm>
            <a:off x="565190" y="3633825"/>
            <a:ext cx="11064240" cy="774496"/>
          </a:xfrm>
          <a:prstGeom prst="rect">
            <a:avLst/>
          </a:prstGeom>
          <a:noFill/>
        </p:spPr>
        <p:txBody>
          <a:bodyPr wrap="square" lIns="0" tIns="0" rIns="0" bIns="0" anchor="t">
            <a:spAutoFit/>
          </a:bodyPr>
          <a:lstStyle/>
          <a:p>
            <a:pPr algn="l">
              <a:lnSpc>
                <a:spcPct val="112000"/>
              </a:lnSpc>
              <a:spcAft>
                <a:spcPts val="0"/>
              </a:spcAft>
            </a:pPr>
            <a:r>
              <a:rPr lang="en-US" altLang="en-US" sz="2400" b="0" i="0" noProof="1">
                <a:solidFill>
                  <a:srgbClr val="000000"/>
                </a:solidFill>
                <a:latin typeface="Times New Roman"/>
                <a:ea typeface="標楷體"/>
                <a:cs typeface="Times New Roman"/>
              </a:rPr>
              <a:t>The inequality goes only one way: a user cannot connect to an inactive beam. The next slide defines the load and derived activation.</a:t>
            </a:r>
          </a:p>
        </p:txBody>
      </p:sp>
      <mc:AlternateContent xmlns:mc="http://schemas.openxmlformats.org/markup-compatibility/2006" xmlns:a14="http://schemas.microsoft.com/office/drawing/2010/main">
        <mc:Choice Requires="a14">
          <p:sp>
            <p:nvSpPr>
              <p:cNvPr id="9" name="edu:notation"/>
              <p:cNvSpPr txBox="1"/>
              <p:nvPr/>
            </p:nvSpPr>
            <p:spPr>
              <a:xfrm>
                <a:off x="565190" y="5180301"/>
                <a:ext cx="11064240" cy="695858"/>
              </a:xfrm>
              <a:prstGeom prst="rect">
                <a:avLst/>
              </a:prstGeom>
              <a:noFill/>
              <a:effectLst/>
            </p:spPr>
            <p:txBody>
              <a:bodyPr wrap="square" lIns="0" tIns="0" rIns="0" bIns="0" anchor="t">
                <a:noAutofit/>
              </a:bodyPr>
              <a:lstStyle/>
              <a:p>
                <a:pPr algn="l">
                  <a:lnSpc>
                    <a:spcPct val="100000"/>
                  </a:lnSpc>
                  <a:spcAft>
                    <a:spcPts val="200"/>
                  </a:spcAft>
                </a:pPr>
                <a:r>
                  <a:rPr lang="en-US" altLang="en-US" sz="2400" b="1" i="0" noProof="1">
                    <a:solidFill>
                      <a:srgbClr val="000000"/>
                    </a:solidFill>
                    <a:latin typeface="Times New Roman"/>
                    <a:ea typeface="標楷體"/>
                    <a:cs typeface="Times New Roman"/>
                  </a:rPr>
                  <a:t>Notation</a:t>
                </a:r>
              </a:p>
              <a:p>
                <a:pPr algn="l">
                  <a:lnSpc>
                    <a:spcPct val="100000"/>
                  </a:lnSpc>
                  <a:spcAft>
                    <a:spcPts val="200"/>
                  </a:spcAft>
                </a:pPr>
                <a14:m>
                  <m:oMath xmlns:m="http://schemas.openxmlformats.org/officeDocument/2006/math">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𝑧</m:t>
                        </m:r>
                      </m:e>
                      <m:sub>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Sub>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oMath>
                </a14:m>
                <a:r>
                  <a:rPr lang="en-US" altLang="en-US" sz="2400" b="0" i="0" noProof="1">
                    <a:solidFill>
                      <a:srgbClr val="000000"/>
                    </a:solidFill>
                    <a:latin typeface="Times New Roman"/>
                    <a:ea typeface="標楷體"/>
                    <a:cs typeface="Times New Roman"/>
                  </a:rPr>
                  <a:t>: indicator that beam (s, v) is active at step t</a:t>
                </a:r>
                <a:endParaRPr lang="en-US" altLang="en-US" sz="2000" dirty="0">
                  <a:solidFill>
                    <a:srgbClr val="000000"/>
                  </a:solidFill>
                  <a:latin typeface="Times New Roman"/>
                  <a:ea typeface="Times New Roman"/>
                  <a:cs typeface="Times New Roman"/>
                </a:endParaRPr>
              </a:p>
            </p:txBody>
          </p:sp>
        </mc:Choice>
        <mc:Fallback xmlns="">
          <p:sp>
            <p:nvSpPr>
              <p:cNvPr id="9" name="edu:notation"/>
              <p:cNvSpPr txBox="1">
                <a:spLocks noRot="1" noChangeAspect="1" noMove="1" noResize="1" noEditPoints="1" noAdjustHandles="1" noChangeArrowheads="1" noChangeShapeType="1" noTextEdit="1"/>
              </p:cNvSpPr>
              <p:nvPr/>
            </p:nvSpPr>
            <p:spPr>
              <a:xfrm>
                <a:off x="565190" y="5180301"/>
                <a:ext cx="11064240" cy="695858"/>
              </a:xfrm>
              <a:prstGeom prst="rect">
                <a:avLst/>
              </a:prstGeom>
              <a:blipFill>
                <a:blip r:embed="rId6"/>
                <a:stretch>
                  <a:fillRect l="-1708" t="-14035" b="-35088"/>
                </a:stretch>
              </a:blipFill>
              <a:effectLst/>
            </p:spPr>
            <p:txBody>
              <a:bodyPr/>
              <a:lstStyle/>
              <a:p>
                <a:r>
                  <a:rPr lang="zh-TW" altLang="en-US">
                    <a:noFill/>
                  </a:rPr>
                  <a:t> </a:t>
                </a:r>
              </a:p>
            </p:txBody>
          </p:sp>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du:title"/>
          <p:cNvSpPr txBox="1"/>
          <p:nvPr/>
        </p:nvSpPr>
        <p:spPr>
          <a:xfrm>
            <a:off x="565190" y="141274"/>
            <a:ext cx="11417289" cy="571500"/>
          </a:xfrm>
          <a:prstGeom prst="rect">
            <a:avLst/>
          </a:prstGeom>
          <a:noFill/>
        </p:spPr>
        <p:txBody>
          <a:bodyPr wrap="square" lIns="0" tIns="0" rIns="0" bIns="0" anchor="b">
            <a:spAutoFit/>
          </a:bodyPr>
          <a:lstStyle/>
          <a:p>
            <a:pPr algn="l"/>
            <a:r>
              <a:rPr lang="en-US" altLang="en-US" sz="2800" b="1" i="0" noProof="1">
                <a:solidFill>
                  <a:srgbClr val="1B365D"/>
                </a:solidFill>
                <a:latin typeface="Times New Roman"/>
                <a:ea typeface="標楷體"/>
                <a:cs typeface="Times New Roman"/>
              </a:rPr>
              <a:t>Beam Activation and Load</a:t>
            </a:r>
          </a:p>
        </p:txBody>
      </p:sp>
      <p:sp>
        <p:nvSpPr>
          <p:cNvPr id="4" name="edu:body"/>
          <p:cNvSpPr txBox="1"/>
          <p:nvPr/>
        </p:nvSpPr>
        <p:spPr>
          <a:xfrm>
            <a:off x="565190" y="896112"/>
            <a:ext cx="11064240" cy="774496"/>
          </a:xfrm>
          <a:prstGeom prst="rect">
            <a:avLst/>
          </a:prstGeom>
          <a:noFill/>
        </p:spPr>
        <p:txBody>
          <a:bodyPr wrap="square" lIns="0" tIns="0" rIns="0" bIns="0" anchor="t">
            <a:spAutoFit/>
          </a:bodyPr>
          <a:lstStyle/>
          <a:p>
            <a:pPr algn="l">
              <a:lnSpc>
                <a:spcPct val="112000"/>
              </a:lnSpc>
              <a:spcAft>
                <a:spcPts val="0"/>
              </a:spcAft>
            </a:pPr>
            <a:r>
              <a:rPr lang="en-US" altLang="en-US" sz="2400" b="0" i="0" noProof="1">
                <a:solidFill>
                  <a:srgbClr val="000000"/>
                </a:solidFill>
                <a:latin typeface="Times New Roman"/>
                <a:ea typeface="標楷體"/>
                <a:cs typeface="Times New Roman"/>
              </a:rPr>
              <a:t>A realized connection is legal only on an active beam, the beam's realized load determines whether it is active:</a:t>
            </a:r>
          </a:p>
        </p:txBody>
      </p:sp>
      <mc:AlternateContent xmlns:mc="http://schemas.openxmlformats.org/markup-compatibility/2006" xmlns:a14="http://schemas.microsoft.com/office/drawing/2010/main">
        <mc:Choice Requires="a14">
          <p:sp>
            <p:nvSpPr>
              <p:cNvPr id="5" name="edu:formula-omml" descr="Native Office Math: a06_connection_load"/>
              <p:cNvSpPr txBox="1"/>
              <p:nvPr/>
            </p:nvSpPr>
            <p:spPr>
              <a:xfrm>
                <a:off x="3287268" y="1771032"/>
                <a:ext cx="5620816" cy="862279"/>
              </a:xfrm>
              <a:prstGeom prst="rect">
                <a:avLst/>
              </a:prstGeom>
              <a:noFill/>
              <a:effectLst/>
            </p:spPr>
            <p:txBody>
              <a:bodyPr wrap="none" lIns="0" tIns="0" rIns="0" bIns="0" anchor="ctr">
                <a:noAutofit/>
              </a:bodyPr>
              <a:lstStyle/>
              <a:p>
                <a:pPr algn="ctr"/>
                <a14:m>
                  <m:oMathPara xmlns:m="http://schemas.openxmlformats.org/officeDocument/2006/math">
                    <m:oMath>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𝑥</m:t>
                          </m:r>
                        </m:e>
                        <m:sub>
                          <m:r>
                            <a:rPr lang="en-US" altLang="en-US" sz="2400" i="1" dirty="0" smtClean="0">
                              <a:solidFill>
                                <a:srgbClr val="000000"/>
                              </a:solidFill>
                              <a:latin typeface="Cambria Math" panose="02040503050406030204" pitchFamily="18" charset="0"/>
                              <a:ea typeface="Times New Roman"/>
                              <a:cs typeface="Times New Roman"/>
                            </a:rPr>
                            <m:t>𝑢</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Sub>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𝑧</m:t>
                          </m:r>
                        </m:e>
                        <m:sub>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Sub>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  </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𝑈</m:t>
                          </m:r>
                        </m:e>
                        <m:sub>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Sub>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nary>
                        <m:naryPr>
                          <m:chr m:val="∑"/>
                          <m:limLoc m:val="undOvr"/>
                          <m:ctrlPr>
                            <a:rPr lang="en-US" altLang="en-US" sz="2400" i="1" dirty="0" smtClean="0">
                              <a:solidFill>
                                <a:srgbClr val="000000"/>
                              </a:solidFill>
                              <a:latin typeface="Cambria Math" panose="02040503050406030204" pitchFamily="18" charset="0"/>
                              <a:ea typeface="Times New Roman"/>
                              <a:cs typeface="Times New Roman"/>
                            </a:rPr>
                          </m:ctrlPr>
                        </m:naryPr>
                        <m:sub>
                          <m:r>
                            <a:rPr lang="en-US" altLang="en-US" sz="2400" i="1" dirty="0" smtClean="0">
                              <a:solidFill>
                                <a:srgbClr val="000000"/>
                              </a:solidFill>
                              <a:latin typeface="Cambria Math" panose="02040503050406030204" pitchFamily="18" charset="0"/>
                              <a:ea typeface="Times New Roman"/>
                              <a:cs typeface="Times New Roman"/>
                            </a:rPr>
                            <m:t>𝑢</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𝒰</m:t>
                          </m:r>
                        </m:sub>
                        <m:sup>
                          <m:r>
                            <a:rPr lang="en-US" altLang="en-US" sz="2400" i="1" dirty="0" smtClean="0">
                              <a:solidFill>
                                <a:srgbClr val="000000"/>
                              </a:solidFill>
                              <a:latin typeface="Cambria Math" panose="02040503050406030204" pitchFamily="18" charset="0"/>
                              <a:ea typeface="Times New Roman"/>
                              <a:cs typeface="Times New Roman"/>
                            </a:rPr>
                            <m:t>​</m:t>
                          </m:r>
                        </m:sup>
                        <m:e>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𝑥</m:t>
                              </m:r>
                            </m:e>
                            <m:sub>
                              <m:r>
                                <a:rPr lang="en-US" altLang="en-US" sz="2400" i="1" dirty="0" smtClean="0">
                                  <a:solidFill>
                                    <a:srgbClr val="000000"/>
                                  </a:solidFill>
                                  <a:latin typeface="Cambria Math" panose="02040503050406030204" pitchFamily="18" charset="0"/>
                                  <a:ea typeface="Times New Roman"/>
                                  <a:cs typeface="Times New Roman"/>
                                </a:rPr>
                                <m:t>𝑢</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Sub>
                        </m:e>
                      </m:nary>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oMath>
                  </m:oMathPara>
                </a14:m>
                <a:endParaRPr lang="en-US" altLang="en-US" sz="2400" dirty="0">
                  <a:solidFill>
                    <a:srgbClr val="000000"/>
                  </a:solidFill>
                  <a:latin typeface="Times New Roman"/>
                  <a:ea typeface="Times New Roman"/>
                  <a:cs typeface="Times New Roman"/>
                </a:endParaRPr>
              </a:p>
            </p:txBody>
          </p:sp>
        </mc:Choice>
        <mc:Fallback xmlns="">
          <p:sp>
            <p:nvSpPr>
              <p:cNvPr id="5" name="edu:formula-omml" descr="Native Office Math: a06_connection_load"/>
              <p:cNvSpPr txBox="1">
                <a:spLocks noRot="1" noChangeAspect="1" noMove="1" noResize="1" noEditPoints="1" noAdjustHandles="1" noChangeArrowheads="1" noChangeShapeType="1" noTextEdit="1"/>
              </p:cNvSpPr>
              <p:nvPr/>
            </p:nvSpPr>
            <p:spPr>
              <a:xfrm>
                <a:off x="3287268" y="1771032"/>
                <a:ext cx="5620816" cy="862279"/>
              </a:xfrm>
              <a:prstGeom prst="rect">
                <a:avLst/>
              </a:prstGeom>
              <a:blipFill>
                <a:blip r:embed="rId3"/>
                <a:stretch>
                  <a:fillRect l="-2711" r="-1085" b="-1418"/>
                </a:stretch>
              </a:blipFill>
              <a:effectLst/>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edu:formula-omml" descr="Native Office Math: a06_act"/>
              <p:cNvSpPr txBox="1"/>
              <p:nvPr/>
            </p:nvSpPr>
            <p:spPr>
              <a:xfrm>
                <a:off x="4351629" y="2781862"/>
                <a:ext cx="3491179" cy="1030528"/>
              </a:xfrm>
              <a:prstGeom prst="rect">
                <a:avLst/>
              </a:prstGeom>
              <a:noFill/>
              <a:effectLst/>
            </p:spPr>
            <p:txBody>
              <a:bodyPr wrap="none" lIns="0" tIns="0" rIns="0" bIns="0" anchor="ctr">
                <a:noAutofit/>
              </a:bodyPr>
              <a:lstStyle/>
              <a:p>
                <a:pPr algn="ctr"/>
                <a14:m>
                  <m:oMathPara xmlns:m="http://schemas.openxmlformats.org/officeDocument/2006/math">
                    <m:oMath>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𝑧</m:t>
                          </m:r>
                        </m:e>
                        <m:sub>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Sub>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d>
                        <m:dPr>
                          <m:begChr m:val="{"/>
                          <m:endChr m:val=""/>
                          <m:ctrlPr>
                            <a:rPr lang="en-US" altLang="en-US" sz="2400" i="1" dirty="0" smtClean="0">
                              <a:solidFill>
                                <a:srgbClr val="000000"/>
                              </a:solidFill>
                              <a:latin typeface="Cambria Math" panose="02040503050406030204" pitchFamily="18" charset="0"/>
                              <a:ea typeface="Times New Roman"/>
                              <a:cs typeface="Times New Roman"/>
                            </a:rPr>
                          </m:ctrlPr>
                        </m:dPr>
                        <m:e>
                          <m:m>
                            <m:mPr>
                              <m:plcHide m:val="on"/>
                              <m:mcs>
                                <m:mc>
                                  <m:mcPr>
                                    <m:count m:val="2"/>
                                    <m:mcJc m:val="center"/>
                                  </m:mcPr>
                                </m:mc>
                              </m:mcs>
                              <m:ctrlPr>
                                <a:rPr lang="en-US" altLang="en-US" sz="2400" i="1" dirty="0" smtClean="0">
                                  <a:solidFill>
                                    <a:srgbClr val="000000"/>
                                  </a:solidFill>
                                  <a:latin typeface="Cambria Math" panose="02040503050406030204" pitchFamily="18" charset="0"/>
                                  <a:ea typeface="Times New Roman"/>
                                  <a:cs typeface="Times New Roman"/>
                                </a:rPr>
                              </m:ctrlPr>
                            </m:mPr>
                            <m:mr>
                              <m:e>
                                <m:r>
                                  <a:rPr lang="en-US" altLang="en-US" sz="2400" i="0" dirty="0" smtClean="0">
                                    <a:solidFill>
                                      <a:srgbClr val="000000"/>
                                    </a:solidFill>
                                    <a:latin typeface="Cambria Math" panose="02040503050406030204" pitchFamily="18" charset="0"/>
                                    <a:ea typeface="Times New Roman"/>
                                    <a:cs typeface="Times New Roman"/>
                                  </a:rPr>
                                  <m:t>1,</m:t>
                                </m:r>
                              </m:e>
                              <m:e>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𝑈</m:t>
                                    </m:r>
                                  </m:e>
                                  <m:sub>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Sub>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)&gt;0</m:t>
                                </m:r>
                              </m:e>
                            </m:mr>
                            <m:mr>
                              <m:e>
                                <m:r>
                                  <a:rPr lang="en-US" altLang="en-US" sz="2400" i="0" dirty="0" smtClean="0">
                                    <a:solidFill>
                                      <a:srgbClr val="000000"/>
                                    </a:solidFill>
                                    <a:latin typeface="Cambria Math" panose="02040503050406030204" pitchFamily="18" charset="0"/>
                                    <a:ea typeface="Times New Roman"/>
                                    <a:cs typeface="Times New Roman"/>
                                  </a:rPr>
                                  <m:t>0,</m:t>
                                </m:r>
                              </m:e>
                              <m:e>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𝑈</m:t>
                                    </m:r>
                                  </m:e>
                                  <m:sub>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Sub>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)=0</m:t>
                                </m:r>
                              </m:e>
                            </m:mr>
                          </m:m>
                        </m:e>
                      </m:d>
                    </m:oMath>
                  </m:oMathPara>
                </a14:m>
                <a:endParaRPr lang="en-US" altLang="en-US" sz="2400" dirty="0">
                  <a:solidFill>
                    <a:srgbClr val="000000"/>
                  </a:solidFill>
                  <a:latin typeface="Times New Roman"/>
                  <a:ea typeface="Times New Roman"/>
                  <a:cs typeface="Times New Roman"/>
                </a:endParaRPr>
              </a:p>
            </p:txBody>
          </p:sp>
        </mc:Choice>
        <mc:Fallback xmlns="">
          <p:sp>
            <p:nvSpPr>
              <p:cNvPr id="6" name="edu:formula-omml" descr="Native Office Math: a06_act"/>
              <p:cNvSpPr txBox="1">
                <a:spLocks noRot="1" noChangeAspect="1" noMove="1" noResize="1" noEditPoints="1" noAdjustHandles="1" noChangeArrowheads="1" noChangeShapeType="1" noTextEdit="1"/>
              </p:cNvSpPr>
              <p:nvPr/>
            </p:nvSpPr>
            <p:spPr>
              <a:xfrm>
                <a:off x="4351629" y="2781862"/>
                <a:ext cx="3491179" cy="1030528"/>
              </a:xfrm>
              <a:prstGeom prst="rect">
                <a:avLst/>
              </a:prstGeom>
              <a:blipFill>
                <a:blip r:embed="rId4"/>
                <a:stretch>
                  <a:fillRect/>
                </a:stretch>
              </a:blipFill>
              <a:effectLst/>
            </p:spPr>
            <p:txBody>
              <a:bodyPr/>
              <a:lstStyle/>
              <a:p>
                <a:r>
                  <a:rPr lang="zh-TW" altLang="en-US">
                    <a:noFill/>
                  </a:rPr>
                  <a:t> </a:t>
                </a:r>
              </a:p>
            </p:txBody>
          </p:sp>
        </mc:Fallback>
      </mc:AlternateContent>
      <p:sp>
        <p:nvSpPr>
          <p:cNvPr id="7" name="edu:body"/>
          <p:cNvSpPr txBox="1"/>
          <p:nvPr/>
        </p:nvSpPr>
        <p:spPr>
          <a:xfrm>
            <a:off x="565190" y="3993024"/>
            <a:ext cx="11064240" cy="382412"/>
          </a:xfrm>
          <a:prstGeom prst="rect">
            <a:avLst/>
          </a:prstGeom>
          <a:noFill/>
        </p:spPr>
        <p:txBody>
          <a:bodyPr wrap="square" lIns="0" tIns="0" rIns="0" bIns="0" anchor="t">
            <a:spAutoFit/>
          </a:bodyPr>
          <a:lstStyle/>
          <a:p>
            <a:pPr>
              <a:lnSpc>
                <a:spcPct val="112000"/>
              </a:lnSpc>
            </a:pPr>
            <a:r>
              <a:rPr lang="en-US" altLang="en-US" sz="2400" noProof="1">
                <a:solidFill>
                  <a:srgbClr val="000000"/>
                </a:solidFill>
                <a:cs typeface="Times New Roman"/>
              </a:rPr>
              <a:t>An empty beam draws no power and creates no interference.</a:t>
            </a:r>
          </a:p>
        </p:txBody>
      </p:sp>
      <mc:AlternateContent xmlns:mc="http://schemas.openxmlformats.org/markup-compatibility/2006" xmlns:a14="http://schemas.microsoft.com/office/drawing/2010/main">
        <mc:Choice Requires="a14">
          <p:sp>
            <p:nvSpPr>
              <p:cNvPr id="8" name="edu:notation"/>
              <p:cNvSpPr txBox="1"/>
              <p:nvPr/>
            </p:nvSpPr>
            <p:spPr>
              <a:xfrm>
                <a:off x="565190" y="4791810"/>
                <a:ext cx="11064240" cy="1044244"/>
              </a:xfrm>
              <a:prstGeom prst="rect">
                <a:avLst/>
              </a:prstGeom>
              <a:noFill/>
              <a:effectLst/>
            </p:spPr>
            <p:txBody>
              <a:bodyPr wrap="square" lIns="0" tIns="0" rIns="0" bIns="0" anchor="t">
                <a:noAutofit/>
              </a:bodyPr>
              <a:lstStyle/>
              <a:p>
                <a:pPr algn="l">
                  <a:lnSpc>
                    <a:spcPct val="100000"/>
                  </a:lnSpc>
                  <a:spcAft>
                    <a:spcPts val="200"/>
                  </a:spcAft>
                </a:pPr>
                <a:r>
                  <a:rPr lang="en-US" altLang="en-US" sz="2400" b="1" i="0" noProof="1">
                    <a:solidFill>
                      <a:srgbClr val="000000"/>
                    </a:solidFill>
                    <a:latin typeface="Times New Roman"/>
                    <a:ea typeface="標楷體"/>
                    <a:cs typeface="Times New Roman"/>
                  </a:rPr>
                  <a:t>Notation</a:t>
                </a:r>
              </a:p>
              <a:p>
                <a:pPr algn="l">
                  <a:lnSpc>
                    <a:spcPct val="100000"/>
                  </a:lnSpc>
                  <a:spcAft>
                    <a:spcPts val="200"/>
                  </a:spcAft>
                </a:pPr>
                <a14:m>
                  <m:oMath xmlns:m="http://schemas.openxmlformats.org/officeDocument/2006/math">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𝑈</m:t>
                        </m:r>
                      </m:e>
                      <m:sub>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Sub>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oMath>
                </a14:m>
                <a:r>
                  <a:rPr lang="en-US" altLang="en-US" sz="2400" b="0" i="0" noProof="1">
                    <a:solidFill>
                      <a:srgbClr val="000000"/>
                    </a:solidFill>
                    <a:latin typeface="Times New Roman"/>
                    <a:ea typeface="標楷體"/>
                    <a:cs typeface="Times New Roman"/>
                  </a:rPr>
                  <a:t>: number of users actually served by beam </a:t>
                </a:r>
                <a:r>
                  <a:rPr lang="en-US" altLang="en-US" sz="2400" b="0" i="1" noProof="1">
                    <a:solidFill>
                      <a:srgbClr val="000000"/>
                    </a:solidFill>
                    <a:latin typeface="Times New Roman"/>
                    <a:ea typeface="標楷體"/>
                    <a:cs typeface="Times New Roman"/>
                  </a:rPr>
                  <a:t>(s, v)</a:t>
                </a:r>
                <a:r>
                  <a:rPr lang="en-US" altLang="en-US" sz="2400" b="0" i="0" noProof="1">
                    <a:solidFill>
                      <a:srgbClr val="000000"/>
                    </a:solidFill>
                    <a:latin typeface="Times New Roman"/>
                    <a:ea typeface="標楷體"/>
                    <a:cs typeface="Times New Roman"/>
                  </a:rPr>
                  <a:t> at step </a:t>
                </a:r>
                <a:r>
                  <a:rPr lang="en-US" altLang="en-US" sz="2400" b="0" i="1" noProof="1">
                    <a:solidFill>
                      <a:srgbClr val="000000"/>
                    </a:solidFill>
                    <a:latin typeface="Times New Roman"/>
                    <a:ea typeface="標楷體"/>
                    <a:cs typeface="Times New Roman"/>
                  </a:rPr>
                  <a:t>t</a:t>
                </a:r>
                <a:endParaRPr lang="en-US" altLang="en-US" sz="2400" dirty="0">
                  <a:solidFill>
                    <a:srgbClr val="000000"/>
                  </a:solidFill>
                  <a:latin typeface="Times New Roman"/>
                  <a:ea typeface="Times New Roman"/>
                  <a:cs typeface="Times New Roman"/>
                </a:endParaRPr>
              </a:p>
              <a:p>
                <a:pPr algn="l">
                  <a:lnSpc>
                    <a:spcPct val="100000"/>
                  </a:lnSpc>
                  <a:spcAft>
                    <a:spcPts val="200"/>
                  </a:spcAft>
                </a:pPr>
                <a14:m>
                  <m:oMath xmlns:m="http://schemas.openxmlformats.org/officeDocument/2006/math">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𝑧</m:t>
                        </m:r>
                      </m:e>
                      <m:sub>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Sub>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oMath>
                </a14:m>
                <a:r>
                  <a:rPr lang="en-US" altLang="en-US" sz="2400" b="0" i="0" noProof="1">
                    <a:solidFill>
                      <a:srgbClr val="000000"/>
                    </a:solidFill>
                    <a:latin typeface="Times New Roman"/>
                    <a:ea typeface="標楷體"/>
                    <a:cs typeface="Times New Roman"/>
                  </a:rPr>
                  <a:t>: whether beam </a:t>
                </a:r>
                <a:r>
                  <a:rPr lang="en-US" altLang="en-US" sz="2400" b="0" i="1" noProof="1">
                    <a:solidFill>
                      <a:srgbClr val="000000"/>
                    </a:solidFill>
                    <a:latin typeface="Times New Roman"/>
                    <a:ea typeface="標楷體"/>
                    <a:cs typeface="Times New Roman"/>
                  </a:rPr>
                  <a:t>(s, v)</a:t>
                </a:r>
                <a:r>
                  <a:rPr lang="en-US" altLang="en-US" sz="2400" b="0" i="0" noProof="1">
                    <a:solidFill>
                      <a:srgbClr val="000000"/>
                    </a:solidFill>
                    <a:latin typeface="Times New Roman"/>
                    <a:ea typeface="標楷體"/>
                    <a:cs typeface="Times New Roman"/>
                  </a:rPr>
                  <a:t> is activated, derived from the connection result, never chosen</a:t>
                </a:r>
                <a:endParaRPr lang="en-US" altLang="en-US" sz="2400" dirty="0">
                  <a:solidFill>
                    <a:srgbClr val="000000"/>
                  </a:solidFill>
                  <a:latin typeface="Times New Roman"/>
                  <a:ea typeface="Times New Roman"/>
                  <a:cs typeface="Times New Roman"/>
                </a:endParaRPr>
              </a:p>
            </p:txBody>
          </p:sp>
        </mc:Choice>
        <mc:Fallback xmlns="">
          <p:sp>
            <p:nvSpPr>
              <p:cNvPr id="8" name="edu:notation"/>
              <p:cNvSpPr txBox="1">
                <a:spLocks noRot="1" noChangeAspect="1" noMove="1" noResize="1" noEditPoints="1" noAdjustHandles="1" noChangeArrowheads="1" noChangeShapeType="1" noTextEdit="1"/>
              </p:cNvSpPr>
              <p:nvPr/>
            </p:nvSpPr>
            <p:spPr>
              <a:xfrm>
                <a:off x="565190" y="4791810"/>
                <a:ext cx="11064240" cy="1044244"/>
              </a:xfrm>
              <a:prstGeom prst="rect">
                <a:avLst/>
              </a:prstGeom>
              <a:blipFill>
                <a:blip r:embed="rId5"/>
                <a:stretch>
                  <a:fillRect l="-1708" t="-8772" r="-386" b="-29825"/>
                </a:stretch>
              </a:blipFill>
              <a:effectLst/>
            </p:spPr>
            <p:txBody>
              <a:bodyPr/>
              <a:lstStyle/>
              <a:p>
                <a:r>
                  <a:rPr lang="zh-TW" altLang="en-US">
                    <a:noFill/>
                  </a:rPr>
                  <a:t> </a:t>
                </a:r>
              </a:p>
            </p:txBody>
          </p:sp>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du:title"/>
          <p:cNvSpPr txBox="1"/>
          <p:nvPr/>
        </p:nvSpPr>
        <p:spPr>
          <a:xfrm>
            <a:off x="565190" y="141274"/>
            <a:ext cx="11417289" cy="571500"/>
          </a:xfrm>
          <a:prstGeom prst="rect">
            <a:avLst/>
          </a:prstGeom>
          <a:noFill/>
        </p:spPr>
        <p:txBody>
          <a:bodyPr wrap="square" lIns="0" tIns="0" rIns="0" bIns="0" anchor="b">
            <a:spAutoFit/>
          </a:bodyPr>
          <a:lstStyle/>
          <a:p>
            <a:pPr algn="l"/>
            <a:r>
              <a:rPr lang="en-US" altLang="en-US" sz="2800" b="1" i="0" noProof="1">
                <a:solidFill>
                  <a:srgbClr val="1B365D"/>
                </a:solidFill>
                <a:latin typeface="Times New Roman"/>
                <a:ea typeface="標楷體"/>
                <a:cs typeface="Times New Roman"/>
              </a:rPr>
              <a:t>Slant Range</a:t>
            </a:r>
          </a:p>
        </p:txBody>
      </p:sp>
      <p:sp>
        <p:nvSpPr>
          <p:cNvPr id="3" name="edu:citation"/>
          <p:cNvSpPr txBox="1"/>
          <p:nvPr/>
        </p:nvSpPr>
        <p:spPr>
          <a:xfrm>
            <a:off x="495330" y="6316675"/>
            <a:ext cx="11018520" cy="505663"/>
          </a:xfrm>
          <a:prstGeom prst="rect">
            <a:avLst/>
          </a:prstGeom>
          <a:noFill/>
        </p:spPr>
        <p:txBody>
          <a:bodyPr wrap="square" lIns="0" tIns="0" rIns="0" bIns="0" anchor="t">
            <a:spAutoFit/>
          </a:bodyPr>
          <a:lstStyle/>
          <a:p>
            <a:pPr algn="l">
              <a:lnSpc>
                <a:spcPct val="105000"/>
              </a:lnSpc>
            </a:pPr>
            <a:r>
              <a:rPr lang="en-US" altLang="en-US" sz="1400" b="0" i="0" noProof="1">
                <a:solidFill>
                  <a:srgbClr val="000000"/>
                </a:solidFill>
                <a:latin typeface="Times New Roman"/>
                <a:ea typeface="標楷體"/>
                <a:cs typeface="Times New Roman"/>
              </a:rPr>
              <a:t>3GPP et al., “Study on New Radio (NR) to Support Non-Terrestrial Networks (NTN),” 3GPP Technical Report TR 38.811, V15.4.0, 2020.</a:t>
            </a:r>
          </a:p>
        </p:txBody>
      </p:sp>
      <p:sp>
        <p:nvSpPr>
          <p:cNvPr id="5" name="edu:body"/>
          <p:cNvSpPr txBox="1"/>
          <p:nvPr/>
        </p:nvSpPr>
        <p:spPr>
          <a:xfrm>
            <a:off x="565190" y="896112"/>
            <a:ext cx="11064240" cy="386791"/>
          </a:xfrm>
          <a:prstGeom prst="rect">
            <a:avLst/>
          </a:prstGeom>
          <a:noFill/>
        </p:spPr>
        <p:txBody>
          <a:bodyPr wrap="square" lIns="0" tIns="0" rIns="0" bIns="0" anchor="t">
            <a:spAutoFit/>
          </a:bodyPr>
          <a:lstStyle/>
          <a:p>
            <a:pPr algn="l">
              <a:lnSpc>
                <a:spcPct val="112000"/>
              </a:lnSpc>
              <a:spcAft>
                <a:spcPts val="0"/>
              </a:spcAft>
            </a:pPr>
            <a:r>
              <a:rPr lang="en-US" altLang="en-US" sz="2400" b="0" i="0" noProof="1">
                <a:solidFill>
                  <a:srgbClr val="000000"/>
                </a:solidFill>
                <a:latin typeface="Times New Roman"/>
                <a:ea typeface="標楷體"/>
                <a:cs typeface="Times New Roman"/>
              </a:rPr>
              <a:t>Curved-Earth geometry fixes how far the signal travels from satellite to user:</a:t>
            </a:r>
          </a:p>
        </p:txBody>
      </p:sp>
      <mc:AlternateContent xmlns:mc="http://schemas.openxmlformats.org/markup-compatibility/2006" xmlns:a14="http://schemas.microsoft.com/office/drawing/2010/main">
        <mc:Choice Requires="a14">
          <p:sp>
            <p:nvSpPr>
              <p:cNvPr id="6" name="edu:formula-omml" descr="Native Office Math: a07_slant"/>
              <p:cNvSpPr txBox="1"/>
              <p:nvPr/>
            </p:nvSpPr>
            <p:spPr>
              <a:xfrm>
                <a:off x="2472537" y="1447495"/>
                <a:ext cx="7249363" cy="676656"/>
              </a:xfrm>
              <a:prstGeom prst="rect">
                <a:avLst/>
              </a:prstGeom>
              <a:noFill/>
              <a:effectLst/>
            </p:spPr>
            <p:txBody>
              <a:bodyPr wrap="none" lIns="0" tIns="0" rIns="0" bIns="0" anchor="ctr">
                <a:noAutofit/>
              </a:bodyPr>
              <a:lstStyle/>
              <a:p>
                <a:pPr algn="ctr"/>
                <a14:m>
                  <m:oMathPara xmlns:m="http://schemas.openxmlformats.org/officeDocument/2006/math">
                    <m:oMath>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𝑑</m:t>
                          </m:r>
                        </m:e>
                        <m:sub>
                          <m:r>
                            <a:rPr lang="en-US" altLang="en-US" sz="2400" i="1" dirty="0" smtClean="0">
                              <a:solidFill>
                                <a:srgbClr val="000000"/>
                              </a:solidFill>
                              <a:latin typeface="Cambria Math" panose="02040503050406030204" pitchFamily="18" charset="0"/>
                              <a:ea typeface="Times New Roman"/>
                              <a:cs typeface="Times New Roman"/>
                            </a:rPr>
                            <m:t>𝑢</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Sub>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rad>
                        <m:radPr>
                          <m:degHide m:val="on"/>
                          <m:ctrlPr>
                            <a:rPr lang="en-US" altLang="en-US" sz="2400" i="1" dirty="0" smtClean="0">
                              <a:solidFill>
                                <a:srgbClr val="000000"/>
                              </a:solidFill>
                              <a:latin typeface="Cambria Math" panose="02040503050406030204" pitchFamily="18" charset="0"/>
                              <a:ea typeface="Times New Roman"/>
                              <a:cs typeface="Times New Roman"/>
                            </a:rPr>
                          </m:ctrlPr>
                        </m:radPr>
                        <m:deg/>
                        <m:e>
                          <m:sSubSup>
                            <m:sSubSupPr>
                              <m:ctrlPr>
                                <a:rPr lang="en-US" altLang="en-US" sz="2400" i="1" dirty="0" smtClean="0">
                                  <a:solidFill>
                                    <a:srgbClr val="000000"/>
                                  </a:solidFill>
                                  <a:latin typeface="Cambria Math" panose="02040503050406030204" pitchFamily="18" charset="0"/>
                                  <a:ea typeface="Times New Roman"/>
                                  <a:cs typeface="Times New Roman"/>
                                </a:rPr>
                              </m:ctrlPr>
                            </m:sSubSupPr>
                            <m:e>
                              <m:r>
                                <a:rPr lang="en-US" altLang="en-US" sz="2400" i="1" dirty="0" smtClean="0">
                                  <a:solidFill>
                                    <a:srgbClr val="000000"/>
                                  </a:solidFill>
                                  <a:latin typeface="Cambria Math" panose="02040503050406030204" pitchFamily="18" charset="0"/>
                                  <a:ea typeface="Times New Roman"/>
                                  <a:cs typeface="Times New Roman"/>
                                </a:rPr>
                                <m:t>𝑅</m:t>
                              </m:r>
                            </m:e>
                            <m:sub>
                              <m:r>
                                <a:rPr lang="en-US" altLang="en-US" sz="2400" i="1" dirty="0" smtClean="0">
                                  <a:solidFill>
                                    <a:srgbClr val="000000"/>
                                  </a:solidFill>
                                  <a:latin typeface="Cambria Math" panose="02040503050406030204" pitchFamily="18" charset="0"/>
                                  <a:ea typeface="Times New Roman"/>
                                  <a:cs typeface="Times New Roman"/>
                                </a:rPr>
                                <m:t>𝐸</m:t>
                              </m:r>
                            </m:sub>
                            <m:sup>
                              <m:r>
                                <a:rPr lang="en-US" altLang="en-US" sz="2400" i="0" dirty="0" smtClean="0">
                                  <a:solidFill>
                                    <a:srgbClr val="000000"/>
                                  </a:solidFill>
                                  <a:latin typeface="Cambria Math" panose="02040503050406030204" pitchFamily="18" charset="0"/>
                                  <a:ea typeface="Times New Roman"/>
                                  <a:cs typeface="Times New Roman"/>
                                </a:rPr>
                                <m:t>2</m:t>
                              </m:r>
                            </m:sup>
                          </m:sSubSup>
                          <m:sSup>
                            <m:sSupPr>
                              <m:ctrlPr>
                                <a:rPr lang="en-US" altLang="en-US" sz="2400" i="0" dirty="0" smtClean="0">
                                  <a:solidFill>
                                    <a:srgbClr val="000000"/>
                                  </a:solidFill>
                                  <a:latin typeface="Times New Roman"/>
                                  <a:ea typeface="Times New Roman"/>
                                  <a:cs typeface="Times New Roman"/>
                                </a:rPr>
                              </m:ctrlPr>
                            </m:sSupPr>
                            <m:e>
                              <m:r>
                                <m:rPr>
                                  <m:nor/>
                                </m:rPr>
                                <a:rPr lang="en-US" altLang="en-US" sz="2400" i="0" dirty="0" smtClean="0">
                                  <a:solidFill>
                                    <a:srgbClr val="000000"/>
                                  </a:solidFill>
                                  <a:latin typeface="Times New Roman"/>
                                  <a:ea typeface="Times New Roman"/>
                                  <a:cs typeface="Times New Roman"/>
                                </a:rPr>
                                <m:t>sin</m:t>
                              </m:r>
                            </m:e>
                            <m:sup>
                              <m:r>
                                <a:rPr lang="en-US" altLang="en-US" sz="2400" i="0" dirty="0" smtClean="0">
                                  <a:solidFill>
                                    <a:srgbClr val="000000"/>
                                  </a:solidFill>
                                  <a:latin typeface="Cambria Math" panose="02040503050406030204" pitchFamily="18" charset="0"/>
                                  <a:ea typeface="Times New Roman"/>
                                  <a:cs typeface="Times New Roman"/>
                                </a:rPr>
                                <m:t>2</m:t>
                              </m:r>
                            </m:sup>
                          </m:sSup>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𝛼</m:t>
                              </m:r>
                            </m:e>
                            <m:sub>
                              <m:r>
                                <a:rPr lang="en-US" altLang="en-US" sz="2400" i="1" dirty="0" smtClean="0">
                                  <a:solidFill>
                                    <a:srgbClr val="000000"/>
                                  </a:solidFill>
                                  <a:latin typeface="Cambria Math" panose="02040503050406030204" pitchFamily="18" charset="0"/>
                                  <a:ea typeface="Times New Roman"/>
                                  <a:cs typeface="Times New Roman"/>
                                </a:rPr>
                                <m:t>𝑢</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Sub>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sSubSup>
                            <m:sSubSupPr>
                              <m:ctrlPr>
                                <a:rPr lang="en-US" altLang="en-US" sz="2400" i="1" dirty="0" smtClean="0">
                                  <a:solidFill>
                                    <a:srgbClr val="000000"/>
                                  </a:solidFill>
                                  <a:latin typeface="Cambria Math" panose="02040503050406030204" pitchFamily="18" charset="0"/>
                                  <a:ea typeface="Times New Roman"/>
                                  <a:cs typeface="Times New Roman"/>
                                </a:rPr>
                              </m:ctrlPr>
                            </m:sSubSupPr>
                            <m:e>
                              <m:r>
                                <a:rPr lang="en-US" altLang="en-US" sz="2400" i="1" dirty="0" smtClean="0">
                                  <a:solidFill>
                                    <a:srgbClr val="000000"/>
                                  </a:solidFill>
                                  <a:latin typeface="Cambria Math" panose="02040503050406030204" pitchFamily="18" charset="0"/>
                                  <a:ea typeface="Times New Roman"/>
                                  <a:cs typeface="Times New Roman"/>
                                </a:rPr>
                                <m:t>ℎ</m:t>
                              </m:r>
                            </m:e>
                            <m:sub>
                              <m:r>
                                <a:rPr lang="en-US" altLang="en-US" sz="2400" i="1" dirty="0" smtClean="0">
                                  <a:solidFill>
                                    <a:srgbClr val="000000"/>
                                  </a:solidFill>
                                  <a:latin typeface="Cambria Math" panose="02040503050406030204" pitchFamily="18" charset="0"/>
                                  <a:ea typeface="Times New Roman"/>
                                  <a:cs typeface="Times New Roman"/>
                                </a:rPr>
                                <m:t>𝑠</m:t>
                              </m:r>
                            </m:sub>
                            <m:sup>
                              <m:r>
                                <a:rPr lang="en-US" altLang="en-US" sz="2400" i="0" dirty="0" smtClean="0">
                                  <a:solidFill>
                                    <a:srgbClr val="000000"/>
                                  </a:solidFill>
                                  <a:latin typeface="Cambria Math" panose="02040503050406030204" pitchFamily="18" charset="0"/>
                                  <a:ea typeface="Times New Roman"/>
                                  <a:cs typeface="Times New Roman"/>
                                </a:rPr>
                                <m:t>2</m:t>
                              </m:r>
                            </m:sup>
                          </m:sSubSup>
                          <m:r>
                            <a:rPr lang="en-US" altLang="en-US" sz="2400" i="0" dirty="0" smtClean="0">
                              <a:solidFill>
                                <a:srgbClr val="000000"/>
                              </a:solidFill>
                              <a:latin typeface="Cambria Math" panose="02040503050406030204" pitchFamily="18" charset="0"/>
                              <a:ea typeface="Times New Roman"/>
                              <a:cs typeface="Times New Roman"/>
                            </a:rPr>
                            <m:t>+2</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𝑅</m:t>
                              </m:r>
                            </m:e>
                            <m:sub>
                              <m:r>
                                <a:rPr lang="en-US" altLang="en-US" sz="2400" i="1" dirty="0" smtClean="0">
                                  <a:solidFill>
                                    <a:srgbClr val="000000"/>
                                  </a:solidFill>
                                  <a:latin typeface="Cambria Math" panose="02040503050406030204" pitchFamily="18" charset="0"/>
                                  <a:ea typeface="Times New Roman"/>
                                  <a:cs typeface="Times New Roman"/>
                                </a:rPr>
                                <m:t>𝐸</m:t>
                              </m:r>
                            </m:sub>
                          </m:sSub>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ℎ</m:t>
                              </m:r>
                            </m:e>
                            <m:sub>
                              <m:r>
                                <a:rPr lang="en-US" altLang="en-US" sz="2400" i="1" dirty="0" smtClean="0">
                                  <a:solidFill>
                                    <a:srgbClr val="000000"/>
                                  </a:solidFill>
                                  <a:latin typeface="Cambria Math" panose="02040503050406030204" pitchFamily="18" charset="0"/>
                                  <a:ea typeface="Times New Roman"/>
                                  <a:cs typeface="Times New Roman"/>
                                </a:rPr>
                                <m:t>𝑠</m:t>
                              </m:r>
                            </m:sub>
                          </m:sSub>
                        </m:e>
                      </m:rad>
                      <m:r>
                        <a:rPr lang="en-US" altLang="en-US" sz="2400" i="0" dirty="0" smtClean="0">
                          <a:solidFill>
                            <a:srgbClr val="000000"/>
                          </a:solidFill>
                          <a:latin typeface="Cambria Math" panose="02040503050406030204" pitchFamily="18" charset="0"/>
                          <a:ea typeface="Times New Roman"/>
                          <a:cs typeface="Times New Roman"/>
                        </a:rPr>
                        <m:t>−</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𝑅</m:t>
                          </m:r>
                        </m:e>
                        <m:sub>
                          <m:r>
                            <a:rPr lang="en-US" altLang="en-US" sz="2400" i="1" dirty="0" smtClean="0">
                              <a:solidFill>
                                <a:srgbClr val="000000"/>
                              </a:solidFill>
                              <a:latin typeface="Cambria Math" panose="02040503050406030204" pitchFamily="18" charset="0"/>
                              <a:ea typeface="Times New Roman"/>
                              <a:cs typeface="Times New Roman"/>
                            </a:rPr>
                            <m:t>𝐸</m:t>
                          </m:r>
                        </m:sub>
                      </m:sSub>
                      <m:r>
                        <m:rPr>
                          <m:nor/>
                        </m:rPr>
                        <a:rPr lang="en-US" altLang="en-US" sz="2400" i="0" dirty="0" smtClean="0">
                          <a:solidFill>
                            <a:srgbClr val="000000"/>
                          </a:solidFill>
                          <a:latin typeface="Times New Roman"/>
                          <a:ea typeface="Times New Roman"/>
                          <a:cs typeface="Times New Roman"/>
                        </a:rPr>
                        <m:t>sin</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𝛼</m:t>
                          </m:r>
                        </m:e>
                        <m:sub>
                          <m:r>
                            <a:rPr lang="en-US" altLang="en-US" sz="2400" i="1" dirty="0" smtClean="0">
                              <a:solidFill>
                                <a:srgbClr val="000000"/>
                              </a:solidFill>
                              <a:latin typeface="Cambria Math" panose="02040503050406030204" pitchFamily="18" charset="0"/>
                              <a:ea typeface="Times New Roman"/>
                              <a:cs typeface="Times New Roman"/>
                            </a:rPr>
                            <m:t>𝑢</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Sub>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oMath>
                  </m:oMathPara>
                </a14:m>
                <a:endParaRPr lang="en-US" altLang="en-US" sz="2400" dirty="0">
                  <a:solidFill>
                    <a:srgbClr val="000000"/>
                  </a:solidFill>
                  <a:latin typeface="Times New Roman"/>
                  <a:ea typeface="Times New Roman"/>
                  <a:cs typeface="Times New Roman"/>
                </a:endParaRPr>
              </a:p>
            </p:txBody>
          </p:sp>
        </mc:Choice>
        <mc:Fallback xmlns="">
          <p:sp>
            <p:nvSpPr>
              <p:cNvPr id="6" name="edu:formula-omml" descr="Native Office Math: a07_slant"/>
              <p:cNvSpPr txBox="1">
                <a:spLocks noRot="1" noChangeAspect="1" noMove="1" noResize="1" noEditPoints="1" noAdjustHandles="1" noChangeArrowheads="1" noChangeShapeType="1" noTextEdit="1"/>
              </p:cNvSpPr>
              <p:nvPr/>
            </p:nvSpPr>
            <p:spPr>
              <a:xfrm>
                <a:off x="2472537" y="1447495"/>
                <a:ext cx="7249363" cy="676656"/>
              </a:xfrm>
              <a:prstGeom prst="rect">
                <a:avLst/>
              </a:prstGeom>
              <a:blipFill>
                <a:blip r:embed="rId3"/>
                <a:stretch>
                  <a:fillRect l="-2691" r="-1430" b="-6306"/>
                </a:stretch>
              </a:blipFill>
              <a:effectLst/>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edu:body"/>
              <p:cNvSpPr txBox="1"/>
              <p:nvPr/>
            </p:nvSpPr>
            <p:spPr>
              <a:xfrm>
                <a:off x="565190" y="2288743"/>
                <a:ext cx="11064240" cy="1637690"/>
              </a:xfrm>
              <a:prstGeom prst="rect">
                <a:avLst/>
              </a:prstGeom>
              <a:noFill/>
              <a:effectLst/>
            </p:spPr>
            <p:txBody>
              <a:bodyPr wrap="square" lIns="0" tIns="0" rIns="0" bIns="0" anchor="t">
                <a:noAutofit/>
              </a:bodyPr>
              <a:lstStyle/>
              <a:p>
                <a:pPr marL="285750" indent="-285750" algn="l">
                  <a:lnSpc>
                    <a:spcPct val="112000"/>
                  </a:lnSpc>
                  <a:spcAft>
                    <a:spcPts val="700"/>
                  </a:spcAft>
                  <a:buSzPts val="2800"/>
                  <a:buFont typeface="Arial"/>
                  <a:buChar char="•"/>
                </a:pPr>
                <a:r>
                  <a:rPr lang="en-US" altLang="en-US" sz="2400" b="0" i="0" noProof="1">
                    <a:solidFill>
                      <a:srgbClr val="000000"/>
                    </a:solidFill>
                    <a:latin typeface="Times New Roman"/>
                    <a:ea typeface="標楷體"/>
                    <a:cs typeface="Times New Roman"/>
                  </a:rPr>
                  <a:t>High elevation: satellite nearly overhead, short path, little atmosphere. Low elevation: long slanted path through more of it.</a:t>
                </a:r>
              </a:p>
              <a:p>
                <a:pPr marL="285750" indent="-285750" algn="l">
                  <a:lnSpc>
                    <a:spcPct val="112000"/>
                  </a:lnSpc>
                  <a:spcAft>
                    <a:spcPts val="0"/>
                  </a:spcAft>
                  <a:buSzPts val="2800"/>
                  <a:buFont typeface="Arial"/>
                  <a:buChar char="•"/>
                </a:pPr>
                <a:r>
                  <a:rPr lang="en-US" altLang="en-US" sz="2400" b="0" i="0" noProof="1">
                    <a:solidFill>
                      <a:srgbClr val="000000"/>
                    </a:solidFill>
                    <a:latin typeface="Times New Roman"/>
                    <a:ea typeface="標楷體"/>
                    <a:cs typeface="Times New Roman"/>
                  </a:rPr>
                  <a:t>Beam index </a:t>
                </a:r>
                <a14:m>
                  <m:oMath xmlns:m="http://schemas.openxmlformats.org/officeDocument/2006/math">
                    <m:r>
                      <a:rPr lang="en-US" altLang="en-US" sz="2400" i="1" dirty="0" smtClean="0">
                        <a:solidFill>
                          <a:srgbClr val="000000"/>
                        </a:solidFill>
                        <a:latin typeface="Cambria Math" panose="02040503050406030204" pitchFamily="18" charset="0"/>
                        <a:ea typeface="Times New Roman"/>
                        <a:cs typeface="Times New Roman"/>
                      </a:rPr>
                      <m:t>𝑣</m:t>
                    </m:r>
                  </m:oMath>
                </a14:m>
                <a:r>
                  <a:rPr lang="en-US" altLang="en-US" sz="2400" b="0" i="0" noProof="1">
                    <a:solidFill>
                      <a:srgbClr val="000000"/>
                    </a:solidFill>
                    <a:latin typeface="Times New Roman"/>
                    <a:ea typeface="標楷體"/>
                    <a:cs typeface="Times New Roman"/>
                  </a:rPr>
                  <a:t> is carried only for consistency, beams on one satellite share the same slant range.</a:t>
                </a:r>
                <a:endParaRPr lang="en-US" altLang="en-US" dirty="0">
                  <a:solidFill>
                    <a:srgbClr val="000000"/>
                  </a:solidFill>
                  <a:latin typeface="Times New Roman"/>
                  <a:ea typeface="Times New Roman"/>
                  <a:cs typeface="Times New Roman"/>
                </a:endParaRPr>
              </a:p>
            </p:txBody>
          </p:sp>
        </mc:Choice>
        <mc:Fallback xmlns="">
          <p:sp>
            <p:nvSpPr>
              <p:cNvPr id="7" name="edu:body"/>
              <p:cNvSpPr txBox="1"/>
              <p:nvPr/>
            </p:nvSpPr>
            <p:spPr>
              <a:xfrm>
                <a:off x="565190" y="2288743"/>
                <a:ext cx="11064240" cy="1637690"/>
              </a:xfrm>
              <a:prstGeom prst="rect">
                <a:avLst/>
              </a:prstGeom>
              <a:noFill/>
            </p:spPr>
            <p:txBody>
              <a:bodyPr wrap="square" anchor="t" lIns="0" rIns="0" tIns="0" bIns="0">
                <a:spAutoFit/>
              </a:bodyPr>
              <a:lstStyle/>
              <a:p>
                <a:pPr algn="l" marL="285750" indent="-285750">
                  <a:lnSpc>
                    <a:spcPct val="112000"/>
                  </a:lnSpc>
                  <a:spcAft>
                    <a:spcPts val="700"/>
                  </a:spcAft>
                  <a:buSzPts val="2800"/>
                  <a:buFont typeface="Arial"/>
                  <a:buChar char="•"/>
                </a:pPr>
                <a:r>
                  <a:rPr sz="2400" b="0" i="0" lang="en-US" altLang="en-US" noProof="1" dirty="0">
                    <a:solidFill>
                      <a:srgbClr val="000000"/>
                    </a:solidFill>
                    <a:latin typeface="Times New Roman"/>
                    <a:ea typeface="標楷體"/>
                    <a:cs typeface="Times New Roman"/>
                  </a:rPr>
                  <a:t>High elevation: satellite nearly overhead, short path, little atmosphere. Low elevation: long slanted path through more of it.</a:t>
                </a:r>
              </a:p>
              <a:p>
                <a:pPr algn="l" marL="285750" indent="-285750">
                  <a:lnSpc>
                    <a:spcPct val="112000"/>
                  </a:lnSpc>
                  <a:spcAft>
                    <a:spcPts val="0"/>
                  </a:spcAft>
                  <a:buSzPts val="2800"/>
                  <a:buFont typeface="Arial"/>
                  <a:buChar char="•"/>
                </a:pPr>
                <a:r>
                  <a:rPr sz="2400" b="0" i="0" lang="en-US" altLang="en-US" noProof="1" dirty="0">
                    <a:solidFill>
                      <a:srgbClr val="000000"/>
                    </a:solidFill>
                    <a:latin typeface="Times New Roman"/>
                    <a:ea typeface="標楷體"/>
                    <a:cs typeface="Times New Roman"/>
                  </a:rPr>
                  <a:t xml:space="preserve">Beam index </a:t>
                </a:r>
                <a:r>
                  <a:rPr sz="2400" b="0" i="0" lang="en-US" altLang="en-US" noProof="1" dirty="0">
                    <a:solidFill>
                      <a:srgbClr val="000000"/>
                    </a:solidFill>
                    <a:latin typeface="Times New Roman"/>
                    <a:ea typeface="標楷體"/>
                    <a:cs typeface="Times New Roman"/>
                  </a:rPr>
                  <a:t/>
                </a:r>
                <a:r>
                  <a:rPr sz="2400" b="0" i="0" lang="en-US" altLang="en-US" noProof="1" dirty="0">
                    <a:solidFill>
                      <a:srgbClr val="000000"/>
                    </a:solidFill>
                    <a:latin typeface="Times New Roman"/>
                    <a:ea typeface="標楷體"/>
                    <a:cs typeface="Times New Roman"/>
                  </a:rPr>
                  <a:t xml:space="preserve"> is carried only for consistency, beams on one satellite share the same slant range.</a:t>
                </a:r>
              </a:p>
            </p:txBody>
          </p:sp>
        </mc:Fallback>
      </mc:AlternateContent>
      <mc:AlternateContent xmlns:mc="http://schemas.openxmlformats.org/markup-compatibility/2006" xmlns:a14="http://schemas.microsoft.com/office/drawing/2010/main">
        <mc:Choice Requires="a14">
          <p:sp>
            <p:nvSpPr>
              <p:cNvPr id="8" name="edu:notation"/>
              <p:cNvSpPr txBox="1"/>
              <p:nvPr/>
            </p:nvSpPr>
            <p:spPr>
              <a:xfrm>
                <a:off x="565190" y="4091025"/>
                <a:ext cx="11064240" cy="1740103"/>
              </a:xfrm>
              <a:prstGeom prst="rect">
                <a:avLst/>
              </a:prstGeom>
              <a:noFill/>
              <a:effectLst/>
            </p:spPr>
            <p:txBody>
              <a:bodyPr wrap="square" lIns="0" tIns="0" rIns="0" bIns="0" anchor="t">
                <a:noAutofit/>
              </a:bodyPr>
              <a:lstStyle/>
              <a:p>
                <a:pPr algn="l">
                  <a:lnSpc>
                    <a:spcPct val="100000"/>
                  </a:lnSpc>
                  <a:spcAft>
                    <a:spcPts val="200"/>
                  </a:spcAft>
                </a:pPr>
                <a:r>
                  <a:rPr lang="en-US" altLang="en-US" sz="2400" b="1" i="0" noProof="1">
                    <a:solidFill>
                      <a:srgbClr val="000000"/>
                    </a:solidFill>
                    <a:latin typeface="Times New Roman"/>
                    <a:ea typeface="標楷體"/>
                    <a:cs typeface="Times New Roman"/>
                  </a:rPr>
                  <a:t>Notation</a:t>
                </a:r>
              </a:p>
              <a:p>
                <a:pPr algn="l">
                  <a:lnSpc>
                    <a:spcPct val="100000"/>
                  </a:lnSpc>
                  <a:spcAft>
                    <a:spcPts val="200"/>
                  </a:spcAft>
                </a:pPr>
                <a14:m>
                  <m:oMath xmlns:m="http://schemas.openxmlformats.org/officeDocument/2006/math">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𝑑</m:t>
                        </m:r>
                      </m:e>
                      <m:sub>
                        <m:r>
                          <a:rPr lang="en-US" altLang="en-US" sz="2400" i="1" dirty="0" smtClean="0">
                            <a:solidFill>
                              <a:srgbClr val="000000"/>
                            </a:solidFill>
                            <a:latin typeface="Cambria Math" panose="02040503050406030204" pitchFamily="18" charset="0"/>
                            <a:ea typeface="Times New Roman"/>
                            <a:cs typeface="Times New Roman"/>
                          </a:rPr>
                          <m:t>𝑢</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Sub>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oMath>
                </a14:m>
                <a:r>
                  <a:rPr lang="en-US" altLang="en-US" sz="2400" b="0" i="0" noProof="1">
                    <a:solidFill>
                      <a:srgbClr val="000000"/>
                    </a:solidFill>
                    <a:latin typeface="Times New Roman"/>
                    <a:ea typeface="標楷體"/>
                    <a:cs typeface="Times New Roman"/>
                  </a:rPr>
                  <a:t>: slant range of the candidate link </a:t>
                </a:r>
                <a:r>
                  <a:rPr lang="en-US" altLang="en-US" sz="2400" b="0" i="1" noProof="1">
                    <a:solidFill>
                      <a:srgbClr val="000000"/>
                    </a:solidFill>
                    <a:latin typeface="Times New Roman"/>
                    <a:ea typeface="標楷體"/>
                    <a:cs typeface="Times New Roman"/>
                  </a:rPr>
                  <a:t>(u, s, v)</a:t>
                </a:r>
                <a:endParaRPr lang="en-US" altLang="en-US" sz="2400" dirty="0">
                  <a:solidFill>
                    <a:srgbClr val="000000"/>
                  </a:solidFill>
                  <a:latin typeface="Times New Roman"/>
                  <a:ea typeface="Times New Roman"/>
                  <a:cs typeface="Times New Roman"/>
                </a:endParaRPr>
              </a:p>
              <a:p>
                <a:pPr algn="l">
                  <a:lnSpc>
                    <a:spcPct val="100000"/>
                  </a:lnSpc>
                  <a:spcAft>
                    <a:spcPts val="200"/>
                  </a:spcAft>
                </a:pPr>
                <a14:m>
                  <m:oMath xmlns:m="http://schemas.openxmlformats.org/officeDocument/2006/math">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𝛼</m:t>
                        </m:r>
                      </m:e>
                      <m:sub>
                        <m:r>
                          <a:rPr lang="en-US" altLang="en-US" sz="2400" i="1" dirty="0" smtClean="0">
                            <a:solidFill>
                              <a:srgbClr val="000000"/>
                            </a:solidFill>
                            <a:latin typeface="Cambria Math" panose="02040503050406030204" pitchFamily="18" charset="0"/>
                            <a:ea typeface="Times New Roman"/>
                            <a:cs typeface="Times New Roman"/>
                          </a:rPr>
                          <m:t>𝑢</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Sub>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oMath>
                </a14:m>
                <a:r>
                  <a:rPr lang="en-US" altLang="en-US" sz="2400" b="0" i="0" noProof="1">
                    <a:solidFill>
                      <a:srgbClr val="000000"/>
                    </a:solidFill>
                    <a:latin typeface="Times New Roman"/>
                    <a:ea typeface="標楷體"/>
                    <a:cs typeface="Times New Roman"/>
                  </a:rPr>
                  <a:t>: elevation angle of user </a:t>
                </a:r>
                <a:r>
                  <a:rPr lang="en-US" altLang="en-US" sz="2400" b="0" i="1" noProof="1">
                    <a:solidFill>
                      <a:srgbClr val="000000"/>
                    </a:solidFill>
                    <a:latin typeface="Times New Roman"/>
                    <a:ea typeface="標楷體"/>
                    <a:cs typeface="Times New Roman"/>
                  </a:rPr>
                  <a:t>u</a:t>
                </a:r>
                <a:r>
                  <a:rPr lang="en-US" altLang="en-US" sz="2400" b="0" i="0" noProof="1">
                    <a:solidFill>
                      <a:srgbClr val="000000"/>
                    </a:solidFill>
                    <a:latin typeface="Times New Roman"/>
                    <a:ea typeface="標楷體"/>
                    <a:cs typeface="Times New Roman"/>
                  </a:rPr>
                  <a:t> towards satellite </a:t>
                </a:r>
                <a:r>
                  <a:rPr lang="en-US" altLang="en-US" sz="2400" b="0" i="1" noProof="1">
                    <a:solidFill>
                      <a:srgbClr val="000000"/>
                    </a:solidFill>
                    <a:latin typeface="Times New Roman"/>
                    <a:ea typeface="標楷體"/>
                    <a:cs typeface="Times New Roman"/>
                  </a:rPr>
                  <a:t>s</a:t>
                </a:r>
                <a:r>
                  <a:rPr lang="en-US" altLang="en-US" sz="2400" b="0" i="0" noProof="1">
                    <a:solidFill>
                      <a:srgbClr val="000000"/>
                    </a:solidFill>
                    <a:latin typeface="Times New Roman"/>
                    <a:ea typeface="標楷體"/>
                    <a:cs typeface="Times New Roman"/>
                  </a:rPr>
                  <a:t> along beam </a:t>
                </a:r>
                <a:r>
                  <a:rPr lang="en-US" altLang="en-US" sz="2400" b="0" i="1" noProof="1">
                    <a:solidFill>
                      <a:srgbClr val="000000"/>
                    </a:solidFill>
                    <a:latin typeface="Times New Roman"/>
                    <a:ea typeface="標楷體"/>
                    <a:cs typeface="Times New Roman"/>
                  </a:rPr>
                  <a:t>v</a:t>
                </a:r>
                <a:endParaRPr lang="en-US" altLang="en-US" sz="2400" dirty="0">
                  <a:solidFill>
                    <a:srgbClr val="000000"/>
                  </a:solidFill>
                  <a:latin typeface="Times New Roman"/>
                  <a:ea typeface="Times New Roman"/>
                  <a:cs typeface="Times New Roman"/>
                </a:endParaRPr>
              </a:p>
              <a:p>
                <a:pPr algn="l">
                  <a:lnSpc>
                    <a:spcPct val="100000"/>
                  </a:lnSpc>
                  <a:spcAft>
                    <a:spcPts val="200"/>
                  </a:spcAft>
                </a:pPr>
                <a14:m>
                  <m:oMath xmlns:m="http://schemas.openxmlformats.org/officeDocument/2006/math">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𝑅</m:t>
                        </m:r>
                      </m:e>
                      <m:sub>
                        <m:r>
                          <a:rPr lang="en-US" altLang="en-US" sz="2400" i="1" dirty="0" smtClean="0">
                            <a:solidFill>
                              <a:srgbClr val="000000"/>
                            </a:solidFill>
                            <a:latin typeface="Cambria Math" panose="02040503050406030204" pitchFamily="18" charset="0"/>
                            <a:ea typeface="Times New Roman"/>
                            <a:cs typeface="Times New Roman"/>
                          </a:rPr>
                          <m:t>𝐸</m:t>
                        </m:r>
                      </m:sub>
                    </m:sSub>
                  </m:oMath>
                </a14:m>
                <a:r>
                  <a:rPr lang="en-US" altLang="en-US" sz="2400" b="0" i="0" noProof="1">
                    <a:solidFill>
                      <a:srgbClr val="000000"/>
                    </a:solidFill>
                    <a:latin typeface="Times New Roman"/>
                    <a:ea typeface="標楷體"/>
                    <a:cs typeface="Times New Roman"/>
                  </a:rPr>
                  <a:t>: radius of the Earth</a:t>
                </a:r>
                <a:endParaRPr lang="en-US" altLang="en-US" sz="2400" dirty="0">
                  <a:solidFill>
                    <a:srgbClr val="000000"/>
                  </a:solidFill>
                  <a:latin typeface="Times New Roman"/>
                  <a:ea typeface="Times New Roman"/>
                  <a:cs typeface="Times New Roman"/>
                </a:endParaRPr>
              </a:p>
              <a:p>
                <a:pPr algn="l">
                  <a:lnSpc>
                    <a:spcPct val="100000"/>
                  </a:lnSpc>
                  <a:spcAft>
                    <a:spcPts val="200"/>
                  </a:spcAft>
                </a:pPr>
                <a14:m>
                  <m:oMath xmlns:m="http://schemas.openxmlformats.org/officeDocument/2006/math">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ℎ</m:t>
                        </m:r>
                      </m:e>
                      <m:sub>
                        <m:r>
                          <a:rPr lang="en-US" altLang="en-US" sz="2400" i="1" dirty="0" smtClean="0">
                            <a:solidFill>
                              <a:srgbClr val="000000"/>
                            </a:solidFill>
                            <a:latin typeface="Cambria Math" panose="02040503050406030204" pitchFamily="18" charset="0"/>
                            <a:ea typeface="Times New Roman"/>
                            <a:cs typeface="Times New Roman"/>
                          </a:rPr>
                          <m:t>𝑠</m:t>
                        </m:r>
                      </m:sub>
                    </m:sSub>
                  </m:oMath>
                </a14:m>
                <a:r>
                  <a:rPr lang="en-US" altLang="en-US" sz="2400" b="0" i="0" noProof="1">
                    <a:solidFill>
                      <a:srgbClr val="000000"/>
                    </a:solidFill>
                    <a:latin typeface="Times New Roman"/>
                    <a:ea typeface="標楷體"/>
                    <a:cs typeface="Times New Roman"/>
                  </a:rPr>
                  <a:t>: orbital altitude of satellite </a:t>
                </a:r>
                <a:r>
                  <a:rPr lang="en-US" altLang="en-US" sz="2400" b="0" i="1" noProof="1">
                    <a:solidFill>
                      <a:srgbClr val="000000"/>
                    </a:solidFill>
                    <a:latin typeface="Times New Roman"/>
                    <a:ea typeface="標楷體"/>
                    <a:cs typeface="Times New Roman"/>
                  </a:rPr>
                  <a:t>s</a:t>
                </a:r>
                <a:endParaRPr lang="en-US" altLang="en-US" sz="2400" dirty="0">
                  <a:solidFill>
                    <a:srgbClr val="000000"/>
                  </a:solidFill>
                  <a:latin typeface="Times New Roman"/>
                  <a:ea typeface="Times New Roman"/>
                  <a:cs typeface="Times New Roman"/>
                </a:endParaRPr>
              </a:p>
            </p:txBody>
          </p:sp>
        </mc:Choice>
        <mc:Fallback xmlns="">
          <p:sp>
            <p:nvSpPr>
              <p:cNvPr id="8" name="edu:notation"/>
              <p:cNvSpPr txBox="1">
                <a:spLocks noRot="1" noChangeAspect="1" noMove="1" noResize="1" noEditPoints="1" noAdjustHandles="1" noChangeArrowheads="1" noChangeShapeType="1" noTextEdit="1"/>
              </p:cNvSpPr>
              <p:nvPr/>
            </p:nvSpPr>
            <p:spPr>
              <a:xfrm>
                <a:off x="565190" y="4091025"/>
                <a:ext cx="11064240" cy="1740103"/>
              </a:xfrm>
              <a:prstGeom prst="rect">
                <a:avLst/>
              </a:prstGeom>
              <a:blipFill>
                <a:blip r:embed="rId4"/>
                <a:stretch>
                  <a:fillRect l="-1708" t="-5245" b="-23427"/>
                </a:stretch>
              </a:blipFill>
              <a:effectLst/>
            </p:spPr>
            <p:txBody>
              <a:bodyPr/>
              <a:lstStyle/>
              <a:p>
                <a:r>
                  <a:rPr lang="zh-TW" altLang="en-US">
                    <a:noFill/>
                  </a:rPr>
                  <a:t> </a:t>
                </a:r>
              </a:p>
            </p:txBody>
          </p:sp>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du:title"/>
          <p:cNvSpPr txBox="1"/>
          <p:nvPr/>
        </p:nvSpPr>
        <p:spPr>
          <a:xfrm>
            <a:off x="565190" y="141274"/>
            <a:ext cx="11417289" cy="571500"/>
          </a:xfrm>
          <a:prstGeom prst="rect">
            <a:avLst/>
          </a:prstGeom>
          <a:noFill/>
        </p:spPr>
        <p:txBody>
          <a:bodyPr wrap="square" lIns="0" tIns="0" rIns="0" bIns="0" anchor="b">
            <a:spAutoFit/>
          </a:bodyPr>
          <a:lstStyle/>
          <a:p>
            <a:pPr algn="l"/>
            <a:r>
              <a:rPr lang="en-US" altLang="en-US" sz="2800" b="1" i="0" noProof="1">
                <a:solidFill>
                  <a:srgbClr val="1B365D"/>
                </a:solidFill>
                <a:latin typeface="Times New Roman"/>
                <a:ea typeface="標楷體"/>
                <a:cs typeface="Times New Roman"/>
              </a:rPr>
              <a:t>Off-Axis Angle</a:t>
            </a:r>
          </a:p>
        </p:txBody>
      </p:sp>
      <p:sp>
        <p:nvSpPr>
          <p:cNvPr id="4" name="edu:body"/>
          <p:cNvSpPr txBox="1"/>
          <p:nvPr/>
        </p:nvSpPr>
        <p:spPr>
          <a:xfrm>
            <a:off x="565190" y="896112"/>
            <a:ext cx="11064240" cy="796052"/>
          </a:xfrm>
          <a:prstGeom prst="rect">
            <a:avLst/>
          </a:prstGeom>
          <a:noFill/>
        </p:spPr>
        <p:txBody>
          <a:bodyPr wrap="square" lIns="0" tIns="0" rIns="0" bIns="0" anchor="t">
            <a:spAutoFit/>
          </a:bodyPr>
          <a:lstStyle/>
          <a:p>
            <a:pPr algn="l">
              <a:lnSpc>
                <a:spcPct val="112000"/>
              </a:lnSpc>
              <a:spcAft>
                <a:spcPts val="0"/>
              </a:spcAft>
            </a:pPr>
            <a:r>
              <a:rPr lang="en-US" altLang="en-US" sz="2400" b="0" i="0" noProof="1">
                <a:solidFill>
                  <a:srgbClr val="000000"/>
                </a:solidFill>
                <a:latin typeface="Times New Roman"/>
                <a:ea typeface="標楷體"/>
                <a:cs typeface="Times New Roman"/>
              </a:rPr>
              <a:t>Off-axis angle compares the user direction with beam center, elevation uses the local horizontal.</a:t>
            </a:r>
          </a:p>
        </p:txBody>
      </p:sp>
      <mc:AlternateContent xmlns:mc="http://schemas.openxmlformats.org/markup-compatibility/2006" xmlns:a14="http://schemas.microsoft.com/office/drawing/2010/main">
        <mc:Choice Requires="a14">
          <p:sp>
            <p:nvSpPr>
              <p:cNvPr id="6" name="edu:angle-notation"/>
              <p:cNvSpPr txBox="1"/>
              <p:nvPr/>
            </p:nvSpPr>
            <p:spPr>
              <a:xfrm>
                <a:off x="5343623" y="2517470"/>
                <a:ext cx="6635017" cy="3176995"/>
              </a:xfrm>
              <a:prstGeom prst="rect">
                <a:avLst/>
              </a:prstGeom>
              <a:noFill/>
              <a:effectLst/>
            </p:spPr>
            <p:txBody>
              <a:bodyPr wrap="square" lIns="0" tIns="0" rIns="0" bIns="0" anchor="t">
                <a:noAutofit/>
              </a:bodyPr>
              <a:lstStyle/>
              <a:p>
                <a:pPr>
                  <a:lnSpc>
                    <a:spcPct val="95000"/>
                  </a:lnSpc>
                </a:pPr>
                <a:r>
                  <a:rPr lang="en-US" altLang="en-US" sz="2400" noProof="1">
                    <a:solidFill>
                      <a:srgbClr val="000000"/>
                    </a:solidFill>
                    <a:cs typeface="Times New Roman"/>
                  </a:rPr>
                  <a:t>Notation</a:t>
                </a:r>
              </a:p>
              <a:p>
                <a:pPr>
                  <a:lnSpc>
                    <a:spcPct val="95000"/>
                  </a:lnSpc>
                </a:pPr>
                <a14:m>
                  <m:oMath xmlns:m="http://schemas.openxmlformats.org/officeDocument/2006/math">
                    <m:r>
                      <a:rPr lang="en-US" altLang="en-US" sz="2400" i="1" dirty="0">
                        <a:solidFill>
                          <a:srgbClr val="000000"/>
                        </a:solidFill>
                        <a:latin typeface="Cambria Math" panose="02040503050406030204" pitchFamily="18" charset="0"/>
                        <a:ea typeface="Times New Roman"/>
                        <a:cs typeface="Times New Roman"/>
                      </a:rPr>
                      <m:t>𝑠</m:t>
                    </m:r>
                  </m:oMath>
                </a14:m>
                <a:r>
                  <a:rPr lang="en-US" altLang="en-US" sz="2400" noProof="1">
                    <a:solidFill>
                      <a:srgbClr val="000000"/>
                    </a:solidFill>
                    <a:cs typeface="Times New Roman"/>
                  </a:rPr>
                  <a:t> — satellite index（衛星索引）</a:t>
                </a:r>
                <a:endParaRPr lang="en-US" altLang="en-US" sz="2400" dirty="0">
                  <a:solidFill>
                    <a:srgbClr val="000000"/>
                  </a:solidFill>
                  <a:ea typeface="Times New Roman"/>
                  <a:cs typeface="Times New Roman"/>
                </a:endParaRPr>
              </a:p>
              <a:p>
                <a:pPr>
                  <a:lnSpc>
                    <a:spcPct val="95000"/>
                  </a:lnSpc>
                </a:pPr>
                <a14:m>
                  <m:oMath xmlns:m="http://schemas.openxmlformats.org/officeDocument/2006/math">
                    <m:r>
                      <a:rPr lang="en-US" altLang="en-US" sz="2400" i="1" dirty="0">
                        <a:solidFill>
                          <a:srgbClr val="000000"/>
                        </a:solidFill>
                        <a:latin typeface="Cambria Math" panose="02040503050406030204" pitchFamily="18" charset="0"/>
                        <a:ea typeface="Times New Roman"/>
                        <a:cs typeface="Times New Roman"/>
                      </a:rPr>
                      <m:t>𝑢</m:t>
                    </m:r>
                  </m:oMath>
                </a14:m>
                <a:r>
                  <a:rPr lang="en-US" altLang="en-US" sz="2400" noProof="1">
                    <a:solidFill>
                      <a:srgbClr val="000000"/>
                    </a:solidFill>
                    <a:cs typeface="Times New Roman"/>
                  </a:rPr>
                  <a:t> — user index（使用者索引）</a:t>
                </a:r>
                <a:endParaRPr lang="en-US" altLang="en-US" sz="2400" dirty="0">
                  <a:solidFill>
                    <a:srgbClr val="000000"/>
                  </a:solidFill>
                  <a:ea typeface="Times New Roman"/>
                  <a:cs typeface="Times New Roman"/>
                </a:endParaRPr>
              </a:p>
              <a:p>
                <a:pPr>
                  <a:lnSpc>
                    <a:spcPct val="95000"/>
                  </a:lnSpc>
                </a:pPr>
                <a14:m>
                  <m:oMath xmlns:m="http://schemas.openxmlformats.org/officeDocument/2006/math">
                    <m:sSub>
                      <m:sSubPr>
                        <m:ctrlPr>
                          <a:rPr lang="en-US" altLang="en-US" sz="2400" i="1" dirty="0">
                            <a:solidFill>
                              <a:srgbClr val="000000"/>
                            </a:solidFill>
                            <a:latin typeface="Cambria Math" panose="02040503050406030204" pitchFamily="18" charset="0"/>
                            <a:ea typeface="Times New Roman"/>
                            <a:cs typeface="Times New Roman"/>
                          </a:rPr>
                        </m:ctrlPr>
                      </m:sSubPr>
                      <m:e>
                        <m:r>
                          <a:rPr lang="en-US" altLang="en-US" sz="2400" i="1" dirty="0">
                            <a:solidFill>
                              <a:srgbClr val="000000"/>
                            </a:solidFill>
                            <a:latin typeface="Cambria Math" panose="02040503050406030204" pitchFamily="18" charset="0"/>
                            <a:ea typeface="Times New Roman"/>
                            <a:cs typeface="Times New Roman"/>
                          </a:rPr>
                          <m:t>𝑣</m:t>
                        </m:r>
                      </m:e>
                      <m:sub>
                        <m:r>
                          <a:rPr lang="en-US" altLang="en-US" sz="2400" i="1" dirty="0">
                            <a:solidFill>
                              <a:srgbClr val="000000"/>
                            </a:solidFill>
                            <a:latin typeface="Cambria Math" panose="02040503050406030204" pitchFamily="18" charset="0"/>
                            <a:ea typeface="Times New Roman"/>
                            <a:cs typeface="Times New Roman"/>
                          </a:rPr>
                          <m:t>𝑢</m:t>
                        </m:r>
                        <m:r>
                          <a:rPr lang="en-US" altLang="en-US" sz="2400" dirty="0">
                            <a:solidFill>
                              <a:srgbClr val="000000"/>
                            </a:solidFill>
                            <a:latin typeface="Cambria Math" panose="02040503050406030204" pitchFamily="18" charset="0"/>
                            <a:ea typeface="Times New Roman"/>
                            <a:cs typeface="Times New Roman"/>
                          </a:rPr>
                          <m:t>,</m:t>
                        </m:r>
                        <m:r>
                          <a:rPr lang="en-US" altLang="en-US" sz="2400" i="1" dirty="0">
                            <a:solidFill>
                              <a:srgbClr val="000000"/>
                            </a:solidFill>
                            <a:latin typeface="Cambria Math" panose="02040503050406030204" pitchFamily="18" charset="0"/>
                            <a:ea typeface="Times New Roman"/>
                            <a:cs typeface="Times New Roman"/>
                          </a:rPr>
                          <m:t>𝑠</m:t>
                        </m:r>
                        <m:r>
                          <a:rPr lang="en-US" altLang="en-US" sz="2400" dirty="0">
                            <a:solidFill>
                              <a:srgbClr val="000000"/>
                            </a:solidFill>
                            <a:latin typeface="Cambria Math" panose="02040503050406030204" pitchFamily="18" charset="0"/>
                            <a:ea typeface="Times New Roman"/>
                            <a:cs typeface="Times New Roman"/>
                          </a:rPr>
                          <m:t>,</m:t>
                        </m:r>
                        <m:r>
                          <a:rPr lang="en-US" altLang="en-US" sz="2400" i="1" dirty="0">
                            <a:solidFill>
                              <a:srgbClr val="000000"/>
                            </a:solidFill>
                            <a:latin typeface="Cambria Math" panose="02040503050406030204" pitchFamily="18" charset="0"/>
                            <a:ea typeface="Times New Roman"/>
                            <a:cs typeface="Times New Roman"/>
                          </a:rPr>
                          <m:t>𝑣</m:t>
                        </m:r>
                      </m:sub>
                    </m:sSub>
                    <m:r>
                      <a:rPr lang="en-US" altLang="en-US" sz="2400" dirty="0">
                        <a:solidFill>
                          <a:srgbClr val="000000"/>
                        </a:solidFill>
                        <a:latin typeface="Cambria Math" panose="02040503050406030204" pitchFamily="18" charset="0"/>
                        <a:ea typeface="Times New Roman"/>
                        <a:cs typeface="Times New Roman"/>
                      </a:rPr>
                      <m:t>(</m:t>
                    </m:r>
                    <m:r>
                      <a:rPr lang="en-US" altLang="en-US" sz="2400" i="1" dirty="0">
                        <a:solidFill>
                          <a:srgbClr val="000000"/>
                        </a:solidFill>
                        <a:latin typeface="Cambria Math" panose="02040503050406030204" pitchFamily="18" charset="0"/>
                        <a:ea typeface="Times New Roman"/>
                        <a:cs typeface="Times New Roman"/>
                      </a:rPr>
                      <m:t>𝑡</m:t>
                    </m:r>
                    <m:r>
                      <a:rPr lang="en-US" altLang="en-US" sz="2400" dirty="0">
                        <a:solidFill>
                          <a:srgbClr val="000000"/>
                        </a:solidFill>
                        <a:latin typeface="Cambria Math" panose="02040503050406030204" pitchFamily="18" charset="0"/>
                        <a:ea typeface="Times New Roman"/>
                        <a:cs typeface="Times New Roman"/>
                      </a:rPr>
                      <m:t>)</m:t>
                    </m:r>
                  </m:oMath>
                </a14:m>
                <a:r>
                  <a:rPr lang="en-US" altLang="en-US" sz="2400" noProof="1">
                    <a:solidFill>
                      <a:srgbClr val="000000"/>
                    </a:solidFill>
                    <a:cs typeface="Times New Roman"/>
                  </a:rPr>
                  <a:t> — beam-center direction（波束中心方向）</a:t>
                </a:r>
                <a:endParaRPr lang="en-US" altLang="en-US" sz="2400" dirty="0">
                  <a:solidFill>
                    <a:srgbClr val="000000"/>
                  </a:solidFill>
                  <a:ea typeface="Times New Roman"/>
                  <a:cs typeface="Times New Roman"/>
                </a:endParaRPr>
              </a:p>
              <a:p>
                <a:pPr>
                  <a:lnSpc>
                    <a:spcPct val="95000"/>
                  </a:lnSpc>
                </a:pPr>
                <a14:m>
                  <m:oMath xmlns:m="http://schemas.openxmlformats.org/officeDocument/2006/math">
                    <m:sSub>
                      <m:sSubPr>
                        <m:ctrlPr>
                          <a:rPr lang="en-US" altLang="en-US" sz="2400" i="1" dirty="0">
                            <a:solidFill>
                              <a:srgbClr val="000000"/>
                            </a:solidFill>
                            <a:latin typeface="Cambria Math" panose="02040503050406030204" pitchFamily="18" charset="0"/>
                            <a:ea typeface="Times New Roman"/>
                            <a:cs typeface="Times New Roman"/>
                          </a:rPr>
                        </m:ctrlPr>
                      </m:sSubPr>
                      <m:e>
                        <m:r>
                          <a:rPr lang="en-US" altLang="en-US" sz="2400" i="1" dirty="0">
                            <a:solidFill>
                              <a:srgbClr val="000000"/>
                            </a:solidFill>
                            <a:latin typeface="Cambria Math" panose="02040503050406030204" pitchFamily="18" charset="0"/>
                            <a:ea typeface="Times New Roman"/>
                            <a:cs typeface="Times New Roman"/>
                          </a:rPr>
                          <m:t>𝑟</m:t>
                        </m:r>
                      </m:e>
                      <m:sub>
                        <m:r>
                          <a:rPr lang="en-US" altLang="en-US" sz="2400" i="1" dirty="0">
                            <a:solidFill>
                              <a:srgbClr val="000000"/>
                            </a:solidFill>
                            <a:latin typeface="Cambria Math" panose="02040503050406030204" pitchFamily="18" charset="0"/>
                            <a:ea typeface="Times New Roman"/>
                            <a:cs typeface="Times New Roman"/>
                          </a:rPr>
                          <m:t>𝑢</m:t>
                        </m:r>
                        <m:r>
                          <a:rPr lang="en-US" altLang="en-US" sz="2400" dirty="0">
                            <a:solidFill>
                              <a:srgbClr val="000000"/>
                            </a:solidFill>
                            <a:latin typeface="Cambria Math" panose="02040503050406030204" pitchFamily="18" charset="0"/>
                            <a:ea typeface="Times New Roman"/>
                            <a:cs typeface="Times New Roman"/>
                          </a:rPr>
                          <m:t>,</m:t>
                        </m:r>
                        <m:r>
                          <a:rPr lang="en-US" altLang="en-US" sz="2400" i="1" dirty="0">
                            <a:solidFill>
                              <a:srgbClr val="000000"/>
                            </a:solidFill>
                            <a:latin typeface="Cambria Math" panose="02040503050406030204" pitchFamily="18" charset="0"/>
                            <a:ea typeface="Times New Roman"/>
                            <a:cs typeface="Times New Roman"/>
                          </a:rPr>
                          <m:t>𝑠</m:t>
                        </m:r>
                        <m:r>
                          <a:rPr lang="en-US" altLang="en-US" sz="2400" dirty="0">
                            <a:solidFill>
                              <a:srgbClr val="000000"/>
                            </a:solidFill>
                            <a:latin typeface="Cambria Math" panose="02040503050406030204" pitchFamily="18" charset="0"/>
                            <a:ea typeface="Times New Roman"/>
                            <a:cs typeface="Times New Roman"/>
                          </a:rPr>
                          <m:t>,</m:t>
                        </m:r>
                        <m:r>
                          <a:rPr lang="en-US" altLang="en-US" sz="2400" i="1" dirty="0">
                            <a:solidFill>
                              <a:srgbClr val="000000"/>
                            </a:solidFill>
                            <a:latin typeface="Cambria Math" panose="02040503050406030204" pitchFamily="18" charset="0"/>
                            <a:ea typeface="Times New Roman"/>
                            <a:cs typeface="Times New Roman"/>
                          </a:rPr>
                          <m:t>𝑣</m:t>
                        </m:r>
                      </m:sub>
                    </m:sSub>
                    <m:r>
                      <a:rPr lang="en-US" altLang="en-US" sz="2400" dirty="0">
                        <a:solidFill>
                          <a:srgbClr val="000000"/>
                        </a:solidFill>
                        <a:latin typeface="Cambria Math" panose="02040503050406030204" pitchFamily="18" charset="0"/>
                        <a:ea typeface="Times New Roman"/>
                        <a:cs typeface="Times New Roman"/>
                      </a:rPr>
                      <m:t>(</m:t>
                    </m:r>
                    <m:r>
                      <a:rPr lang="en-US" altLang="en-US" sz="2400" i="1" dirty="0">
                        <a:solidFill>
                          <a:srgbClr val="000000"/>
                        </a:solidFill>
                        <a:latin typeface="Cambria Math" panose="02040503050406030204" pitchFamily="18" charset="0"/>
                        <a:ea typeface="Times New Roman"/>
                        <a:cs typeface="Times New Roman"/>
                      </a:rPr>
                      <m:t>𝑡</m:t>
                    </m:r>
                    <m:r>
                      <a:rPr lang="en-US" altLang="en-US" sz="2400" dirty="0">
                        <a:solidFill>
                          <a:srgbClr val="000000"/>
                        </a:solidFill>
                        <a:latin typeface="Cambria Math" panose="02040503050406030204" pitchFamily="18" charset="0"/>
                        <a:ea typeface="Times New Roman"/>
                        <a:cs typeface="Times New Roman"/>
                      </a:rPr>
                      <m:t>)</m:t>
                    </m:r>
                  </m:oMath>
                </a14:m>
                <a:r>
                  <a:rPr lang="en-US" altLang="en-US" sz="2400" noProof="1">
                    <a:solidFill>
                      <a:srgbClr val="000000"/>
                    </a:solidFill>
                    <a:cs typeface="Times New Roman"/>
                  </a:rPr>
                  <a:t> — user direction（衛星至使用者方向）</a:t>
                </a:r>
                <a:endParaRPr lang="en-US" altLang="en-US" sz="2400" dirty="0">
                  <a:solidFill>
                    <a:srgbClr val="000000"/>
                  </a:solidFill>
                  <a:ea typeface="Times New Roman"/>
                  <a:cs typeface="Times New Roman"/>
                </a:endParaRPr>
              </a:p>
              <a:p>
                <a:pPr>
                  <a:lnSpc>
                    <a:spcPct val="95000"/>
                  </a:lnSpc>
                </a:pPr>
                <a14:m>
                  <m:oMath xmlns:m="http://schemas.openxmlformats.org/officeDocument/2006/math">
                    <m:sSub>
                      <m:sSubPr>
                        <m:ctrlPr>
                          <a:rPr lang="en-US" altLang="en-US" sz="2400" i="1" dirty="0">
                            <a:solidFill>
                              <a:srgbClr val="000000"/>
                            </a:solidFill>
                            <a:latin typeface="Cambria Math" panose="02040503050406030204" pitchFamily="18" charset="0"/>
                            <a:ea typeface="Times New Roman"/>
                            <a:cs typeface="Times New Roman"/>
                          </a:rPr>
                        </m:ctrlPr>
                      </m:sSubPr>
                      <m:e>
                        <m:r>
                          <a:rPr lang="en-US" altLang="en-US" sz="2400" i="1" dirty="0">
                            <a:solidFill>
                              <a:srgbClr val="000000"/>
                            </a:solidFill>
                            <a:latin typeface="Cambria Math" panose="02040503050406030204" pitchFamily="18" charset="0"/>
                            <a:ea typeface="Times New Roman"/>
                            <a:cs typeface="Times New Roman"/>
                          </a:rPr>
                          <m:t>𝛼</m:t>
                        </m:r>
                      </m:e>
                      <m:sub>
                        <m:r>
                          <a:rPr lang="en-US" altLang="en-US" sz="2400" i="1" dirty="0">
                            <a:solidFill>
                              <a:srgbClr val="000000"/>
                            </a:solidFill>
                            <a:latin typeface="Cambria Math" panose="02040503050406030204" pitchFamily="18" charset="0"/>
                            <a:ea typeface="Times New Roman"/>
                            <a:cs typeface="Times New Roman"/>
                          </a:rPr>
                          <m:t>𝑢</m:t>
                        </m:r>
                        <m:r>
                          <a:rPr lang="en-US" altLang="en-US" sz="2400" dirty="0">
                            <a:solidFill>
                              <a:srgbClr val="000000"/>
                            </a:solidFill>
                            <a:latin typeface="Cambria Math" panose="02040503050406030204" pitchFamily="18" charset="0"/>
                            <a:ea typeface="Times New Roman"/>
                            <a:cs typeface="Times New Roman"/>
                          </a:rPr>
                          <m:t>,</m:t>
                        </m:r>
                        <m:r>
                          <a:rPr lang="en-US" altLang="en-US" sz="2400" i="1" dirty="0">
                            <a:solidFill>
                              <a:srgbClr val="000000"/>
                            </a:solidFill>
                            <a:latin typeface="Cambria Math" panose="02040503050406030204" pitchFamily="18" charset="0"/>
                            <a:ea typeface="Times New Roman"/>
                            <a:cs typeface="Times New Roman"/>
                          </a:rPr>
                          <m:t>𝑠</m:t>
                        </m:r>
                        <m:r>
                          <a:rPr lang="en-US" altLang="en-US" sz="2400" dirty="0">
                            <a:solidFill>
                              <a:srgbClr val="000000"/>
                            </a:solidFill>
                            <a:latin typeface="Cambria Math" panose="02040503050406030204" pitchFamily="18" charset="0"/>
                            <a:ea typeface="Times New Roman"/>
                            <a:cs typeface="Times New Roman"/>
                          </a:rPr>
                          <m:t>,</m:t>
                        </m:r>
                        <m:r>
                          <a:rPr lang="en-US" altLang="en-US" sz="2400" i="1" dirty="0">
                            <a:solidFill>
                              <a:srgbClr val="000000"/>
                            </a:solidFill>
                            <a:latin typeface="Cambria Math" panose="02040503050406030204" pitchFamily="18" charset="0"/>
                            <a:ea typeface="Times New Roman"/>
                            <a:cs typeface="Times New Roman"/>
                          </a:rPr>
                          <m:t>𝑣</m:t>
                        </m:r>
                      </m:sub>
                    </m:sSub>
                    <m:r>
                      <a:rPr lang="en-US" altLang="en-US" sz="2400" dirty="0">
                        <a:solidFill>
                          <a:srgbClr val="000000"/>
                        </a:solidFill>
                        <a:latin typeface="Cambria Math" panose="02040503050406030204" pitchFamily="18" charset="0"/>
                        <a:ea typeface="Times New Roman"/>
                        <a:cs typeface="Times New Roman"/>
                      </a:rPr>
                      <m:t>(</m:t>
                    </m:r>
                    <m:r>
                      <a:rPr lang="en-US" altLang="en-US" sz="2400" i="1" dirty="0">
                        <a:solidFill>
                          <a:srgbClr val="000000"/>
                        </a:solidFill>
                        <a:latin typeface="Cambria Math" panose="02040503050406030204" pitchFamily="18" charset="0"/>
                        <a:ea typeface="Times New Roman"/>
                        <a:cs typeface="Times New Roman"/>
                      </a:rPr>
                      <m:t>𝑡</m:t>
                    </m:r>
                    <m:r>
                      <a:rPr lang="en-US" altLang="en-US" sz="2400" dirty="0">
                        <a:solidFill>
                          <a:srgbClr val="000000"/>
                        </a:solidFill>
                        <a:latin typeface="Cambria Math" panose="02040503050406030204" pitchFamily="18" charset="0"/>
                        <a:ea typeface="Times New Roman"/>
                        <a:cs typeface="Times New Roman"/>
                      </a:rPr>
                      <m:t>)</m:t>
                    </m:r>
                  </m:oMath>
                </a14:m>
                <a:r>
                  <a:rPr lang="en-US" altLang="en-US" sz="2400" noProof="1">
                    <a:solidFill>
                      <a:srgbClr val="000000"/>
                    </a:solidFill>
                    <a:cs typeface="Times New Roman"/>
                  </a:rPr>
                  <a:t> — elevation angle（仰角）</a:t>
                </a:r>
                <a:endParaRPr lang="en-US" altLang="en-US" sz="2400" dirty="0">
                  <a:solidFill>
                    <a:srgbClr val="000000"/>
                  </a:solidFill>
                  <a:ea typeface="Times New Roman"/>
                  <a:cs typeface="Times New Roman"/>
                </a:endParaRPr>
              </a:p>
              <a:p>
                <a:pPr>
                  <a:lnSpc>
                    <a:spcPct val="95000"/>
                  </a:lnSpc>
                </a:pPr>
                <a14:m>
                  <m:oMath xmlns:m="http://schemas.openxmlformats.org/officeDocument/2006/math">
                    <m:sSub>
                      <m:sSubPr>
                        <m:ctrlPr>
                          <a:rPr lang="en-US" altLang="en-US" sz="2400" i="1" dirty="0">
                            <a:solidFill>
                              <a:srgbClr val="000000"/>
                            </a:solidFill>
                            <a:latin typeface="Cambria Math" panose="02040503050406030204" pitchFamily="18" charset="0"/>
                            <a:ea typeface="Times New Roman"/>
                            <a:cs typeface="Times New Roman"/>
                          </a:rPr>
                        </m:ctrlPr>
                      </m:sSubPr>
                      <m:e>
                        <m:r>
                          <a:rPr lang="en-US" altLang="en-US" sz="2400" i="1" dirty="0">
                            <a:solidFill>
                              <a:srgbClr val="000000"/>
                            </a:solidFill>
                            <a:latin typeface="Cambria Math" panose="02040503050406030204" pitchFamily="18" charset="0"/>
                            <a:ea typeface="Times New Roman"/>
                            <a:cs typeface="Times New Roman"/>
                          </a:rPr>
                          <m:t>𝜃</m:t>
                        </m:r>
                      </m:e>
                      <m:sub>
                        <m:r>
                          <a:rPr lang="en-US" altLang="en-US" sz="2400" i="1" dirty="0">
                            <a:solidFill>
                              <a:srgbClr val="000000"/>
                            </a:solidFill>
                            <a:latin typeface="Cambria Math" panose="02040503050406030204" pitchFamily="18" charset="0"/>
                            <a:ea typeface="Times New Roman"/>
                            <a:cs typeface="Times New Roman"/>
                          </a:rPr>
                          <m:t>𝑢</m:t>
                        </m:r>
                        <m:r>
                          <a:rPr lang="en-US" altLang="en-US" sz="2400" dirty="0">
                            <a:solidFill>
                              <a:srgbClr val="000000"/>
                            </a:solidFill>
                            <a:latin typeface="Cambria Math" panose="02040503050406030204" pitchFamily="18" charset="0"/>
                            <a:ea typeface="Times New Roman"/>
                            <a:cs typeface="Times New Roman"/>
                          </a:rPr>
                          <m:t>,</m:t>
                        </m:r>
                        <m:r>
                          <a:rPr lang="en-US" altLang="en-US" sz="2400" i="1" dirty="0">
                            <a:solidFill>
                              <a:srgbClr val="000000"/>
                            </a:solidFill>
                            <a:latin typeface="Cambria Math" panose="02040503050406030204" pitchFamily="18" charset="0"/>
                            <a:ea typeface="Times New Roman"/>
                            <a:cs typeface="Times New Roman"/>
                          </a:rPr>
                          <m:t>𝑠</m:t>
                        </m:r>
                        <m:r>
                          <a:rPr lang="en-US" altLang="en-US" sz="2400" dirty="0">
                            <a:solidFill>
                              <a:srgbClr val="000000"/>
                            </a:solidFill>
                            <a:latin typeface="Cambria Math" panose="02040503050406030204" pitchFamily="18" charset="0"/>
                            <a:ea typeface="Times New Roman"/>
                            <a:cs typeface="Times New Roman"/>
                          </a:rPr>
                          <m:t>,</m:t>
                        </m:r>
                        <m:r>
                          <a:rPr lang="en-US" altLang="en-US" sz="2400" i="1" dirty="0">
                            <a:solidFill>
                              <a:srgbClr val="000000"/>
                            </a:solidFill>
                            <a:latin typeface="Cambria Math" panose="02040503050406030204" pitchFamily="18" charset="0"/>
                            <a:ea typeface="Times New Roman"/>
                            <a:cs typeface="Times New Roman"/>
                          </a:rPr>
                          <m:t>𝑣</m:t>
                        </m:r>
                      </m:sub>
                    </m:sSub>
                    <m:r>
                      <a:rPr lang="en-US" altLang="en-US" sz="2400" dirty="0">
                        <a:solidFill>
                          <a:srgbClr val="000000"/>
                        </a:solidFill>
                        <a:latin typeface="Cambria Math" panose="02040503050406030204" pitchFamily="18" charset="0"/>
                        <a:ea typeface="Times New Roman"/>
                        <a:cs typeface="Times New Roman"/>
                      </a:rPr>
                      <m:t>(</m:t>
                    </m:r>
                    <m:r>
                      <a:rPr lang="en-US" altLang="en-US" sz="2400" i="1" dirty="0">
                        <a:solidFill>
                          <a:srgbClr val="000000"/>
                        </a:solidFill>
                        <a:latin typeface="Cambria Math" panose="02040503050406030204" pitchFamily="18" charset="0"/>
                        <a:ea typeface="Times New Roman"/>
                        <a:cs typeface="Times New Roman"/>
                      </a:rPr>
                      <m:t>𝑡</m:t>
                    </m:r>
                    <m:r>
                      <a:rPr lang="en-US" altLang="en-US" sz="2400" dirty="0">
                        <a:solidFill>
                          <a:srgbClr val="000000"/>
                        </a:solidFill>
                        <a:latin typeface="Cambria Math" panose="02040503050406030204" pitchFamily="18" charset="0"/>
                        <a:ea typeface="Times New Roman"/>
                        <a:cs typeface="Times New Roman"/>
                      </a:rPr>
                      <m:t>)</m:t>
                    </m:r>
                  </m:oMath>
                </a14:m>
                <a:r>
                  <a:rPr lang="en-US" altLang="en-US" sz="2400" noProof="1">
                    <a:solidFill>
                      <a:srgbClr val="000000"/>
                    </a:solidFill>
                    <a:cs typeface="Times New Roman"/>
                  </a:rPr>
                  <a:t> — off-axis angle（離軸角）</a:t>
                </a:r>
                <a:endParaRPr lang="en-US" altLang="en-US" sz="2400" dirty="0">
                  <a:solidFill>
                    <a:srgbClr val="000000"/>
                  </a:solidFill>
                  <a:ea typeface="Times New Roman"/>
                  <a:cs typeface="Times New Roman"/>
                </a:endParaRPr>
              </a:p>
              <a:p>
                <a:pPr>
                  <a:lnSpc>
                    <a:spcPct val="95000"/>
                  </a:lnSpc>
                </a:pPr>
                <a14:m>
                  <m:oMath xmlns:m="http://schemas.openxmlformats.org/officeDocument/2006/math">
                    <m:sSub>
                      <m:sSubPr>
                        <m:ctrlPr>
                          <a:rPr lang="en-US" altLang="en-US" sz="2400" i="1" dirty="0">
                            <a:solidFill>
                              <a:srgbClr val="000000"/>
                            </a:solidFill>
                            <a:latin typeface="Cambria Math" panose="02040503050406030204" pitchFamily="18" charset="0"/>
                            <a:ea typeface="Times New Roman"/>
                            <a:cs typeface="Times New Roman"/>
                          </a:rPr>
                        </m:ctrlPr>
                      </m:sSubPr>
                      <m:e>
                        <m:r>
                          <a:rPr lang="en-US" altLang="en-US" sz="2400" i="1" dirty="0">
                            <a:solidFill>
                              <a:srgbClr val="000000"/>
                            </a:solidFill>
                            <a:latin typeface="Cambria Math" panose="02040503050406030204" pitchFamily="18" charset="0"/>
                            <a:ea typeface="Times New Roman"/>
                            <a:cs typeface="Times New Roman"/>
                          </a:rPr>
                          <m:t>𝑑</m:t>
                        </m:r>
                      </m:e>
                      <m:sub>
                        <m:r>
                          <a:rPr lang="en-US" altLang="en-US" sz="2400" i="1" dirty="0">
                            <a:solidFill>
                              <a:srgbClr val="000000"/>
                            </a:solidFill>
                            <a:latin typeface="Cambria Math" panose="02040503050406030204" pitchFamily="18" charset="0"/>
                            <a:ea typeface="Times New Roman"/>
                            <a:cs typeface="Times New Roman"/>
                          </a:rPr>
                          <m:t>𝑢</m:t>
                        </m:r>
                        <m:r>
                          <a:rPr lang="en-US" altLang="en-US" sz="2400" dirty="0">
                            <a:solidFill>
                              <a:srgbClr val="000000"/>
                            </a:solidFill>
                            <a:latin typeface="Cambria Math" panose="02040503050406030204" pitchFamily="18" charset="0"/>
                            <a:ea typeface="Times New Roman"/>
                            <a:cs typeface="Times New Roman"/>
                          </a:rPr>
                          <m:t>,</m:t>
                        </m:r>
                        <m:r>
                          <a:rPr lang="en-US" altLang="en-US" sz="2400" i="1" dirty="0">
                            <a:solidFill>
                              <a:srgbClr val="000000"/>
                            </a:solidFill>
                            <a:latin typeface="Cambria Math" panose="02040503050406030204" pitchFamily="18" charset="0"/>
                            <a:ea typeface="Times New Roman"/>
                            <a:cs typeface="Times New Roman"/>
                          </a:rPr>
                          <m:t>𝑠</m:t>
                        </m:r>
                        <m:r>
                          <a:rPr lang="en-US" altLang="en-US" sz="2400" dirty="0">
                            <a:solidFill>
                              <a:srgbClr val="000000"/>
                            </a:solidFill>
                            <a:latin typeface="Cambria Math" panose="02040503050406030204" pitchFamily="18" charset="0"/>
                            <a:ea typeface="Times New Roman"/>
                            <a:cs typeface="Times New Roman"/>
                          </a:rPr>
                          <m:t>,</m:t>
                        </m:r>
                        <m:r>
                          <a:rPr lang="en-US" altLang="en-US" sz="2400" i="1" dirty="0">
                            <a:solidFill>
                              <a:srgbClr val="000000"/>
                            </a:solidFill>
                            <a:latin typeface="Cambria Math" panose="02040503050406030204" pitchFamily="18" charset="0"/>
                            <a:ea typeface="Times New Roman"/>
                            <a:cs typeface="Times New Roman"/>
                          </a:rPr>
                          <m:t>𝑣</m:t>
                        </m:r>
                      </m:sub>
                    </m:sSub>
                    <m:r>
                      <a:rPr lang="en-US" altLang="en-US" sz="2400" dirty="0">
                        <a:solidFill>
                          <a:srgbClr val="000000"/>
                        </a:solidFill>
                        <a:latin typeface="Cambria Math" panose="02040503050406030204" pitchFamily="18" charset="0"/>
                        <a:ea typeface="Times New Roman"/>
                        <a:cs typeface="Times New Roman"/>
                      </a:rPr>
                      <m:t>(</m:t>
                    </m:r>
                    <m:r>
                      <a:rPr lang="en-US" altLang="en-US" sz="2400" i="1" dirty="0">
                        <a:solidFill>
                          <a:srgbClr val="000000"/>
                        </a:solidFill>
                        <a:latin typeface="Cambria Math" panose="02040503050406030204" pitchFamily="18" charset="0"/>
                        <a:ea typeface="Times New Roman"/>
                        <a:cs typeface="Times New Roman"/>
                      </a:rPr>
                      <m:t>𝑡</m:t>
                    </m:r>
                    <m:r>
                      <a:rPr lang="en-US" altLang="en-US" sz="2400" dirty="0">
                        <a:solidFill>
                          <a:srgbClr val="000000"/>
                        </a:solidFill>
                        <a:latin typeface="Cambria Math" panose="02040503050406030204" pitchFamily="18" charset="0"/>
                        <a:ea typeface="Times New Roman"/>
                        <a:cs typeface="Times New Roman"/>
                      </a:rPr>
                      <m:t>)</m:t>
                    </m:r>
                  </m:oMath>
                </a14:m>
                <a:r>
                  <a:rPr lang="en-US" altLang="en-US" sz="2400" noProof="1">
                    <a:solidFill>
                      <a:srgbClr val="000000"/>
                    </a:solidFill>
                    <a:cs typeface="Times New Roman"/>
                  </a:rPr>
                  <a:t> — slant distance（斜距）</a:t>
                </a:r>
                <a:endParaRPr lang="en-US" altLang="en-US" sz="2400" dirty="0">
                  <a:solidFill>
                    <a:srgbClr val="000000"/>
                  </a:solidFill>
                  <a:ea typeface="Times New Roman"/>
                  <a:cs typeface="Times New Roman"/>
                </a:endParaRPr>
              </a:p>
            </p:txBody>
          </p:sp>
        </mc:Choice>
        <mc:Fallback xmlns="">
          <p:sp>
            <p:nvSpPr>
              <p:cNvPr id="6" name="edu:angle-notation"/>
              <p:cNvSpPr txBox="1">
                <a:spLocks noRot="1" noChangeAspect="1" noMove="1" noResize="1" noEditPoints="1" noAdjustHandles="1" noChangeArrowheads="1" noChangeShapeType="1" noTextEdit="1"/>
              </p:cNvSpPr>
              <p:nvPr/>
            </p:nvSpPr>
            <p:spPr>
              <a:xfrm>
                <a:off x="5343623" y="2517470"/>
                <a:ext cx="6635017" cy="3176995"/>
              </a:xfrm>
              <a:prstGeom prst="rect">
                <a:avLst/>
              </a:prstGeom>
              <a:blipFill>
                <a:blip r:embed="rId4"/>
                <a:stretch>
                  <a:fillRect l="-2849" t="-3647" r="-1746"/>
                </a:stretch>
              </a:blipFill>
              <a:effectLst/>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edu:formula-omml" descr="Native Office Math: a08_offaxis"/>
              <p:cNvSpPr txBox="1"/>
              <p:nvPr/>
            </p:nvSpPr>
            <p:spPr>
              <a:xfrm>
                <a:off x="5307368" y="1354706"/>
                <a:ext cx="5432819" cy="938174"/>
              </a:xfrm>
              <a:prstGeom prst="rect">
                <a:avLst/>
              </a:prstGeom>
              <a:noFill/>
              <a:effectLst/>
            </p:spPr>
            <p:txBody>
              <a:bodyPr wrap="none" lIns="0" tIns="0" rIns="0" bIns="0" anchor="ctr">
                <a:noAutofit/>
              </a:bodyPr>
              <a:lstStyle/>
              <a:p>
                <a:pPr algn="ctr"/>
                <a14:m>
                  <m:oMathPara xmlns:m="http://schemas.openxmlformats.org/officeDocument/2006/math">
                    <m:oMath>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𝜃</m:t>
                          </m:r>
                        </m:e>
                        <m:sub>
                          <m:r>
                            <a:rPr lang="en-US" altLang="en-US" sz="2400" i="1" dirty="0" smtClean="0">
                              <a:solidFill>
                                <a:srgbClr val="000000"/>
                              </a:solidFill>
                              <a:latin typeface="Cambria Math" panose="02040503050406030204" pitchFamily="18" charset="0"/>
                              <a:ea typeface="Times New Roman"/>
                              <a:cs typeface="Times New Roman"/>
                            </a:rPr>
                            <m:t>𝑢</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Sub>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r>
                        <m:rPr>
                          <m:nor/>
                        </m:rPr>
                        <a:rPr lang="en-US" altLang="en-US" sz="2400" i="0" dirty="0" smtClean="0">
                          <a:solidFill>
                            <a:srgbClr val="000000"/>
                          </a:solidFill>
                          <a:latin typeface="Times New Roman"/>
                          <a:ea typeface="Times New Roman"/>
                          <a:cs typeface="Times New Roman"/>
                        </a:rPr>
                        <m:t>arccos</m:t>
                      </m:r>
                      <m:r>
                        <a:rPr lang="en-US" altLang="en-US" sz="2400" i="1" dirty="0" smtClean="0">
                          <a:solidFill>
                            <a:srgbClr val="000000"/>
                          </a:solidFill>
                          <a:latin typeface="Cambria Math" panose="02040503050406030204" pitchFamily="18" charset="0"/>
                          <a:ea typeface="Times New Roman"/>
                          <a:cs typeface="Times New Roman"/>
                        </a:rPr>
                        <m:t>​</m:t>
                      </m:r>
                      <m:d>
                        <m:dPr>
                          <m:ctrlPr>
                            <a:rPr lang="en-US" altLang="en-US" sz="2400" i="1" dirty="0" smtClean="0">
                              <a:solidFill>
                                <a:srgbClr val="000000"/>
                              </a:solidFill>
                              <a:latin typeface="Cambria Math" panose="02040503050406030204" pitchFamily="18" charset="0"/>
                              <a:ea typeface="Times New Roman"/>
                              <a:cs typeface="Times New Roman"/>
                            </a:rPr>
                          </m:ctrlPr>
                        </m:dPr>
                        <m:e>
                          <m:f>
                            <m:fPr>
                              <m:ctrlPr>
                                <a:rPr lang="en-US" altLang="en-US" sz="2400" i="1" dirty="0" smtClean="0">
                                  <a:solidFill>
                                    <a:srgbClr val="000000"/>
                                  </a:solidFill>
                                  <a:latin typeface="Cambria Math" panose="02040503050406030204" pitchFamily="18" charset="0"/>
                                  <a:ea typeface="Times New Roman"/>
                                  <a:cs typeface="Times New Roman"/>
                                </a:rPr>
                              </m:ctrlPr>
                            </m:fPr>
                            <m:num>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𝑣</m:t>
                                  </m:r>
                                </m:e>
                                <m:sub>
                                  <m:r>
                                    <a:rPr lang="en-US" altLang="en-US" sz="2400" i="1" dirty="0" smtClean="0">
                                      <a:solidFill>
                                        <a:srgbClr val="000000"/>
                                      </a:solidFill>
                                      <a:latin typeface="Cambria Math" panose="02040503050406030204" pitchFamily="18" charset="0"/>
                                      <a:ea typeface="Times New Roman"/>
                                      <a:cs typeface="Times New Roman"/>
                                    </a:rPr>
                                    <m:t>𝑢</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Sub>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𝑟</m:t>
                                  </m:r>
                                </m:e>
                                <m:sub>
                                  <m:r>
                                    <a:rPr lang="en-US" altLang="en-US" sz="2400" i="1" dirty="0" smtClean="0">
                                      <a:solidFill>
                                        <a:srgbClr val="000000"/>
                                      </a:solidFill>
                                      <a:latin typeface="Cambria Math" panose="02040503050406030204" pitchFamily="18" charset="0"/>
                                      <a:ea typeface="Times New Roman"/>
                                      <a:cs typeface="Times New Roman"/>
                                    </a:rPr>
                                    <m:t>𝑢</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Sub>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num>
                            <m:den>
                              <m:d>
                                <m:dPr>
                                  <m:begChr m:val="∥"/>
                                  <m:endChr m:val="∥"/>
                                  <m:ctrlPr>
                                    <a:rPr lang="en-US" altLang="en-US" sz="2400" i="1" dirty="0" smtClean="0">
                                      <a:solidFill>
                                        <a:srgbClr val="000000"/>
                                      </a:solidFill>
                                      <a:latin typeface="Cambria Math" panose="02040503050406030204" pitchFamily="18" charset="0"/>
                                      <a:ea typeface="Times New Roman"/>
                                      <a:cs typeface="Times New Roman"/>
                                    </a:rPr>
                                  </m:ctrlPr>
                                </m:dPr>
                                <m:e>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𝑣</m:t>
                                      </m:r>
                                    </m:e>
                                    <m:sub>
                                      <m:r>
                                        <a:rPr lang="en-US" altLang="en-US" sz="2400" i="1" dirty="0" smtClean="0">
                                          <a:solidFill>
                                            <a:srgbClr val="000000"/>
                                          </a:solidFill>
                                          <a:latin typeface="Cambria Math" panose="02040503050406030204" pitchFamily="18" charset="0"/>
                                          <a:ea typeface="Times New Roman"/>
                                          <a:cs typeface="Times New Roman"/>
                                        </a:rPr>
                                        <m:t>𝑢</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Sub>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e>
                              </m:d>
                              <m:d>
                                <m:dPr>
                                  <m:begChr m:val="∥"/>
                                  <m:endChr m:val="∥"/>
                                  <m:ctrlPr>
                                    <a:rPr lang="en-US" altLang="en-US" sz="2400" i="1" dirty="0" smtClean="0">
                                      <a:solidFill>
                                        <a:srgbClr val="000000"/>
                                      </a:solidFill>
                                      <a:latin typeface="Cambria Math" panose="02040503050406030204" pitchFamily="18" charset="0"/>
                                      <a:ea typeface="Times New Roman"/>
                                      <a:cs typeface="Times New Roman"/>
                                    </a:rPr>
                                  </m:ctrlPr>
                                </m:dPr>
                                <m:e>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𝑟</m:t>
                                      </m:r>
                                    </m:e>
                                    <m:sub>
                                      <m:r>
                                        <a:rPr lang="en-US" altLang="en-US" sz="2400" i="1" dirty="0" smtClean="0">
                                          <a:solidFill>
                                            <a:srgbClr val="000000"/>
                                          </a:solidFill>
                                          <a:latin typeface="Cambria Math" panose="02040503050406030204" pitchFamily="18" charset="0"/>
                                          <a:ea typeface="Times New Roman"/>
                                          <a:cs typeface="Times New Roman"/>
                                        </a:rPr>
                                        <m:t>𝑢</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Sub>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e>
                              </m:d>
                            </m:den>
                          </m:f>
                        </m:e>
                      </m:d>
                    </m:oMath>
                  </m:oMathPara>
                </a14:m>
                <a:endParaRPr lang="en-US" altLang="en-US" sz="2400" dirty="0">
                  <a:solidFill>
                    <a:srgbClr val="000000"/>
                  </a:solidFill>
                  <a:latin typeface="Times New Roman"/>
                  <a:ea typeface="Times New Roman"/>
                  <a:cs typeface="Times New Roman"/>
                </a:endParaRPr>
              </a:p>
            </p:txBody>
          </p:sp>
        </mc:Choice>
        <mc:Fallback xmlns="">
          <p:sp>
            <p:nvSpPr>
              <p:cNvPr id="7" name="edu:formula-omml" descr="Native Office Math: a08_offaxis"/>
              <p:cNvSpPr txBox="1">
                <a:spLocks noRot="1" noChangeAspect="1" noMove="1" noResize="1" noEditPoints="1" noAdjustHandles="1" noChangeArrowheads="1" noChangeShapeType="1" noTextEdit="1"/>
              </p:cNvSpPr>
              <p:nvPr/>
            </p:nvSpPr>
            <p:spPr>
              <a:xfrm>
                <a:off x="5307368" y="1354706"/>
                <a:ext cx="5432819" cy="938174"/>
              </a:xfrm>
              <a:prstGeom prst="rect">
                <a:avLst/>
              </a:prstGeom>
              <a:blipFill>
                <a:blip r:embed="rId5"/>
                <a:stretch>
                  <a:fillRect/>
                </a:stretch>
              </a:blipFill>
              <a:effectLst/>
            </p:spPr>
            <p:txBody>
              <a:bodyPr/>
              <a:lstStyle/>
              <a:p>
                <a:r>
                  <a:rPr lang="zh-TW" altLang="en-US">
                    <a:noFill/>
                  </a:rPr>
                  <a:t> </a:t>
                </a:r>
              </a:p>
            </p:txBody>
          </p:sp>
        </mc:Fallback>
      </mc:AlternateContent>
      <p:pic>
        <p:nvPicPr>
          <p:cNvPr id="11" name="圖片 10">
            <a:extLst>
              <a:ext uri="{FF2B5EF4-FFF2-40B4-BE49-F238E27FC236}">
                <a16:creationId xmlns:a16="http://schemas.microsoft.com/office/drawing/2014/main" id="{00E92AC8-FF0D-68A4-C708-7EB2DAD9C9C0}"/>
              </a:ext>
            </a:extLst>
          </p:cNvPr>
          <p:cNvPicPr>
            <a:picLocks noChangeAspect="1"/>
          </p:cNvPicPr>
          <p:nvPr/>
        </p:nvPicPr>
        <p:blipFill>
          <a:blip r:embed="rId6"/>
          <a:stretch>
            <a:fillRect/>
          </a:stretch>
        </p:blipFill>
        <p:spPr>
          <a:xfrm>
            <a:off x="565190" y="1772710"/>
            <a:ext cx="4111084" cy="418917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du:title"/>
          <p:cNvSpPr txBox="1"/>
          <p:nvPr/>
        </p:nvSpPr>
        <p:spPr>
          <a:xfrm>
            <a:off x="565190" y="141274"/>
            <a:ext cx="11417289" cy="571500"/>
          </a:xfrm>
          <a:prstGeom prst="rect">
            <a:avLst/>
          </a:prstGeom>
          <a:noFill/>
        </p:spPr>
        <p:txBody>
          <a:bodyPr wrap="square" lIns="0" tIns="0" rIns="0" bIns="0" anchor="b">
            <a:spAutoFit/>
          </a:bodyPr>
          <a:lstStyle/>
          <a:p>
            <a:pPr algn="l"/>
            <a:r>
              <a:rPr lang="en-US" altLang="en-US" sz="2800" b="1" i="0" noProof="1">
                <a:solidFill>
                  <a:srgbClr val="1B365D"/>
                </a:solidFill>
                <a:latin typeface="Times New Roman"/>
                <a:ea typeface="標楷體"/>
                <a:cs typeface="Times New Roman"/>
              </a:rPr>
              <a:t>Angle-Dependent Transmit Gain</a:t>
            </a:r>
          </a:p>
        </p:txBody>
      </p:sp>
      <p:sp>
        <p:nvSpPr>
          <p:cNvPr id="3" name="edu:citation"/>
          <p:cNvSpPr txBox="1"/>
          <p:nvPr/>
        </p:nvSpPr>
        <p:spPr>
          <a:xfrm>
            <a:off x="495330" y="6316675"/>
            <a:ext cx="11018520" cy="505663"/>
          </a:xfrm>
          <a:prstGeom prst="rect">
            <a:avLst/>
          </a:prstGeom>
          <a:noFill/>
        </p:spPr>
        <p:txBody>
          <a:bodyPr wrap="square" lIns="0" tIns="0" rIns="0" bIns="0" anchor="t">
            <a:spAutoFit/>
          </a:bodyPr>
          <a:lstStyle/>
          <a:p>
            <a:pPr algn="l">
              <a:lnSpc>
                <a:spcPct val="105000"/>
              </a:lnSpc>
            </a:pPr>
            <a:r>
              <a:rPr lang="en-US" altLang="en-US" sz="1400" b="0" i="0" noProof="1">
                <a:solidFill>
                  <a:srgbClr val="000000"/>
                </a:solidFill>
                <a:latin typeface="Times New Roman"/>
                <a:ea typeface="標楷體"/>
                <a:cs typeface="Times New Roman"/>
              </a:rPr>
              <a:t>S.-H. Chen et al., “Energy-Efficient Joint Handover and Beam Switching Scheme for Multi-LEO Networks,” IEEE Vehicular Technology Conference (VTC2024-Spring), Singapore, 2024.</a:t>
            </a:r>
          </a:p>
        </p:txBody>
      </p:sp>
      <mc:AlternateContent xmlns:mc="http://schemas.openxmlformats.org/markup-compatibility/2006" xmlns:a14="http://schemas.microsoft.com/office/drawing/2010/main">
        <mc:Choice Requires="a14">
          <p:sp>
            <p:nvSpPr>
              <p:cNvPr id="5" name="edu:body"/>
              <p:cNvSpPr txBox="1"/>
              <p:nvPr/>
            </p:nvSpPr>
            <p:spPr>
              <a:xfrm>
                <a:off x="565190" y="896112"/>
                <a:ext cx="11064240" cy="774496"/>
              </a:xfrm>
              <a:prstGeom prst="rect">
                <a:avLst/>
              </a:prstGeom>
              <a:noFill/>
              <a:effectLst/>
            </p:spPr>
            <p:txBody>
              <a:bodyPr wrap="square" lIns="0" tIns="0" rIns="0" bIns="0" anchor="t">
                <a:noAutofit/>
              </a:bodyPr>
              <a:lstStyle/>
              <a:p>
                <a:pPr algn="l">
                  <a:lnSpc>
                    <a:spcPct val="104000"/>
                  </a:lnSpc>
                  <a:spcAft>
                    <a:spcPts val="0"/>
                  </a:spcAft>
                </a:pPr>
                <a14:m>
                  <m:oMath xmlns:m="http://schemas.openxmlformats.org/officeDocument/2006/math">
                    <m:r>
                      <a:rPr lang="en-US" altLang="en-US" sz="2400" i="1" dirty="0" smtClean="0">
                        <a:solidFill>
                          <a:srgbClr val="000000"/>
                        </a:solidFill>
                        <a:latin typeface="Cambria Math" panose="02040503050406030204" pitchFamily="18" charset="0"/>
                        <a:ea typeface="Times New Roman"/>
                        <a:cs typeface="Times New Roman"/>
                      </a:rPr>
                      <m:t>𝜃</m:t>
                    </m:r>
                  </m:oMath>
                </a14:m>
                <a:r>
                  <a:rPr lang="en-US" altLang="en-US" sz="2400" b="0" i="0" noProof="1">
                    <a:solidFill>
                      <a:srgbClr val="000000"/>
                    </a:solidFill>
                    <a:latin typeface="Times New Roman"/>
                    <a:ea typeface="標楷體"/>
                    <a:cs typeface="Times New Roman"/>
                  </a:rPr>
                  <a:t> is the user's instantaneous off-axis angle; </a:t>
                </a:r>
                <a14:m>
                  <m:oMath xmlns:m="http://schemas.openxmlformats.org/officeDocument/2006/math">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𝜃</m:t>
                        </m:r>
                      </m:e>
                      <m:sub>
                        <m:r>
                          <a:rPr lang="en-US" altLang="en-US" sz="2400" i="0" dirty="0" smtClean="0">
                            <a:solidFill>
                              <a:srgbClr val="000000"/>
                            </a:solidFill>
                            <a:latin typeface="Cambria Math" panose="02040503050406030204" pitchFamily="18" charset="0"/>
                            <a:ea typeface="Times New Roman"/>
                            <a:cs typeface="Times New Roman"/>
                          </a:rPr>
                          <m:t>3</m:t>
                        </m:r>
                        <m:r>
                          <m:rPr>
                            <m:nor/>
                          </m:rPr>
                          <a:rPr lang="en-US" altLang="en-US" sz="2400" i="0" dirty="0" smtClean="0">
                            <a:solidFill>
                              <a:srgbClr val="000000"/>
                            </a:solidFill>
                            <a:latin typeface="Times New Roman"/>
                            <a:ea typeface="Times New Roman"/>
                            <a:cs typeface="Times New Roman"/>
                          </a:rPr>
                          <m:t>dB</m:t>
                        </m:r>
                      </m:sub>
                    </m:sSub>
                  </m:oMath>
                </a14:m>
                <a:r>
                  <a:rPr lang="en-US" altLang="en-US" sz="2400" b="0" i="0" noProof="1">
                    <a:solidFill>
                      <a:srgbClr val="000000"/>
                    </a:solidFill>
                    <a:latin typeface="Times New Roman"/>
                    <a:ea typeface="標楷體"/>
                    <a:cs typeface="Times New Roman"/>
                  </a:rPr>
                  <a:t> is the fixed full beamwidth from the antenna specification. The model uses </a:t>
                </a:r>
                <a14:m>
                  <m:oMath xmlns:m="http://schemas.openxmlformats.org/officeDocument/2006/math">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𝜃</m:t>
                        </m:r>
                      </m:e>
                      <m:sub>
                        <m:r>
                          <a:rPr lang="en-US" altLang="en-US" sz="2400" i="0" dirty="0" smtClean="0">
                            <a:solidFill>
                              <a:srgbClr val="000000"/>
                            </a:solidFill>
                            <a:latin typeface="Cambria Math" panose="02040503050406030204" pitchFamily="18" charset="0"/>
                            <a:ea typeface="Times New Roman"/>
                            <a:cs typeface="Times New Roman"/>
                          </a:rPr>
                          <m:t>3</m:t>
                        </m:r>
                        <m:r>
                          <m:rPr>
                            <m:nor/>
                          </m:rPr>
                          <a:rPr lang="en-US" altLang="en-US" sz="2400" i="0" dirty="0" smtClean="0">
                            <a:solidFill>
                              <a:srgbClr val="000000"/>
                            </a:solidFill>
                            <a:latin typeface="Times New Roman"/>
                            <a:ea typeface="Times New Roman"/>
                            <a:cs typeface="Times New Roman"/>
                          </a:rPr>
                          <m:t>dB</m:t>
                        </m:r>
                      </m:sub>
                    </m:sSub>
                    <m:r>
                      <a:rPr lang="en-US" altLang="en-US" sz="2400" i="0" dirty="0" smtClean="0">
                        <a:solidFill>
                          <a:srgbClr val="000000"/>
                        </a:solidFill>
                        <a:latin typeface="Cambria Math" panose="02040503050406030204" pitchFamily="18" charset="0"/>
                        <a:ea typeface="Times New Roman"/>
                        <a:cs typeface="Times New Roman"/>
                      </a:rPr>
                      <m:t>/2</m:t>
                    </m:r>
                  </m:oMath>
                </a14:m>
                <a:r>
                  <a:rPr lang="en-US" altLang="en-US" sz="2400" b="0" i="0" noProof="1">
                    <a:solidFill>
                      <a:srgbClr val="000000"/>
                    </a:solidFill>
                    <a:latin typeface="Times New Roman"/>
                    <a:ea typeface="標楷體"/>
                    <a:cs typeface="Times New Roman"/>
                  </a:rPr>
                  <a:t> as the centre-to-edge half-angle.</a:t>
                </a:r>
                <a:endParaRPr lang="en-US" altLang="en-US" dirty="0">
                  <a:solidFill>
                    <a:srgbClr val="000000"/>
                  </a:solidFill>
                  <a:latin typeface="Times New Roman"/>
                  <a:ea typeface="Times New Roman"/>
                  <a:cs typeface="Times New Roman"/>
                </a:endParaRPr>
              </a:p>
            </p:txBody>
          </p:sp>
        </mc:Choice>
        <mc:Fallback xmlns="">
          <p:sp>
            <p:nvSpPr>
              <p:cNvPr id="5" name="edu:body"/>
              <p:cNvSpPr txBox="1"/>
              <p:nvPr/>
            </p:nvSpPr>
            <p:spPr>
              <a:xfrm>
                <a:off x="565190" y="896112"/>
                <a:ext cx="11064240" cy="774496"/>
              </a:xfrm>
              <a:prstGeom prst="rect">
                <a:avLst/>
              </a:prstGeom>
              <a:noFill/>
            </p:spPr>
            <p:txBody>
              <a:bodyPr wrap="square" anchor="t" lIns="0" rIns="0" tIns="0" bIns="0">
                <a:spAutoFit/>
              </a:bodyPr>
              <a:lstStyle/>
              <a:p>
                <a:pPr algn="l">
                  <a:lnSpc>
                    <a:spcPct val="104000"/>
                  </a:lnSpc>
                  <a:spcAft>
                    <a:spcPts val="0"/>
                  </a:spcAft>
                </a:pPr>
                <a:r>
                  <a:rPr sz="2400" b="0" i="0" lang="en-US" altLang="en-US" noProof="1" dirty="0">
                    <a:solidFill>
                      <a:srgbClr val="000000"/>
                    </a:solidFill>
                    <a:latin typeface="Times New Roman"/>
                    <a:ea typeface="標楷體"/>
                    <a:cs typeface="Times New Roman"/>
                  </a:rPr>
                  <a:t/>
                </a:r>
                <a:r>
                  <a:rPr sz="2400" b="0" i="0" lang="en-US" altLang="en-US" noProof="1" dirty="0">
                    <a:solidFill>
                      <a:srgbClr val="000000"/>
                    </a:solidFill>
                    <a:latin typeface="Times New Roman"/>
                    <a:ea typeface="標楷體"/>
                    <a:cs typeface="Times New Roman"/>
                  </a:rPr>
                  <a:t xml:space="preserve"> is the user's instantaneous off-axis angle; </a:t>
                </a:r>
                <a:r>
                  <a:rPr sz="2400" b="0" i="0" lang="en-US" altLang="en-US" noProof="1" dirty="0">
                    <a:solidFill>
                      <a:srgbClr val="000000"/>
                    </a:solidFill>
                    <a:latin typeface="Times New Roman"/>
                    <a:ea typeface="標楷體"/>
                    <a:cs typeface="Times New Roman"/>
                  </a:rPr>
                  <a:t/>
                </a:r>
                <a:r>
                  <a:rPr sz="2400" b="0" i="0" lang="en-US" altLang="en-US" noProof="1" dirty="0">
                    <a:solidFill>
                      <a:srgbClr val="000000"/>
                    </a:solidFill>
                    <a:latin typeface="Times New Roman"/>
                    <a:ea typeface="標楷體"/>
                    <a:cs typeface="Times New Roman"/>
                  </a:rPr>
                  <a:t xml:space="preserve"> is the fixed full beamwidth from the antenna specification. The model uses </a:t>
                </a:r>
                <a:r>
                  <a:rPr sz="2400" b="0" i="0" lang="en-US" altLang="en-US" noProof="1" dirty="0">
                    <a:solidFill>
                      <a:srgbClr val="000000"/>
                    </a:solidFill>
                    <a:latin typeface="Times New Roman"/>
                    <a:ea typeface="標楷體"/>
                    <a:cs typeface="Times New Roman"/>
                  </a:rPr>
                  <a:t/>
                </a:r>
                <a:r>
                  <a:rPr sz="2400" b="0" i="0" lang="en-US" altLang="en-US" noProof="1" dirty="0">
                    <a:solidFill>
                      <a:srgbClr val="000000"/>
                    </a:solidFill>
                    <a:latin typeface="Times New Roman"/>
                    <a:ea typeface="標楷體"/>
                    <a:cs typeface="Times New Roman"/>
                  </a:rPr>
                  <a:t xml:space="preserve"> as the centre-to-edge half-angle.</a:t>
                </a:r>
              </a:p>
            </p:txBody>
          </p:sp>
        </mc:Fallback>
      </mc:AlternateContent>
      <mc:AlternateContent xmlns:mc="http://schemas.openxmlformats.org/markup-compatibility/2006" xmlns:a14="http://schemas.microsoft.com/office/drawing/2010/main">
        <mc:Choice Requires="a14">
          <p:sp>
            <p:nvSpPr>
              <p:cNvPr id="6" name="edu:formula-omml" descr="Native Office Math: a09_gain"/>
              <p:cNvSpPr txBox="1"/>
              <p:nvPr/>
            </p:nvSpPr>
            <p:spPr>
              <a:xfrm>
                <a:off x="2893161" y="1835200"/>
                <a:ext cx="6409029" cy="587959"/>
              </a:xfrm>
              <a:prstGeom prst="rect">
                <a:avLst/>
              </a:prstGeom>
              <a:noFill/>
              <a:effectLst/>
            </p:spPr>
            <p:txBody>
              <a:bodyPr wrap="none" lIns="0" tIns="0" rIns="0" bIns="0" anchor="ctr">
                <a:noAutofit/>
              </a:bodyPr>
              <a:lstStyle/>
              <a:p>
                <a:pPr algn="ctr"/>
                <a14:m>
                  <m:oMathPara xmlns:m="http://schemas.openxmlformats.org/officeDocument/2006/math">
                    <m:oMath>
                      <m:sSup>
                        <m:sSupPr>
                          <m:ctrlPr>
                            <a:rPr lang="en-US" altLang="en-US" sz="2400" i="1" dirty="0" smtClean="0">
                              <a:solidFill>
                                <a:srgbClr val="000000"/>
                              </a:solidFill>
                              <a:latin typeface="Cambria Math" panose="02040503050406030204" pitchFamily="18" charset="0"/>
                              <a:ea typeface="Times New Roman"/>
                              <a:cs typeface="Times New Roman"/>
                            </a:rPr>
                          </m:ctrlPr>
                        </m:sSupPr>
                        <m:e>
                          <m:r>
                            <a:rPr lang="en-US" altLang="en-US" sz="2400" i="1" dirty="0" smtClean="0">
                              <a:solidFill>
                                <a:srgbClr val="000000"/>
                              </a:solidFill>
                              <a:latin typeface="Cambria Math" panose="02040503050406030204" pitchFamily="18" charset="0"/>
                              <a:ea typeface="Times New Roman"/>
                              <a:cs typeface="Times New Roman"/>
                            </a:rPr>
                            <m:t>𝐺</m:t>
                          </m:r>
                        </m:e>
                        <m:sup>
                          <m:r>
                            <a:rPr lang="en-US" altLang="en-US" sz="2400" i="1" dirty="0" smtClean="0">
                              <a:solidFill>
                                <a:srgbClr val="000000"/>
                              </a:solidFill>
                              <a:latin typeface="Cambria Math" panose="02040503050406030204" pitchFamily="18" charset="0"/>
                              <a:ea typeface="Times New Roman"/>
                              <a:cs typeface="Times New Roman"/>
                            </a:rPr>
                            <m:t>𝑇</m:t>
                          </m:r>
                        </m:sup>
                      </m:sSup>
                      <m:r>
                        <a:rPr lang="en-US" altLang="en-US" sz="2400" i="1" dirty="0" smtClean="0">
                          <a:solidFill>
                            <a:srgbClr val="000000"/>
                          </a:solidFill>
                          <a:latin typeface="Cambria Math" panose="02040503050406030204" pitchFamily="18" charset="0"/>
                          <a:ea typeface="Times New Roman"/>
                          <a:cs typeface="Times New Roman"/>
                        </a:rPr>
                        <m:t>​</m:t>
                      </m:r>
                      <m:d>
                        <m:dPr>
                          <m:ctrlPr>
                            <a:rPr lang="en-US" altLang="en-US" sz="2400" i="1" dirty="0" smtClean="0">
                              <a:solidFill>
                                <a:srgbClr val="000000"/>
                              </a:solidFill>
                              <a:latin typeface="Cambria Math" panose="02040503050406030204" pitchFamily="18" charset="0"/>
                              <a:ea typeface="Times New Roman"/>
                              <a:cs typeface="Times New Roman"/>
                            </a:rPr>
                          </m:ctrlPr>
                        </m:dPr>
                        <m:e>
                          <m:r>
                            <a:rPr lang="en-US" altLang="en-US" sz="2400" i="1" dirty="0" smtClean="0">
                              <a:solidFill>
                                <a:srgbClr val="000000"/>
                              </a:solidFill>
                              <a:latin typeface="Cambria Math" panose="02040503050406030204" pitchFamily="18" charset="0"/>
                              <a:ea typeface="Times New Roman"/>
                              <a:cs typeface="Times New Roman"/>
                            </a:rPr>
                            <m:t>𝜃</m:t>
                          </m:r>
                          <m:r>
                            <a:rPr lang="en-US" altLang="en-US" sz="2400" i="0" dirty="0" smtClean="0">
                              <a:solidFill>
                                <a:srgbClr val="000000"/>
                              </a:solidFill>
                              <a:latin typeface="Cambria Math" panose="02040503050406030204" pitchFamily="18" charset="0"/>
                              <a:ea typeface="Times New Roman"/>
                              <a:cs typeface="Times New Roman"/>
                            </a:rPr>
                            <m:t>,</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𝜃</m:t>
                              </m:r>
                            </m:e>
                            <m:sub>
                              <m:r>
                                <a:rPr lang="en-US" altLang="en-US" sz="2400" i="0" dirty="0" smtClean="0">
                                  <a:solidFill>
                                    <a:srgbClr val="000000"/>
                                  </a:solidFill>
                                  <a:latin typeface="Cambria Math" panose="02040503050406030204" pitchFamily="18" charset="0"/>
                                  <a:ea typeface="Times New Roman"/>
                                  <a:cs typeface="Times New Roman"/>
                                </a:rPr>
                                <m:t>3</m:t>
                              </m:r>
                              <m:r>
                                <m:rPr>
                                  <m:nor/>
                                </m:rPr>
                                <a:rPr lang="en-US" altLang="en-US" sz="2400" i="0" dirty="0" smtClean="0">
                                  <a:solidFill>
                                    <a:srgbClr val="000000"/>
                                  </a:solidFill>
                                  <a:latin typeface="Times New Roman"/>
                                  <a:ea typeface="Times New Roman"/>
                                  <a:cs typeface="Times New Roman"/>
                                </a:rPr>
                                <m:t>dB</m:t>
                              </m:r>
                            </m:sub>
                          </m:sSub>
                        </m:e>
                      </m:d>
                      <m:r>
                        <a:rPr lang="en-US" altLang="en-US" sz="2400" i="0" dirty="0" smtClean="0">
                          <a:solidFill>
                            <a:srgbClr val="000000"/>
                          </a:solidFill>
                          <a:latin typeface="Cambria Math" panose="02040503050406030204" pitchFamily="18" charset="0"/>
                          <a:ea typeface="Times New Roman"/>
                          <a:cs typeface="Times New Roman"/>
                        </a:rPr>
                        <m:t>=</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𝐺</m:t>
                          </m:r>
                        </m:e>
                        <m:sub>
                          <m:r>
                            <a:rPr lang="en-US" altLang="en-US" sz="2400" i="0" dirty="0" smtClean="0">
                              <a:solidFill>
                                <a:srgbClr val="000000"/>
                              </a:solidFill>
                              <a:latin typeface="Cambria Math" panose="02040503050406030204" pitchFamily="18" charset="0"/>
                              <a:ea typeface="Times New Roman"/>
                              <a:cs typeface="Times New Roman"/>
                            </a:rPr>
                            <m:t>0</m:t>
                          </m:r>
                        </m:sub>
                      </m:sSub>
                      <m:r>
                        <a:rPr lang="en-US" altLang="en-US" sz="2400" i="1" dirty="0" smtClean="0">
                          <a:solidFill>
                            <a:srgbClr val="000000"/>
                          </a:solidFill>
                          <a:latin typeface="Cambria Math" panose="02040503050406030204" pitchFamily="18" charset="0"/>
                          <a:ea typeface="Times New Roman"/>
                          <a:cs typeface="Times New Roman"/>
                        </a:rPr>
                        <m:t>𝐹</m:t>
                      </m:r>
                      <m:r>
                        <a:rPr lang="en-US" altLang="en-US" sz="2400" i="1" dirty="0" smtClean="0">
                          <a:solidFill>
                            <a:srgbClr val="000000"/>
                          </a:solidFill>
                          <a:latin typeface="Cambria Math" panose="02040503050406030204" pitchFamily="18" charset="0"/>
                          <a:ea typeface="Times New Roman"/>
                          <a:cs typeface="Times New Roman"/>
                        </a:rPr>
                        <m:t>​</m:t>
                      </m:r>
                      <m:d>
                        <m:dPr>
                          <m:ctrlPr>
                            <a:rPr lang="en-US" altLang="en-US" sz="2400" i="1" dirty="0" smtClean="0">
                              <a:solidFill>
                                <a:srgbClr val="000000"/>
                              </a:solidFill>
                              <a:latin typeface="Cambria Math" panose="02040503050406030204" pitchFamily="18" charset="0"/>
                              <a:ea typeface="Times New Roman"/>
                              <a:cs typeface="Times New Roman"/>
                            </a:rPr>
                          </m:ctrlPr>
                        </m:dPr>
                        <m:e>
                          <m:r>
                            <a:rPr lang="en-US" altLang="en-US" sz="2400" i="1" dirty="0" smtClean="0">
                              <a:solidFill>
                                <a:srgbClr val="000000"/>
                              </a:solidFill>
                              <a:latin typeface="Cambria Math" panose="02040503050406030204" pitchFamily="18" charset="0"/>
                              <a:ea typeface="Times New Roman"/>
                              <a:cs typeface="Times New Roman"/>
                            </a:rPr>
                            <m:t>𝜃</m:t>
                          </m:r>
                          <m:r>
                            <a:rPr lang="en-US" altLang="en-US" sz="2400" i="0" dirty="0" smtClean="0">
                              <a:solidFill>
                                <a:srgbClr val="000000"/>
                              </a:solidFill>
                              <a:latin typeface="Cambria Math" panose="02040503050406030204" pitchFamily="18" charset="0"/>
                              <a:ea typeface="Times New Roman"/>
                              <a:cs typeface="Times New Roman"/>
                            </a:rPr>
                            <m:t>,</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𝜃</m:t>
                              </m:r>
                            </m:e>
                            <m:sub>
                              <m:r>
                                <a:rPr lang="en-US" altLang="en-US" sz="2400" i="0" dirty="0" smtClean="0">
                                  <a:solidFill>
                                    <a:srgbClr val="000000"/>
                                  </a:solidFill>
                                  <a:latin typeface="Cambria Math" panose="02040503050406030204" pitchFamily="18" charset="0"/>
                                  <a:ea typeface="Times New Roman"/>
                                  <a:cs typeface="Times New Roman"/>
                                </a:rPr>
                                <m:t>3</m:t>
                              </m:r>
                              <m:r>
                                <m:rPr>
                                  <m:nor/>
                                </m:rPr>
                                <a:rPr lang="en-US" altLang="en-US" sz="2400" i="0" dirty="0" smtClean="0">
                                  <a:solidFill>
                                    <a:srgbClr val="000000"/>
                                  </a:solidFill>
                                  <a:latin typeface="Times New Roman"/>
                                  <a:ea typeface="Times New Roman"/>
                                  <a:cs typeface="Times New Roman"/>
                                </a:rPr>
                                <m:t>dB</m:t>
                              </m:r>
                            </m:sub>
                          </m:sSub>
                        </m:e>
                      </m:d>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  </m:t>
                      </m:r>
                      <m:sSup>
                        <m:sSupPr>
                          <m:ctrlPr>
                            <a:rPr lang="en-US" altLang="en-US" sz="2400" i="1" dirty="0" smtClean="0">
                              <a:solidFill>
                                <a:srgbClr val="000000"/>
                              </a:solidFill>
                              <a:latin typeface="Cambria Math" panose="02040503050406030204" pitchFamily="18" charset="0"/>
                              <a:ea typeface="Times New Roman"/>
                              <a:cs typeface="Times New Roman"/>
                            </a:rPr>
                          </m:ctrlPr>
                        </m:sSupPr>
                        <m:e>
                          <m:r>
                            <a:rPr lang="en-US" altLang="en-US" sz="2400" i="1" dirty="0" smtClean="0">
                              <a:solidFill>
                                <a:srgbClr val="000000"/>
                              </a:solidFill>
                              <a:latin typeface="Cambria Math" panose="02040503050406030204" pitchFamily="18" charset="0"/>
                              <a:ea typeface="Times New Roman"/>
                              <a:cs typeface="Times New Roman"/>
                            </a:rPr>
                            <m:t>𝐺</m:t>
                          </m:r>
                        </m:e>
                        <m:sup>
                          <m:r>
                            <a:rPr lang="en-US" altLang="en-US" sz="2400" i="1" dirty="0" smtClean="0">
                              <a:solidFill>
                                <a:srgbClr val="000000"/>
                              </a:solidFill>
                              <a:latin typeface="Cambria Math" panose="02040503050406030204" pitchFamily="18" charset="0"/>
                              <a:ea typeface="Times New Roman"/>
                              <a:cs typeface="Times New Roman"/>
                            </a:rPr>
                            <m:t>𝑇</m:t>
                          </m:r>
                        </m:sup>
                      </m:sSup>
                      <m:r>
                        <a:rPr lang="en-US" altLang="en-US" sz="2400" i="1" dirty="0" smtClean="0">
                          <a:solidFill>
                            <a:srgbClr val="000000"/>
                          </a:solidFill>
                          <a:latin typeface="Cambria Math" panose="02040503050406030204" pitchFamily="18" charset="0"/>
                          <a:ea typeface="Times New Roman"/>
                          <a:cs typeface="Times New Roman"/>
                        </a:rPr>
                        <m:t>​</m:t>
                      </m:r>
                      <m:d>
                        <m:dPr>
                          <m:ctrlPr>
                            <a:rPr lang="en-US" altLang="en-US" sz="2400" i="0" dirty="0" smtClean="0">
                              <a:solidFill>
                                <a:srgbClr val="000000"/>
                              </a:solidFill>
                              <a:latin typeface="Cambria Math" panose="02040503050406030204" pitchFamily="18" charset="0"/>
                              <a:ea typeface="Times New Roman"/>
                              <a:cs typeface="Times New Roman"/>
                            </a:rPr>
                          </m:ctrlPr>
                        </m:dPr>
                        <m:e>
                          <m:r>
                            <a:rPr lang="en-US" altLang="en-US" sz="2400" i="0" dirty="0" smtClean="0">
                              <a:solidFill>
                                <a:srgbClr val="000000"/>
                              </a:solidFill>
                              <a:latin typeface="Cambria Math" panose="02040503050406030204" pitchFamily="18" charset="0"/>
                              <a:ea typeface="Times New Roman"/>
                              <a:cs typeface="Times New Roman"/>
                            </a:rPr>
                            <m:t>0,</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𝜃</m:t>
                              </m:r>
                            </m:e>
                            <m:sub>
                              <m:r>
                                <a:rPr lang="en-US" altLang="en-US" sz="2400" i="0" dirty="0" smtClean="0">
                                  <a:solidFill>
                                    <a:srgbClr val="000000"/>
                                  </a:solidFill>
                                  <a:latin typeface="Cambria Math" panose="02040503050406030204" pitchFamily="18" charset="0"/>
                                  <a:ea typeface="Times New Roman"/>
                                  <a:cs typeface="Times New Roman"/>
                                </a:rPr>
                                <m:t>3</m:t>
                              </m:r>
                              <m:r>
                                <m:rPr>
                                  <m:nor/>
                                </m:rPr>
                                <a:rPr lang="en-US" altLang="en-US" sz="2400" i="0" dirty="0" smtClean="0">
                                  <a:solidFill>
                                    <a:srgbClr val="000000"/>
                                  </a:solidFill>
                                  <a:latin typeface="Times New Roman"/>
                                  <a:ea typeface="Times New Roman"/>
                                  <a:cs typeface="Times New Roman"/>
                                </a:rPr>
                                <m:t>dB</m:t>
                              </m:r>
                            </m:sub>
                          </m:sSub>
                        </m:e>
                      </m:d>
                      <m:r>
                        <a:rPr lang="en-US" altLang="en-US" sz="2400" i="0" dirty="0" smtClean="0">
                          <a:solidFill>
                            <a:srgbClr val="000000"/>
                          </a:solidFill>
                          <a:latin typeface="Cambria Math" panose="02040503050406030204" pitchFamily="18" charset="0"/>
                          <a:ea typeface="Times New Roman"/>
                          <a:cs typeface="Times New Roman"/>
                        </a:rPr>
                        <m:t>=</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𝐺</m:t>
                          </m:r>
                        </m:e>
                        <m:sub>
                          <m:r>
                            <a:rPr lang="en-US" altLang="en-US" sz="2400" i="0" dirty="0" smtClean="0">
                              <a:solidFill>
                                <a:srgbClr val="000000"/>
                              </a:solidFill>
                              <a:latin typeface="Cambria Math" panose="02040503050406030204" pitchFamily="18" charset="0"/>
                              <a:ea typeface="Times New Roman"/>
                              <a:cs typeface="Times New Roman"/>
                            </a:rPr>
                            <m:t>0</m:t>
                          </m:r>
                        </m:sub>
                      </m:sSub>
                    </m:oMath>
                  </m:oMathPara>
                </a14:m>
                <a:endParaRPr lang="en-US" altLang="en-US" sz="2400" dirty="0">
                  <a:solidFill>
                    <a:srgbClr val="000000"/>
                  </a:solidFill>
                  <a:latin typeface="Times New Roman"/>
                  <a:ea typeface="Times New Roman"/>
                  <a:cs typeface="Times New Roman"/>
                </a:endParaRPr>
              </a:p>
            </p:txBody>
          </p:sp>
        </mc:Choice>
        <mc:Fallback xmlns="">
          <p:sp>
            <p:nvSpPr>
              <p:cNvPr id="6" name="edu:formula-omml" descr="Native Office Math: a09_gain"/>
              <p:cNvSpPr txBox="1">
                <a:spLocks noRot="1" noChangeAspect="1" noMove="1" noResize="1" noEditPoints="1" noAdjustHandles="1" noChangeArrowheads="1" noChangeShapeType="1" noTextEdit="1"/>
              </p:cNvSpPr>
              <p:nvPr/>
            </p:nvSpPr>
            <p:spPr>
              <a:xfrm>
                <a:off x="2893161" y="1835200"/>
                <a:ext cx="6409029" cy="587959"/>
              </a:xfrm>
              <a:prstGeom prst="rect">
                <a:avLst/>
              </a:prstGeom>
              <a:blipFill>
                <a:blip r:embed="rId3"/>
                <a:stretch>
                  <a:fillRect l="-3235" r="-1998"/>
                </a:stretch>
              </a:blipFill>
              <a:effectLst/>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edu:gain-reading"/>
              <p:cNvSpPr txBox="1"/>
              <p:nvPr/>
            </p:nvSpPr>
            <p:spPr>
              <a:xfrm>
                <a:off x="658368" y="2630906"/>
                <a:ext cx="11064240" cy="1170432"/>
              </a:xfrm>
              <a:prstGeom prst="rect">
                <a:avLst/>
              </a:prstGeom>
              <a:noFill/>
              <a:effectLst/>
            </p:spPr>
            <p:txBody>
              <a:bodyPr wrap="square" lIns="0" tIns="0" rIns="0" bIns="0" anchor="t">
                <a:noAutofit/>
              </a:bodyPr>
              <a:lstStyle/>
              <a:p>
                <a:pPr algn="l">
                  <a:lnSpc>
                    <a:spcPct val="102000"/>
                  </a:lnSpc>
                  <a:spcAft>
                    <a:spcPts val="300"/>
                  </a:spcAft>
                </a:pPr>
                <a:r>
                  <a:rPr lang="en-US" altLang="en-US" sz="2400" b="0" i="0" noProof="1">
                    <a:solidFill>
                      <a:srgbClr val="000000"/>
                    </a:solidFill>
                    <a:latin typeface="Times New Roman"/>
                    <a:ea typeface="標楷體"/>
                    <a:cs typeface="Times New Roman"/>
                  </a:rPr>
                  <a:t>The model separates the on-axis peak </a:t>
                </a:r>
                <a14:m>
                  <m:oMath xmlns:m="http://schemas.openxmlformats.org/officeDocument/2006/math">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𝐺</m:t>
                        </m:r>
                      </m:e>
                      <m:sub>
                        <m:r>
                          <a:rPr lang="en-US" altLang="en-US" sz="2400" i="0" dirty="0" smtClean="0">
                            <a:solidFill>
                              <a:srgbClr val="000000"/>
                            </a:solidFill>
                            <a:latin typeface="Cambria Math" panose="02040503050406030204" pitchFamily="18" charset="0"/>
                            <a:ea typeface="Times New Roman"/>
                            <a:cs typeface="Times New Roman"/>
                          </a:rPr>
                          <m:t>0</m:t>
                        </m:r>
                      </m:sub>
                    </m:sSub>
                  </m:oMath>
                </a14:m>
                <a:r>
                  <a:rPr lang="en-US" altLang="en-US" sz="2400" b="0" i="0" noProof="1">
                    <a:solidFill>
                      <a:srgbClr val="000000"/>
                    </a:solidFill>
                    <a:latin typeface="Times New Roman"/>
                    <a:ea typeface="標楷體"/>
                    <a:cs typeface="Times New Roman"/>
                  </a:rPr>
                  <a:t> from the angular pattern </a:t>
                </a:r>
                <a14:m>
                  <m:oMath xmlns:m="http://schemas.openxmlformats.org/officeDocument/2006/math">
                    <m:r>
                      <a:rPr lang="en-US" altLang="en-US" sz="2400" i="1" dirty="0" smtClean="0">
                        <a:solidFill>
                          <a:srgbClr val="000000"/>
                        </a:solidFill>
                        <a:latin typeface="Cambria Math" panose="02040503050406030204" pitchFamily="18" charset="0"/>
                        <a:ea typeface="Times New Roman"/>
                        <a:cs typeface="Times New Roman"/>
                      </a:rPr>
                      <m:t>𝐹</m:t>
                    </m:r>
                    <m:r>
                      <a:rPr lang="en-US" altLang="en-US" sz="2400" i="1" dirty="0" smtClean="0">
                        <a:solidFill>
                          <a:srgbClr val="000000"/>
                        </a:solidFill>
                        <a:latin typeface="Cambria Math" panose="02040503050406030204" pitchFamily="18" charset="0"/>
                        <a:ea typeface="Times New Roman"/>
                        <a:cs typeface="Times New Roman"/>
                      </a:rPr>
                      <m:t>​</m:t>
                    </m:r>
                    <m:d>
                      <m:dPr>
                        <m:ctrlPr>
                          <a:rPr lang="en-US" altLang="en-US" sz="2400" i="1" dirty="0" smtClean="0">
                            <a:solidFill>
                              <a:srgbClr val="000000"/>
                            </a:solidFill>
                            <a:latin typeface="Cambria Math" panose="02040503050406030204" pitchFamily="18" charset="0"/>
                            <a:ea typeface="Times New Roman"/>
                            <a:cs typeface="Times New Roman"/>
                          </a:rPr>
                        </m:ctrlPr>
                      </m:dPr>
                      <m:e>
                        <m:r>
                          <a:rPr lang="en-US" altLang="en-US" sz="2400" i="1" dirty="0" smtClean="0">
                            <a:solidFill>
                              <a:srgbClr val="000000"/>
                            </a:solidFill>
                            <a:latin typeface="Cambria Math" panose="02040503050406030204" pitchFamily="18" charset="0"/>
                            <a:ea typeface="Times New Roman"/>
                            <a:cs typeface="Times New Roman"/>
                          </a:rPr>
                          <m:t>𝜃</m:t>
                        </m:r>
                        <m:r>
                          <a:rPr lang="en-US" altLang="en-US" sz="2400" i="0" dirty="0" smtClean="0">
                            <a:solidFill>
                              <a:srgbClr val="000000"/>
                            </a:solidFill>
                            <a:latin typeface="Cambria Math" panose="02040503050406030204" pitchFamily="18" charset="0"/>
                            <a:ea typeface="Times New Roman"/>
                            <a:cs typeface="Times New Roman"/>
                          </a:rPr>
                          <m:t>,</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𝜃</m:t>
                            </m:r>
                          </m:e>
                          <m:sub>
                            <m:r>
                              <a:rPr lang="en-US" altLang="en-US" sz="2400" i="0" dirty="0" smtClean="0">
                                <a:solidFill>
                                  <a:srgbClr val="000000"/>
                                </a:solidFill>
                                <a:latin typeface="Cambria Math" panose="02040503050406030204" pitchFamily="18" charset="0"/>
                                <a:ea typeface="Times New Roman"/>
                                <a:cs typeface="Times New Roman"/>
                              </a:rPr>
                              <m:t>3</m:t>
                            </m:r>
                            <m:r>
                              <m:rPr>
                                <m:nor/>
                              </m:rPr>
                              <a:rPr lang="en-US" altLang="en-US" sz="2400" i="0" dirty="0" smtClean="0">
                                <a:solidFill>
                                  <a:srgbClr val="000000"/>
                                </a:solidFill>
                                <a:latin typeface="Times New Roman"/>
                                <a:ea typeface="Times New Roman"/>
                                <a:cs typeface="Times New Roman"/>
                              </a:rPr>
                              <m:t>dB</m:t>
                            </m:r>
                          </m:sub>
                        </m:sSub>
                      </m:e>
                    </m:d>
                  </m:oMath>
                </a14:m>
                <a:r>
                  <a:rPr lang="en-US" altLang="en-US" sz="2400" b="0" i="0" noProof="1">
                    <a:solidFill>
                      <a:srgbClr val="000000"/>
                    </a:solidFill>
                    <a:latin typeface="Times New Roman"/>
                    <a:ea typeface="標楷體"/>
                    <a:cs typeface="Times New Roman"/>
                  </a:rPr>
                  <a:t>. The pattern is unitless and decreases as the link moves away from beam centre.</a:t>
                </a:r>
                <a:endParaRPr lang="en-US" altLang="en-US" sz="2400" dirty="0">
                  <a:solidFill>
                    <a:srgbClr val="000000"/>
                  </a:solidFill>
                  <a:latin typeface="Times New Roman"/>
                  <a:ea typeface="Times New Roman"/>
                  <a:cs typeface="Times New Roman"/>
                </a:endParaRPr>
              </a:p>
              <a:p>
                <a:pPr algn="l">
                  <a:lnSpc>
                    <a:spcPct val="102000"/>
                  </a:lnSpc>
                  <a:spcAft>
                    <a:spcPts val="300"/>
                  </a:spcAft>
                </a:pPr>
                <a:r>
                  <a:rPr lang="en-US" altLang="en-US" sz="2400" b="0" i="0" noProof="1">
                    <a:solidFill>
                      <a:srgbClr val="000000"/>
                    </a:solidFill>
                    <a:latin typeface="Times New Roman"/>
                    <a:ea typeface="標楷體"/>
                    <a:cs typeface="Times New Roman"/>
                  </a:rPr>
                  <a:t>Thus </a:t>
                </a:r>
                <a14:m>
                  <m:oMath xmlns:m="http://schemas.openxmlformats.org/officeDocument/2006/math">
                    <m:r>
                      <a:rPr lang="en-US" altLang="en-US" sz="2400" i="1" dirty="0" smtClean="0">
                        <a:solidFill>
                          <a:srgbClr val="000000"/>
                        </a:solidFill>
                        <a:latin typeface="Cambria Math" panose="02040503050406030204" pitchFamily="18" charset="0"/>
                        <a:ea typeface="Times New Roman"/>
                        <a:cs typeface="Times New Roman"/>
                      </a:rPr>
                      <m:t>𝜃</m:t>
                    </m:r>
                    <m:r>
                      <a:rPr lang="en-US" altLang="en-US" sz="2400" i="0" dirty="0" smtClean="0">
                        <a:solidFill>
                          <a:srgbClr val="000000"/>
                        </a:solidFill>
                        <a:latin typeface="Cambria Math" panose="02040503050406030204" pitchFamily="18" charset="0"/>
                        <a:ea typeface="Times New Roman"/>
                        <a:cs typeface="Times New Roman"/>
                      </a:rPr>
                      <m:t>=0</m:t>
                    </m:r>
                  </m:oMath>
                </a14:m>
                <a:r>
                  <a:rPr lang="en-US" altLang="en-US" sz="2400" b="0" i="0" noProof="1">
                    <a:solidFill>
                      <a:srgbClr val="000000"/>
                    </a:solidFill>
                    <a:latin typeface="Times New Roman"/>
                    <a:ea typeface="標楷體"/>
                    <a:cs typeface="Times New Roman"/>
                  </a:rPr>
                  <a:t> gives </a:t>
                </a:r>
                <a14:m>
                  <m:oMath xmlns:m="http://schemas.openxmlformats.org/officeDocument/2006/math">
                    <m:r>
                      <a:rPr lang="en-US" altLang="en-US" sz="2400" i="1" dirty="0" smtClean="0">
                        <a:solidFill>
                          <a:srgbClr val="000000"/>
                        </a:solidFill>
                        <a:latin typeface="Cambria Math" panose="02040503050406030204" pitchFamily="18" charset="0"/>
                        <a:ea typeface="Times New Roman"/>
                        <a:cs typeface="Times New Roman"/>
                      </a:rPr>
                      <m:t>𝐹</m:t>
                    </m:r>
                    <m:r>
                      <a:rPr lang="en-US" altLang="en-US" sz="2400" i="0" dirty="0" smtClean="0">
                        <a:solidFill>
                          <a:srgbClr val="000000"/>
                        </a:solidFill>
                        <a:latin typeface="Cambria Math" panose="02040503050406030204" pitchFamily="18" charset="0"/>
                        <a:ea typeface="Times New Roman"/>
                        <a:cs typeface="Times New Roman"/>
                      </a:rPr>
                      <m:t>=1</m:t>
                    </m:r>
                  </m:oMath>
                </a14:m>
                <a:r>
                  <a:rPr lang="en-US" altLang="en-US" sz="2400" b="0" i="0" noProof="1">
                    <a:solidFill>
                      <a:srgbClr val="000000"/>
                    </a:solidFill>
                    <a:latin typeface="Times New Roman"/>
                    <a:ea typeface="標楷體"/>
                    <a:cs typeface="Times New Roman"/>
                  </a:rPr>
                  <a:t>; the half-power boundary is </a:t>
                </a:r>
                <a14:m>
                  <m:oMath xmlns:m="http://schemas.openxmlformats.org/officeDocument/2006/math">
                    <m:r>
                      <a:rPr lang="en-US" altLang="en-US" sz="2400" i="1" dirty="0" smtClean="0">
                        <a:solidFill>
                          <a:srgbClr val="000000"/>
                        </a:solidFill>
                        <a:latin typeface="Cambria Math" panose="02040503050406030204" pitchFamily="18" charset="0"/>
                        <a:ea typeface="Times New Roman"/>
                        <a:cs typeface="Times New Roman"/>
                      </a:rPr>
                      <m:t>𝜃</m:t>
                    </m:r>
                    <m:r>
                      <a:rPr lang="en-US" altLang="en-US" sz="2400" i="0" dirty="0" smtClean="0">
                        <a:solidFill>
                          <a:srgbClr val="000000"/>
                        </a:solidFill>
                        <a:latin typeface="Cambria Math" panose="02040503050406030204" pitchFamily="18" charset="0"/>
                        <a:ea typeface="Times New Roman"/>
                        <a:cs typeface="Times New Roman"/>
                      </a:rPr>
                      <m:t>=</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𝜃</m:t>
                        </m:r>
                      </m:e>
                      <m:sub>
                        <m:r>
                          <a:rPr lang="en-US" altLang="en-US" sz="2400" i="0" dirty="0" smtClean="0">
                            <a:solidFill>
                              <a:srgbClr val="000000"/>
                            </a:solidFill>
                            <a:latin typeface="Cambria Math" panose="02040503050406030204" pitchFamily="18" charset="0"/>
                            <a:ea typeface="Times New Roman"/>
                            <a:cs typeface="Times New Roman"/>
                          </a:rPr>
                          <m:t>3</m:t>
                        </m:r>
                        <m:r>
                          <m:rPr>
                            <m:nor/>
                          </m:rPr>
                          <a:rPr lang="en-US" altLang="en-US" sz="2400" i="0" dirty="0" smtClean="0">
                            <a:solidFill>
                              <a:srgbClr val="000000"/>
                            </a:solidFill>
                            <a:latin typeface="Times New Roman"/>
                            <a:ea typeface="Times New Roman"/>
                            <a:cs typeface="Times New Roman"/>
                          </a:rPr>
                          <m:t>dB</m:t>
                        </m:r>
                      </m:sub>
                    </m:sSub>
                    <m:r>
                      <a:rPr lang="en-US" altLang="en-US" sz="2400" i="0" dirty="0" smtClean="0">
                        <a:solidFill>
                          <a:srgbClr val="000000"/>
                        </a:solidFill>
                        <a:latin typeface="Cambria Math" panose="02040503050406030204" pitchFamily="18" charset="0"/>
                        <a:ea typeface="Times New Roman"/>
                        <a:cs typeface="Times New Roman"/>
                      </a:rPr>
                      <m:t>/2</m:t>
                    </m:r>
                  </m:oMath>
                </a14:m>
                <a:r>
                  <a:rPr lang="en-US" altLang="en-US" sz="2400" b="0" i="0" noProof="1">
                    <a:solidFill>
                      <a:srgbClr val="000000"/>
                    </a:solidFill>
                    <a:latin typeface="Times New Roman"/>
                    <a:ea typeface="標楷體"/>
                    <a:cs typeface="Times New Roman"/>
                  </a:rPr>
                  <a:t> with </a:t>
                </a:r>
                <a14:m>
                  <m:oMath xmlns:m="http://schemas.openxmlformats.org/officeDocument/2006/math">
                    <m:r>
                      <a:rPr lang="en-US" altLang="en-US" sz="2400" i="1" dirty="0" smtClean="0">
                        <a:solidFill>
                          <a:srgbClr val="000000"/>
                        </a:solidFill>
                        <a:latin typeface="Cambria Math" panose="02040503050406030204" pitchFamily="18" charset="0"/>
                        <a:ea typeface="Times New Roman"/>
                        <a:cs typeface="Times New Roman"/>
                      </a:rPr>
                      <m:t>𝐹</m:t>
                    </m:r>
                    <m:r>
                      <a:rPr lang="en-US" altLang="en-US" sz="2400" i="0" dirty="0" smtClean="0">
                        <a:solidFill>
                          <a:srgbClr val="000000"/>
                        </a:solidFill>
                        <a:latin typeface="Cambria Math" panose="02040503050406030204" pitchFamily="18" charset="0"/>
                        <a:ea typeface="Times New Roman"/>
                        <a:cs typeface="Times New Roman"/>
                      </a:rPr>
                      <m:t>=0.5</m:t>
                    </m:r>
                  </m:oMath>
                </a14:m>
                <a:r>
                  <a:rPr lang="en-US" altLang="en-US" sz="2400" b="0" i="0" noProof="1">
                    <a:solidFill>
                      <a:srgbClr val="000000"/>
                    </a:solidFill>
                    <a:latin typeface="Times New Roman"/>
                    <a:ea typeface="標楷體"/>
                    <a:cs typeface="Times New Roman"/>
                  </a:rPr>
                  <a:t> (−3 dB).</a:t>
                </a:r>
                <a:endParaRPr lang="en-US" altLang="en-US" sz="2400" dirty="0">
                  <a:solidFill>
                    <a:srgbClr val="000000"/>
                  </a:solidFill>
                  <a:latin typeface="Times New Roman"/>
                  <a:ea typeface="Times New Roman"/>
                  <a:cs typeface="Times New Roman"/>
                </a:endParaRPr>
              </a:p>
            </p:txBody>
          </p:sp>
        </mc:Choice>
        <mc:Fallback xmlns="">
          <p:sp>
            <p:nvSpPr>
              <p:cNvPr id="7" name="edu:gain-reading"/>
              <p:cNvSpPr txBox="1">
                <a:spLocks noRot="1" noChangeAspect="1" noMove="1" noResize="1" noEditPoints="1" noAdjustHandles="1" noChangeArrowheads="1" noChangeShapeType="1" noTextEdit="1"/>
              </p:cNvSpPr>
              <p:nvPr/>
            </p:nvSpPr>
            <p:spPr>
              <a:xfrm>
                <a:off x="658368" y="2630906"/>
                <a:ext cx="11064240" cy="1170432"/>
              </a:xfrm>
              <a:prstGeom prst="rect">
                <a:avLst/>
              </a:prstGeom>
              <a:blipFill>
                <a:blip r:embed="rId4"/>
                <a:stretch>
                  <a:fillRect l="-1653" t="-5729" r="-2094" b="-18750"/>
                </a:stretch>
              </a:blipFill>
              <a:effectLst/>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edu:notation"/>
              <p:cNvSpPr txBox="1"/>
              <p:nvPr/>
            </p:nvSpPr>
            <p:spPr>
              <a:xfrm>
                <a:off x="565190" y="4257752"/>
                <a:ext cx="11064240" cy="1649577"/>
              </a:xfrm>
              <a:prstGeom prst="rect">
                <a:avLst/>
              </a:prstGeom>
              <a:noFill/>
              <a:effectLst/>
            </p:spPr>
            <p:txBody>
              <a:bodyPr wrap="square" lIns="0" tIns="0" rIns="0" bIns="0" anchor="t">
                <a:noAutofit/>
              </a:bodyPr>
              <a:lstStyle/>
              <a:p>
                <a:pPr algn="l">
                  <a:lnSpc>
                    <a:spcPct val="100000"/>
                  </a:lnSpc>
                  <a:spcAft>
                    <a:spcPts val="200"/>
                  </a:spcAft>
                </a:pPr>
                <a:r>
                  <a:rPr lang="en-US" altLang="en-US" sz="2400" b="1" i="0" noProof="1">
                    <a:solidFill>
                      <a:srgbClr val="000000"/>
                    </a:solidFill>
                    <a:latin typeface="Times New Roman"/>
                    <a:ea typeface="標楷體"/>
                    <a:cs typeface="Times New Roman"/>
                  </a:rPr>
                  <a:t>Notation</a:t>
                </a:r>
              </a:p>
              <a:p>
                <a:pPr algn="l">
                  <a:lnSpc>
                    <a:spcPct val="100000"/>
                  </a:lnSpc>
                  <a:spcAft>
                    <a:spcPts val="200"/>
                  </a:spcAft>
                </a:pPr>
                <a14:m>
                  <m:oMath xmlns:m="http://schemas.openxmlformats.org/officeDocument/2006/math">
                    <m:sSup>
                      <m:sSupPr>
                        <m:ctrlPr>
                          <a:rPr lang="en-US" altLang="en-US" sz="2400" i="1" dirty="0" smtClean="0">
                            <a:solidFill>
                              <a:srgbClr val="000000"/>
                            </a:solidFill>
                            <a:latin typeface="Cambria Math" panose="02040503050406030204" pitchFamily="18" charset="0"/>
                            <a:ea typeface="Times New Roman"/>
                            <a:cs typeface="Times New Roman"/>
                          </a:rPr>
                        </m:ctrlPr>
                      </m:sSupPr>
                      <m:e>
                        <m:r>
                          <a:rPr lang="en-US" altLang="en-US" sz="2400" i="1" dirty="0" smtClean="0">
                            <a:solidFill>
                              <a:srgbClr val="000000"/>
                            </a:solidFill>
                            <a:latin typeface="Cambria Math" panose="02040503050406030204" pitchFamily="18" charset="0"/>
                            <a:ea typeface="Times New Roman"/>
                            <a:cs typeface="Times New Roman"/>
                          </a:rPr>
                          <m:t>𝐺</m:t>
                        </m:r>
                      </m:e>
                      <m:sup>
                        <m:r>
                          <a:rPr lang="en-US" altLang="en-US" sz="2400" i="1" dirty="0" smtClean="0">
                            <a:solidFill>
                              <a:srgbClr val="000000"/>
                            </a:solidFill>
                            <a:latin typeface="Cambria Math" panose="02040503050406030204" pitchFamily="18" charset="0"/>
                            <a:ea typeface="Times New Roman"/>
                            <a:cs typeface="Times New Roman"/>
                          </a:rPr>
                          <m:t>𝑇</m:t>
                        </m:r>
                      </m:sup>
                    </m:sSup>
                    <m:r>
                      <a:rPr lang="en-US" altLang="en-US" sz="2400" i="1" dirty="0" smtClean="0">
                        <a:solidFill>
                          <a:srgbClr val="000000"/>
                        </a:solidFill>
                        <a:latin typeface="Cambria Math" panose="02040503050406030204" pitchFamily="18" charset="0"/>
                        <a:ea typeface="Times New Roman"/>
                        <a:cs typeface="Times New Roman"/>
                      </a:rPr>
                      <m:t>​</m:t>
                    </m:r>
                    <m:d>
                      <m:dPr>
                        <m:ctrlPr>
                          <a:rPr lang="en-US" altLang="en-US" sz="2400" i="1" dirty="0" smtClean="0">
                            <a:solidFill>
                              <a:srgbClr val="000000"/>
                            </a:solidFill>
                            <a:latin typeface="Cambria Math" panose="02040503050406030204" pitchFamily="18" charset="0"/>
                            <a:ea typeface="Times New Roman"/>
                            <a:cs typeface="Times New Roman"/>
                          </a:rPr>
                        </m:ctrlPr>
                      </m:dPr>
                      <m:e>
                        <m:r>
                          <a:rPr lang="en-US" altLang="en-US" sz="2400" i="1" dirty="0" smtClean="0">
                            <a:solidFill>
                              <a:srgbClr val="000000"/>
                            </a:solidFill>
                            <a:latin typeface="Cambria Math" panose="02040503050406030204" pitchFamily="18" charset="0"/>
                            <a:ea typeface="Times New Roman"/>
                            <a:cs typeface="Times New Roman"/>
                          </a:rPr>
                          <m:t>𝜃</m:t>
                        </m:r>
                        <m:r>
                          <a:rPr lang="en-US" altLang="en-US" sz="2400" i="0" dirty="0" smtClean="0">
                            <a:solidFill>
                              <a:srgbClr val="000000"/>
                            </a:solidFill>
                            <a:latin typeface="Cambria Math" panose="02040503050406030204" pitchFamily="18" charset="0"/>
                            <a:ea typeface="Times New Roman"/>
                            <a:cs typeface="Times New Roman"/>
                          </a:rPr>
                          <m:t>,</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𝜃</m:t>
                            </m:r>
                          </m:e>
                          <m:sub>
                            <m:r>
                              <a:rPr lang="en-US" altLang="en-US" sz="2400" i="0" dirty="0" smtClean="0">
                                <a:solidFill>
                                  <a:srgbClr val="000000"/>
                                </a:solidFill>
                                <a:latin typeface="Cambria Math" panose="02040503050406030204" pitchFamily="18" charset="0"/>
                                <a:ea typeface="Times New Roman"/>
                                <a:cs typeface="Times New Roman"/>
                              </a:rPr>
                              <m:t>3</m:t>
                            </m:r>
                            <m:r>
                              <m:rPr>
                                <m:nor/>
                              </m:rPr>
                              <a:rPr lang="en-US" altLang="en-US" sz="2400" i="0" dirty="0" smtClean="0">
                                <a:solidFill>
                                  <a:srgbClr val="000000"/>
                                </a:solidFill>
                                <a:latin typeface="Times New Roman"/>
                                <a:ea typeface="Times New Roman"/>
                                <a:cs typeface="Times New Roman"/>
                              </a:rPr>
                              <m:t>dB</m:t>
                            </m:r>
                          </m:sub>
                        </m:sSub>
                      </m:e>
                    </m:d>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 </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𝐺</m:t>
                        </m:r>
                      </m:e>
                      <m:sub>
                        <m:r>
                          <a:rPr lang="en-US" altLang="en-US" sz="2400" i="0" dirty="0" smtClean="0">
                            <a:solidFill>
                              <a:srgbClr val="000000"/>
                            </a:solidFill>
                            <a:latin typeface="Cambria Math" panose="02040503050406030204" pitchFamily="18" charset="0"/>
                            <a:ea typeface="Times New Roman"/>
                            <a:cs typeface="Times New Roman"/>
                          </a:rPr>
                          <m:t>0</m:t>
                        </m:r>
                      </m:sub>
                    </m:sSub>
                  </m:oMath>
                </a14:m>
                <a:r>
                  <a:rPr lang="en-US" altLang="en-US" sz="2400" b="0" i="0" noProof="1">
                    <a:solidFill>
                      <a:srgbClr val="000000"/>
                    </a:solidFill>
                    <a:latin typeface="Times New Roman"/>
                    <a:ea typeface="標楷體"/>
                    <a:cs typeface="Times New Roman"/>
                  </a:rPr>
                  <a:t>: transmit gain and on-axis peak</a:t>
                </a:r>
                <a:endParaRPr lang="en-US" altLang="en-US" dirty="0">
                  <a:solidFill>
                    <a:srgbClr val="000000"/>
                  </a:solidFill>
                  <a:latin typeface="Times New Roman"/>
                  <a:ea typeface="Times New Roman"/>
                  <a:cs typeface="Times New Roman"/>
                </a:endParaRPr>
              </a:p>
              <a:p>
                <a:pPr>
                  <a:spcAft>
                    <a:spcPts val="200"/>
                  </a:spcAft>
                </a:pPr>
                <a14:m>
                  <m:oMath xmlns:m="http://schemas.openxmlformats.org/officeDocument/2006/math">
                    <m:r>
                      <a:rPr lang="en-US" altLang="en-US" sz="2400" i="1" dirty="0" smtClean="0">
                        <a:solidFill>
                          <a:srgbClr val="000000"/>
                        </a:solidFill>
                        <a:latin typeface="Cambria Math" panose="02040503050406030204" pitchFamily="18" charset="0"/>
                        <a:ea typeface="Times New Roman"/>
                        <a:cs typeface="Times New Roman"/>
                      </a:rPr>
                      <m:t>𝜃</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 </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𝜃</m:t>
                        </m:r>
                      </m:e>
                      <m:sub>
                        <m:r>
                          <a:rPr lang="en-US" altLang="en-US" sz="2400" i="0" dirty="0" smtClean="0">
                            <a:solidFill>
                              <a:srgbClr val="000000"/>
                            </a:solidFill>
                            <a:latin typeface="Cambria Math" panose="02040503050406030204" pitchFamily="18" charset="0"/>
                            <a:ea typeface="Times New Roman"/>
                            <a:cs typeface="Times New Roman"/>
                          </a:rPr>
                          <m:t>3</m:t>
                        </m:r>
                        <m:r>
                          <m:rPr>
                            <m:nor/>
                          </m:rPr>
                          <a:rPr lang="en-US" altLang="en-US" sz="2400" i="0" dirty="0" smtClean="0">
                            <a:solidFill>
                              <a:srgbClr val="000000"/>
                            </a:solidFill>
                            <a:latin typeface="Times New Roman"/>
                            <a:ea typeface="Times New Roman"/>
                            <a:cs typeface="Times New Roman"/>
                          </a:rPr>
                          <m:t>dB</m:t>
                        </m:r>
                      </m:sub>
                    </m:sSub>
                  </m:oMath>
                </a14:m>
                <a:r>
                  <a:rPr lang="en-US" altLang="en-US" sz="2400" b="0" i="0" noProof="1">
                    <a:solidFill>
                      <a:srgbClr val="000000"/>
                    </a:solidFill>
                    <a:latin typeface="Times New Roman"/>
                    <a:ea typeface="標楷體"/>
                    <a:cs typeface="Times New Roman"/>
                  </a:rPr>
                  <a:t>: instantaneous angle and fixed full 3-dB beamwidth </a:t>
                </a:r>
                <a14:m>
                  <m:oMath xmlns:m="http://schemas.openxmlformats.org/officeDocument/2006/math">
                    <m:sSub>
                      <m:sSubPr>
                        <m:ctrlPr>
                          <a:rPr lang="en-US" altLang="en-US" sz="2400" i="1" dirty="0">
                            <a:solidFill>
                              <a:srgbClr val="000000"/>
                            </a:solidFill>
                            <a:latin typeface="Cambria Math" panose="02040503050406030204" pitchFamily="18" charset="0"/>
                            <a:ea typeface="Times New Roman"/>
                            <a:cs typeface="Times New Roman"/>
                          </a:rPr>
                        </m:ctrlPr>
                      </m:sSubPr>
                      <m:e>
                        <m:r>
                          <a:rPr lang="en-US" altLang="en-US" sz="2400" i="1" dirty="0">
                            <a:solidFill>
                              <a:srgbClr val="000000"/>
                            </a:solidFill>
                            <a:latin typeface="Cambria Math" panose="02040503050406030204" pitchFamily="18" charset="0"/>
                            <a:ea typeface="Times New Roman"/>
                            <a:cs typeface="Times New Roman"/>
                          </a:rPr>
                          <m:t>𝜃</m:t>
                        </m:r>
                      </m:e>
                      <m:sub>
                        <m:r>
                          <a:rPr lang="en-US" altLang="en-US" sz="2400" dirty="0">
                            <a:solidFill>
                              <a:srgbClr val="000000"/>
                            </a:solidFill>
                            <a:latin typeface="Cambria Math" panose="02040503050406030204" pitchFamily="18" charset="0"/>
                            <a:ea typeface="Times New Roman"/>
                            <a:cs typeface="Times New Roman"/>
                          </a:rPr>
                          <m:t>3</m:t>
                        </m:r>
                        <m:r>
                          <m:rPr>
                            <m:nor/>
                          </m:rPr>
                          <a:rPr lang="en-US" altLang="en-US" sz="2400" i="0" dirty="0">
                            <a:solidFill>
                              <a:srgbClr val="000000"/>
                            </a:solidFill>
                            <a:ea typeface="Times New Roman"/>
                            <a:cs typeface="Times New Roman"/>
                          </a:rPr>
                          <m:t>dB</m:t>
                        </m:r>
                      </m:sub>
                    </m:sSub>
                  </m:oMath>
                </a14:m>
                <a:endParaRPr lang="en-US" altLang="en-US" dirty="0">
                  <a:solidFill>
                    <a:srgbClr val="000000"/>
                  </a:solidFill>
                  <a:latin typeface="Times New Roman"/>
                  <a:ea typeface="Times New Roman"/>
                  <a:cs typeface="Times New Roman"/>
                </a:endParaRPr>
              </a:p>
              <a:p>
                <a:pPr algn="l">
                  <a:lnSpc>
                    <a:spcPct val="100000"/>
                  </a:lnSpc>
                  <a:spcAft>
                    <a:spcPts val="200"/>
                  </a:spcAft>
                </a:pPr>
                <a14:m>
                  <m:oMath xmlns:m="http://schemas.openxmlformats.org/officeDocument/2006/math">
                    <m:r>
                      <a:rPr lang="en-US" altLang="en-US" sz="2400" i="1" dirty="0" smtClean="0">
                        <a:solidFill>
                          <a:srgbClr val="000000"/>
                        </a:solidFill>
                        <a:latin typeface="Cambria Math" panose="02040503050406030204" pitchFamily="18" charset="0"/>
                        <a:ea typeface="Times New Roman"/>
                        <a:cs typeface="Times New Roman"/>
                      </a:rPr>
                      <m:t>𝐹</m:t>
                    </m:r>
                    <m:r>
                      <a:rPr lang="en-US" altLang="en-US" sz="2400" i="1" dirty="0" smtClean="0">
                        <a:solidFill>
                          <a:srgbClr val="000000"/>
                        </a:solidFill>
                        <a:latin typeface="Cambria Math" panose="02040503050406030204" pitchFamily="18" charset="0"/>
                        <a:ea typeface="Times New Roman"/>
                        <a:cs typeface="Times New Roman"/>
                      </a:rPr>
                      <m:t>​</m:t>
                    </m:r>
                    <m:d>
                      <m:dPr>
                        <m:ctrlPr>
                          <a:rPr lang="en-US" altLang="en-US" sz="2400" i="1" dirty="0" smtClean="0">
                            <a:solidFill>
                              <a:srgbClr val="000000"/>
                            </a:solidFill>
                            <a:latin typeface="Cambria Math" panose="02040503050406030204" pitchFamily="18" charset="0"/>
                            <a:ea typeface="Times New Roman"/>
                            <a:cs typeface="Times New Roman"/>
                          </a:rPr>
                        </m:ctrlPr>
                      </m:dPr>
                      <m:e>
                        <m:r>
                          <a:rPr lang="en-US" altLang="en-US" sz="2400" i="1" dirty="0" smtClean="0">
                            <a:solidFill>
                              <a:srgbClr val="000000"/>
                            </a:solidFill>
                            <a:latin typeface="Cambria Math" panose="02040503050406030204" pitchFamily="18" charset="0"/>
                            <a:ea typeface="Times New Roman"/>
                            <a:cs typeface="Times New Roman"/>
                          </a:rPr>
                          <m:t>𝜃</m:t>
                        </m:r>
                        <m:r>
                          <a:rPr lang="en-US" altLang="en-US" sz="2400" i="0" dirty="0" smtClean="0">
                            <a:solidFill>
                              <a:srgbClr val="000000"/>
                            </a:solidFill>
                            <a:latin typeface="Cambria Math" panose="02040503050406030204" pitchFamily="18" charset="0"/>
                            <a:ea typeface="Times New Roman"/>
                            <a:cs typeface="Times New Roman"/>
                          </a:rPr>
                          <m:t>,</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𝜃</m:t>
                            </m:r>
                          </m:e>
                          <m:sub>
                            <m:r>
                              <a:rPr lang="en-US" altLang="en-US" sz="2400" i="0" dirty="0" smtClean="0">
                                <a:solidFill>
                                  <a:srgbClr val="000000"/>
                                </a:solidFill>
                                <a:latin typeface="Cambria Math" panose="02040503050406030204" pitchFamily="18" charset="0"/>
                                <a:ea typeface="Times New Roman"/>
                                <a:cs typeface="Times New Roman"/>
                              </a:rPr>
                              <m:t>3</m:t>
                            </m:r>
                            <m:r>
                              <m:rPr>
                                <m:nor/>
                              </m:rPr>
                              <a:rPr lang="en-US" altLang="en-US" sz="2400" i="0" dirty="0" smtClean="0">
                                <a:solidFill>
                                  <a:srgbClr val="000000"/>
                                </a:solidFill>
                                <a:latin typeface="Times New Roman"/>
                                <a:ea typeface="Times New Roman"/>
                                <a:cs typeface="Times New Roman"/>
                              </a:rPr>
                              <m:t>dB</m:t>
                            </m:r>
                          </m:sub>
                        </m:sSub>
                      </m:e>
                    </m:d>
                  </m:oMath>
                </a14:m>
                <a:r>
                  <a:rPr lang="en-US" altLang="en-US" sz="2400" b="0" i="0" noProof="1">
                    <a:solidFill>
                      <a:srgbClr val="000000"/>
                    </a:solidFill>
                    <a:latin typeface="Times New Roman"/>
                    <a:ea typeface="標楷體"/>
                    <a:cs typeface="Times New Roman"/>
                  </a:rPr>
                  <a:t>: normalized transmit pattern</a:t>
                </a:r>
                <a:endParaRPr lang="en-US" altLang="en-US" dirty="0">
                  <a:solidFill>
                    <a:srgbClr val="000000"/>
                  </a:solidFill>
                  <a:latin typeface="Times New Roman"/>
                  <a:ea typeface="Times New Roman"/>
                  <a:cs typeface="Times New Roman"/>
                </a:endParaRPr>
              </a:p>
            </p:txBody>
          </p:sp>
        </mc:Choice>
        <mc:Fallback xmlns="">
          <p:sp>
            <p:nvSpPr>
              <p:cNvPr id="8" name="edu:notation"/>
              <p:cNvSpPr txBox="1">
                <a:spLocks noRot="1" noChangeAspect="1" noMove="1" noResize="1" noEditPoints="1" noAdjustHandles="1" noChangeArrowheads="1" noChangeShapeType="1" noTextEdit="1"/>
              </p:cNvSpPr>
              <p:nvPr/>
            </p:nvSpPr>
            <p:spPr>
              <a:xfrm>
                <a:off x="565190" y="4257752"/>
                <a:ext cx="11064240" cy="1649577"/>
              </a:xfrm>
              <a:prstGeom prst="rect">
                <a:avLst/>
              </a:prstGeom>
              <a:blipFill>
                <a:blip r:embed="rId5"/>
                <a:stretch>
                  <a:fillRect l="-1708" t="-5535" b="-10701"/>
                </a:stretch>
              </a:blipFill>
              <a:effectLst/>
            </p:spPr>
            <p:txBody>
              <a:bodyPr/>
              <a:lstStyle/>
              <a:p>
                <a:r>
                  <a:rPr lang="zh-TW" altLang="en-US">
                    <a:noFill/>
                  </a:rPr>
                  <a:t> </a:t>
                </a:r>
              </a:p>
            </p:txBody>
          </p:sp>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edu:title"/>
              <p:cNvSpPr txBox="1"/>
              <p:nvPr/>
            </p:nvSpPr>
            <p:spPr>
              <a:xfrm>
                <a:off x="565190" y="250596"/>
                <a:ext cx="11417289" cy="462178"/>
              </a:xfrm>
              <a:prstGeom prst="rect">
                <a:avLst/>
              </a:prstGeom>
              <a:noFill/>
            </p:spPr>
            <p:txBody>
              <a:bodyPr wrap="square" lIns="0" tIns="0" rIns="0" bIns="0" anchor="b">
                <a:spAutoFit/>
              </a:bodyPr>
              <a:lstStyle/>
              <a:p>
                <a:r>
                  <a:rPr lang="en-US" altLang="en-US" sz="2800" b="1" i="0" noProof="1">
                    <a:solidFill>
                      <a:srgbClr val="1B365D"/>
                    </a:solidFill>
                    <a:latin typeface="Times New Roman"/>
                    <a:ea typeface="標楷體"/>
                    <a:cs typeface="Times New Roman"/>
                  </a:rPr>
                  <a:t>How F and </a:t>
                </a:r>
                <a14:m>
                  <m:oMath xmlns:m="http://schemas.openxmlformats.org/officeDocument/2006/math">
                    <m:sSub>
                      <m:sSubPr>
                        <m:ctrlPr>
                          <a:rPr lang="en-US" altLang="en-US" sz="2800" i="1" dirty="0">
                            <a:solidFill>
                              <a:srgbClr val="000000"/>
                            </a:solidFill>
                            <a:latin typeface="Cambria Math" panose="02040503050406030204" pitchFamily="18" charset="0"/>
                            <a:ea typeface="Times New Roman"/>
                            <a:cs typeface="Times New Roman"/>
                          </a:rPr>
                        </m:ctrlPr>
                      </m:sSubPr>
                      <m:e>
                        <m:r>
                          <a:rPr lang="en-US" altLang="en-US" sz="2800" i="1" dirty="0">
                            <a:solidFill>
                              <a:srgbClr val="000000"/>
                            </a:solidFill>
                            <a:latin typeface="Cambria Math" panose="02040503050406030204" pitchFamily="18" charset="0"/>
                            <a:ea typeface="Times New Roman"/>
                            <a:cs typeface="Times New Roman"/>
                          </a:rPr>
                          <m:t>𝜃</m:t>
                        </m:r>
                      </m:e>
                      <m:sub>
                        <m:r>
                          <a:rPr lang="en-US" altLang="en-US" sz="2800" dirty="0">
                            <a:solidFill>
                              <a:srgbClr val="000000"/>
                            </a:solidFill>
                            <a:latin typeface="Cambria Math" panose="02040503050406030204" pitchFamily="18" charset="0"/>
                            <a:ea typeface="Times New Roman"/>
                            <a:cs typeface="Times New Roman"/>
                          </a:rPr>
                          <m:t>3</m:t>
                        </m:r>
                        <m:r>
                          <m:rPr>
                            <m:nor/>
                          </m:rPr>
                          <a:rPr lang="en-US" altLang="en-US" sz="2800" dirty="0">
                            <a:solidFill>
                              <a:srgbClr val="000000"/>
                            </a:solidFill>
                            <a:ea typeface="Times New Roman"/>
                            <a:cs typeface="Times New Roman"/>
                          </a:rPr>
                          <m:t>dB</m:t>
                        </m:r>
                      </m:sub>
                    </m:sSub>
                  </m:oMath>
                </a14:m>
                <a:r>
                  <a:rPr lang="en-US" altLang="en-US" sz="2800" b="1" i="0" noProof="1">
                    <a:solidFill>
                      <a:srgbClr val="1B365D"/>
                    </a:solidFill>
                    <a:latin typeface="Times New Roman"/>
                    <a:ea typeface="標楷體"/>
                    <a:cs typeface="Times New Roman"/>
                  </a:rPr>
                  <a:t> Shape the Beam</a:t>
                </a:r>
              </a:p>
            </p:txBody>
          </p:sp>
        </mc:Choice>
        <mc:Fallback>
          <p:sp>
            <p:nvSpPr>
              <p:cNvPr id="2" name="edu:title"/>
              <p:cNvSpPr txBox="1">
                <a:spLocks noRot="1" noChangeAspect="1" noMove="1" noResize="1" noEditPoints="1" noAdjustHandles="1" noChangeArrowheads="1" noChangeShapeType="1" noTextEdit="1"/>
              </p:cNvSpPr>
              <p:nvPr/>
            </p:nvSpPr>
            <p:spPr>
              <a:xfrm>
                <a:off x="565190" y="250596"/>
                <a:ext cx="11417289" cy="462178"/>
              </a:xfrm>
              <a:prstGeom prst="rect">
                <a:avLst/>
              </a:prstGeom>
              <a:blipFill>
                <a:blip r:embed="rId3"/>
                <a:stretch>
                  <a:fillRect l="-1922" t="-22368" b="-39474"/>
                </a:stretch>
              </a:blipFill>
            </p:spPr>
            <p:txBody>
              <a:bodyPr/>
              <a:lstStyle/>
              <a:p>
                <a:r>
                  <a:rPr lang="zh-TW" altLang="en-US">
                    <a:noFill/>
                  </a:rPr>
                  <a:t> </a:t>
                </a:r>
              </a:p>
            </p:txBody>
          </p:sp>
        </mc:Fallback>
      </mc:AlternateContent>
      <p:sp>
        <p:nvSpPr>
          <p:cNvPr id="3" name="edu:citation"/>
          <p:cNvSpPr txBox="1"/>
          <p:nvPr/>
        </p:nvSpPr>
        <p:spPr>
          <a:xfrm>
            <a:off x="495330" y="6316675"/>
            <a:ext cx="11018520" cy="505663"/>
          </a:xfrm>
          <a:prstGeom prst="rect">
            <a:avLst/>
          </a:prstGeom>
          <a:noFill/>
        </p:spPr>
        <p:txBody>
          <a:bodyPr wrap="square" lIns="0" tIns="0" rIns="0" bIns="0" anchor="t">
            <a:spAutoFit/>
          </a:bodyPr>
          <a:lstStyle/>
          <a:p>
            <a:pPr algn="l">
              <a:lnSpc>
                <a:spcPct val="105000"/>
              </a:lnSpc>
            </a:pPr>
            <a:r>
              <a:rPr lang="en-US" altLang="en-US" sz="1400" b="0" i="0" noProof="1">
                <a:solidFill>
                  <a:srgbClr val="000000"/>
                </a:solidFill>
                <a:latin typeface="Times New Roman"/>
                <a:ea typeface="標楷體"/>
                <a:cs typeface="Times New Roman"/>
              </a:rPr>
              <a:t>S.-H. Chen et al., “Energy-Efficient Joint Handover and Beam Switching Scheme for Multi-LEO Networks,” IEEE Vehicular Technology Conference (VTC2024-Spring), Singapore, 2024.</a:t>
            </a:r>
          </a:p>
        </p:txBody>
      </p:sp>
      <mc:AlternateContent xmlns:mc="http://schemas.openxmlformats.org/markup-compatibility/2006" xmlns:a14="http://schemas.microsoft.com/office/drawing/2010/main">
        <mc:Choice Requires="a14">
          <p:sp>
            <p:nvSpPr>
              <p:cNvPr id="5" name="edu:body"/>
              <p:cNvSpPr txBox="1"/>
              <p:nvPr/>
            </p:nvSpPr>
            <p:spPr>
              <a:xfrm>
                <a:off x="566928" y="932688"/>
                <a:ext cx="11064240" cy="758797"/>
              </a:xfrm>
              <a:prstGeom prst="rect">
                <a:avLst/>
              </a:prstGeom>
              <a:noFill/>
            </p:spPr>
            <p:txBody>
              <a:bodyPr wrap="square" lIns="0" tIns="0" rIns="0" bIns="0" anchor="t">
                <a:spAutoFit/>
              </a:bodyPr>
              <a:lstStyle/>
              <a:p>
                <a:pPr>
                  <a:lnSpc>
                    <a:spcPct val="102000"/>
                  </a:lnSpc>
                </a:pPr>
                <a:r>
                  <a:rPr lang="en-US" altLang="en-US" sz="2400" b="0" i="0" noProof="1">
                    <a:solidFill>
                      <a:srgbClr val="000000"/>
                    </a:solidFill>
                    <a:latin typeface="Times New Roman"/>
                    <a:ea typeface="標楷體"/>
                    <a:cs typeface="Times New Roman"/>
                  </a:rPr>
                  <a:t>The curve is the normalized power pattern F: the centre is 1, and the fixed </a:t>
                </a:r>
                <a14:m>
                  <m:oMath xmlns:m="http://schemas.openxmlformats.org/officeDocument/2006/math">
                    <m:sSub>
                      <m:sSubPr>
                        <m:ctrlPr>
                          <a:rPr lang="en-US" altLang="en-US" sz="2400" i="1" dirty="0">
                            <a:solidFill>
                              <a:srgbClr val="000000"/>
                            </a:solidFill>
                            <a:latin typeface="Cambria Math" panose="02040503050406030204" pitchFamily="18" charset="0"/>
                            <a:ea typeface="Times New Roman"/>
                            <a:cs typeface="Times New Roman"/>
                          </a:rPr>
                        </m:ctrlPr>
                      </m:sSubPr>
                      <m:e>
                        <m:r>
                          <a:rPr lang="en-US" altLang="en-US" sz="2400" i="1" dirty="0">
                            <a:solidFill>
                              <a:srgbClr val="000000"/>
                            </a:solidFill>
                            <a:latin typeface="Cambria Math" panose="02040503050406030204" pitchFamily="18" charset="0"/>
                            <a:ea typeface="Times New Roman"/>
                            <a:cs typeface="Times New Roman"/>
                          </a:rPr>
                          <m:t>𝜃</m:t>
                        </m:r>
                      </m:e>
                      <m:sub>
                        <m:r>
                          <a:rPr lang="en-US" altLang="en-US" sz="2400" dirty="0">
                            <a:solidFill>
                              <a:srgbClr val="000000"/>
                            </a:solidFill>
                            <a:latin typeface="Cambria Math" panose="02040503050406030204" pitchFamily="18" charset="0"/>
                            <a:ea typeface="Times New Roman"/>
                            <a:cs typeface="Times New Roman"/>
                          </a:rPr>
                          <m:t>3</m:t>
                        </m:r>
                        <m:r>
                          <m:rPr>
                            <m:nor/>
                          </m:rPr>
                          <a:rPr lang="en-US" altLang="en-US" sz="2400" i="0" dirty="0">
                            <a:solidFill>
                              <a:srgbClr val="000000"/>
                            </a:solidFill>
                            <a:ea typeface="Times New Roman"/>
                            <a:cs typeface="Times New Roman"/>
                          </a:rPr>
                          <m:t>dB</m:t>
                        </m:r>
                      </m:sub>
                    </m:sSub>
                  </m:oMath>
                </a14:m>
                <a:r>
                  <a:rPr lang="en-US" altLang="en-US" sz="2400" b="0" i="0" noProof="1">
                    <a:solidFill>
                      <a:srgbClr val="000000"/>
                    </a:solidFill>
                    <a:latin typeface="Times New Roman"/>
                    <a:ea typeface="標楷體"/>
                    <a:cs typeface="Times New Roman"/>
                  </a:rPr>
                  <a:t> width marks where the pattern reaches 0.5 (−3 dB).</a:t>
                </a:r>
              </a:p>
            </p:txBody>
          </p:sp>
        </mc:Choice>
        <mc:Fallback xmlns="">
          <p:sp>
            <p:nvSpPr>
              <p:cNvPr id="5" name="edu:body"/>
              <p:cNvSpPr txBox="1">
                <a:spLocks noRot="1" noChangeAspect="1" noMove="1" noResize="1" noEditPoints="1" noAdjustHandles="1" noChangeArrowheads="1" noChangeShapeType="1" noTextEdit="1"/>
              </p:cNvSpPr>
              <p:nvPr/>
            </p:nvSpPr>
            <p:spPr>
              <a:xfrm>
                <a:off x="566928" y="932688"/>
                <a:ext cx="11064240" cy="758797"/>
              </a:xfrm>
              <a:prstGeom prst="rect">
                <a:avLst/>
              </a:prstGeom>
              <a:blipFill>
                <a:blip r:embed="rId4"/>
                <a:stretch>
                  <a:fillRect l="-1653" t="-11290" b="-2419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edu:formula-omml" descr="Native Office Math: a10_F_pattern"/>
              <p:cNvSpPr txBox="1"/>
              <p:nvPr/>
            </p:nvSpPr>
            <p:spPr>
              <a:xfrm>
                <a:off x="7402282" y="1911399"/>
                <a:ext cx="4224528" cy="804672"/>
              </a:xfrm>
              <a:prstGeom prst="rect">
                <a:avLst/>
              </a:prstGeom>
              <a:noFill/>
              <a:effectLst/>
            </p:spPr>
            <p:txBody>
              <a:bodyPr wrap="none" lIns="0" tIns="0" rIns="0" bIns="0" anchor="ctr">
                <a:noAutofit/>
              </a:bodyPr>
              <a:lstStyle/>
              <a:p>
                <a:pPr algn="ctr"/>
                <a14:m>
                  <m:oMathPara xmlns:m="http://schemas.openxmlformats.org/officeDocument/2006/math">
                    <m:oMath>
                      <m:r>
                        <a:rPr lang="en-US" altLang="en-US" sz="2400" i="1" dirty="0" smtClean="0">
                          <a:solidFill>
                            <a:srgbClr val="000000"/>
                          </a:solidFill>
                          <a:latin typeface="Cambria Math" panose="02040503050406030204" pitchFamily="18" charset="0"/>
                          <a:ea typeface="Times New Roman"/>
                          <a:cs typeface="Times New Roman"/>
                        </a:rPr>
                        <m:t>𝐹</m:t>
                      </m:r>
                      <m:r>
                        <a:rPr lang="en-US" altLang="en-US" sz="2400" i="1" dirty="0" smtClean="0">
                          <a:solidFill>
                            <a:srgbClr val="000000"/>
                          </a:solidFill>
                          <a:latin typeface="Cambria Math" panose="02040503050406030204" pitchFamily="18" charset="0"/>
                          <a:ea typeface="Times New Roman"/>
                          <a:cs typeface="Times New Roman"/>
                        </a:rPr>
                        <m:t>​</m:t>
                      </m:r>
                      <m:d>
                        <m:dPr>
                          <m:ctrlPr>
                            <a:rPr lang="en-US" altLang="en-US" sz="2400" i="1" dirty="0" smtClean="0">
                              <a:solidFill>
                                <a:srgbClr val="000000"/>
                              </a:solidFill>
                              <a:latin typeface="Cambria Math" panose="02040503050406030204" pitchFamily="18" charset="0"/>
                              <a:ea typeface="Times New Roman"/>
                              <a:cs typeface="Times New Roman"/>
                            </a:rPr>
                          </m:ctrlPr>
                        </m:dPr>
                        <m:e>
                          <m:r>
                            <a:rPr lang="en-US" altLang="en-US" sz="2400" i="1" dirty="0" smtClean="0">
                              <a:solidFill>
                                <a:srgbClr val="000000"/>
                              </a:solidFill>
                              <a:latin typeface="Cambria Math" panose="02040503050406030204" pitchFamily="18" charset="0"/>
                              <a:ea typeface="Times New Roman"/>
                              <a:cs typeface="Times New Roman"/>
                            </a:rPr>
                            <m:t>𝜃</m:t>
                          </m:r>
                          <m:r>
                            <a:rPr lang="en-US" altLang="en-US" sz="2400" i="0" dirty="0" smtClean="0">
                              <a:solidFill>
                                <a:srgbClr val="000000"/>
                              </a:solidFill>
                              <a:latin typeface="Cambria Math" panose="02040503050406030204" pitchFamily="18" charset="0"/>
                              <a:ea typeface="Times New Roman"/>
                              <a:cs typeface="Times New Roman"/>
                            </a:rPr>
                            <m:t>,</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𝜃</m:t>
                              </m:r>
                            </m:e>
                            <m:sub>
                              <m:r>
                                <a:rPr lang="en-US" altLang="en-US" sz="2400" i="0" dirty="0" smtClean="0">
                                  <a:solidFill>
                                    <a:srgbClr val="000000"/>
                                  </a:solidFill>
                                  <a:latin typeface="Cambria Math" panose="02040503050406030204" pitchFamily="18" charset="0"/>
                                  <a:ea typeface="Times New Roman"/>
                                  <a:cs typeface="Times New Roman"/>
                                </a:rPr>
                                <m:t>3</m:t>
                              </m:r>
                              <m:r>
                                <m:rPr>
                                  <m:nor/>
                                </m:rPr>
                                <a:rPr lang="en-US" altLang="en-US" sz="2400" i="0" dirty="0" smtClean="0">
                                  <a:solidFill>
                                    <a:srgbClr val="000000"/>
                                  </a:solidFill>
                                  <a:latin typeface="Times New Roman"/>
                                  <a:ea typeface="Times New Roman"/>
                                  <a:cs typeface="Times New Roman"/>
                                </a:rPr>
                                <m:t>dB</m:t>
                              </m:r>
                            </m:sub>
                          </m:sSub>
                        </m:e>
                      </m:d>
                      <m:r>
                        <a:rPr lang="en-US" altLang="en-US" sz="2400" i="0" dirty="0" smtClean="0">
                          <a:solidFill>
                            <a:srgbClr val="000000"/>
                          </a:solidFill>
                          <a:latin typeface="Cambria Math" panose="02040503050406030204" pitchFamily="18" charset="0"/>
                          <a:ea typeface="Times New Roman"/>
                          <a:cs typeface="Times New Roman"/>
                        </a:rPr>
                        <m:t>=</m:t>
                      </m:r>
                      <m:sSup>
                        <m:sSupPr>
                          <m:ctrlPr>
                            <a:rPr lang="en-US" altLang="en-US" sz="2400" i="1" dirty="0" smtClean="0">
                              <a:solidFill>
                                <a:srgbClr val="000000"/>
                              </a:solidFill>
                              <a:latin typeface="Cambria Math" panose="02040503050406030204" pitchFamily="18" charset="0"/>
                              <a:ea typeface="Times New Roman"/>
                              <a:cs typeface="Times New Roman"/>
                            </a:rPr>
                          </m:ctrlPr>
                        </m:sSupPr>
                        <m:e>
                          <m:d>
                            <m:dPr>
                              <m:begChr m:val="["/>
                              <m:endChr m:val="]"/>
                              <m:ctrlPr>
                                <a:rPr lang="en-US" altLang="en-US" sz="2400" i="1" dirty="0" smtClean="0">
                                  <a:solidFill>
                                    <a:srgbClr val="000000"/>
                                  </a:solidFill>
                                  <a:latin typeface="Cambria Math" panose="02040503050406030204" pitchFamily="18" charset="0"/>
                                  <a:ea typeface="Times New Roman"/>
                                  <a:cs typeface="Times New Roman"/>
                                </a:rPr>
                              </m:ctrlPr>
                            </m:dPr>
                            <m:e>
                              <m:f>
                                <m:fPr>
                                  <m:ctrlPr>
                                    <a:rPr lang="en-US" altLang="en-US" sz="2400" i="1" dirty="0" smtClean="0">
                                      <a:solidFill>
                                        <a:srgbClr val="000000"/>
                                      </a:solidFill>
                                      <a:latin typeface="Cambria Math" panose="02040503050406030204" pitchFamily="18" charset="0"/>
                                      <a:ea typeface="Times New Roman"/>
                                      <a:cs typeface="Times New Roman"/>
                                    </a:rPr>
                                  </m:ctrlPr>
                                </m:fPr>
                                <m:num>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𝐽</m:t>
                                      </m:r>
                                    </m:e>
                                    <m:sub>
                                      <m:r>
                                        <a:rPr lang="en-US" altLang="en-US" sz="2400" i="0" dirty="0" smtClean="0">
                                          <a:solidFill>
                                            <a:srgbClr val="000000"/>
                                          </a:solidFill>
                                          <a:latin typeface="Cambria Math" panose="02040503050406030204" pitchFamily="18" charset="0"/>
                                          <a:ea typeface="Times New Roman"/>
                                          <a:cs typeface="Times New Roman"/>
                                        </a:rPr>
                                        <m:t>1</m:t>
                                      </m:r>
                                    </m:sub>
                                  </m:sSub>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𝜇</m:t>
                                  </m:r>
                                  <m:r>
                                    <a:rPr lang="en-US" altLang="en-US" sz="2400" i="0" dirty="0" smtClean="0">
                                      <a:solidFill>
                                        <a:srgbClr val="000000"/>
                                      </a:solidFill>
                                      <a:latin typeface="Cambria Math" panose="02040503050406030204" pitchFamily="18" charset="0"/>
                                      <a:ea typeface="Times New Roman"/>
                                      <a:cs typeface="Times New Roman"/>
                                    </a:rPr>
                                    <m:t>)</m:t>
                                  </m:r>
                                </m:num>
                                <m:den>
                                  <m:r>
                                    <a:rPr lang="en-US" altLang="en-US" sz="2400" i="0" dirty="0" smtClean="0">
                                      <a:solidFill>
                                        <a:srgbClr val="000000"/>
                                      </a:solidFill>
                                      <a:latin typeface="Cambria Math" panose="02040503050406030204" pitchFamily="18" charset="0"/>
                                      <a:ea typeface="Times New Roman"/>
                                      <a:cs typeface="Times New Roman"/>
                                    </a:rPr>
                                    <m:t>2</m:t>
                                  </m:r>
                                  <m:r>
                                    <a:rPr lang="en-US" altLang="en-US" sz="2400" i="1" dirty="0" smtClean="0">
                                      <a:solidFill>
                                        <a:srgbClr val="000000"/>
                                      </a:solidFill>
                                      <a:latin typeface="Cambria Math" panose="02040503050406030204" pitchFamily="18" charset="0"/>
                                      <a:ea typeface="Times New Roman"/>
                                      <a:cs typeface="Times New Roman"/>
                                    </a:rPr>
                                    <m:t>𝜇</m:t>
                                  </m:r>
                                </m:den>
                              </m:f>
                              <m:r>
                                <a:rPr lang="en-US" altLang="en-US" sz="2400" i="0" dirty="0" smtClean="0">
                                  <a:solidFill>
                                    <a:srgbClr val="000000"/>
                                  </a:solidFill>
                                  <a:latin typeface="Cambria Math" panose="02040503050406030204" pitchFamily="18" charset="0"/>
                                  <a:ea typeface="Times New Roman"/>
                                  <a:cs typeface="Times New Roman"/>
                                </a:rPr>
                                <m:t>+36</m:t>
                              </m:r>
                              <m:f>
                                <m:fPr>
                                  <m:ctrlPr>
                                    <a:rPr lang="en-US" altLang="en-US" sz="2400" i="1" dirty="0" smtClean="0">
                                      <a:solidFill>
                                        <a:srgbClr val="000000"/>
                                      </a:solidFill>
                                      <a:latin typeface="Cambria Math" panose="02040503050406030204" pitchFamily="18" charset="0"/>
                                      <a:ea typeface="Times New Roman"/>
                                      <a:cs typeface="Times New Roman"/>
                                    </a:rPr>
                                  </m:ctrlPr>
                                </m:fPr>
                                <m:num>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𝐽</m:t>
                                      </m:r>
                                    </m:e>
                                    <m:sub>
                                      <m:r>
                                        <a:rPr lang="en-US" altLang="en-US" sz="2400" i="0" dirty="0" smtClean="0">
                                          <a:solidFill>
                                            <a:srgbClr val="000000"/>
                                          </a:solidFill>
                                          <a:latin typeface="Cambria Math" panose="02040503050406030204" pitchFamily="18" charset="0"/>
                                          <a:ea typeface="Times New Roman"/>
                                          <a:cs typeface="Times New Roman"/>
                                        </a:rPr>
                                        <m:t>3</m:t>
                                      </m:r>
                                    </m:sub>
                                  </m:sSub>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𝜇</m:t>
                                  </m:r>
                                  <m:r>
                                    <a:rPr lang="en-US" altLang="en-US" sz="2400" i="0" dirty="0" smtClean="0">
                                      <a:solidFill>
                                        <a:srgbClr val="000000"/>
                                      </a:solidFill>
                                      <a:latin typeface="Cambria Math" panose="02040503050406030204" pitchFamily="18" charset="0"/>
                                      <a:ea typeface="Times New Roman"/>
                                      <a:cs typeface="Times New Roman"/>
                                    </a:rPr>
                                    <m:t>)</m:t>
                                  </m:r>
                                </m:num>
                                <m:den>
                                  <m:sSup>
                                    <m:sSupPr>
                                      <m:ctrlPr>
                                        <a:rPr lang="en-US" altLang="en-US" sz="2400" i="1" dirty="0" smtClean="0">
                                          <a:solidFill>
                                            <a:srgbClr val="000000"/>
                                          </a:solidFill>
                                          <a:latin typeface="Cambria Math" panose="02040503050406030204" pitchFamily="18" charset="0"/>
                                          <a:ea typeface="Times New Roman"/>
                                          <a:cs typeface="Times New Roman"/>
                                        </a:rPr>
                                      </m:ctrlPr>
                                    </m:sSupPr>
                                    <m:e>
                                      <m:r>
                                        <a:rPr lang="en-US" altLang="en-US" sz="2400" i="1" dirty="0" smtClean="0">
                                          <a:solidFill>
                                            <a:srgbClr val="000000"/>
                                          </a:solidFill>
                                          <a:latin typeface="Cambria Math" panose="02040503050406030204" pitchFamily="18" charset="0"/>
                                          <a:ea typeface="Times New Roman"/>
                                          <a:cs typeface="Times New Roman"/>
                                        </a:rPr>
                                        <m:t>𝜇</m:t>
                                      </m:r>
                                    </m:e>
                                    <m:sup>
                                      <m:r>
                                        <a:rPr lang="en-US" altLang="en-US" sz="2400" i="0" dirty="0" smtClean="0">
                                          <a:solidFill>
                                            <a:srgbClr val="000000"/>
                                          </a:solidFill>
                                          <a:latin typeface="Cambria Math" panose="02040503050406030204" pitchFamily="18" charset="0"/>
                                          <a:ea typeface="Times New Roman"/>
                                          <a:cs typeface="Times New Roman"/>
                                        </a:rPr>
                                        <m:t>3</m:t>
                                      </m:r>
                                    </m:sup>
                                  </m:sSup>
                                </m:den>
                              </m:f>
                            </m:e>
                          </m:d>
                        </m:e>
                        <m:sup>
                          <m:r>
                            <a:rPr lang="en-US" altLang="en-US" sz="2400" i="0" dirty="0" smtClean="0">
                              <a:solidFill>
                                <a:srgbClr val="000000"/>
                              </a:solidFill>
                              <a:latin typeface="Cambria Math" panose="02040503050406030204" pitchFamily="18" charset="0"/>
                              <a:ea typeface="Times New Roman"/>
                              <a:cs typeface="Times New Roman"/>
                            </a:rPr>
                            <m:t>2</m:t>
                          </m:r>
                        </m:sup>
                      </m:sSup>
                    </m:oMath>
                  </m:oMathPara>
                </a14:m>
                <a:endParaRPr lang="en-US" altLang="en-US" sz="2400" dirty="0">
                  <a:solidFill>
                    <a:srgbClr val="000000"/>
                  </a:solidFill>
                  <a:latin typeface="Times New Roman"/>
                  <a:ea typeface="Times New Roman"/>
                  <a:cs typeface="Times New Roman"/>
                </a:endParaRPr>
              </a:p>
            </p:txBody>
          </p:sp>
        </mc:Choice>
        <mc:Fallback xmlns="">
          <p:sp>
            <p:nvSpPr>
              <p:cNvPr id="7" name="edu:formula-omml" descr="Native Office Math: a10_F_pattern"/>
              <p:cNvSpPr txBox="1">
                <a:spLocks noRot="1" noChangeAspect="1" noMove="1" noResize="1" noEditPoints="1" noAdjustHandles="1" noChangeArrowheads="1" noChangeShapeType="1" noTextEdit="1"/>
              </p:cNvSpPr>
              <p:nvPr/>
            </p:nvSpPr>
            <p:spPr>
              <a:xfrm>
                <a:off x="7402282" y="1911399"/>
                <a:ext cx="4224528" cy="804672"/>
              </a:xfrm>
              <a:prstGeom prst="rect">
                <a:avLst/>
              </a:prstGeom>
              <a:blipFill>
                <a:blip r:embed="rId5"/>
                <a:stretch>
                  <a:fillRect l="-1299" t="-758" b="-4545"/>
                </a:stretch>
              </a:blipFill>
              <a:effectLst/>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edu:formula-omml" descr="Native Office Math: a10_mu"/>
              <p:cNvSpPr txBox="1"/>
              <p:nvPr/>
            </p:nvSpPr>
            <p:spPr>
              <a:xfrm>
                <a:off x="7525512" y="3384884"/>
                <a:ext cx="4224528" cy="713232"/>
              </a:xfrm>
              <a:prstGeom prst="rect">
                <a:avLst/>
              </a:prstGeom>
              <a:noFill/>
              <a:effectLst/>
            </p:spPr>
            <p:txBody>
              <a:bodyPr wrap="none" lIns="0" tIns="0" rIns="0" bIns="0" anchor="ctr">
                <a:noAutofit/>
              </a:bodyPr>
              <a:lstStyle/>
              <a:p>
                <a:pPr algn="ctr"/>
                <a14:m>
                  <m:oMathPara xmlns:m="http://schemas.openxmlformats.org/officeDocument/2006/math">
                    <m:oMath>
                      <m:r>
                        <a:rPr lang="en-US" altLang="en-US" sz="2400" i="1" dirty="0" smtClean="0">
                          <a:solidFill>
                            <a:srgbClr val="000000"/>
                          </a:solidFill>
                          <a:latin typeface="Cambria Math" panose="02040503050406030204" pitchFamily="18" charset="0"/>
                          <a:ea typeface="Times New Roman"/>
                          <a:cs typeface="Times New Roman"/>
                        </a:rPr>
                        <m:t>𝜇</m:t>
                      </m:r>
                      <m:r>
                        <a:rPr lang="en-US" altLang="en-US" sz="2400" i="1" dirty="0" smtClean="0">
                          <a:solidFill>
                            <a:srgbClr val="000000"/>
                          </a:solidFill>
                          <a:latin typeface="Cambria Math" panose="02040503050406030204" pitchFamily="18" charset="0"/>
                          <a:ea typeface="Times New Roman"/>
                          <a:cs typeface="Times New Roman"/>
                        </a:rPr>
                        <m:t>​</m:t>
                      </m:r>
                      <m:d>
                        <m:dPr>
                          <m:ctrlPr>
                            <a:rPr lang="en-US" altLang="en-US" sz="2400" i="1" dirty="0" smtClean="0">
                              <a:solidFill>
                                <a:srgbClr val="000000"/>
                              </a:solidFill>
                              <a:latin typeface="Cambria Math" panose="02040503050406030204" pitchFamily="18" charset="0"/>
                              <a:ea typeface="Times New Roman"/>
                              <a:cs typeface="Times New Roman"/>
                            </a:rPr>
                          </m:ctrlPr>
                        </m:dPr>
                        <m:e>
                          <m:r>
                            <a:rPr lang="en-US" altLang="en-US" sz="2400" i="1" dirty="0" smtClean="0">
                              <a:solidFill>
                                <a:srgbClr val="000000"/>
                              </a:solidFill>
                              <a:latin typeface="Cambria Math" panose="02040503050406030204" pitchFamily="18" charset="0"/>
                              <a:ea typeface="Times New Roman"/>
                              <a:cs typeface="Times New Roman"/>
                            </a:rPr>
                            <m:t>𝜃</m:t>
                          </m:r>
                          <m:r>
                            <a:rPr lang="en-US" altLang="en-US" sz="2400" i="0" dirty="0" smtClean="0">
                              <a:solidFill>
                                <a:srgbClr val="000000"/>
                              </a:solidFill>
                              <a:latin typeface="Cambria Math" panose="02040503050406030204" pitchFamily="18" charset="0"/>
                              <a:ea typeface="Times New Roman"/>
                              <a:cs typeface="Times New Roman"/>
                            </a:rPr>
                            <m:t>,</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𝜃</m:t>
                              </m:r>
                            </m:e>
                            <m:sub>
                              <m:r>
                                <a:rPr lang="en-US" altLang="en-US" sz="2400" i="0" dirty="0" smtClean="0">
                                  <a:solidFill>
                                    <a:srgbClr val="000000"/>
                                  </a:solidFill>
                                  <a:latin typeface="Cambria Math" panose="02040503050406030204" pitchFamily="18" charset="0"/>
                                  <a:ea typeface="Times New Roman"/>
                                  <a:cs typeface="Times New Roman"/>
                                </a:rPr>
                                <m:t>3</m:t>
                              </m:r>
                              <m:r>
                                <m:rPr>
                                  <m:nor/>
                                </m:rPr>
                                <a:rPr lang="en-US" altLang="en-US" sz="2400" i="0" dirty="0" smtClean="0">
                                  <a:solidFill>
                                    <a:srgbClr val="000000"/>
                                  </a:solidFill>
                                  <a:latin typeface="Times New Roman"/>
                                  <a:ea typeface="Times New Roman"/>
                                  <a:cs typeface="Times New Roman"/>
                                </a:rPr>
                                <m:t>dB</m:t>
                              </m:r>
                            </m:sub>
                          </m:sSub>
                        </m:e>
                      </m:d>
                      <m:r>
                        <a:rPr lang="en-US" altLang="en-US" sz="2400" i="0" dirty="0" smtClean="0">
                          <a:solidFill>
                            <a:srgbClr val="000000"/>
                          </a:solidFill>
                          <a:latin typeface="Cambria Math" panose="02040503050406030204" pitchFamily="18" charset="0"/>
                          <a:ea typeface="Times New Roman"/>
                          <a:cs typeface="Times New Roman"/>
                        </a:rPr>
                        <m:t>=2.07123</m:t>
                      </m:r>
                      <m:f>
                        <m:fPr>
                          <m:ctrlPr>
                            <a:rPr lang="en-US" altLang="en-US" sz="2400" i="0" dirty="0" smtClean="0">
                              <a:solidFill>
                                <a:srgbClr val="000000"/>
                              </a:solidFill>
                              <a:latin typeface="Times New Roman"/>
                              <a:ea typeface="Times New Roman"/>
                              <a:cs typeface="Times New Roman"/>
                            </a:rPr>
                          </m:ctrlPr>
                        </m:fPr>
                        <m:num>
                          <m:r>
                            <m:rPr>
                              <m:nor/>
                            </m:rPr>
                            <a:rPr lang="en-US" altLang="en-US" sz="2400" i="0" dirty="0" smtClean="0">
                              <a:solidFill>
                                <a:srgbClr val="000000"/>
                              </a:solidFill>
                              <a:latin typeface="Times New Roman"/>
                              <a:ea typeface="Times New Roman"/>
                              <a:cs typeface="Times New Roman"/>
                            </a:rPr>
                            <m:t>sin</m:t>
                          </m:r>
                          <m:r>
                            <a:rPr lang="en-US" altLang="en-US" sz="2400" i="1" dirty="0" smtClean="0">
                              <a:solidFill>
                                <a:srgbClr val="000000"/>
                              </a:solidFill>
                              <a:latin typeface="Cambria Math" panose="02040503050406030204" pitchFamily="18" charset="0"/>
                              <a:ea typeface="Times New Roman"/>
                              <a:cs typeface="Times New Roman"/>
                            </a:rPr>
                            <m:t>𝜃</m:t>
                          </m:r>
                        </m:num>
                        <m:den>
                          <m:r>
                            <m:rPr>
                              <m:nor/>
                            </m:rPr>
                            <a:rPr lang="en-US" altLang="en-US" sz="2400" i="0" dirty="0" smtClean="0">
                              <a:solidFill>
                                <a:srgbClr val="000000"/>
                              </a:solidFill>
                              <a:latin typeface="Times New Roman"/>
                              <a:ea typeface="Times New Roman"/>
                              <a:cs typeface="Times New Roman"/>
                            </a:rPr>
                            <m:t>sin</m:t>
                          </m:r>
                          <m:r>
                            <a:rPr lang="en-US" altLang="en-US" sz="2400" i="1" dirty="0" smtClean="0">
                              <a:solidFill>
                                <a:srgbClr val="000000"/>
                              </a:solidFill>
                              <a:latin typeface="Cambria Math" panose="02040503050406030204" pitchFamily="18" charset="0"/>
                              <a:ea typeface="Times New Roman"/>
                              <a:cs typeface="Times New Roman"/>
                            </a:rPr>
                            <m:t>​</m:t>
                          </m:r>
                          <m:d>
                            <m:dPr>
                              <m:ctrlPr>
                                <a:rPr lang="en-US" altLang="en-US" sz="2400" i="1" dirty="0" smtClean="0">
                                  <a:solidFill>
                                    <a:srgbClr val="000000"/>
                                  </a:solidFill>
                                  <a:latin typeface="Cambria Math" panose="02040503050406030204" pitchFamily="18" charset="0"/>
                                  <a:ea typeface="Times New Roman"/>
                                  <a:cs typeface="Times New Roman"/>
                                </a:rPr>
                              </m:ctrlPr>
                            </m:dPr>
                            <m:e>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𝜃</m:t>
                                  </m:r>
                                </m:e>
                                <m:sub>
                                  <m:r>
                                    <a:rPr lang="en-US" altLang="en-US" sz="2400" i="0" dirty="0" smtClean="0">
                                      <a:solidFill>
                                        <a:srgbClr val="000000"/>
                                      </a:solidFill>
                                      <a:latin typeface="Cambria Math" panose="02040503050406030204" pitchFamily="18" charset="0"/>
                                      <a:ea typeface="Times New Roman"/>
                                      <a:cs typeface="Times New Roman"/>
                                    </a:rPr>
                                    <m:t>3</m:t>
                                  </m:r>
                                  <m:r>
                                    <m:rPr>
                                      <m:nor/>
                                    </m:rPr>
                                    <a:rPr lang="en-US" altLang="en-US" sz="2400" i="0" dirty="0" smtClean="0">
                                      <a:solidFill>
                                        <a:srgbClr val="000000"/>
                                      </a:solidFill>
                                      <a:latin typeface="Times New Roman"/>
                                      <a:ea typeface="Times New Roman"/>
                                      <a:cs typeface="Times New Roman"/>
                                    </a:rPr>
                                    <m:t>dB</m:t>
                                  </m:r>
                                </m:sub>
                              </m:sSub>
                              <m:r>
                                <a:rPr lang="en-US" altLang="en-US" sz="2400" i="0" dirty="0" smtClean="0">
                                  <a:solidFill>
                                    <a:srgbClr val="000000"/>
                                  </a:solidFill>
                                  <a:latin typeface="Cambria Math" panose="02040503050406030204" pitchFamily="18" charset="0"/>
                                  <a:ea typeface="Times New Roman"/>
                                  <a:cs typeface="Times New Roman"/>
                                </a:rPr>
                                <m:t>/2</m:t>
                              </m:r>
                            </m:e>
                          </m:d>
                        </m:den>
                      </m:f>
                    </m:oMath>
                  </m:oMathPara>
                </a14:m>
                <a:endParaRPr lang="en-US" altLang="en-US" sz="2400" dirty="0">
                  <a:solidFill>
                    <a:srgbClr val="000000"/>
                  </a:solidFill>
                  <a:latin typeface="Times New Roman"/>
                  <a:ea typeface="Times New Roman"/>
                  <a:cs typeface="Times New Roman"/>
                </a:endParaRPr>
              </a:p>
            </p:txBody>
          </p:sp>
        </mc:Choice>
        <mc:Fallback xmlns="">
          <p:sp>
            <p:nvSpPr>
              <p:cNvPr id="8" name="edu:formula-omml" descr="Native Office Math: a10_mu"/>
              <p:cNvSpPr txBox="1">
                <a:spLocks noRot="1" noChangeAspect="1" noMove="1" noResize="1" noEditPoints="1" noAdjustHandles="1" noChangeArrowheads="1" noChangeShapeType="1" noTextEdit="1"/>
              </p:cNvSpPr>
              <p:nvPr/>
            </p:nvSpPr>
            <p:spPr>
              <a:xfrm>
                <a:off x="7525512" y="3384884"/>
                <a:ext cx="4224528" cy="713232"/>
              </a:xfrm>
              <a:prstGeom prst="rect">
                <a:avLst/>
              </a:prstGeom>
              <a:blipFill>
                <a:blip r:embed="rId6"/>
                <a:stretch>
                  <a:fillRect l="-4618" t="-1709" r="-2742" b="-6838"/>
                </a:stretch>
              </a:blipFill>
              <a:effectLst/>
            </p:spPr>
            <p:txBody>
              <a:bodyPr/>
              <a:lstStyle/>
              <a:p>
                <a:r>
                  <a:rPr lang="zh-TW" altLang="en-US">
                    <a:noFill/>
                  </a:rPr>
                  <a:t> </a:t>
                </a:r>
              </a:p>
            </p:txBody>
          </p:sp>
        </mc:Fallback>
      </mc:AlternateContent>
      <p:pic>
        <p:nvPicPr>
          <p:cNvPr id="12" name="圖片 11">
            <a:extLst>
              <a:ext uri="{FF2B5EF4-FFF2-40B4-BE49-F238E27FC236}">
                <a16:creationId xmlns:a16="http://schemas.microsoft.com/office/drawing/2014/main" id="{AE6B5D75-9793-BB89-514D-44BED121AF1B}"/>
              </a:ext>
            </a:extLst>
          </p:cNvPr>
          <p:cNvPicPr>
            <a:picLocks noChangeAspect="1"/>
          </p:cNvPicPr>
          <p:nvPr/>
        </p:nvPicPr>
        <p:blipFill>
          <a:blip r:embed="rId7"/>
          <a:stretch>
            <a:fillRect/>
          </a:stretch>
        </p:blipFill>
        <p:spPr>
          <a:xfrm>
            <a:off x="565190" y="1738701"/>
            <a:ext cx="6545612" cy="398031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du:title"/>
          <p:cNvSpPr txBox="1"/>
          <p:nvPr/>
        </p:nvSpPr>
        <p:spPr>
          <a:xfrm>
            <a:off x="565190" y="141274"/>
            <a:ext cx="11417289" cy="571500"/>
          </a:xfrm>
          <a:prstGeom prst="rect">
            <a:avLst/>
          </a:prstGeom>
          <a:noFill/>
        </p:spPr>
        <p:txBody>
          <a:bodyPr wrap="square" lIns="0" tIns="0" rIns="0" bIns="0" anchor="b">
            <a:spAutoFit/>
          </a:bodyPr>
          <a:lstStyle/>
          <a:p>
            <a:pPr algn="l"/>
            <a:r>
              <a:rPr lang="en-US" altLang="en-US" sz="2800" b="1" i="0" noProof="1">
                <a:solidFill>
                  <a:srgbClr val="1B365D"/>
                </a:solidFill>
                <a:latin typeface="Times New Roman"/>
                <a:ea typeface="標楷體"/>
                <a:cs typeface="Times New Roman"/>
              </a:rPr>
              <a:t>Non-Angle Channel Factor</a:t>
            </a:r>
          </a:p>
        </p:txBody>
      </p:sp>
      <p:sp>
        <p:nvSpPr>
          <p:cNvPr id="3" name="edu:citation"/>
          <p:cNvSpPr txBox="1"/>
          <p:nvPr/>
        </p:nvSpPr>
        <p:spPr>
          <a:xfrm>
            <a:off x="495330" y="6316675"/>
            <a:ext cx="11018520" cy="505663"/>
          </a:xfrm>
          <a:prstGeom prst="rect">
            <a:avLst/>
          </a:prstGeom>
          <a:noFill/>
        </p:spPr>
        <p:txBody>
          <a:bodyPr wrap="square" lIns="0" tIns="0" rIns="0" bIns="0" anchor="t">
            <a:spAutoFit/>
          </a:bodyPr>
          <a:lstStyle/>
          <a:p>
            <a:pPr algn="l">
              <a:lnSpc>
                <a:spcPct val="105000"/>
              </a:lnSpc>
            </a:pPr>
            <a:r>
              <a:rPr lang="en-US" altLang="en-US" sz="1400" b="0" i="0" noProof="1">
                <a:solidFill>
                  <a:srgbClr val="000000"/>
                </a:solidFill>
                <a:latin typeface="Times New Roman"/>
                <a:ea typeface="標楷體"/>
                <a:cs typeface="Times New Roman"/>
              </a:rPr>
              <a:t>S.-H. Chen et al., “Energy-Efficient Joint Handover and Beam Switching Scheme for Multi-LEO Networks,” IEEE Vehicular Technology Conference (VTC2024-Spring), Singapore, 2024.</a:t>
            </a:r>
          </a:p>
        </p:txBody>
      </p:sp>
      <mc:AlternateContent xmlns:mc="http://schemas.openxmlformats.org/markup-compatibility/2006" xmlns:a14="http://schemas.microsoft.com/office/drawing/2010/main">
        <mc:Choice Requires="a14">
          <p:sp>
            <p:nvSpPr>
              <p:cNvPr id="5" name="edu:body"/>
              <p:cNvSpPr txBox="1"/>
              <p:nvPr/>
            </p:nvSpPr>
            <p:spPr>
              <a:xfrm>
                <a:off x="565190" y="896112"/>
                <a:ext cx="11064240" cy="774496"/>
              </a:xfrm>
              <a:prstGeom prst="rect">
                <a:avLst/>
              </a:prstGeom>
              <a:noFill/>
              <a:effectLst/>
            </p:spPr>
            <p:txBody>
              <a:bodyPr wrap="square" lIns="0" tIns="0" rIns="0" bIns="0" anchor="t">
                <a:noAutofit/>
              </a:bodyPr>
              <a:lstStyle/>
              <a:p>
                <a:pPr algn="l">
                  <a:lnSpc>
                    <a:spcPct val="112000"/>
                  </a:lnSpc>
                  <a:spcAft>
                    <a:spcPts val="0"/>
                  </a:spcAft>
                </a:pPr>
                <a:r>
                  <a:rPr lang="en-US" altLang="en-US" sz="2400" b="0" i="0" noProof="1">
                    <a:solidFill>
                      <a:srgbClr val="000000"/>
                    </a:solidFill>
                    <a:latin typeface="Times New Roman"/>
                    <a:ea typeface="標楷體"/>
                    <a:cs typeface="Times New Roman"/>
                  </a:rPr>
                  <a:t>Every link property independent of the off-axis angle is collected into one linear power factor </a:t>
                </a:r>
                <a14:m>
                  <m:oMath xmlns:m="http://schemas.openxmlformats.org/officeDocument/2006/math">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𝐻</m:t>
                        </m:r>
                      </m:e>
                      <m:sub>
                        <m:r>
                          <a:rPr lang="en-US" altLang="en-US" sz="2400" i="1" dirty="0" smtClean="0">
                            <a:solidFill>
                              <a:srgbClr val="000000"/>
                            </a:solidFill>
                            <a:latin typeface="Cambria Math" panose="02040503050406030204" pitchFamily="18" charset="0"/>
                            <a:ea typeface="Times New Roman"/>
                            <a:cs typeface="Times New Roman"/>
                          </a:rPr>
                          <m:t>𝑢</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Sub>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oMath>
                </a14:m>
                <a:r>
                  <a:rPr lang="en-US" altLang="en-US" sz="2400" b="0" i="0" noProof="1">
                    <a:solidFill>
                      <a:srgbClr val="000000"/>
                    </a:solidFill>
                    <a:latin typeface="Times New Roman"/>
                    <a:ea typeface="標楷體"/>
                    <a:cs typeface="Times New Roman"/>
                  </a:rPr>
                  <a:t>, the wanted link then carries exactly two gain factors:</a:t>
                </a:r>
                <a:endParaRPr lang="en-US" altLang="en-US" dirty="0">
                  <a:solidFill>
                    <a:srgbClr val="000000"/>
                  </a:solidFill>
                  <a:latin typeface="Times New Roman"/>
                  <a:ea typeface="Times New Roman"/>
                  <a:cs typeface="Times New Roman"/>
                </a:endParaRPr>
              </a:p>
            </p:txBody>
          </p:sp>
        </mc:Choice>
        <mc:Fallback xmlns="">
          <p:sp>
            <p:nvSpPr>
              <p:cNvPr id="5" name="edu:body"/>
              <p:cNvSpPr txBox="1"/>
              <p:nvPr/>
            </p:nvSpPr>
            <p:spPr>
              <a:xfrm>
                <a:off x="565190" y="896112"/>
                <a:ext cx="11064240" cy="774496"/>
              </a:xfrm>
              <a:prstGeom prst="rect">
                <a:avLst/>
              </a:prstGeom>
              <a:noFill/>
            </p:spPr>
            <p:txBody>
              <a:bodyPr wrap="square" anchor="t" lIns="0" rIns="0" tIns="0" bIns="0">
                <a:spAutoFit/>
              </a:bodyPr>
              <a:lstStyle/>
              <a:p>
                <a:pPr algn="l">
                  <a:lnSpc>
                    <a:spcPct val="112000"/>
                  </a:lnSpc>
                  <a:spcAft>
                    <a:spcPts val="0"/>
                  </a:spcAft>
                </a:pPr>
                <a:r>
                  <a:rPr sz="2400" b="0" i="0" lang="en-US" altLang="en-US" noProof="1" dirty="0">
                    <a:solidFill>
                      <a:srgbClr val="000000"/>
                    </a:solidFill>
                    <a:latin typeface="Times New Roman"/>
                    <a:ea typeface="標楷體"/>
                    <a:cs typeface="Times New Roman"/>
                  </a:rPr>
                  <a:t xml:space="preserve">Every link property independent of the off-axis angle is collected into one linear power factor </a:t>
                </a:r>
                <a:r>
                  <a:rPr sz="2400" b="0" i="0" lang="en-US" altLang="en-US" noProof="1" dirty="0">
                    <a:solidFill>
                      <a:srgbClr val="000000"/>
                    </a:solidFill>
                    <a:latin typeface="Times New Roman"/>
                    <a:ea typeface="標楷體"/>
                    <a:cs typeface="Times New Roman"/>
                  </a:rPr>
                  <a:t/>
                </a:r>
                <a:r>
                  <a:rPr sz="2400" b="0" i="0" lang="en-US" altLang="en-US" noProof="1" dirty="0">
                    <a:solidFill>
                      <a:srgbClr val="000000"/>
                    </a:solidFill>
                    <a:latin typeface="Times New Roman"/>
                    <a:ea typeface="標楷體"/>
                    <a:cs typeface="Times New Roman"/>
                  </a:rPr>
                  <a:t>, the wanted link then carries exactly two gain factors:</a:t>
                </a:r>
              </a:p>
            </p:txBody>
          </p:sp>
        </mc:Fallback>
      </mc:AlternateContent>
      <mc:AlternateContent xmlns:mc="http://schemas.openxmlformats.org/markup-compatibility/2006" xmlns:a14="http://schemas.microsoft.com/office/drawing/2010/main">
        <mc:Choice Requires="a14">
          <p:sp>
            <p:nvSpPr>
              <p:cNvPr id="6" name="edu:formula-omml" descr="Native Office Math: a10_factors"/>
              <p:cNvSpPr txBox="1"/>
              <p:nvPr/>
            </p:nvSpPr>
            <p:spPr>
              <a:xfrm>
                <a:off x="4486046" y="2019683"/>
                <a:ext cx="3223260" cy="587959"/>
              </a:xfrm>
              <a:prstGeom prst="rect">
                <a:avLst/>
              </a:prstGeom>
              <a:noFill/>
              <a:effectLst/>
            </p:spPr>
            <p:txBody>
              <a:bodyPr wrap="none" lIns="0" tIns="0" rIns="0" bIns="0" anchor="ctr">
                <a:noAutofit/>
              </a:bodyPr>
              <a:lstStyle/>
              <a:p>
                <a:pPr algn="ctr"/>
                <a14:m>
                  <m:oMathPara xmlns:m="http://schemas.openxmlformats.org/officeDocument/2006/math">
                    <m:oMath>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𝐻</m:t>
                          </m:r>
                        </m:e>
                        <m:sub>
                          <m:r>
                            <a:rPr lang="en-US" altLang="en-US" sz="2400" i="1" dirty="0" smtClean="0">
                              <a:solidFill>
                                <a:srgbClr val="000000"/>
                              </a:solidFill>
                              <a:latin typeface="Cambria Math" panose="02040503050406030204" pitchFamily="18" charset="0"/>
                              <a:ea typeface="Times New Roman"/>
                              <a:cs typeface="Times New Roman"/>
                            </a:rPr>
                            <m:t>𝑢</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Sub>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 </m:t>
                      </m:r>
                      <m:sSup>
                        <m:sSupPr>
                          <m:ctrlPr>
                            <a:rPr lang="en-US" altLang="en-US" sz="2400" i="1" dirty="0" smtClean="0">
                              <a:solidFill>
                                <a:srgbClr val="000000"/>
                              </a:solidFill>
                              <a:latin typeface="Cambria Math" panose="02040503050406030204" pitchFamily="18" charset="0"/>
                              <a:ea typeface="Times New Roman"/>
                              <a:cs typeface="Times New Roman"/>
                            </a:rPr>
                          </m:ctrlPr>
                        </m:sSupPr>
                        <m:e>
                          <m:r>
                            <a:rPr lang="en-US" altLang="en-US" sz="2400" i="1" dirty="0" smtClean="0">
                              <a:solidFill>
                                <a:srgbClr val="000000"/>
                              </a:solidFill>
                              <a:latin typeface="Cambria Math" panose="02040503050406030204" pitchFamily="18" charset="0"/>
                              <a:ea typeface="Times New Roman"/>
                              <a:cs typeface="Times New Roman"/>
                            </a:rPr>
                            <m:t>𝐺</m:t>
                          </m:r>
                        </m:e>
                        <m:sup>
                          <m:r>
                            <a:rPr lang="en-US" altLang="en-US" sz="2400" i="1" dirty="0" smtClean="0">
                              <a:solidFill>
                                <a:srgbClr val="000000"/>
                              </a:solidFill>
                              <a:latin typeface="Cambria Math" panose="02040503050406030204" pitchFamily="18" charset="0"/>
                              <a:ea typeface="Times New Roman"/>
                              <a:cs typeface="Times New Roman"/>
                            </a:rPr>
                            <m:t>𝑇</m:t>
                          </m:r>
                        </m:sup>
                      </m:sSup>
                      <m:r>
                        <a:rPr lang="en-US" altLang="en-US" sz="2400" i="1" dirty="0" smtClean="0">
                          <a:solidFill>
                            <a:srgbClr val="000000"/>
                          </a:solidFill>
                          <a:latin typeface="Cambria Math" panose="02040503050406030204" pitchFamily="18" charset="0"/>
                          <a:ea typeface="Times New Roman"/>
                          <a:cs typeface="Times New Roman"/>
                        </a:rPr>
                        <m:t>​</m:t>
                      </m:r>
                      <m:d>
                        <m:dPr>
                          <m:ctrlPr>
                            <a:rPr lang="en-US" altLang="en-US" sz="2400" i="1" dirty="0" smtClean="0">
                              <a:solidFill>
                                <a:srgbClr val="000000"/>
                              </a:solidFill>
                              <a:latin typeface="Cambria Math" panose="02040503050406030204" pitchFamily="18" charset="0"/>
                              <a:ea typeface="Times New Roman"/>
                              <a:cs typeface="Times New Roman"/>
                            </a:rPr>
                          </m:ctrlPr>
                        </m:dPr>
                        <m:e>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𝜃</m:t>
                              </m:r>
                            </m:e>
                            <m:sub>
                              <m:r>
                                <a:rPr lang="en-US" altLang="en-US" sz="2400" i="1" dirty="0" smtClean="0">
                                  <a:solidFill>
                                    <a:srgbClr val="000000"/>
                                  </a:solidFill>
                                  <a:latin typeface="Cambria Math" panose="02040503050406030204" pitchFamily="18" charset="0"/>
                                  <a:ea typeface="Times New Roman"/>
                                  <a:cs typeface="Times New Roman"/>
                                </a:rPr>
                                <m:t>𝑢</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Sub>
                          <m:r>
                            <a:rPr lang="en-US" altLang="en-US" sz="2400" i="0" dirty="0" smtClean="0">
                              <a:solidFill>
                                <a:srgbClr val="000000"/>
                              </a:solidFill>
                              <a:latin typeface="Cambria Math" panose="02040503050406030204" pitchFamily="18" charset="0"/>
                              <a:ea typeface="Times New Roman"/>
                              <a:cs typeface="Times New Roman"/>
                            </a:rPr>
                            <m:t>,</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𝜃</m:t>
                              </m:r>
                            </m:e>
                            <m:sub>
                              <m:r>
                                <a:rPr lang="en-US" altLang="en-US" sz="2400" i="0" dirty="0" smtClean="0">
                                  <a:solidFill>
                                    <a:srgbClr val="000000"/>
                                  </a:solidFill>
                                  <a:latin typeface="Cambria Math" panose="02040503050406030204" pitchFamily="18" charset="0"/>
                                  <a:ea typeface="Times New Roman"/>
                                  <a:cs typeface="Times New Roman"/>
                                </a:rPr>
                                <m:t>3</m:t>
                              </m:r>
                              <m:r>
                                <m:rPr>
                                  <m:nor/>
                                </m:rPr>
                                <a:rPr lang="en-US" altLang="en-US" sz="2400" i="0" dirty="0" smtClean="0">
                                  <a:solidFill>
                                    <a:srgbClr val="000000"/>
                                  </a:solidFill>
                                  <a:latin typeface="Times New Roman"/>
                                  <a:ea typeface="Times New Roman"/>
                                  <a:cs typeface="Times New Roman"/>
                                </a:rPr>
                                <m:t>dB</m:t>
                              </m:r>
                            </m:sub>
                          </m:sSub>
                        </m:e>
                      </m:d>
                    </m:oMath>
                  </m:oMathPara>
                </a14:m>
                <a:endParaRPr lang="en-US" altLang="en-US" sz="2400" dirty="0">
                  <a:solidFill>
                    <a:srgbClr val="000000"/>
                  </a:solidFill>
                  <a:latin typeface="Times New Roman"/>
                  <a:ea typeface="Times New Roman"/>
                  <a:cs typeface="Times New Roman"/>
                </a:endParaRPr>
              </a:p>
            </p:txBody>
          </p:sp>
        </mc:Choice>
        <mc:Fallback xmlns="">
          <p:sp>
            <p:nvSpPr>
              <p:cNvPr id="6" name="edu:formula-omml" descr="Native Office Math: a10_factors"/>
              <p:cNvSpPr txBox="1">
                <a:spLocks noRot="1" noChangeAspect="1" noMove="1" noResize="1" noEditPoints="1" noAdjustHandles="1" noChangeArrowheads="1" noChangeShapeType="1" noTextEdit="1"/>
              </p:cNvSpPr>
              <p:nvPr/>
            </p:nvSpPr>
            <p:spPr>
              <a:xfrm>
                <a:off x="4486046" y="2019683"/>
                <a:ext cx="3223260" cy="587959"/>
              </a:xfrm>
              <a:prstGeom prst="rect">
                <a:avLst/>
              </a:prstGeom>
              <a:blipFill>
                <a:blip r:embed="rId3"/>
                <a:stretch>
                  <a:fillRect l="-756"/>
                </a:stretch>
              </a:blipFill>
              <a:effectLst/>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edu:formula-omml" descr="Native Office Math: a10_expand"/>
              <p:cNvSpPr txBox="1"/>
              <p:nvPr/>
            </p:nvSpPr>
            <p:spPr>
              <a:xfrm>
                <a:off x="2186330" y="2772235"/>
                <a:ext cx="7821777" cy="587959"/>
              </a:xfrm>
              <a:prstGeom prst="rect">
                <a:avLst/>
              </a:prstGeom>
              <a:noFill/>
              <a:effectLst/>
            </p:spPr>
            <p:txBody>
              <a:bodyPr wrap="none" lIns="0" tIns="0" rIns="0" bIns="0" anchor="ctr">
                <a:noAutofit/>
              </a:bodyPr>
              <a:lstStyle/>
              <a:p>
                <a:pPr algn="ctr"/>
                <a14:m>
                  <m:oMathPara xmlns:m="http://schemas.openxmlformats.org/officeDocument/2006/math">
                    <m:oMath>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𝐻</m:t>
                          </m:r>
                        </m:e>
                        <m:sub>
                          <m:r>
                            <a:rPr lang="en-US" altLang="en-US" sz="2400" i="1" dirty="0" smtClean="0">
                              <a:solidFill>
                                <a:srgbClr val="000000"/>
                              </a:solidFill>
                              <a:latin typeface="Cambria Math" panose="02040503050406030204" pitchFamily="18" charset="0"/>
                              <a:ea typeface="Times New Roman"/>
                              <a:cs typeface="Times New Roman"/>
                            </a:rPr>
                            <m:t>𝑢</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Sub>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sSup>
                        <m:sSupPr>
                          <m:ctrlPr>
                            <a:rPr lang="en-US" altLang="en-US" sz="2400" i="0" dirty="0" smtClean="0">
                              <a:solidFill>
                                <a:srgbClr val="000000"/>
                              </a:solidFill>
                              <a:latin typeface="Cambria Math" panose="02040503050406030204" pitchFamily="18" charset="0"/>
                              <a:ea typeface="Times New Roman"/>
                              <a:cs typeface="Times New Roman"/>
                            </a:rPr>
                          </m:ctrlPr>
                        </m:sSupPr>
                        <m:e>
                          <m:r>
                            <a:rPr lang="en-US" altLang="en-US" sz="2400" i="0" dirty="0" smtClean="0">
                              <a:solidFill>
                                <a:srgbClr val="000000"/>
                              </a:solidFill>
                              <a:latin typeface="Cambria Math" panose="02040503050406030204" pitchFamily="18" charset="0"/>
                              <a:ea typeface="Times New Roman"/>
                              <a:cs typeface="Times New Roman"/>
                            </a:rPr>
                            <m:t>10</m:t>
                          </m:r>
                        </m:e>
                        <m:sup>
                          <m:r>
                            <a:rPr lang="en-US" altLang="en-US" sz="2400" i="0" dirty="0" smtClean="0">
                              <a:solidFill>
                                <a:srgbClr val="000000"/>
                              </a:solidFill>
                              <a:latin typeface="Cambria Math" panose="02040503050406030204" pitchFamily="18" charset="0"/>
                              <a:ea typeface="Times New Roman"/>
                              <a:cs typeface="Times New Roman"/>
                            </a:rPr>
                            <m:t>−</m:t>
                          </m:r>
                          <m:f>
                            <m:fPr>
                              <m:ctrlPr>
                                <a:rPr lang="en-US" altLang="en-US" sz="2400" i="1" dirty="0" smtClean="0">
                                  <a:solidFill>
                                    <a:srgbClr val="000000"/>
                                  </a:solidFill>
                                  <a:latin typeface="Cambria Math" panose="02040503050406030204" pitchFamily="18" charset="0"/>
                                  <a:ea typeface="Times New Roman"/>
                                  <a:cs typeface="Times New Roman"/>
                                </a:rPr>
                              </m:ctrlPr>
                            </m:fPr>
                            <m:num>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𝐿</m:t>
                                  </m:r>
                                </m:e>
                                <m:sub>
                                  <m:r>
                                    <a:rPr lang="en-US" altLang="en-US" sz="2400" i="1" dirty="0" smtClean="0">
                                      <a:solidFill>
                                        <a:srgbClr val="000000"/>
                                      </a:solidFill>
                                      <a:latin typeface="Cambria Math" panose="02040503050406030204" pitchFamily="18" charset="0"/>
                                      <a:ea typeface="Times New Roman"/>
                                      <a:cs typeface="Times New Roman"/>
                                    </a:rPr>
                                    <m:t>𝑢</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Sub>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num>
                            <m:den>
                              <m:r>
                                <a:rPr lang="en-US" altLang="en-US" sz="2400" i="0" dirty="0" smtClean="0">
                                  <a:solidFill>
                                    <a:srgbClr val="000000"/>
                                  </a:solidFill>
                                  <a:latin typeface="Cambria Math" panose="02040503050406030204" pitchFamily="18" charset="0"/>
                                  <a:ea typeface="Times New Roman"/>
                                  <a:cs typeface="Times New Roman"/>
                                </a:rPr>
                                <m:t>10</m:t>
                              </m:r>
                            </m:den>
                          </m:f>
                        </m:sup>
                      </m:sSup>
                      <m:sSubSup>
                        <m:sSubSupPr>
                          <m:ctrlPr>
                            <a:rPr lang="en-US" altLang="en-US" sz="2400" i="1" dirty="0" smtClean="0">
                              <a:solidFill>
                                <a:srgbClr val="000000"/>
                              </a:solidFill>
                              <a:latin typeface="Cambria Math" panose="02040503050406030204" pitchFamily="18" charset="0"/>
                              <a:ea typeface="Times New Roman"/>
                              <a:cs typeface="Times New Roman"/>
                            </a:rPr>
                          </m:ctrlPr>
                        </m:sSubSupPr>
                        <m:e>
                          <m:r>
                            <a:rPr lang="en-US" altLang="en-US" sz="2400" i="1" dirty="0" smtClean="0">
                              <a:solidFill>
                                <a:srgbClr val="000000"/>
                              </a:solidFill>
                              <a:latin typeface="Cambria Math" panose="02040503050406030204" pitchFamily="18" charset="0"/>
                              <a:ea typeface="Times New Roman"/>
                              <a:cs typeface="Times New Roman"/>
                            </a:rPr>
                            <m:t>𝐺</m:t>
                          </m:r>
                        </m:e>
                        <m:sub>
                          <m:r>
                            <a:rPr lang="en-US" altLang="en-US" sz="2400" i="1" dirty="0" smtClean="0">
                              <a:solidFill>
                                <a:srgbClr val="000000"/>
                              </a:solidFill>
                              <a:latin typeface="Cambria Math" panose="02040503050406030204" pitchFamily="18" charset="0"/>
                              <a:ea typeface="Times New Roman"/>
                              <a:cs typeface="Times New Roman"/>
                            </a:rPr>
                            <m:t>𝑢</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up>
                          <m:r>
                            <a:rPr lang="en-US" altLang="en-US" sz="2400" i="1" dirty="0" smtClean="0">
                              <a:solidFill>
                                <a:srgbClr val="000000"/>
                              </a:solidFill>
                              <a:latin typeface="Cambria Math" panose="02040503050406030204" pitchFamily="18" charset="0"/>
                              <a:ea typeface="Times New Roman"/>
                              <a:cs typeface="Times New Roman"/>
                            </a:rPr>
                            <m:t>𝑅</m:t>
                          </m:r>
                        </m:sup>
                      </m:sSubSup>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  </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𝐿</m:t>
                          </m:r>
                        </m:e>
                        <m:sub>
                          <m:r>
                            <a:rPr lang="en-US" altLang="en-US" sz="2400" i="1" dirty="0" smtClean="0">
                              <a:solidFill>
                                <a:srgbClr val="000000"/>
                              </a:solidFill>
                              <a:latin typeface="Cambria Math" panose="02040503050406030204" pitchFamily="18" charset="0"/>
                              <a:ea typeface="Times New Roman"/>
                              <a:cs typeface="Times New Roman"/>
                            </a:rPr>
                            <m:t>𝑢</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Sub>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𝐿</m:t>
                          </m:r>
                        </m:e>
                        <m:sub>
                          <m:r>
                            <a:rPr lang="en-US" altLang="en-US" sz="2400" i="1" dirty="0" smtClean="0">
                              <a:solidFill>
                                <a:srgbClr val="000000"/>
                              </a:solidFill>
                              <a:latin typeface="Cambria Math" panose="02040503050406030204" pitchFamily="18" charset="0"/>
                              <a:ea typeface="Times New Roman"/>
                              <a:cs typeface="Times New Roman"/>
                            </a:rPr>
                            <m:t>𝑓</m:t>
                          </m:r>
                        </m:sub>
                      </m:sSub>
                      <m:r>
                        <a:rPr lang="en-US" altLang="en-US" sz="2400" i="0" dirty="0" smtClean="0">
                          <a:solidFill>
                            <a:srgbClr val="000000"/>
                          </a:solidFill>
                          <a:latin typeface="Cambria Math" panose="02040503050406030204" pitchFamily="18" charset="0"/>
                          <a:ea typeface="Times New Roman"/>
                          <a:cs typeface="Times New Roman"/>
                        </a:rPr>
                        <m:t>+</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𝐿</m:t>
                          </m:r>
                        </m:e>
                        <m:sub>
                          <m:r>
                            <a:rPr lang="en-US" altLang="en-US" sz="2400" i="1" dirty="0" smtClean="0">
                              <a:solidFill>
                                <a:srgbClr val="000000"/>
                              </a:solidFill>
                              <a:latin typeface="Cambria Math" panose="02040503050406030204" pitchFamily="18" charset="0"/>
                              <a:ea typeface="Times New Roman"/>
                              <a:cs typeface="Times New Roman"/>
                            </a:rPr>
                            <m:t>𝑔</m:t>
                          </m:r>
                        </m:sub>
                      </m:sSub>
                      <m:r>
                        <a:rPr lang="en-US" altLang="en-US" sz="2400" i="0" dirty="0" smtClean="0">
                          <a:solidFill>
                            <a:srgbClr val="000000"/>
                          </a:solidFill>
                          <a:latin typeface="Cambria Math" panose="02040503050406030204" pitchFamily="18" charset="0"/>
                          <a:ea typeface="Times New Roman"/>
                          <a:cs typeface="Times New Roman"/>
                        </a:rPr>
                        <m:t>+</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𝐿</m:t>
                          </m:r>
                        </m:e>
                        <m:sub>
                          <m:r>
                            <a:rPr lang="en-US" altLang="en-US" sz="2400" i="1" dirty="0" smtClean="0">
                              <a:solidFill>
                                <a:srgbClr val="000000"/>
                              </a:solidFill>
                              <a:latin typeface="Cambria Math" panose="02040503050406030204" pitchFamily="18" charset="0"/>
                              <a:ea typeface="Times New Roman"/>
                              <a:cs typeface="Times New Roman"/>
                            </a:rPr>
                            <m:t>𝑐</m:t>
                          </m:r>
                        </m:sub>
                      </m:sSub>
                      <m:r>
                        <a:rPr lang="en-US" altLang="en-US" sz="2400" i="0" dirty="0" smtClean="0">
                          <a:solidFill>
                            <a:srgbClr val="000000"/>
                          </a:solidFill>
                          <a:latin typeface="Cambria Math" panose="02040503050406030204" pitchFamily="18" charset="0"/>
                          <a:ea typeface="Times New Roman"/>
                          <a:cs typeface="Times New Roman"/>
                        </a:rPr>
                        <m:t>+</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𝐿</m:t>
                          </m:r>
                        </m:e>
                        <m:sub>
                          <m:r>
                            <a:rPr lang="en-US" altLang="en-US" sz="2400" i="1" dirty="0" smtClean="0">
                              <a:solidFill>
                                <a:srgbClr val="000000"/>
                              </a:solidFill>
                              <a:latin typeface="Cambria Math" panose="02040503050406030204" pitchFamily="18" charset="0"/>
                              <a:ea typeface="Times New Roman"/>
                              <a:cs typeface="Times New Roman"/>
                            </a:rPr>
                            <m:t>𝑠</m:t>
                          </m:r>
                        </m:sub>
                      </m:sSub>
                    </m:oMath>
                  </m:oMathPara>
                </a14:m>
                <a:endParaRPr lang="en-US" altLang="en-US" sz="2400" dirty="0">
                  <a:solidFill>
                    <a:srgbClr val="000000"/>
                  </a:solidFill>
                  <a:latin typeface="Times New Roman"/>
                  <a:ea typeface="Times New Roman"/>
                  <a:cs typeface="Times New Roman"/>
                </a:endParaRPr>
              </a:p>
            </p:txBody>
          </p:sp>
        </mc:Choice>
        <mc:Fallback xmlns="">
          <p:sp>
            <p:nvSpPr>
              <p:cNvPr id="7" name="edu:formula-omml" descr="Native Office Math: a10_expand"/>
              <p:cNvSpPr txBox="1">
                <a:spLocks noRot="1" noChangeAspect="1" noMove="1" noResize="1" noEditPoints="1" noAdjustHandles="1" noChangeArrowheads="1" noChangeShapeType="1" noTextEdit="1"/>
              </p:cNvSpPr>
              <p:nvPr/>
            </p:nvSpPr>
            <p:spPr>
              <a:xfrm>
                <a:off x="2186330" y="2772235"/>
                <a:ext cx="7821777" cy="587959"/>
              </a:xfrm>
              <a:prstGeom prst="rect">
                <a:avLst/>
              </a:prstGeom>
              <a:blipFill>
                <a:blip r:embed="rId4"/>
                <a:stretch>
                  <a:fillRect l="-3507" r="-2260" b="-3125"/>
                </a:stretch>
              </a:blipFill>
              <a:effectLst/>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edu:notation"/>
              <p:cNvSpPr txBox="1"/>
              <p:nvPr/>
            </p:nvSpPr>
            <p:spPr>
              <a:xfrm>
                <a:off x="565190" y="4015742"/>
                <a:ext cx="11064240" cy="1740103"/>
              </a:xfrm>
              <a:prstGeom prst="rect">
                <a:avLst/>
              </a:prstGeom>
              <a:noFill/>
              <a:effectLst/>
            </p:spPr>
            <p:txBody>
              <a:bodyPr wrap="square" lIns="0" tIns="0" rIns="0" bIns="0" anchor="t">
                <a:noAutofit/>
              </a:bodyPr>
              <a:lstStyle/>
              <a:p>
                <a:pPr algn="l">
                  <a:lnSpc>
                    <a:spcPct val="100000"/>
                  </a:lnSpc>
                  <a:spcAft>
                    <a:spcPts val="200"/>
                  </a:spcAft>
                </a:pPr>
                <a:r>
                  <a:rPr lang="en-US" altLang="en-US" sz="2400" b="1" i="0" noProof="1">
                    <a:solidFill>
                      <a:srgbClr val="000000"/>
                    </a:solidFill>
                    <a:latin typeface="Times New Roman"/>
                    <a:ea typeface="標楷體"/>
                    <a:cs typeface="Times New Roman"/>
                  </a:rPr>
                  <a:t>Notation</a:t>
                </a:r>
              </a:p>
              <a:p>
                <a:pPr algn="l">
                  <a:lnSpc>
                    <a:spcPct val="100000"/>
                  </a:lnSpc>
                  <a:spcAft>
                    <a:spcPts val="200"/>
                  </a:spcAft>
                </a:pPr>
                <a14:m>
                  <m:oMath xmlns:m="http://schemas.openxmlformats.org/officeDocument/2006/math">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𝐻</m:t>
                        </m:r>
                      </m:e>
                      <m:sub>
                        <m:r>
                          <a:rPr lang="en-US" altLang="en-US" sz="2400" i="1" dirty="0" smtClean="0">
                            <a:solidFill>
                              <a:srgbClr val="000000"/>
                            </a:solidFill>
                            <a:latin typeface="Cambria Math" panose="02040503050406030204" pitchFamily="18" charset="0"/>
                            <a:ea typeface="Times New Roman"/>
                            <a:cs typeface="Times New Roman"/>
                          </a:rPr>
                          <m:t>𝑢</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Sub>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oMath>
                </a14:m>
                <a:r>
                  <a:rPr lang="en-US" altLang="en-US" sz="2400" b="0" i="0" noProof="1">
                    <a:solidFill>
                      <a:srgbClr val="000000"/>
                    </a:solidFill>
                    <a:latin typeface="Times New Roman"/>
                    <a:ea typeface="標楷體"/>
                    <a:cs typeface="Times New Roman"/>
                  </a:rPr>
                  <a:t>: linear link power factor that does not depend on the off-axis angle</a:t>
                </a:r>
                <a:endParaRPr lang="en-US" altLang="en-US" sz="2400" dirty="0">
                  <a:solidFill>
                    <a:srgbClr val="000000"/>
                  </a:solidFill>
                  <a:latin typeface="Times New Roman"/>
                  <a:ea typeface="Times New Roman"/>
                  <a:cs typeface="Times New Roman"/>
                </a:endParaRPr>
              </a:p>
              <a:p>
                <a:pPr algn="l">
                  <a:lnSpc>
                    <a:spcPct val="100000"/>
                  </a:lnSpc>
                  <a:spcAft>
                    <a:spcPts val="200"/>
                  </a:spcAft>
                </a:pPr>
                <a14:m>
                  <m:oMath xmlns:m="http://schemas.openxmlformats.org/officeDocument/2006/math">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𝐿</m:t>
                        </m:r>
                      </m:e>
                      <m:sub>
                        <m:r>
                          <a:rPr lang="en-US" altLang="en-US" sz="2400" i="1" dirty="0" smtClean="0">
                            <a:solidFill>
                              <a:srgbClr val="000000"/>
                            </a:solidFill>
                            <a:latin typeface="Cambria Math" panose="02040503050406030204" pitchFamily="18" charset="0"/>
                            <a:ea typeface="Times New Roman"/>
                            <a:cs typeface="Times New Roman"/>
                          </a:rPr>
                          <m:t>𝑢</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Sub>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oMath>
                </a14:m>
                <a:r>
                  <a:rPr lang="en-US" altLang="en-US" sz="2400" b="0" i="0" noProof="1">
                    <a:solidFill>
                      <a:srgbClr val="000000"/>
                    </a:solidFill>
                    <a:latin typeface="Times New Roman"/>
                    <a:ea typeface="標楷體"/>
                    <a:cs typeface="Times New Roman"/>
                  </a:rPr>
                  <a:t>: path/fading loss layer collected into </a:t>
                </a:r>
                <a:r>
                  <a:rPr lang="en-US" altLang="en-US" sz="2400" b="0" i="1" noProof="1">
                    <a:solidFill>
                      <a:srgbClr val="000000"/>
                    </a:solidFill>
                    <a:latin typeface="Times New Roman"/>
                    <a:ea typeface="標楷體"/>
                    <a:cs typeface="Times New Roman"/>
                  </a:rPr>
                  <a:t>H</a:t>
                </a:r>
                <a:r>
                  <a:rPr lang="en-US" altLang="en-US" sz="2400" b="0" i="0" noProof="1">
                    <a:solidFill>
                      <a:srgbClr val="000000"/>
                    </a:solidFill>
                    <a:latin typeface="Times New Roman"/>
                    <a:ea typeface="標楷體"/>
                    <a:cs typeface="Times New Roman"/>
                  </a:rPr>
                  <a:t>, in dB</a:t>
                </a:r>
                <a:endParaRPr lang="en-US" altLang="en-US" sz="2400" dirty="0">
                  <a:solidFill>
                    <a:srgbClr val="000000"/>
                  </a:solidFill>
                  <a:latin typeface="Times New Roman"/>
                  <a:ea typeface="Times New Roman"/>
                  <a:cs typeface="Times New Roman"/>
                </a:endParaRPr>
              </a:p>
              <a:p>
                <a:pPr algn="l">
                  <a:lnSpc>
                    <a:spcPct val="100000"/>
                  </a:lnSpc>
                  <a:spcAft>
                    <a:spcPts val="200"/>
                  </a:spcAft>
                </a:pPr>
                <a14:m>
                  <m:oMath xmlns:m="http://schemas.openxmlformats.org/officeDocument/2006/math">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𝐿</m:t>
                        </m:r>
                      </m:e>
                      <m:sub>
                        <m:r>
                          <a:rPr lang="en-US" altLang="en-US" sz="2400" i="1" dirty="0" smtClean="0">
                            <a:solidFill>
                              <a:srgbClr val="000000"/>
                            </a:solidFill>
                            <a:latin typeface="Cambria Math" panose="02040503050406030204" pitchFamily="18" charset="0"/>
                            <a:ea typeface="Times New Roman"/>
                            <a:cs typeface="Times New Roman"/>
                          </a:rPr>
                          <m:t>𝑓</m:t>
                        </m:r>
                      </m:sub>
                    </m:sSub>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 </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𝐿</m:t>
                        </m:r>
                      </m:e>
                      <m:sub>
                        <m:r>
                          <a:rPr lang="en-US" altLang="en-US" sz="2400" i="1" dirty="0" smtClean="0">
                            <a:solidFill>
                              <a:srgbClr val="000000"/>
                            </a:solidFill>
                            <a:latin typeface="Cambria Math" panose="02040503050406030204" pitchFamily="18" charset="0"/>
                            <a:ea typeface="Times New Roman"/>
                            <a:cs typeface="Times New Roman"/>
                          </a:rPr>
                          <m:t>𝑔</m:t>
                        </m:r>
                      </m:sub>
                    </m:sSub>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 </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𝐿</m:t>
                        </m:r>
                      </m:e>
                      <m:sub>
                        <m:r>
                          <a:rPr lang="en-US" altLang="en-US" sz="2400" i="1" dirty="0" smtClean="0">
                            <a:solidFill>
                              <a:srgbClr val="000000"/>
                            </a:solidFill>
                            <a:latin typeface="Cambria Math" panose="02040503050406030204" pitchFamily="18" charset="0"/>
                            <a:ea typeface="Times New Roman"/>
                            <a:cs typeface="Times New Roman"/>
                          </a:rPr>
                          <m:t>𝑐</m:t>
                        </m:r>
                      </m:sub>
                    </m:sSub>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 </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𝐿</m:t>
                        </m:r>
                      </m:e>
                      <m:sub>
                        <m:r>
                          <a:rPr lang="en-US" altLang="en-US" sz="2400" i="1" dirty="0" smtClean="0">
                            <a:solidFill>
                              <a:srgbClr val="000000"/>
                            </a:solidFill>
                            <a:latin typeface="Cambria Math" panose="02040503050406030204" pitchFamily="18" charset="0"/>
                            <a:ea typeface="Times New Roman"/>
                            <a:cs typeface="Times New Roman"/>
                          </a:rPr>
                          <m:t>𝑠</m:t>
                        </m:r>
                      </m:sub>
                    </m:sSub>
                  </m:oMath>
                </a14:m>
                <a:r>
                  <a:rPr lang="en-US" altLang="en-US" sz="2400" b="0" i="0" noProof="1">
                    <a:solidFill>
                      <a:srgbClr val="000000"/>
                    </a:solidFill>
                    <a:latin typeface="Times New Roman"/>
                    <a:ea typeface="標楷體"/>
                    <a:cs typeface="Times New Roman"/>
                  </a:rPr>
                  <a:t>: free-space, gaseous, scintillation, and shadowing loss terms, in dB</a:t>
                </a:r>
                <a:endParaRPr lang="en-US" altLang="en-US" sz="2400" dirty="0">
                  <a:solidFill>
                    <a:srgbClr val="000000"/>
                  </a:solidFill>
                  <a:latin typeface="Times New Roman"/>
                  <a:ea typeface="Times New Roman"/>
                  <a:cs typeface="Times New Roman"/>
                </a:endParaRPr>
              </a:p>
              <a:p>
                <a:pPr algn="l">
                  <a:lnSpc>
                    <a:spcPct val="100000"/>
                  </a:lnSpc>
                  <a:spcAft>
                    <a:spcPts val="200"/>
                  </a:spcAft>
                </a:pPr>
                <a14:m>
                  <m:oMath xmlns:m="http://schemas.openxmlformats.org/officeDocument/2006/math">
                    <m:sSubSup>
                      <m:sSubSupPr>
                        <m:ctrlPr>
                          <a:rPr lang="en-US" altLang="en-US" sz="2400" i="1" dirty="0" smtClean="0">
                            <a:solidFill>
                              <a:srgbClr val="000000"/>
                            </a:solidFill>
                            <a:latin typeface="Cambria Math" panose="02040503050406030204" pitchFamily="18" charset="0"/>
                            <a:ea typeface="Times New Roman"/>
                            <a:cs typeface="Times New Roman"/>
                          </a:rPr>
                        </m:ctrlPr>
                      </m:sSubSupPr>
                      <m:e>
                        <m:r>
                          <a:rPr lang="en-US" altLang="en-US" sz="2400" i="1" dirty="0" smtClean="0">
                            <a:solidFill>
                              <a:srgbClr val="000000"/>
                            </a:solidFill>
                            <a:latin typeface="Cambria Math" panose="02040503050406030204" pitchFamily="18" charset="0"/>
                            <a:ea typeface="Times New Roman"/>
                            <a:cs typeface="Times New Roman"/>
                          </a:rPr>
                          <m:t>𝐺</m:t>
                        </m:r>
                      </m:e>
                      <m:sub>
                        <m:r>
                          <a:rPr lang="en-US" altLang="en-US" sz="2400" i="1" dirty="0" smtClean="0">
                            <a:solidFill>
                              <a:srgbClr val="000000"/>
                            </a:solidFill>
                            <a:latin typeface="Cambria Math" panose="02040503050406030204" pitchFamily="18" charset="0"/>
                            <a:ea typeface="Times New Roman"/>
                            <a:cs typeface="Times New Roman"/>
                          </a:rPr>
                          <m:t>𝑢</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up>
                        <m:r>
                          <a:rPr lang="en-US" altLang="en-US" sz="2400" i="1" dirty="0" smtClean="0">
                            <a:solidFill>
                              <a:srgbClr val="000000"/>
                            </a:solidFill>
                            <a:latin typeface="Cambria Math" panose="02040503050406030204" pitchFamily="18" charset="0"/>
                            <a:ea typeface="Times New Roman"/>
                            <a:cs typeface="Times New Roman"/>
                          </a:rPr>
                          <m:t>𝑅</m:t>
                        </m:r>
                      </m:sup>
                    </m:sSubSup>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oMath>
                </a14:m>
                <a:r>
                  <a:rPr lang="en-US" altLang="en-US" sz="2400" b="0" i="0" noProof="1">
                    <a:solidFill>
                      <a:srgbClr val="000000"/>
                    </a:solidFill>
                    <a:latin typeface="Times New Roman"/>
                    <a:ea typeface="標楷體"/>
                    <a:cs typeface="Times New Roman"/>
                  </a:rPr>
                  <a:t>: receive-side linear gain</a:t>
                </a:r>
                <a:endParaRPr lang="en-US" altLang="en-US" sz="2400" dirty="0">
                  <a:solidFill>
                    <a:srgbClr val="000000"/>
                  </a:solidFill>
                  <a:latin typeface="Times New Roman"/>
                  <a:ea typeface="Times New Roman"/>
                  <a:cs typeface="Times New Roman"/>
                </a:endParaRPr>
              </a:p>
            </p:txBody>
          </p:sp>
        </mc:Choice>
        <mc:Fallback xmlns="">
          <p:sp>
            <p:nvSpPr>
              <p:cNvPr id="8" name="edu:notation"/>
              <p:cNvSpPr txBox="1">
                <a:spLocks noRot="1" noChangeAspect="1" noMove="1" noResize="1" noEditPoints="1" noAdjustHandles="1" noChangeArrowheads="1" noChangeShapeType="1" noTextEdit="1"/>
              </p:cNvSpPr>
              <p:nvPr/>
            </p:nvSpPr>
            <p:spPr>
              <a:xfrm>
                <a:off x="565190" y="4015742"/>
                <a:ext cx="11064240" cy="1740103"/>
              </a:xfrm>
              <a:prstGeom prst="rect">
                <a:avLst/>
              </a:prstGeom>
              <a:blipFill>
                <a:blip r:embed="rId5"/>
                <a:stretch>
                  <a:fillRect l="-1708" t="-5614" b="-25614"/>
                </a:stretch>
              </a:blipFill>
              <a:effectLst/>
            </p:spPr>
            <p:txBody>
              <a:bodyPr/>
              <a:lstStyle/>
              <a:p>
                <a:r>
                  <a:rPr lang="zh-TW" altLang="en-US">
                    <a:noFill/>
                  </a:rPr>
                  <a:t> </a:t>
                </a:r>
              </a:p>
            </p:txBody>
          </p:sp>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du:title"/>
          <p:cNvSpPr txBox="1"/>
          <p:nvPr/>
        </p:nvSpPr>
        <p:spPr>
          <a:xfrm>
            <a:off x="565190" y="141274"/>
            <a:ext cx="11417289" cy="571500"/>
          </a:xfrm>
          <a:prstGeom prst="rect">
            <a:avLst/>
          </a:prstGeom>
          <a:noFill/>
        </p:spPr>
        <p:txBody>
          <a:bodyPr wrap="square" lIns="0" tIns="0" rIns="0" bIns="0" anchor="b">
            <a:spAutoFit/>
          </a:bodyPr>
          <a:lstStyle/>
          <a:p>
            <a:pPr algn="l"/>
            <a:r>
              <a:rPr lang="en-US" altLang="en-US" sz="2800" b="1" i="0" noProof="1">
                <a:solidFill>
                  <a:srgbClr val="1B365D"/>
                </a:solidFill>
                <a:latin typeface="Times New Roman"/>
                <a:ea typeface="標楷體"/>
                <a:cs typeface="Times New Roman"/>
              </a:rPr>
              <a:t>Link Transmit Power</a:t>
            </a:r>
          </a:p>
        </p:txBody>
      </p:sp>
      <mc:AlternateContent xmlns:mc="http://schemas.openxmlformats.org/markup-compatibility/2006" xmlns:a14="http://schemas.microsoft.com/office/drawing/2010/main">
        <mc:Choice Requires="a14">
          <p:sp>
            <p:nvSpPr>
              <p:cNvPr id="4" name="edu:body"/>
              <p:cNvSpPr txBox="1"/>
              <p:nvPr/>
            </p:nvSpPr>
            <p:spPr>
              <a:xfrm>
                <a:off x="565190" y="896112"/>
                <a:ext cx="11064240" cy="774496"/>
              </a:xfrm>
              <a:prstGeom prst="rect">
                <a:avLst/>
              </a:prstGeom>
              <a:noFill/>
              <a:effectLst/>
            </p:spPr>
            <p:txBody>
              <a:bodyPr wrap="square" lIns="0" tIns="0" rIns="0" bIns="0" anchor="t">
                <a:noAutofit/>
              </a:bodyPr>
              <a:lstStyle/>
              <a:p>
                <a:pPr algn="l">
                  <a:lnSpc>
                    <a:spcPct val="112000"/>
                  </a:lnSpc>
                  <a:spcAft>
                    <a:spcPts val="0"/>
                  </a:spcAft>
                </a:pPr>
                <a14:m>
                  <m:oMath xmlns:m="http://schemas.openxmlformats.org/officeDocument/2006/math">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𝑝</m:t>
                        </m:r>
                      </m:e>
                      <m:sub>
                        <m:r>
                          <a:rPr lang="en-US" altLang="en-US" sz="2400" i="1" dirty="0" smtClean="0">
                            <a:solidFill>
                              <a:srgbClr val="000000"/>
                            </a:solidFill>
                            <a:latin typeface="Cambria Math" panose="02040503050406030204" pitchFamily="18" charset="0"/>
                            <a:ea typeface="Times New Roman"/>
                            <a:cs typeface="Times New Roman"/>
                          </a:rPr>
                          <m:t>𝑢</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Sub>
                    <m:r>
                      <a:rPr lang="en-US" altLang="en-US" sz="2400" i="1" dirty="0" smtClean="0">
                        <a:solidFill>
                          <a:srgbClr val="000000"/>
                        </a:solidFill>
                        <a:latin typeface="Cambria Math" panose="02040503050406030204" pitchFamily="18" charset="0"/>
                        <a:ea typeface="Times New Roman"/>
                        <a:cs typeface="Times New Roman"/>
                      </a:rPr>
                      <m:t>​</m:t>
                    </m:r>
                    <m:d>
                      <m:dPr>
                        <m:ctrlPr>
                          <a:rPr lang="en-US" altLang="en-US" sz="2400" i="1" dirty="0" smtClean="0">
                            <a:solidFill>
                              <a:srgbClr val="000000"/>
                            </a:solidFill>
                            <a:latin typeface="Cambria Math" panose="02040503050406030204" pitchFamily="18" charset="0"/>
                            <a:ea typeface="Times New Roman"/>
                            <a:cs typeface="Times New Roman"/>
                          </a:rPr>
                        </m:ctrlPr>
                      </m:dPr>
                      <m:e>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𝜃</m:t>
                            </m:r>
                          </m:e>
                          <m:sub>
                            <m:r>
                              <a:rPr lang="en-US" altLang="en-US" sz="2400" i="1" dirty="0" smtClean="0">
                                <a:solidFill>
                                  <a:srgbClr val="000000"/>
                                </a:solidFill>
                                <a:latin typeface="Cambria Math" panose="02040503050406030204" pitchFamily="18" charset="0"/>
                                <a:ea typeface="Times New Roman"/>
                                <a:cs typeface="Times New Roman"/>
                              </a:rPr>
                              <m:t>𝑢</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Sub>
                        <m:r>
                          <a:rPr lang="en-US" altLang="en-US" sz="2400" i="0" dirty="0" smtClean="0">
                            <a:solidFill>
                              <a:srgbClr val="000000"/>
                            </a:solidFill>
                            <a:latin typeface="Cambria Math" panose="02040503050406030204" pitchFamily="18" charset="0"/>
                            <a:ea typeface="Times New Roman"/>
                            <a:cs typeface="Times New Roman"/>
                          </a:rPr>
                          <m:t>,</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𝜃</m:t>
                            </m:r>
                          </m:e>
                          <m:sub>
                            <m:r>
                              <a:rPr lang="en-US" altLang="en-US" sz="2400" i="0" dirty="0" smtClean="0">
                                <a:solidFill>
                                  <a:srgbClr val="000000"/>
                                </a:solidFill>
                                <a:latin typeface="Cambria Math" panose="02040503050406030204" pitchFamily="18" charset="0"/>
                                <a:ea typeface="Times New Roman"/>
                                <a:cs typeface="Times New Roman"/>
                              </a:rPr>
                              <m:t>3</m:t>
                            </m:r>
                            <m:r>
                              <m:rPr>
                                <m:nor/>
                              </m:rPr>
                              <a:rPr lang="en-US" altLang="en-US" sz="2400" i="0" dirty="0" smtClean="0">
                                <a:solidFill>
                                  <a:srgbClr val="000000"/>
                                </a:solidFill>
                                <a:latin typeface="Times New Roman"/>
                                <a:ea typeface="Times New Roman"/>
                                <a:cs typeface="Times New Roman"/>
                              </a:rPr>
                              <m:t>dB</m:t>
                            </m:r>
                          </m:sub>
                        </m:sSub>
                      </m:e>
                    </m:d>
                  </m:oMath>
                </a14:m>
                <a:r>
                  <a:rPr lang="en-US" altLang="en-US" sz="2400" b="0" i="0" noProof="1">
                    <a:solidFill>
                      <a:srgbClr val="000000"/>
                    </a:solidFill>
                    <a:latin typeface="Times New Roman"/>
                    <a:ea typeface="標楷體"/>
                    <a:cs typeface="Times New Roman"/>
                  </a:rPr>
                  <a:t> denotes the radio-frequency power the satellite radiates on a link, the last ingredient of signal quality.</a:t>
                </a:r>
                <a:endParaRPr lang="en-US" altLang="en-US" dirty="0">
                  <a:solidFill>
                    <a:srgbClr val="000000"/>
                  </a:solidFill>
                  <a:latin typeface="Times New Roman"/>
                  <a:ea typeface="Times New Roman"/>
                  <a:cs typeface="Times New Roman"/>
                </a:endParaRPr>
              </a:p>
            </p:txBody>
          </p:sp>
        </mc:Choice>
        <mc:Fallback xmlns="">
          <p:sp>
            <p:nvSpPr>
              <p:cNvPr id="4" name="edu:body"/>
              <p:cNvSpPr txBox="1"/>
              <p:nvPr/>
            </p:nvSpPr>
            <p:spPr>
              <a:xfrm>
                <a:off x="565190" y="896112"/>
                <a:ext cx="11064240" cy="774496"/>
              </a:xfrm>
              <a:prstGeom prst="rect">
                <a:avLst/>
              </a:prstGeom>
              <a:noFill/>
            </p:spPr>
            <p:txBody>
              <a:bodyPr wrap="square" anchor="t" lIns="0" rIns="0" tIns="0" bIns="0">
                <a:spAutoFit/>
              </a:bodyPr>
              <a:lstStyle/>
              <a:p>
                <a:pPr algn="l">
                  <a:lnSpc>
                    <a:spcPct val="112000"/>
                  </a:lnSpc>
                  <a:spcAft>
                    <a:spcPts val="0"/>
                  </a:spcAft>
                </a:pPr>
                <a:r>
                  <a:rPr sz="2400" b="0" i="0" lang="en-US" altLang="en-US" noProof="1" dirty="0">
                    <a:solidFill>
                      <a:srgbClr val="000000"/>
                    </a:solidFill>
                    <a:latin typeface="Times New Roman"/>
                    <a:ea typeface="標楷體"/>
                    <a:cs typeface="Times New Roman"/>
                  </a:rPr>
                  <a:t/>
                </a:r>
                <a:r>
                  <a:rPr sz="2400" b="0" i="0" lang="en-US" altLang="en-US" noProof="1" dirty="0">
                    <a:solidFill>
                      <a:srgbClr val="000000"/>
                    </a:solidFill>
                    <a:latin typeface="Times New Roman"/>
                    <a:ea typeface="標楷體"/>
                    <a:cs typeface="Times New Roman"/>
                  </a:rPr>
                  <a:t xml:space="preserve"> denotes the radio-frequency power the satellite radiates on a link, the last ingredient of signal quality.</a:t>
                </a:r>
              </a:p>
            </p:txBody>
          </p:sp>
        </mc:Fallback>
      </mc:AlternateContent>
      <p:sp>
        <p:nvSpPr>
          <p:cNvPr id="5" name="edu:body"/>
          <p:cNvSpPr txBox="1"/>
          <p:nvPr/>
        </p:nvSpPr>
        <p:spPr>
          <a:xfrm>
            <a:off x="565190" y="1835200"/>
            <a:ext cx="11064240" cy="885820"/>
          </a:xfrm>
          <a:prstGeom prst="rect">
            <a:avLst/>
          </a:prstGeom>
          <a:noFill/>
        </p:spPr>
        <p:txBody>
          <a:bodyPr wrap="square" lIns="0" tIns="0" rIns="0" bIns="0" anchor="t">
            <a:spAutoFit/>
          </a:bodyPr>
          <a:lstStyle/>
          <a:p>
            <a:pPr marL="285750" indent="-285750" algn="l">
              <a:lnSpc>
                <a:spcPct val="112000"/>
              </a:lnSpc>
              <a:spcAft>
                <a:spcPts val="700"/>
              </a:spcAft>
              <a:buSzPts val="2800"/>
              <a:buFont typeface="Arial"/>
              <a:buChar char="•"/>
            </a:pPr>
            <a:r>
              <a:rPr lang="en-US" altLang="en-US" sz="2400" b="0" i="0" noProof="1">
                <a:solidFill>
                  <a:srgbClr val="000000"/>
                </a:solidFill>
                <a:latin typeface="Times New Roman"/>
                <a:ea typeface="標楷體"/>
                <a:cs typeface="Times New Roman"/>
              </a:rPr>
              <a:t>It is the RF power of one served link, not the satellite's total electrical power.</a:t>
            </a:r>
          </a:p>
          <a:p>
            <a:pPr marL="285750" indent="-285750" algn="l">
              <a:lnSpc>
                <a:spcPct val="112000"/>
              </a:lnSpc>
              <a:spcAft>
                <a:spcPts val="0"/>
              </a:spcAft>
              <a:buSzPts val="2800"/>
              <a:buFont typeface="Arial"/>
              <a:buChar char="•"/>
            </a:pPr>
            <a:r>
              <a:rPr lang="en-US" altLang="en-US" sz="2400" b="0" i="0" noProof="1">
                <a:solidFill>
                  <a:srgbClr val="000000"/>
                </a:solidFill>
                <a:latin typeface="Times New Roman"/>
                <a:ea typeface="標楷體"/>
                <a:cs typeface="Times New Roman"/>
              </a:rPr>
              <a:t>It enters the wanted-signal numerator of SINR;</a:t>
            </a:r>
          </a:p>
        </p:txBody>
      </p:sp>
      <mc:AlternateContent xmlns:mc="http://schemas.openxmlformats.org/markup-compatibility/2006" xmlns:a14="http://schemas.microsoft.com/office/drawing/2010/main">
        <mc:Choice Requires="a14">
          <p:sp>
            <p:nvSpPr>
              <p:cNvPr id="6" name="edu:notation"/>
              <p:cNvSpPr txBox="1"/>
              <p:nvPr/>
            </p:nvSpPr>
            <p:spPr>
              <a:xfrm>
                <a:off x="565190" y="5212385"/>
                <a:ext cx="11064240" cy="695858"/>
              </a:xfrm>
              <a:prstGeom prst="rect">
                <a:avLst/>
              </a:prstGeom>
              <a:noFill/>
              <a:effectLst/>
            </p:spPr>
            <p:txBody>
              <a:bodyPr wrap="square" lIns="0" tIns="0" rIns="0" bIns="0" anchor="t">
                <a:noAutofit/>
              </a:bodyPr>
              <a:lstStyle/>
              <a:p>
                <a:pPr algn="l">
                  <a:lnSpc>
                    <a:spcPct val="100000"/>
                  </a:lnSpc>
                  <a:spcAft>
                    <a:spcPts val="200"/>
                  </a:spcAft>
                </a:pPr>
                <a:r>
                  <a:rPr lang="en-US" altLang="en-US" sz="2400" b="1" i="0" noProof="1">
                    <a:solidFill>
                      <a:srgbClr val="000000"/>
                    </a:solidFill>
                    <a:latin typeface="Times New Roman"/>
                    <a:ea typeface="標楷體"/>
                    <a:cs typeface="Times New Roman"/>
                  </a:rPr>
                  <a:t>Notation</a:t>
                </a:r>
              </a:p>
              <a:p>
                <a:pPr algn="l">
                  <a:lnSpc>
                    <a:spcPct val="100000"/>
                  </a:lnSpc>
                  <a:spcAft>
                    <a:spcPts val="200"/>
                  </a:spcAft>
                </a:pPr>
                <a14:m>
                  <m:oMath xmlns:m="http://schemas.openxmlformats.org/officeDocument/2006/math">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𝑝</m:t>
                        </m:r>
                      </m:e>
                      <m:sub>
                        <m:r>
                          <a:rPr lang="en-US" altLang="en-US" sz="2400" i="1" dirty="0" smtClean="0">
                            <a:solidFill>
                              <a:srgbClr val="000000"/>
                            </a:solidFill>
                            <a:latin typeface="Cambria Math" panose="02040503050406030204" pitchFamily="18" charset="0"/>
                            <a:ea typeface="Times New Roman"/>
                            <a:cs typeface="Times New Roman"/>
                          </a:rPr>
                          <m:t>𝑢</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Sub>
                    <m:r>
                      <a:rPr lang="en-US" altLang="en-US" sz="2400" i="1" dirty="0" smtClean="0">
                        <a:solidFill>
                          <a:srgbClr val="000000"/>
                        </a:solidFill>
                        <a:latin typeface="Cambria Math" panose="02040503050406030204" pitchFamily="18" charset="0"/>
                        <a:ea typeface="Times New Roman"/>
                        <a:cs typeface="Times New Roman"/>
                      </a:rPr>
                      <m:t>​</m:t>
                    </m:r>
                    <m:d>
                      <m:dPr>
                        <m:ctrlPr>
                          <a:rPr lang="en-US" altLang="en-US" sz="2400" i="1" dirty="0" smtClean="0">
                            <a:solidFill>
                              <a:srgbClr val="000000"/>
                            </a:solidFill>
                            <a:latin typeface="Cambria Math" panose="02040503050406030204" pitchFamily="18" charset="0"/>
                            <a:ea typeface="Times New Roman"/>
                            <a:cs typeface="Times New Roman"/>
                          </a:rPr>
                        </m:ctrlPr>
                      </m:dPr>
                      <m:e>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𝜃</m:t>
                            </m:r>
                          </m:e>
                          <m:sub>
                            <m:r>
                              <a:rPr lang="en-US" altLang="en-US" sz="2400" i="1" dirty="0" smtClean="0">
                                <a:solidFill>
                                  <a:srgbClr val="000000"/>
                                </a:solidFill>
                                <a:latin typeface="Cambria Math" panose="02040503050406030204" pitchFamily="18" charset="0"/>
                                <a:ea typeface="Times New Roman"/>
                                <a:cs typeface="Times New Roman"/>
                              </a:rPr>
                              <m:t>𝑢</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Sub>
                        <m:r>
                          <a:rPr lang="en-US" altLang="en-US" sz="2400" i="0" dirty="0" smtClean="0">
                            <a:solidFill>
                              <a:srgbClr val="000000"/>
                            </a:solidFill>
                            <a:latin typeface="Cambria Math" panose="02040503050406030204" pitchFamily="18" charset="0"/>
                            <a:ea typeface="Times New Roman"/>
                            <a:cs typeface="Times New Roman"/>
                          </a:rPr>
                          <m:t>,</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𝜃</m:t>
                            </m:r>
                          </m:e>
                          <m:sub>
                            <m:r>
                              <a:rPr lang="en-US" altLang="en-US" sz="2400" i="0" dirty="0" smtClean="0">
                                <a:solidFill>
                                  <a:srgbClr val="000000"/>
                                </a:solidFill>
                                <a:latin typeface="Cambria Math" panose="02040503050406030204" pitchFamily="18" charset="0"/>
                                <a:ea typeface="Times New Roman"/>
                                <a:cs typeface="Times New Roman"/>
                              </a:rPr>
                              <m:t>3</m:t>
                            </m:r>
                            <m:r>
                              <m:rPr>
                                <m:nor/>
                              </m:rPr>
                              <a:rPr lang="en-US" altLang="en-US" sz="2400" i="0" dirty="0" smtClean="0">
                                <a:solidFill>
                                  <a:srgbClr val="000000"/>
                                </a:solidFill>
                                <a:latin typeface="Times New Roman"/>
                                <a:ea typeface="Times New Roman"/>
                                <a:cs typeface="Times New Roman"/>
                              </a:rPr>
                              <m:t>dB</m:t>
                            </m:r>
                          </m:sub>
                        </m:sSub>
                      </m:e>
                    </m:d>
                  </m:oMath>
                </a14:m>
                <a:r>
                  <a:rPr lang="en-US" altLang="en-US" sz="2400" b="0" i="0" noProof="1">
                    <a:solidFill>
                      <a:srgbClr val="000000"/>
                    </a:solidFill>
                    <a:latin typeface="Times New Roman"/>
                    <a:ea typeface="標楷體"/>
                    <a:cs typeface="Times New Roman"/>
                  </a:rPr>
                  <a:t>: radio-frequency power radiated on link </a:t>
                </a:r>
                <a:r>
                  <a:rPr lang="en-US" altLang="en-US" sz="2400" b="0" i="1" noProof="1">
                    <a:solidFill>
                      <a:srgbClr val="000000"/>
                    </a:solidFill>
                    <a:latin typeface="Times New Roman"/>
                    <a:ea typeface="標楷體"/>
                    <a:cs typeface="Times New Roman"/>
                  </a:rPr>
                  <a:t>(u, s, v)</a:t>
                </a:r>
                <a:r>
                  <a:rPr lang="en-US" altLang="en-US" sz="2400" b="0" i="0" noProof="1">
                    <a:solidFill>
                      <a:srgbClr val="000000"/>
                    </a:solidFill>
                    <a:latin typeface="Times New Roman"/>
                    <a:ea typeface="標楷體"/>
                    <a:cs typeface="Times New Roman"/>
                  </a:rPr>
                  <a:t> at step </a:t>
                </a:r>
                <a:r>
                  <a:rPr lang="en-US" altLang="en-US" sz="2400" b="0" i="1" noProof="1">
                    <a:solidFill>
                      <a:srgbClr val="000000"/>
                    </a:solidFill>
                    <a:latin typeface="Times New Roman"/>
                    <a:ea typeface="標楷體"/>
                    <a:cs typeface="Times New Roman"/>
                  </a:rPr>
                  <a:t>t</a:t>
                </a:r>
                <a:endParaRPr lang="en-US" altLang="en-US" sz="2000" dirty="0">
                  <a:solidFill>
                    <a:srgbClr val="000000"/>
                  </a:solidFill>
                  <a:latin typeface="Times New Roman"/>
                  <a:ea typeface="Times New Roman"/>
                  <a:cs typeface="Times New Roman"/>
                </a:endParaRPr>
              </a:p>
            </p:txBody>
          </p:sp>
        </mc:Choice>
        <mc:Fallback xmlns="">
          <p:sp>
            <p:nvSpPr>
              <p:cNvPr id="6" name="edu:notation"/>
              <p:cNvSpPr txBox="1">
                <a:spLocks noRot="1" noChangeAspect="1" noMove="1" noResize="1" noEditPoints="1" noAdjustHandles="1" noChangeArrowheads="1" noChangeShapeType="1" noTextEdit="1"/>
              </p:cNvSpPr>
              <p:nvPr/>
            </p:nvSpPr>
            <p:spPr>
              <a:xfrm>
                <a:off x="565190" y="5212385"/>
                <a:ext cx="11064240" cy="695858"/>
              </a:xfrm>
              <a:prstGeom prst="rect">
                <a:avLst/>
              </a:prstGeom>
              <a:blipFill>
                <a:blip r:embed="rId3"/>
                <a:stretch>
                  <a:fillRect l="-1708" t="-13158" b="-39474"/>
                </a:stretch>
              </a:blipFill>
              <a:effectLst/>
            </p:spPr>
            <p:txBody>
              <a:bodyPr/>
              <a:lstStyle/>
              <a:p>
                <a:r>
                  <a:rPr lang="zh-TW" altLang="en-US">
                    <a:noFill/>
                  </a:rPr>
                  <a:t> </a:t>
                </a:r>
              </a:p>
            </p:txBody>
          </p:sp>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du:title"/>
          <p:cNvSpPr txBox="1"/>
          <p:nvPr/>
        </p:nvSpPr>
        <p:spPr>
          <a:xfrm>
            <a:off x="565190" y="141274"/>
            <a:ext cx="11417289" cy="571500"/>
          </a:xfrm>
          <a:prstGeom prst="rect">
            <a:avLst/>
          </a:prstGeom>
          <a:noFill/>
        </p:spPr>
        <p:txBody>
          <a:bodyPr wrap="square" lIns="0" tIns="0" rIns="0" bIns="0" anchor="b">
            <a:spAutoFit/>
          </a:bodyPr>
          <a:lstStyle/>
          <a:p>
            <a:pPr algn="l"/>
            <a:r>
              <a:rPr lang="en-US" altLang="en-US" sz="2800" b="1" i="0" noProof="1">
                <a:solidFill>
                  <a:srgbClr val="1B365D"/>
                </a:solidFill>
                <a:latin typeface="Times New Roman"/>
                <a:ea typeface="標楷體"/>
                <a:cs typeface="Times New Roman"/>
              </a:rPr>
              <a:t>Link SINR</a:t>
            </a:r>
          </a:p>
        </p:txBody>
      </p:sp>
      <p:sp>
        <p:nvSpPr>
          <p:cNvPr id="3" name="edu:citation"/>
          <p:cNvSpPr txBox="1"/>
          <p:nvPr/>
        </p:nvSpPr>
        <p:spPr>
          <a:xfrm>
            <a:off x="495330" y="6316675"/>
            <a:ext cx="11018520" cy="505663"/>
          </a:xfrm>
          <a:prstGeom prst="rect">
            <a:avLst/>
          </a:prstGeom>
          <a:noFill/>
        </p:spPr>
        <p:txBody>
          <a:bodyPr wrap="square" lIns="0" tIns="0" rIns="0" bIns="0" anchor="t">
            <a:spAutoFit/>
          </a:bodyPr>
          <a:lstStyle/>
          <a:p>
            <a:pPr algn="l">
              <a:lnSpc>
                <a:spcPct val="105000"/>
              </a:lnSpc>
            </a:pPr>
            <a:r>
              <a:rPr lang="en-US" altLang="en-US" sz="1400" b="0" i="0" noProof="1">
                <a:solidFill>
                  <a:srgbClr val="000000"/>
                </a:solidFill>
                <a:latin typeface="Times New Roman"/>
                <a:ea typeface="標楷體"/>
                <a:cs typeface="Times New Roman"/>
              </a:rPr>
              <a:t>S.-H. Chen et al., “Energy-Efficient Joint Handover and Beam Switching Scheme for Multi-LEO Networks,” IEEE Vehicular Technology Conference (VTC2024-Spring), Singapore, 2024.</a:t>
            </a:r>
          </a:p>
        </p:txBody>
      </p:sp>
      <p:sp>
        <p:nvSpPr>
          <p:cNvPr id="5" name="edu:body"/>
          <p:cNvSpPr txBox="1"/>
          <p:nvPr/>
        </p:nvSpPr>
        <p:spPr>
          <a:xfrm>
            <a:off x="565190" y="896112"/>
            <a:ext cx="11064240" cy="386791"/>
          </a:xfrm>
          <a:prstGeom prst="rect">
            <a:avLst/>
          </a:prstGeom>
          <a:noFill/>
        </p:spPr>
        <p:txBody>
          <a:bodyPr wrap="square" lIns="0" tIns="0" rIns="0" bIns="0" anchor="t">
            <a:spAutoFit/>
          </a:bodyPr>
          <a:lstStyle/>
          <a:p>
            <a:pPr algn="l">
              <a:lnSpc>
                <a:spcPct val="112000"/>
              </a:lnSpc>
              <a:spcAft>
                <a:spcPts val="0"/>
              </a:spcAft>
            </a:pPr>
            <a:r>
              <a:rPr lang="en-US" altLang="en-US" sz="2400" b="0" i="0" noProof="1">
                <a:solidFill>
                  <a:srgbClr val="000000"/>
                </a:solidFill>
                <a:latin typeface="Times New Roman"/>
                <a:ea typeface="標楷體"/>
                <a:cs typeface="Times New Roman"/>
              </a:rPr>
              <a:t>Signal quality is wanted power divided by everything competing with it:</a:t>
            </a:r>
          </a:p>
        </p:txBody>
      </p:sp>
      <mc:AlternateContent xmlns:mc="http://schemas.openxmlformats.org/markup-compatibility/2006" xmlns:a14="http://schemas.microsoft.com/office/drawing/2010/main">
        <mc:Choice Requires="a14">
          <p:sp>
            <p:nvSpPr>
              <p:cNvPr id="6" name="edu:formula-omml" descr="Native Office Math: a12_sinr"/>
              <p:cNvSpPr txBox="1"/>
              <p:nvPr/>
            </p:nvSpPr>
            <p:spPr>
              <a:xfrm>
                <a:off x="1963216" y="1447495"/>
                <a:ext cx="8268919" cy="1096365"/>
              </a:xfrm>
              <a:prstGeom prst="rect">
                <a:avLst/>
              </a:prstGeom>
              <a:noFill/>
              <a:effectLst/>
            </p:spPr>
            <p:txBody>
              <a:bodyPr wrap="none" lIns="0" tIns="0" rIns="0" bIns="0" anchor="ctr">
                <a:noAutofit/>
              </a:bodyPr>
              <a:lstStyle/>
              <a:p>
                <a:pPr algn="ctr"/>
                <a14:m>
                  <m:oMathPara xmlns:m="http://schemas.openxmlformats.org/officeDocument/2006/math">
                    <m:oMath>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𝛾</m:t>
                          </m:r>
                        </m:e>
                        <m:sub>
                          <m:r>
                            <a:rPr lang="en-US" altLang="en-US" sz="2400" i="1" dirty="0" smtClean="0">
                              <a:solidFill>
                                <a:srgbClr val="000000"/>
                              </a:solidFill>
                              <a:latin typeface="Cambria Math" panose="02040503050406030204" pitchFamily="18" charset="0"/>
                              <a:ea typeface="Times New Roman"/>
                              <a:cs typeface="Times New Roman"/>
                            </a:rPr>
                            <m:t>𝑢</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Sub>
                      <m:r>
                        <a:rPr lang="en-US" altLang="en-US" sz="2400" i="1" dirty="0" smtClean="0">
                          <a:solidFill>
                            <a:srgbClr val="000000"/>
                          </a:solidFill>
                          <a:latin typeface="Cambria Math" panose="02040503050406030204" pitchFamily="18" charset="0"/>
                          <a:ea typeface="Times New Roman"/>
                          <a:cs typeface="Times New Roman"/>
                        </a:rPr>
                        <m:t>​</m:t>
                      </m:r>
                      <m:d>
                        <m:dPr>
                          <m:ctrlPr>
                            <a:rPr lang="en-US" altLang="en-US" sz="2400" i="1" dirty="0" smtClean="0">
                              <a:solidFill>
                                <a:srgbClr val="000000"/>
                              </a:solidFill>
                              <a:latin typeface="Cambria Math" panose="02040503050406030204" pitchFamily="18" charset="0"/>
                              <a:ea typeface="Times New Roman"/>
                              <a:cs typeface="Times New Roman"/>
                            </a:rPr>
                          </m:ctrlPr>
                        </m:dPr>
                        <m:e>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𝜃</m:t>
                              </m:r>
                            </m:e>
                            <m:sub>
                              <m:r>
                                <a:rPr lang="en-US" altLang="en-US" sz="2400" i="1" dirty="0" smtClean="0">
                                  <a:solidFill>
                                    <a:srgbClr val="000000"/>
                                  </a:solidFill>
                                  <a:latin typeface="Cambria Math" panose="02040503050406030204" pitchFamily="18" charset="0"/>
                                  <a:ea typeface="Times New Roman"/>
                                  <a:cs typeface="Times New Roman"/>
                                </a:rPr>
                                <m:t>𝑢</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Sub>
                          <m:r>
                            <a:rPr lang="en-US" altLang="en-US" sz="2400" i="0" dirty="0" smtClean="0">
                              <a:solidFill>
                                <a:srgbClr val="000000"/>
                              </a:solidFill>
                              <a:latin typeface="Cambria Math" panose="02040503050406030204" pitchFamily="18" charset="0"/>
                              <a:ea typeface="Times New Roman"/>
                              <a:cs typeface="Times New Roman"/>
                            </a:rPr>
                            <m:t>,</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𝜃</m:t>
                              </m:r>
                            </m:e>
                            <m:sub>
                              <m:r>
                                <a:rPr lang="en-US" altLang="en-US" sz="2400" i="0" dirty="0" smtClean="0">
                                  <a:solidFill>
                                    <a:srgbClr val="000000"/>
                                  </a:solidFill>
                                  <a:latin typeface="Cambria Math" panose="02040503050406030204" pitchFamily="18" charset="0"/>
                                  <a:ea typeface="Times New Roman"/>
                                  <a:cs typeface="Times New Roman"/>
                                </a:rPr>
                                <m:t>3</m:t>
                              </m:r>
                              <m:r>
                                <m:rPr>
                                  <m:nor/>
                                </m:rPr>
                                <a:rPr lang="en-US" altLang="en-US" sz="2400" i="0" dirty="0" smtClean="0">
                                  <a:solidFill>
                                    <a:srgbClr val="000000"/>
                                  </a:solidFill>
                                  <a:latin typeface="Times New Roman"/>
                                  <a:ea typeface="Times New Roman"/>
                                  <a:cs typeface="Times New Roman"/>
                                </a:rPr>
                                <m:t>dB</m:t>
                              </m:r>
                            </m:sub>
                          </m:sSub>
                        </m:e>
                      </m:d>
                      <m:r>
                        <a:rPr lang="en-US" altLang="en-US" sz="2400" i="0" dirty="0" smtClean="0">
                          <a:solidFill>
                            <a:srgbClr val="000000"/>
                          </a:solidFill>
                          <a:latin typeface="Cambria Math" panose="02040503050406030204" pitchFamily="18" charset="0"/>
                          <a:ea typeface="Times New Roman"/>
                          <a:cs typeface="Times New Roman"/>
                        </a:rPr>
                        <m:t>=</m:t>
                      </m:r>
                      <m:f>
                        <m:fPr>
                          <m:ctrlPr>
                            <a:rPr lang="en-US" altLang="en-US" sz="2400" i="1" dirty="0" smtClean="0">
                              <a:solidFill>
                                <a:srgbClr val="000000"/>
                              </a:solidFill>
                              <a:latin typeface="Cambria Math" panose="02040503050406030204" pitchFamily="18" charset="0"/>
                              <a:ea typeface="Times New Roman"/>
                              <a:cs typeface="Times New Roman"/>
                            </a:rPr>
                          </m:ctrlPr>
                        </m:fPr>
                        <m:num>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𝑝</m:t>
                              </m:r>
                            </m:e>
                            <m:sub>
                              <m:r>
                                <a:rPr lang="en-US" altLang="en-US" sz="2400" i="1" dirty="0" smtClean="0">
                                  <a:solidFill>
                                    <a:srgbClr val="000000"/>
                                  </a:solidFill>
                                  <a:latin typeface="Cambria Math" panose="02040503050406030204" pitchFamily="18" charset="0"/>
                                  <a:ea typeface="Times New Roman"/>
                                  <a:cs typeface="Times New Roman"/>
                                </a:rPr>
                                <m:t>𝑢</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Sub>
                          <m:r>
                            <a:rPr lang="en-US" altLang="en-US" sz="2400" i="1" dirty="0" smtClean="0">
                              <a:solidFill>
                                <a:srgbClr val="000000"/>
                              </a:solidFill>
                              <a:latin typeface="Cambria Math" panose="02040503050406030204" pitchFamily="18" charset="0"/>
                              <a:ea typeface="Times New Roman"/>
                              <a:cs typeface="Times New Roman"/>
                            </a:rPr>
                            <m:t>​</m:t>
                          </m:r>
                          <m:d>
                            <m:dPr>
                              <m:ctrlPr>
                                <a:rPr lang="en-US" altLang="en-US" sz="2400" i="1" dirty="0" smtClean="0">
                                  <a:solidFill>
                                    <a:srgbClr val="000000"/>
                                  </a:solidFill>
                                  <a:latin typeface="Cambria Math" panose="02040503050406030204" pitchFamily="18" charset="0"/>
                                  <a:ea typeface="Times New Roman"/>
                                  <a:cs typeface="Times New Roman"/>
                                </a:rPr>
                              </m:ctrlPr>
                            </m:dPr>
                            <m:e>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𝜃</m:t>
                                  </m:r>
                                </m:e>
                                <m:sub>
                                  <m:r>
                                    <a:rPr lang="en-US" altLang="en-US" sz="2400" i="1" dirty="0" smtClean="0">
                                      <a:solidFill>
                                        <a:srgbClr val="000000"/>
                                      </a:solidFill>
                                      <a:latin typeface="Cambria Math" panose="02040503050406030204" pitchFamily="18" charset="0"/>
                                      <a:ea typeface="Times New Roman"/>
                                      <a:cs typeface="Times New Roman"/>
                                    </a:rPr>
                                    <m:t>𝑢</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Sub>
                              <m:r>
                                <a:rPr lang="en-US" altLang="en-US" sz="2400" i="0" dirty="0" smtClean="0">
                                  <a:solidFill>
                                    <a:srgbClr val="000000"/>
                                  </a:solidFill>
                                  <a:latin typeface="Cambria Math" panose="02040503050406030204" pitchFamily="18" charset="0"/>
                                  <a:ea typeface="Times New Roman"/>
                                  <a:cs typeface="Times New Roman"/>
                                </a:rPr>
                                <m:t>,</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𝜃</m:t>
                                  </m:r>
                                </m:e>
                                <m:sub>
                                  <m:r>
                                    <a:rPr lang="en-US" altLang="en-US" sz="2400" i="0" dirty="0" smtClean="0">
                                      <a:solidFill>
                                        <a:srgbClr val="000000"/>
                                      </a:solidFill>
                                      <a:latin typeface="Cambria Math" panose="02040503050406030204" pitchFamily="18" charset="0"/>
                                      <a:ea typeface="Times New Roman"/>
                                      <a:cs typeface="Times New Roman"/>
                                    </a:rPr>
                                    <m:t>3</m:t>
                                  </m:r>
                                  <m:r>
                                    <m:rPr>
                                      <m:nor/>
                                    </m:rPr>
                                    <a:rPr lang="en-US" altLang="en-US" sz="2400" i="0" dirty="0" smtClean="0">
                                      <a:solidFill>
                                        <a:srgbClr val="000000"/>
                                      </a:solidFill>
                                      <a:latin typeface="Times New Roman"/>
                                      <a:ea typeface="Times New Roman"/>
                                      <a:cs typeface="Times New Roman"/>
                                    </a:rPr>
                                    <m:t>dB</m:t>
                                  </m:r>
                                </m:sub>
                              </m:sSub>
                            </m:e>
                          </m:d>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𝐻</m:t>
                              </m:r>
                            </m:e>
                            <m:sub>
                              <m:r>
                                <a:rPr lang="en-US" altLang="en-US" sz="2400" i="1" dirty="0" smtClean="0">
                                  <a:solidFill>
                                    <a:srgbClr val="000000"/>
                                  </a:solidFill>
                                  <a:latin typeface="Cambria Math" panose="02040503050406030204" pitchFamily="18" charset="0"/>
                                  <a:ea typeface="Times New Roman"/>
                                  <a:cs typeface="Times New Roman"/>
                                </a:rPr>
                                <m:t>𝑢</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Sub>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sSup>
                            <m:sSupPr>
                              <m:ctrlPr>
                                <a:rPr lang="en-US" altLang="en-US" sz="2400" i="1" dirty="0" smtClean="0">
                                  <a:solidFill>
                                    <a:srgbClr val="000000"/>
                                  </a:solidFill>
                                  <a:latin typeface="Cambria Math" panose="02040503050406030204" pitchFamily="18" charset="0"/>
                                  <a:ea typeface="Times New Roman"/>
                                  <a:cs typeface="Times New Roman"/>
                                </a:rPr>
                              </m:ctrlPr>
                            </m:sSupPr>
                            <m:e>
                              <m:r>
                                <a:rPr lang="en-US" altLang="en-US" sz="2400" i="1" dirty="0" smtClean="0">
                                  <a:solidFill>
                                    <a:srgbClr val="000000"/>
                                  </a:solidFill>
                                  <a:latin typeface="Cambria Math" panose="02040503050406030204" pitchFamily="18" charset="0"/>
                                  <a:ea typeface="Times New Roman"/>
                                  <a:cs typeface="Times New Roman"/>
                                </a:rPr>
                                <m:t>𝐺</m:t>
                              </m:r>
                            </m:e>
                            <m:sup>
                              <m:r>
                                <a:rPr lang="en-US" altLang="en-US" sz="2400" i="1" dirty="0" smtClean="0">
                                  <a:solidFill>
                                    <a:srgbClr val="000000"/>
                                  </a:solidFill>
                                  <a:latin typeface="Cambria Math" panose="02040503050406030204" pitchFamily="18" charset="0"/>
                                  <a:ea typeface="Times New Roman"/>
                                  <a:cs typeface="Times New Roman"/>
                                </a:rPr>
                                <m:t>𝑇</m:t>
                              </m:r>
                            </m:sup>
                          </m:sSup>
                          <m:r>
                            <a:rPr lang="en-US" altLang="en-US" sz="2400" i="1" dirty="0" smtClean="0">
                              <a:solidFill>
                                <a:srgbClr val="000000"/>
                              </a:solidFill>
                              <a:latin typeface="Cambria Math" panose="02040503050406030204" pitchFamily="18" charset="0"/>
                              <a:ea typeface="Times New Roman"/>
                              <a:cs typeface="Times New Roman"/>
                            </a:rPr>
                            <m:t>​</m:t>
                          </m:r>
                          <m:d>
                            <m:dPr>
                              <m:ctrlPr>
                                <a:rPr lang="en-US" altLang="en-US" sz="2400" i="1" dirty="0" smtClean="0">
                                  <a:solidFill>
                                    <a:srgbClr val="000000"/>
                                  </a:solidFill>
                                  <a:latin typeface="Cambria Math" panose="02040503050406030204" pitchFamily="18" charset="0"/>
                                  <a:ea typeface="Times New Roman"/>
                                  <a:cs typeface="Times New Roman"/>
                                </a:rPr>
                              </m:ctrlPr>
                            </m:dPr>
                            <m:e>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𝜃</m:t>
                                  </m:r>
                                </m:e>
                                <m:sub>
                                  <m:r>
                                    <a:rPr lang="en-US" altLang="en-US" sz="2400" i="1" dirty="0" smtClean="0">
                                      <a:solidFill>
                                        <a:srgbClr val="000000"/>
                                      </a:solidFill>
                                      <a:latin typeface="Cambria Math" panose="02040503050406030204" pitchFamily="18" charset="0"/>
                                      <a:ea typeface="Times New Roman"/>
                                      <a:cs typeface="Times New Roman"/>
                                    </a:rPr>
                                    <m:t>𝑢</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Sub>
                              <m:r>
                                <a:rPr lang="en-US" altLang="en-US" sz="2400" i="0" dirty="0" smtClean="0">
                                  <a:solidFill>
                                    <a:srgbClr val="000000"/>
                                  </a:solidFill>
                                  <a:latin typeface="Cambria Math" panose="02040503050406030204" pitchFamily="18" charset="0"/>
                                  <a:ea typeface="Times New Roman"/>
                                  <a:cs typeface="Times New Roman"/>
                                </a:rPr>
                                <m:t>,</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𝜃</m:t>
                                  </m:r>
                                </m:e>
                                <m:sub>
                                  <m:r>
                                    <a:rPr lang="en-US" altLang="en-US" sz="2400" i="0" dirty="0" smtClean="0">
                                      <a:solidFill>
                                        <a:srgbClr val="000000"/>
                                      </a:solidFill>
                                      <a:latin typeface="Cambria Math" panose="02040503050406030204" pitchFamily="18" charset="0"/>
                                      <a:ea typeface="Times New Roman"/>
                                      <a:cs typeface="Times New Roman"/>
                                    </a:rPr>
                                    <m:t>3</m:t>
                                  </m:r>
                                  <m:r>
                                    <m:rPr>
                                      <m:nor/>
                                    </m:rPr>
                                    <a:rPr lang="en-US" altLang="en-US" sz="2400" i="0" dirty="0" smtClean="0">
                                      <a:solidFill>
                                        <a:srgbClr val="000000"/>
                                      </a:solidFill>
                                      <a:latin typeface="Times New Roman"/>
                                      <a:ea typeface="Times New Roman"/>
                                      <a:cs typeface="Times New Roman"/>
                                    </a:rPr>
                                    <m:t>dB</m:t>
                                  </m:r>
                                </m:sub>
                              </m:sSub>
                            </m:e>
                          </m:d>
                        </m:num>
                        <m:den>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𝐼</m:t>
                              </m:r>
                            </m:e>
                            <m:sub>
                              <m:r>
                                <a:rPr lang="en-US" altLang="en-US" sz="2400" i="1" dirty="0" smtClean="0">
                                  <a:solidFill>
                                    <a:srgbClr val="000000"/>
                                  </a:solidFill>
                                  <a:latin typeface="Cambria Math" panose="02040503050406030204" pitchFamily="18" charset="0"/>
                                  <a:ea typeface="Times New Roman"/>
                                  <a:cs typeface="Times New Roman"/>
                                </a:rPr>
                                <m:t>𝑢</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Sub>
                          <m:r>
                            <a:rPr lang="en-US" altLang="en-US" sz="2400" i="1" dirty="0" smtClean="0">
                              <a:solidFill>
                                <a:srgbClr val="000000"/>
                              </a:solidFill>
                              <a:latin typeface="Cambria Math" panose="02040503050406030204" pitchFamily="18" charset="0"/>
                              <a:ea typeface="Times New Roman"/>
                              <a:cs typeface="Times New Roman"/>
                            </a:rPr>
                            <m:t>​</m:t>
                          </m:r>
                          <m:d>
                            <m:dPr>
                              <m:ctrlPr>
                                <a:rPr lang="en-US" altLang="en-US" sz="2400" i="1" dirty="0" smtClean="0">
                                  <a:solidFill>
                                    <a:srgbClr val="000000"/>
                                  </a:solidFill>
                                  <a:latin typeface="Cambria Math" panose="02040503050406030204" pitchFamily="18" charset="0"/>
                                  <a:ea typeface="Times New Roman"/>
                                  <a:cs typeface="Times New Roman"/>
                                </a:rPr>
                              </m:ctrlPr>
                            </m:dPr>
                            <m:e>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𝜃</m:t>
                                  </m:r>
                                </m:e>
                                <m:sub>
                                  <m:r>
                                    <a:rPr lang="en-US" altLang="en-US" sz="2400" i="1" dirty="0" smtClean="0">
                                      <a:solidFill>
                                        <a:srgbClr val="000000"/>
                                      </a:solidFill>
                                      <a:latin typeface="Cambria Math" panose="02040503050406030204" pitchFamily="18" charset="0"/>
                                      <a:ea typeface="Times New Roman"/>
                                      <a:cs typeface="Times New Roman"/>
                                    </a:rPr>
                                    <m:t>𝑢</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Sub>
                              <m:r>
                                <a:rPr lang="en-US" altLang="en-US" sz="2400" i="0" dirty="0" smtClean="0">
                                  <a:solidFill>
                                    <a:srgbClr val="000000"/>
                                  </a:solidFill>
                                  <a:latin typeface="Cambria Math" panose="02040503050406030204" pitchFamily="18" charset="0"/>
                                  <a:ea typeface="Times New Roman"/>
                                  <a:cs typeface="Times New Roman"/>
                                </a:rPr>
                                <m:t>,</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𝜃</m:t>
                                  </m:r>
                                </m:e>
                                <m:sub>
                                  <m:r>
                                    <a:rPr lang="en-US" altLang="en-US" sz="2400" i="0" dirty="0" smtClean="0">
                                      <a:solidFill>
                                        <a:srgbClr val="000000"/>
                                      </a:solidFill>
                                      <a:latin typeface="Cambria Math" panose="02040503050406030204" pitchFamily="18" charset="0"/>
                                      <a:ea typeface="Times New Roman"/>
                                      <a:cs typeface="Times New Roman"/>
                                    </a:rPr>
                                    <m:t>3</m:t>
                                  </m:r>
                                  <m:r>
                                    <m:rPr>
                                      <m:nor/>
                                    </m:rPr>
                                    <a:rPr lang="en-US" altLang="en-US" sz="2400" i="0" dirty="0" smtClean="0">
                                      <a:solidFill>
                                        <a:srgbClr val="000000"/>
                                      </a:solidFill>
                                      <a:latin typeface="Times New Roman"/>
                                      <a:ea typeface="Times New Roman"/>
                                      <a:cs typeface="Times New Roman"/>
                                    </a:rPr>
                                    <m:t>dB</m:t>
                                  </m:r>
                                </m:sub>
                              </m:sSub>
                            </m:e>
                          </m:d>
                          <m:r>
                            <a:rPr lang="en-US" altLang="en-US" sz="2400" i="0" dirty="0" smtClean="0">
                              <a:solidFill>
                                <a:srgbClr val="000000"/>
                              </a:solidFill>
                              <a:latin typeface="Cambria Math" panose="02040503050406030204" pitchFamily="18" charset="0"/>
                              <a:ea typeface="Times New Roman"/>
                              <a:cs typeface="Times New Roman"/>
                            </a:rPr>
                            <m:t>+</m:t>
                          </m:r>
                          <m:sSup>
                            <m:sSupPr>
                              <m:ctrlPr>
                                <a:rPr lang="en-US" altLang="en-US" sz="2400" i="1" dirty="0" smtClean="0">
                                  <a:solidFill>
                                    <a:srgbClr val="000000"/>
                                  </a:solidFill>
                                  <a:latin typeface="Cambria Math" panose="02040503050406030204" pitchFamily="18" charset="0"/>
                                  <a:ea typeface="Times New Roman"/>
                                  <a:cs typeface="Times New Roman"/>
                                </a:rPr>
                              </m:ctrlPr>
                            </m:sSupPr>
                            <m:e>
                              <m:r>
                                <a:rPr lang="en-US" altLang="en-US" sz="2400" i="1" dirty="0" smtClean="0">
                                  <a:solidFill>
                                    <a:srgbClr val="000000"/>
                                  </a:solidFill>
                                  <a:latin typeface="Cambria Math" panose="02040503050406030204" pitchFamily="18" charset="0"/>
                                  <a:ea typeface="Times New Roman"/>
                                  <a:cs typeface="Times New Roman"/>
                                </a:rPr>
                                <m:t>𝜎</m:t>
                              </m:r>
                            </m:e>
                            <m:sup>
                              <m:r>
                                <a:rPr lang="en-US" altLang="en-US" sz="2400" i="0" dirty="0" smtClean="0">
                                  <a:solidFill>
                                    <a:srgbClr val="000000"/>
                                  </a:solidFill>
                                  <a:latin typeface="Cambria Math" panose="02040503050406030204" pitchFamily="18" charset="0"/>
                                  <a:ea typeface="Times New Roman"/>
                                  <a:cs typeface="Times New Roman"/>
                                </a:rPr>
                                <m:t>2</m:t>
                              </m:r>
                            </m:sup>
                          </m:sSup>
                        </m:den>
                      </m:f>
                    </m:oMath>
                  </m:oMathPara>
                </a14:m>
                <a:endParaRPr lang="en-US" altLang="en-US" sz="2400" dirty="0">
                  <a:solidFill>
                    <a:srgbClr val="000000"/>
                  </a:solidFill>
                  <a:latin typeface="Times New Roman"/>
                  <a:ea typeface="Times New Roman"/>
                  <a:cs typeface="Times New Roman"/>
                </a:endParaRPr>
              </a:p>
            </p:txBody>
          </p:sp>
        </mc:Choice>
        <mc:Fallback xmlns="">
          <p:sp>
            <p:nvSpPr>
              <p:cNvPr id="6" name="edu:formula-omml" descr="Native Office Math: a12_sinr"/>
              <p:cNvSpPr txBox="1">
                <a:spLocks noRot="1" noChangeAspect="1" noMove="1" noResize="1" noEditPoints="1" noAdjustHandles="1" noChangeArrowheads="1" noChangeShapeType="1" noTextEdit="1"/>
              </p:cNvSpPr>
              <p:nvPr/>
            </p:nvSpPr>
            <p:spPr>
              <a:xfrm>
                <a:off x="1963216" y="1447495"/>
                <a:ext cx="8268919" cy="1096365"/>
              </a:xfrm>
              <a:prstGeom prst="rect">
                <a:avLst/>
              </a:prstGeom>
              <a:blipFill>
                <a:blip r:embed="rId3"/>
                <a:stretch>
                  <a:fillRect l="-3245" r="-2360"/>
                </a:stretch>
              </a:blipFill>
              <a:effectLst/>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edu:body"/>
              <p:cNvSpPr txBox="1"/>
              <p:nvPr/>
            </p:nvSpPr>
            <p:spPr>
              <a:xfrm>
                <a:off x="565190" y="2604179"/>
                <a:ext cx="11064240" cy="1161288"/>
              </a:xfrm>
              <a:prstGeom prst="rect">
                <a:avLst/>
              </a:prstGeom>
              <a:noFill/>
              <a:effectLst/>
            </p:spPr>
            <p:txBody>
              <a:bodyPr wrap="square" lIns="0" tIns="0" rIns="0" bIns="0" anchor="t">
                <a:noAutofit/>
              </a:bodyPr>
              <a:lstStyle/>
              <a:p>
                <a:pPr>
                  <a:spcAft>
                    <a:spcPts val="200"/>
                  </a:spcAft>
                </a:pPr>
                <a:r>
                  <a:rPr lang="en-US" altLang="en-US" sz="2400" noProof="1">
                    <a:solidFill>
                      <a:srgbClr val="000000"/>
                    </a:solidFill>
                    <a:cs typeface="Times New Roman"/>
                  </a:rPr>
                  <a:t>The interference includes same-colour beams on satellite </a:t>
                </a:r>
                <a:r>
                  <a:rPr lang="en-US" altLang="en-US" sz="2400" i="1" noProof="1">
                    <a:solidFill>
                      <a:srgbClr val="000000"/>
                    </a:solidFill>
                    <a:cs typeface="Times New Roman"/>
                  </a:rPr>
                  <a:t>s</a:t>
                </a:r>
                <a:r>
                  <a:rPr lang="en-US" altLang="en-US" sz="2400" noProof="1">
                    <a:solidFill>
                      <a:srgbClr val="000000"/>
                    </a:solidFill>
                    <a:cs typeface="Times New Roman"/>
                  </a:rPr>
                  <a:t> and same-colour beams on other satellites.</a:t>
                </a:r>
              </a:p>
              <a:p>
                <a:pPr>
                  <a:spcAft>
                    <a:spcPts val="200"/>
                  </a:spcAft>
                </a:pPr>
                <a:r>
                  <a:rPr lang="en-US" altLang="en-US" sz="2400" noProof="1">
                    <a:solidFill>
                      <a:srgbClr val="000000"/>
                    </a:solidFill>
                    <a:cs typeface="Times New Roman"/>
                  </a:rPr>
                  <a:t>Both sources are included in the total interference </a:t>
                </a:r>
                <a14:m>
                  <m:oMath xmlns:m="http://schemas.openxmlformats.org/officeDocument/2006/math">
                    <m:r>
                      <a:rPr lang="en-US" altLang="en-US" sz="2400" i="1" dirty="0">
                        <a:solidFill>
                          <a:srgbClr val="000000"/>
                        </a:solidFill>
                        <a:latin typeface="Cambria Math" panose="02040503050406030204" pitchFamily="18" charset="0"/>
                        <a:ea typeface="Times New Roman"/>
                        <a:cs typeface="Times New Roman"/>
                      </a:rPr>
                      <m:t>𝐼</m:t>
                    </m:r>
                  </m:oMath>
                </a14:m>
                <a:r>
                  <a:rPr lang="en-US" altLang="en-US" sz="2400" noProof="1">
                    <a:solidFill>
                      <a:srgbClr val="000000"/>
                    </a:solidFill>
                    <a:cs typeface="Times New Roman"/>
                  </a:rPr>
                  <a:t> and added with receiver noise </a:t>
                </a:r>
                <a14:m>
                  <m:oMath xmlns:m="http://schemas.openxmlformats.org/officeDocument/2006/math">
                    <m:sSup>
                      <m:sSupPr>
                        <m:ctrlPr>
                          <a:rPr lang="en-US" altLang="en-US" sz="2400" i="1" dirty="0">
                            <a:solidFill>
                              <a:srgbClr val="000000"/>
                            </a:solidFill>
                            <a:latin typeface="Cambria Math" panose="02040503050406030204" pitchFamily="18" charset="0"/>
                            <a:ea typeface="Times New Roman"/>
                            <a:cs typeface="Times New Roman"/>
                          </a:rPr>
                        </m:ctrlPr>
                      </m:sSupPr>
                      <m:e>
                        <m:r>
                          <a:rPr lang="en-US" altLang="en-US" sz="2400" i="1" dirty="0">
                            <a:solidFill>
                              <a:srgbClr val="000000"/>
                            </a:solidFill>
                            <a:latin typeface="Cambria Math" panose="02040503050406030204" pitchFamily="18" charset="0"/>
                            <a:ea typeface="Times New Roman"/>
                            <a:cs typeface="Times New Roman"/>
                          </a:rPr>
                          <m:t>𝜎</m:t>
                        </m:r>
                      </m:e>
                      <m:sup>
                        <m:r>
                          <a:rPr lang="en-US" altLang="en-US" sz="2400" dirty="0">
                            <a:solidFill>
                              <a:srgbClr val="000000"/>
                            </a:solidFill>
                            <a:latin typeface="Cambria Math" panose="02040503050406030204" pitchFamily="18" charset="0"/>
                            <a:ea typeface="Times New Roman"/>
                            <a:cs typeface="Times New Roman"/>
                          </a:rPr>
                          <m:t>2</m:t>
                        </m:r>
                      </m:sup>
                    </m:sSup>
                  </m:oMath>
                </a14:m>
                <a:r>
                  <a:rPr lang="en-US" altLang="en-US" sz="2400" noProof="1">
                    <a:solidFill>
                      <a:srgbClr val="000000"/>
                    </a:solidFill>
                    <a:cs typeface="Times New Roman"/>
                  </a:rPr>
                  <a:t>.</a:t>
                </a:r>
                <a:endParaRPr lang="en-US" altLang="en-US" sz="2400" dirty="0">
                  <a:solidFill>
                    <a:srgbClr val="000000"/>
                  </a:solidFill>
                  <a:ea typeface="Times New Roman"/>
                  <a:cs typeface="Times New Roman"/>
                </a:endParaRPr>
              </a:p>
            </p:txBody>
          </p:sp>
        </mc:Choice>
        <mc:Fallback xmlns="">
          <p:sp>
            <p:nvSpPr>
              <p:cNvPr id="7" name="edu:body"/>
              <p:cNvSpPr txBox="1">
                <a:spLocks noRot="1" noChangeAspect="1" noMove="1" noResize="1" noEditPoints="1" noAdjustHandles="1" noChangeArrowheads="1" noChangeShapeType="1" noTextEdit="1"/>
              </p:cNvSpPr>
              <p:nvPr/>
            </p:nvSpPr>
            <p:spPr>
              <a:xfrm>
                <a:off x="565190" y="2604179"/>
                <a:ext cx="11064240" cy="1161288"/>
              </a:xfrm>
              <a:prstGeom prst="rect">
                <a:avLst/>
              </a:prstGeom>
              <a:blipFill>
                <a:blip r:embed="rId4"/>
                <a:stretch>
                  <a:fillRect l="-1708" t="-7853" b="-13089"/>
                </a:stretch>
              </a:blipFill>
              <a:effectLst/>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edu:notation"/>
              <p:cNvSpPr txBox="1"/>
              <p:nvPr/>
            </p:nvSpPr>
            <p:spPr>
              <a:xfrm>
                <a:off x="565190" y="3869740"/>
                <a:ext cx="11064240" cy="1740103"/>
              </a:xfrm>
              <a:prstGeom prst="rect">
                <a:avLst/>
              </a:prstGeom>
              <a:noFill/>
              <a:effectLst/>
            </p:spPr>
            <p:txBody>
              <a:bodyPr wrap="square" lIns="0" tIns="0" rIns="0" bIns="0" anchor="t">
                <a:noAutofit/>
              </a:bodyPr>
              <a:lstStyle/>
              <a:p>
                <a:pPr algn="l">
                  <a:lnSpc>
                    <a:spcPct val="100000"/>
                  </a:lnSpc>
                  <a:spcAft>
                    <a:spcPts val="200"/>
                  </a:spcAft>
                </a:pPr>
                <a:r>
                  <a:rPr lang="en-US" altLang="en-US" sz="2400" b="1" i="0" noProof="1">
                    <a:solidFill>
                      <a:srgbClr val="000000"/>
                    </a:solidFill>
                    <a:latin typeface="Times New Roman"/>
                    <a:ea typeface="標楷體"/>
                    <a:cs typeface="Times New Roman"/>
                  </a:rPr>
                  <a:t>Notation</a:t>
                </a:r>
              </a:p>
              <a:p>
                <a:pPr algn="l">
                  <a:lnSpc>
                    <a:spcPct val="100000"/>
                  </a:lnSpc>
                  <a:spcAft>
                    <a:spcPts val="200"/>
                  </a:spcAft>
                </a:pPr>
                <a14:m>
                  <m:oMath xmlns:m="http://schemas.openxmlformats.org/officeDocument/2006/math">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𝛾</m:t>
                        </m:r>
                      </m:e>
                      <m:sub>
                        <m:r>
                          <a:rPr lang="en-US" altLang="en-US" sz="2400" i="1" dirty="0" smtClean="0">
                            <a:solidFill>
                              <a:srgbClr val="000000"/>
                            </a:solidFill>
                            <a:latin typeface="Cambria Math" panose="02040503050406030204" pitchFamily="18" charset="0"/>
                            <a:ea typeface="Times New Roman"/>
                            <a:cs typeface="Times New Roman"/>
                          </a:rPr>
                          <m:t>𝑢</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Sub>
                    <m:r>
                      <a:rPr lang="en-US" altLang="en-US" sz="2400" i="1" dirty="0" smtClean="0">
                        <a:solidFill>
                          <a:srgbClr val="000000"/>
                        </a:solidFill>
                        <a:latin typeface="Cambria Math" panose="02040503050406030204" pitchFamily="18" charset="0"/>
                        <a:ea typeface="Times New Roman"/>
                        <a:cs typeface="Times New Roman"/>
                      </a:rPr>
                      <m:t>​</m:t>
                    </m:r>
                    <m:d>
                      <m:dPr>
                        <m:ctrlPr>
                          <a:rPr lang="en-US" altLang="en-US" sz="2400" i="1" dirty="0" smtClean="0">
                            <a:solidFill>
                              <a:srgbClr val="000000"/>
                            </a:solidFill>
                            <a:latin typeface="Cambria Math" panose="02040503050406030204" pitchFamily="18" charset="0"/>
                            <a:ea typeface="Times New Roman"/>
                            <a:cs typeface="Times New Roman"/>
                          </a:rPr>
                        </m:ctrlPr>
                      </m:dPr>
                      <m:e>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𝜃</m:t>
                            </m:r>
                          </m:e>
                          <m:sub>
                            <m:r>
                              <a:rPr lang="en-US" altLang="en-US" sz="2400" i="1" dirty="0" smtClean="0">
                                <a:solidFill>
                                  <a:srgbClr val="000000"/>
                                </a:solidFill>
                                <a:latin typeface="Cambria Math" panose="02040503050406030204" pitchFamily="18" charset="0"/>
                                <a:ea typeface="Times New Roman"/>
                                <a:cs typeface="Times New Roman"/>
                              </a:rPr>
                              <m:t>𝑢</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Sub>
                        <m:r>
                          <a:rPr lang="en-US" altLang="en-US" sz="2400" i="0" dirty="0" smtClean="0">
                            <a:solidFill>
                              <a:srgbClr val="000000"/>
                            </a:solidFill>
                            <a:latin typeface="Cambria Math" panose="02040503050406030204" pitchFamily="18" charset="0"/>
                            <a:ea typeface="Times New Roman"/>
                            <a:cs typeface="Times New Roman"/>
                          </a:rPr>
                          <m:t>,</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𝜃</m:t>
                            </m:r>
                          </m:e>
                          <m:sub>
                            <m:r>
                              <a:rPr lang="en-US" altLang="en-US" sz="2400" i="0" dirty="0" smtClean="0">
                                <a:solidFill>
                                  <a:srgbClr val="000000"/>
                                </a:solidFill>
                                <a:latin typeface="Cambria Math" panose="02040503050406030204" pitchFamily="18" charset="0"/>
                                <a:ea typeface="Times New Roman"/>
                                <a:cs typeface="Times New Roman"/>
                              </a:rPr>
                              <m:t>3</m:t>
                            </m:r>
                            <m:r>
                              <m:rPr>
                                <m:nor/>
                              </m:rPr>
                              <a:rPr lang="en-US" altLang="en-US" sz="2400" i="0" dirty="0" smtClean="0">
                                <a:solidFill>
                                  <a:srgbClr val="000000"/>
                                </a:solidFill>
                                <a:latin typeface="Times New Roman"/>
                                <a:ea typeface="Times New Roman"/>
                                <a:cs typeface="Times New Roman"/>
                              </a:rPr>
                              <m:t>dB</m:t>
                            </m:r>
                          </m:sub>
                        </m:sSub>
                      </m:e>
                    </m:d>
                  </m:oMath>
                </a14:m>
                <a:r>
                  <a:rPr lang="en-US" altLang="en-US" sz="2400" b="0" i="0" noProof="1">
                    <a:solidFill>
                      <a:srgbClr val="000000"/>
                    </a:solidFill>
                    <a:latin typeface="Times New Roman"/>
                    <a:ea typeface="標楷體"/>
                    <a:cs typeface="Times New Roman"/>
                  </a:rPr>
                  <a:t>: signal-to-interference-plus-noise ratio, linear scale</a:t>
                </a:r>
                <a:endParaRPr lang="en-US" altLang="en-US" sz="2400" dirty="0">
                  <a:solidFill>
                    <a:srgbClr val="000000"/>
                  </a:solidFill>
                  <a:latin typeface="Times New Roman"/>
                  <a:ea typeface="Times New Roman"/>
                  <a:cs typeface="Times New Roman"/>
                </a:endParaRPr>
              </a:p>
              <a:p>
                <a:pPr algn="l">
                  <a:lnSpc>
                    <a:spcPct val="100000"/>
                  </a:lnSpc>
                  <a:spcAft>
                    <a:spcPts val="200"/>
                  </a:spcAft>
                </a:pPr>
                <a14:m>
                  <m:oMath xmlns:m="http://schemas.openxmlformats.org/officeDocument/2006/math">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𝐼</m:t>
                        </m:r>
                      </m:e>
                      <m:sub>
                        <m:r>
                          <a:rPr lang="en-US" altLang="en-US" sz="2400" i="1" dirty="0" smtClean="0">
                            <a:solidFill>
                              <a:srgbClr val="000000"/>
                            </a:solidFill>
                            <a:latin typeface="Cambria Math" panose="02040503050406030204" pitchFamily="18" charset="0"/>
                            <a:ea typeface="Times New Roman"/>
                            <a:cs typeface="Times New Roman"/>
                          </a:rPr>
                          <m:t>𝑢</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Sub>
                    <m:r>
                      <a:rPr lang="en-US" altLang="en-US" sz="2400" i="1" dirty="0" smtClean="0">
                        <a:solidFill>
                          <a:srgbClr val="000000"/>
                        </a:solidFill>
                        <a:latin typeface="Cambria Math" panose="02040503050406030204" pitchFamily="18" charset="0"/>
                        <a:ea typeface="Times New Roman"/>
                        <a:cs typeface="Times New Roman"/>
                      </a:rPr>
                      <m:t>​</m:t>
                    </m:r>
                    <m:d>
                      <m:dPr>
                        <m:ctrlPr>
                          <a:rPr lang="en-US" altLang="en-US" sz="2400" i="1" dirty="0" smtClean="0">
                            <a:solidFill>
                              <a:srgbClr val="000000"/>
                            </a:solidFill>
                            <a:latin typeface="Cambria Math" panose="02040503050406030204" pitchFamily="18" charset="0"/>
                            <a:ea typeface="Times New Roman"/>
                            <a:cs typeface="Times New Roman"/>
                          </a:rPr>
                        </m:ctrlPr>
                      </m:dPr>
                      <m:e>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𝜃</m:t>
                            </m:r>
                          </m:e>
                          <m:sub>
                            <m:r>
                              <a:rPr lang="en-US" altLang="en-US" sz="2400" i="1" dirty="0" smtClean="0">
                                <a:solidFill>
                                  <a:srgbClr val="000000"/>
                                </a:solidFill>
                                <a:latin typeface="Cambria Math" panose="02040503050406030204" pitchFamily="18" charset="0"/>
                                <a:ea typeface="Times New Roman"/>
                                <a:cs typeface="Times New Roman"/>
                              </a:rPr>
                              <m:t>𝑢</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Sub>
                        <m:r>
                          <a:rPr lang="en-US" altLang="en-US" sz="2400" i="0" dirty="0" smtClean="0">
                            <a:solidFill>
                              <a:srgbClr val="000000"/>
                            </a:solidFill>
                            <a:latin typeface="Cambria Math" panose="02040503050406030204" pitchFamily="18" charset="0"/>
                            <a:ea typeface="Times New Roman"/>
                            <a:cs typeface="Times New Roman"/>
                          </a:rPr>
                          <m:t>,</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𝜃</m:t>
                            </m:r>
                          </m:e>
                          <m:sub>
                            <m:r>
                              <a:rPr lang="en-US" altLang="en-US" sz="2400" i="0" dirty="0" smtClean="0">
                                <a:solidFill>
                                  <a:srgbClr val="000000"/>
                                </a:solidFill>
                                <a:latin typeface="Cambria Math" panose="02040503050406030204" pitchFamily="18" charset="0"/>
                                <a:ea typeface="Times New Roman"/>
                                <a:cs typeface="Times New Roman"/>
                              </a:rPr>
                              <m:t>3</m:t>
                            </m:r>
                            <m:r>
                              <m:rPr>
                                <m:nor/>
                              </m:rPr>
                              <a:rPr lang="en-US" altLang="en-US" sz="2400" i="0" dirty="0" smtClean="0">
                                <a:solidFill>
                                  <a:srgbClr val="000000"/>
                                </a:solidFill>
                                <a:latin typeface="Times New Roman"/>
                                <a:ea typeface="Times New Roman"/>
                                <a:cs typeface="Times New Roman"/>
                              </a:rPr>
                              <m:t>dB</m:t>
                            </m:r>
                          </m:sub>
                        </m:sSub>
                      </m:e>
                    </m:d>
                  </m:oMath>
                </a14:m>
                <a:r>
                  <a:rPr lang="en-US" altLang="en-US" sz="2400" b="0" i="0" noProof="1">
                    <a:solidFill>
                      <a:srgbClr val="000000"/>
                    </a:solidFill>
                    <a:latin typeface="Times New Roman"/>
                    <a:ea typeface="標楷體"/>
                    <a:cs typeface="Times New Roman"/>
                  </a:rPr>
                  <a:t>: total co-channel interference, same-colour beams only</a:t>
                </a:r>
                <a:endParaRPr lang="en-US" altLang="en-US" sz="2400" dirty="0">
                  <a:solidFill>
                    <a:srgbClr val="000000"/>
                  </a:solidFill>
                  <a:latin typeface="Times New Roman"/>
                  <a:ea typeface="Times New Roman"/>
                  <a:cs typeface="Times New Roman"/>
                </a:endParaRPr>
              </a:p>
              <a:p>
                <a:pPr algn="l">
                  <a:lnSpc>
                    <a:spcPct val="100000"/>
                  </a:lnSpc>
                  <a:spcAft>
                    <a:spcPts val="200"/>
                  </a:spcAft>
                </a:pPr>
                <a14:m>
                  <m:oMath xmlns:m="http://schemas.openxmlformats.org/officeDocument/2006/math">
                    <m:sSup>
                      <m:sSupPr>
                        <m:ctrlPr>
                          <a:rPr lang="en-US" altLang="en-US" sz="2400" i="1" dirty="0" smtClean="0">
                            <a:solidFill>
                              <a:srgbClr val="000000"/>
                            </a:solidFill>
                            <a:latin typeface="Cambria Math" panose="02040503050406030204" pitchFamily="18" charset="0"/>
                            <a:ea typeface="Times New Roman"/>
                            <a:cs typeface="Times New Roman"/>
                          </a:rPr>
                        </m:ctrlPr>
                      </m:sSupPr>
                      <m:e>
                        <m:r>
                          <a:rPr lang="en-US" altLang="en-US" sz="2400" i="1" dirty="0" smtClean="0">
                            <a:solidFill>
                              <a:srgbClr val="000000"/>
                            </a:solidFill>
                            <a:latin typeface="Cambria Math" panose="02040503050406030204" pitchFamily="18" charset="0"/>
                            <a:ea typeface="Times New Roman"/>
                            <a:cs typeface="Times New Roman"/>
                          </a:rPr>
                          <m:t>𝜎</m:t>
                        </m:r>
                      </m:e>
                      <m:sup>
                        <m:r>
                          <a:rPr lang="en-US" altLang="en-US" sz="2400" i="0" dirty="0" smtClean="0">
                            <a:solidFill>
                              <a:srgbClr val="000000"/>
                            </a:solidFill>
                            <a:latin typeface="Cambria Math" panose="02040503050406030204" pitchFamily="18" charset="0"/>
                            <a:ea typeface="Times New Roman"/>
                            <a:cs typeface="Times New Roman"/>
                          </a:rPr>
                          <m:t>2</m:t>
                        </m:r>
                      </m:sup>
                    </m:sSup>
                  </m:oMath>
                </a14:m>
                <a:r>
                  <a:rPr lang="en-US" altLang="en-US" sz="2400" b="0" i="0" noProof="1">
                    <a:solidFill>
                      <a:srgbClr val="000000"/>
                    </a:solidFill>
                    <a:latin typeface="Times New Roman"/>
                    <a:ea typeface="標楷體"/>
                    <a:cs typeface="Times New Roman"/>
                  </a:rPr>
                  <a:t>: receiver noise power</a:t>
                </a:r>
                <a:endParaRPr lang="en-US" altLang="en-US" sz="2400" dirty="0">
                  <a:solidFill>
                    <a:srgbClr val="000000"/>
                  </a:solidFill>
                  <a:latin typeface="Times New Roman"/>
                  <a:ea typeface="Times New Roman"/>
                  <a:cs typeface="Times New Roman"/>
                </a:endParaRPr>
              </a:p>
              <a:p>
                <a:pPr algn="l">
                  <a:lnSpc>
                    <a:spcPct val="100000"/>
                  </a:lnSpc>
                  <a:spcAft>
                    <a:spcPts val="200"/>
                  </a:spcAft>
                </a:pPr>
                <a14:m>
                  <m:oMath xmlns:m="http://schemas.openxmlformats.org/officeDocument/2006/math">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𝜃</m:t>
                        </m:r>
                      </m:e>
                      <m:sub>
                        <m:r>
                          <a:rPr lang="en-US" altLang="en-US" sz="2400" i="1" dirty="0" smtClean="0">
                            <a:solidFill>
                              <a:srgbClr val="000000"/>
                            </a:solidFill>
                            <a:latin typeface="Cambria Math" panose="02040503050406030204" pitchFamily="18" charset="0"/>
                            <a:ea typeface="Times New Roman"/>
                            <a:cs typeface="Times New Roman"/>
                          </a:rPr>
                          <m:t>𝑢</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Sub>
                  </m:oMath>
                </a14:m>
                <a:r>
                  <a:rPr lang="en-US" altLang="en-US" sz="2400" b="0" i="0" noProof="1">
                    <a:solidFill>
                      <a:srgbClr val="000000"/>
                    </a:solidFill>
                    <a:latin typeface="Times New Roman"/>
                    <a:ea typeface="標楷體"/>
                    <a:cs typeface="Times New Roman"/>
                  </a:rPr>
                  <a:t>: off-axis angle of link </a:t>
                </a:r>
                <a:r>
                  <a:rPr lang="en-US" altLang="en-US" sz="2400" b="0" i="1" noProof="1">
                    <a:solidFill>
                      <a:srgbClr val="000000"/>
                    </a:solidFill>
                    <a:latin typeface="Times New Roman"/>
                    <a:ea typeface="標楷體"/>
                    <a:cs typeface="Times New Roman"/>
                  </a:rPr>
                  <a:t>(u, s, v)</a:t>
                </a:r>
                <a:r>
                  <a:rPr lang="en-US" altLang="en-US" sz="2400" b="0" i="0" noProof="1">
                    <a:solidFill>
                      <a:srgbClr val="000000"/>
                    </a:solidFill>
                    <a:latin typeface="Times New Roman"/>
                    <a:ea typeface="標楷體"/>
                    <a:cs typeface="Times New Roman"/>
                  </a:rPr>
                  <a:t> at step </a:t>
                </a:r>
                <a:r>
                  <a:rPr lang="en-US" altLang="en-US" sz="2400" b="0" i="1" noProof="1">
                    <a:solidFill>
                      <a:srgbClr val="000000"/>
                    </a:solidFill>
                    <a:latin typeface="Times New Roman"/>
                    <a:ea typeface="標楷體"/>
                    <a:cs typeface="Times New Roman"/>
                  </a:rPr>
                  <a:t>t</a:t>
                </a:r>
                <a:endParaRPr lang="en-US" altLang="en-US" sz="2400" dirty="0">
                  <a:solidFill>
                    <a:srgbClr val="000000"/>
                  </a:solidFill>
                  <a:latin typeface="Times New Roman"/>
                  <a:ea typeface="Times New Roman"/>
                  <a:cs typeface="Times New Roman"/>
                </a:endParaRPr>
              </a:p>
            </p:txBody>
          </p:sp>
        </mc:Choice>
        <mc:Fallback xmlns="">
          <p:sp>
            <p:nvSpPr>
              <p:cNvPr id="8" name="edu:notation"/>
              <p:cNvSpPr txBox="1">
                <a:spLocks noRot="1" noChangeAspect="1" noMove="1" noResize="1" noEditPoints="1" noAdjustHandles="1" noChangeArrowheads="1" noChangeShapeType="1" noTextEdit="1"/>
              </p:cNvSpPr>
              <p:nvPr/>
            </p:nvSpPr>
            <p:spPr>
              <a:xfrm>
                <a:off x="565190" y="3869740"/>
                <a:ext cx="11064240" cy="1740103"/>
              </a:xfrm>
              <a:prstGeom prst="rect">
                <a:avLst/>
              </a:prstGeom>
              <a:blipFill>
                <a:blip r:embed="rId5"/>
                <a:stretch>
                  <a:fillRect l="-1708" t="-5614" b="-27719"/>
                </a:stretch>
              </a:blipFill>
              <a:effectLst/>
            </p:spPr>
            <p:txBody>
              <a:bodyPr/>
              <a:lstStyle/>
              <a:p>
                <a:r>
                  <a:rPr lang="zh-TW" altLang="en-US">
                    <a:noFill/>
                  </a:rPr>
                  <a:t> </a:t>
                </a:r>
              </a:p>
            </p:txBody>
          </p:sp>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du:title"/>
          <p:cNvSpPr txBox="1"/>
          <p:nvPr/>
        </p:nvSpPr>
        <p:spPr>
          <a:xfrm>
            <a:off x="565190" y="141274"/>
            <a:ext cx="11417289" cy="571500"/>
          </a:xfrm>
          <a:prstGeom prst="rect">
            <a:avLst/>
          </a:prstGeom>
          <a:noFill/>
        </p:spPr>
        <p:txBody>
          <a:bodyPr wrap="square" lIns="0" tIns="0" rIns="0" bIns="0" anchor="b">
            <a:spAutoFit/>
          </a:bodyPr>
          <a:lstStyle/>
          <a:p>
            <a:pPr algn="l"/>
            <a:r>
              <a:rPr lang="en-US" altLang="en-US" sz="2800" b="1" i="0" noProof="1">
                <a:solidFill>
                  <a:srgbClr val="1B365D"/>
                </a:solidFill>
                <a:latin typeface="Times New Roman"/>
                <a:ea typeface="標楷體"/>
                <a:cs typeface="Times New Roman"/>
              </a:rPr>
              <a:t>Link Throughput</a:t>
            </a:r>
          </a:p>
        </p:txBody>
      </p:sp>
      <p:sp>
        <p:nvSpPr>
          <p:cNvPr id="3" name="edu:citation"/>
          <p:cNvSpPr txBox="1"/>
          <p:nvPr/>
        </p:nvSpPr>
        <p:spPr>
          <a:xfrm>
            <a:off x="495330" y="6316675"/>
            <a:ext cx="11018520" cy="505663"/>
          </a:xfrm>
          <a:prstGeom prst="rect">
            <a:avLst/>
          </a:prstGeom>
          <a:noFill/>
        </p:spPr>
        <p:txBody>
          <a:bodyPr wrap="square" lIns="0" tIns="0" rIns="0" bIns="0" anchor="t">
            <a:spAutoFit/>
          </a:bodyPr>
          <a:lstStyle/>
          <a:p>
            <a:pPr algn="l">
              <a:lnSpc>
                <a:spcPct val="105000"/>
              </a:lnSpc>
            </a:pPr>
            <a:r>
              <a:rPr lang="en-US" altLang="en-US" sz="1400" b="0" i="0" noProof="1">
                <a:solidFill>
                  <a:srgbClr val="000000"/>
                </a:solidFill>
                <a:latin typeface="Times New Roman"/>
                <a:ea typeface="標楷體"/>
                <a:cs typeface="Times New Roman"/>
              </a:rPr>
              <a:t>Y. Sun et al., “Handover for Multi-Beam LEO Satellite Networks: A Multi-Objective Reinforcement Learning Method,” IEEE Communications Letters, Dec. 2024.</a:t>
            </a:r>
          </a:p>
        </p:txBody>
      </p:sp>
      <p:sp>
        <p:nvSpPr>
          <p:cNvPr id="5" name="edu:body"/>
          <p:cNvSpPr txBox="1"/>
          <p:nvPr/>
        </p:nvSpPr>
        <p:spPr>
          <a:xfrm>
            <a:off x="565190" y="896112"/>
            <a:ext cx="11064240" cy="774496"/>
          </a:xfrm>
          <a:prstGeom prst="rect">
            <a:avLst/>
          </a:prstGeom>
          <a:noFill/>
        </p:spPr>
        <p:txBody>
          <a:bodyPr wrap="square" lIns="0" tIns="0" rIns="0" bIns="0" anchor="t">
            <a:spAutoFit/>
          </a:bodyPr>
          <a:lstStyle/>
          <a:p>
            <a:pPr algn="l">
              <a:lnSpc>
                <a:spcPct val="112000"/>
              </a:lnSpc>
              <a:spcAft>
                <a:spcPts val="0"/>
              </a:spcAft>
            </a:pPr>
            <a:r>
              <a:rPr lang="en-US" altLang="en-US" sz="2400" b="0" i="0" noProof="1">
                <a:solidFill>
                  <a:srgbClr val="000000"/>
                </a:solidFill>
                <a:latin typeface="Times New Roman"/>
                <a:ea typeface="標楷體"/>
                <a:cs typeface="Times New Roman"/>
              </a:rPr>
              <a:t>Users on one beam share its bandwidth by taking turns, the rate a user receives is a fraction of the beam's capacity:</a:t>
            </a:r>
          </a:p>
        </p:txBody>
      </p:sp>
      <mc:AlternateContent xmlns:mc="http://schemas.openxmlformats.org/markup-compatibility/2006" xmlns:a14="http://schemas.microsoft.com/office/drawing/2010/main">
        <mc:Choice Requires="a14">
          <p:sp>
            <p:nvSpPr>
              <p:cNvPr id="6" name="edu:formula-omml" descr="Native Office Math: a13_rate"/>
              <p:cNvSpPr txBox="1"/>
              <p:nvPr/>
            </p:nvSpPr>
            <p:spPr>
              <a:xfrm>
                <a:off x="1395374" y="1835200"/>
                <a:ext cx="9404604" cy="1096365"/>
              </a:xfrm>
              <a:prstGeom prst="rect">
                <a:avLst/>
              </a:prstGeom>
              <a:noFill/>
              <a:effectLst/>
            </p:spPr>
            <p:txBody>
              <a:bodyPr wrap="none" lIns="0" tIns="0" rIns="0" bIns="0" anchor="ctr">
                <a:noAutofit/>
              </a:bodyPr>
              <a:lstStyle/>
              <a:p>
                <a:pPr algn="ctr"/>
                <a14:m>
                  <m:oMathPara xmlns:m="http://schemas.openxmlformats.org/officeDocument/2006/math">
                    <m:oMath>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𝑅</m:t>
                          </m:r>
                        </m:e>
                        <m:sub>
                          <m:r>
                            <a:rPr lang="en-US" altLang="en-US" sz="2400" i="1" dirty="0" smtClean="0">
                              <a:solidFill>
                                <a:srgbClr val="000000"/>
                              </a:solidFill>
                              <a:latin typeface="Cambria Math" panose="02040503050406030204" pitchFamily="18" charset="0"/>
                              <a:ea typeface="Times New Roman"/>
                              <a:cs typeface="Times New Roman"/>
                            </a:rPr>
                            <m:t>𝑢</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Sub>
                      <m:r>
                        <a:rPr lang="en-US" altLang="en-US" sz="2400" i="1" dirty="0" smtClean="0">
                          <a:solidFill>
                            <a:srgbClr val="000000"/>
                          </a:solidFill>
                          <a:latin typeface="Cambria Math" panose="02040503050406030204" pitchFamily="18" charset="0"/>
                          <a:ea typeface="Times New Roman"/>
                          <a:cs typeface="Times New Roman"/>
                        </a:rPr>
                        <m:t>​</m:t>
                      </m:r>
                      <m:d>
                        <m:dPr>
                          <m:ctrlPr>
                            <a:rPr lang="en-US" altLang="en-US" sz="2400" i="1" dirty="0" smtClean="0">
                              <a:solidFill>
                                <a:srgbClr val="000000"/>
                              </a:solidFill>
                              <a:latin typeface="Cambria Math" panose="02040503050406030204" pitchFamily="18" charset="0"/>
                              <a:ea typeface="Times New Roman"/>
                              <a:cs typeface="Times New Roman"/>
                            </a:rPr>
                          </m:ctrlPr>
                        </m:dPr>
                        <m:e>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𝜃</m:t>
                              </m:r>
                            </m:e>
                            <m:sub>
                              <m:r>
                                <a:rPr lang="en-US" altLang="en-US" sz="2400" i="1" dirty="0" smtClean="0">
                                  <a:solidFill>
                                    <a:srgbClr val="000000"/>
                                  </a:solidFill>
                                  <a:latin typeface="Cambria Math" panose="02040503050406030204" pitchFamily="18" charset="0"/>
                                  <a:ea typeface="Times New Roman"/>
                                  <a:cs typeface="Times New Roman"/>
                                </a:rPr>
                                <m:t>𝑢</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Sub>
                          <m:r>
                            <a:rPr lang="en-US" altLang="en-US" sz="2400" i="0" dirty="0" smtClean="0">
                              <a:solidFill>
                                <a:srgbClr val="000000"/>
                              </a:solidFill>
                              <a:latin typeface="Cambria Math" panose="02040503050406030204" pitchFamily="18" charset="0"/>
                              <a:ea typeface="Times New Roman"/>
                              <a:cs typeface="Times New Roman"/>
                            </a:rPr>
                            <m:t>,</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𝜃</m:t>
                              </m:r>
                            </m:e>
                            <m:sub>
                              <m:r>
                                <a:rPr lang="en-US" altLang="en-US" sz="2400" i="0" dirty="0" smtClean="0">
                                  <a:solidFill>
                                    <a:srgbClr val="000000"/>
                                  </a:solidFill>
                                  <a:latin typeface="Cambria Math" panose="02040503050406030204" pitchFamily="18" charset="0"/>
                                  <a:ea typeface="Times New Roman"/>
                                  <a:cs typeface="Times New Roman"/>
                                </a:rPr>
                                <m:t>3</m:t>
                              </m:r>
                              <m:r>
                                <m:rPr>
                                  <m:nor/>
                                </m:rPr>
                                <a:rPr lang="en-US" altLang="en-US" sz="2400" i="0" dirty="0" smtClean="0">
                                  <a:solidFill>
                                    <a:srgbClr val="000000"/>
                                  </a:solidFill>
                                  <a:latin typeface="Times New Roman"/>
                                  <a:ea typeface="Times New Roman"/>
                                  <a:cs typeface="Times New Roman"/>
                                </a:rPr>
                                <m:t>dB</m:t>
                              </m:r>
                            </m:sub>
                          </m:sSub>
                        </m:e>
                      </m:d>
                      <m:r>
                        <a:rPr lang="en-US" altLang="en-US" sz="2400" i="0" dirty="0" smtClean="0">
                          <a:solidFill>
                            <a:srgbClr val="000000"/>
                          </a:solidFill>
                          <a:latin typeface="Cambria Math" panose="02040503050406030204" pitchFamily="18" charset="0"/>
                          <a:ea typeface="Times New Roman"/>
                          <a:cs typeface="Times New Roman"/>
                        </a:rPr>
                        <m:t>=</m:t>
                      </m:r>
                      <m:f>
                        <m:fPr>
                          <m:ctrlPr>
                            <a:rPr lang="en-US" altLang="en-US" sz="2400" i="1" dirty="0" smtClean="0">
                              <a:solidFill>
                                <a:srgbClr val="000000"/>
                              </a:solidFill>
                              <a:latin typeface="Cambria Math" panose="02040503050406030204" pitchFamily="18" charset="0"/>
                              <a:ea typeface="Times New Roman"/>
                              <a:cs typeface="Times New Roman"/>
                            </a:rPr>
                          </m:ctrlPr>
                        </m:fPr>
                        <m:num>
                          <m:sSup>
                            <m:sSupPr>
                              <m:ctrlPr>
                                <a:rPr lang="en-US" altLang="en-US" sz="2400" i="1" dirty="0" smtClean="0">
                                  <a:solidFill>
                                    <a:srgbClr val="000000"/>
                                  </a:solidFill>
                                  <a:latin typeface="Cambria Math" panose="02040503050406030204" pitchFamily="18" charset="0"/>
                                  <a:ea typeface="Times New Roman"/>
                                  <a:cs typeface="Times New Roman"/>
                                </a:rPr>
                              </m:ctrlPr>
                            </m:sSupPr>
                            <m:e>
                              <m:r>
                                <a:rPr lang="en-US" altLang="en-US" sz="2400" i="1" dirty="0" smtClean="0">
                                  <a:solidFill>
                                    <a:srgbClr val="000000"/>
                                  </a:solidFill>
                                  <a:latin typeface="Cambria Math" panose="02040503050406030204" pitchFamily="18" charset="0"/>
                                  <a:ea typeface="Times New Roman"/>
                                  <a:cs typeface="Times New Roman"/>
                                </a:rPr>
                                <m:t>𝐵</m:t>
                              </m:r>
                            </m:e>
                            <m:sup>
                              <m:r>
                                <a:rPr lang="en-US" altLang="en-US" sz="2400" i="1" dirty="0" smtClean="0">
                                  <a:solidFill>
                                    <a:srgbClr val="000000"/>
                                  </a:solidFill>
                                  <a:latin typeface="Cambria Math" panose="02040503050406030204" pitchFamily="18" charset="0"/>
                                  <a:ea typeface="Times New Roman"/>
                                  <a:cs typeface="Times New Roman"/>
                                </a:rPr>
                                <m:t>𝑤</m:t>
                              </m:r>
                            </m:sup>
                          </m:sSup>
                        </m:num>
                        <m:den>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𝑈</m:t>
                              </m:r>
                            </m:e>
                            <m:sub>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Sub>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den>
                      </m:f>
                      <m:sSub>
                        <m:sSubPr>
                          <m:ctrlPr>
                            <a:rPr lang="en-US" altLang="en-US" sz="2400" i="0" dirty="0" smtClean="0">
                              <a:solidFill>
                                <a:srgbClr val="000000"/>
                              </a:solidFill>
                              <a:latin typeface="Times New Roman"/>
                              <a:ea typeface="Times New Roman"/>
                              <a:cs typeface="Times New Roman"/>
                            </a:rPr>
                          </m:ctrlPr>
                        </m:sSubPr>
                        <m:e>
                          <m:r>
                            <m:rPr>
                              <m:nor/>
                            </m:rPr>
                            <a:rPr lang="en-US" altLang="en-US" sz="2400" i="0" dirty="0" smtClean="0">
                              <a:solidFill>
                                <a:srgbClr val="000000"/>
                              </a:solidFill>
                              <a:latin typeface="Times New Roman"/>
                              <a:ea typeface="Times New Roman"/>
                              <a:cs typeface="Times New Roman"/>
                            </a:rPr>
                            <m:t>log</m:t>
                          </m:r>
                        </m:e>
                        <m:sub>
                          <m:r>
                            <a:rPr lang="en-US" altLang="en-US" sz="2400" i="0" dirty="0" smtClean="0">
                              <a:solidFill>
                                <a:srgbClr val="000000"/>
                              </a:solidFill>
                              <a:latin typeface="Cambria Math" panose="02040503050406030204" pitchFamily="18" charset="0"/>
                              <a:ea typeface="Times New Roman"/>
                              <a:cs typeface="Times New Roman"/>
                            </a:rPr>
                            <m:t>2</m:t>
                          </m:r>
                        </m:sub>
                      </m:sSub>
                      <m:r>
                        <a:rPr lang="en-US" altLang="en-US" sz="2400" i="1" dirty="0" smtClean="0">
                          <a:solidFill>
                            <a:srgbClr val="000000"/>
                          </a:solidFill>
                          <a:latin typeface="Cambria Math" panose="02040503050406030204" pitchFamily="18" charset="0"/>
                          <a:ea typeface="Times New Roman"/>
                          <a:cs typeface="Times New Roman"/>
                        </a:rPr>
                        <m:t>​</m:t>
                      </m:r>
                      <m:d>
                        <m:dPr>
                          <m:ctrlPr>
                            <a:rPr lang="en-US" altLang="en-US" sz="2400" i="0" dirty="0" smtClean="0">
                              <a:solidFill>
                                <a:srgbClr val="000000"/>
                              </a:solidFill>
                              <a:latin typeface="Cambria Math" panose="02040503050406030204" pitchFamily="18" charset="0"/>
                              <a:ea typeface="Times New Roman"/>
                              <a:cs typeface="Times New Roman"/>
                            </a:rPr>
                          </m:ctrlPr>
                        </m:dPr>
                        <m:e>
                          <m:r>
                            <a:rPr lang="en-US" altLang="en-US" sz="2400" i="0" dirty="0" smtClean="0">
                              <a:solidFill>
                                <a:srgbClr val="000000"/>
                              </a:solidFill>
                              <a:latin typeface="Cambria Math" panose="02040503050406030204" pitchFamily="18" charset="0"/>
                              <a:ea typeface="Times New Roman"/>
                              <a:cs typeface="Times New Roman"/>
                            </a:rPr>
                            <m:t>1+</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𝛾</m:t>
                              </m:r>
                            </m:e>
                            <m:sub>
                              <m:r>
                                <a:rPr lang="en-US" altLang="en-US" sz="2400" i="1" dirty="0" smtClean="0">
                                  <a:solidFill>
                                    <a:srgbClr val="000000"/>
                                  </a:solidFill>
                                  <a:latin typeface="Cambria Math" panose="02040503050406030204" pitchFamily="18" charset="0"/>
                                  <a:ea typeface="Times New Roman"/>
                                  <a:cs typeface="Times New Roman"/>
                                </a:rPr>
                                <m:t>𝑢</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Sub>
                          <m:r>
                            <a:rPr lang="en-US" altLang="en-US" sz="2400" i="1" dirty="0" smtClean="0">
                              <a:solidFill>
                                <a:srgbClr val="000000"/>
                              </a:solidFill>
                              <a:latin typeface="Cambria Math" panose="02040503050406030204" pitchFamily="18" charset="0"/>
                              <a:ea typeface="Times New Roman"/>
                              <a:cs typeface="Times New Roman"/>
                            </a:rPr>
                            <m:t>​</m:t>
                          </m:r>
                          <m:d>
                            <m:dPr>
                              <m:ctrlPr>
                                <a:rPr lang="en-US" altLang="en-US" sz="2400" i="1" dirty="0" smtClean="0">
                                  <a:solidFill>
                                    <a:srgbClr val="000000"/>
                                  </a:solidFill>
                                  <a:latin typeface="Cambria Math" panose="02040503050406030204" pitchFamily="18" charset="0"/>
                                  <a:ea typeface="Times New Roman"/>
                                  <a:cs typeface="Times New Roman"/>
                                </a:rPr>
                              </m:ctrlPr>
                            </m:dPr>
                            <m:e>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𝜃</m:t>
                                  </m:r>
                                </m:e>
                                <m:sub>
                                  <m:r>
                                    <a:rPr lang="en-US" altLang="en-US" sz="2400" i="1" dirty="0" smtClean="0">
                                      <a:solidFill>
                                        <a:srgbClr val="000000"/>
                                      </a:solidFill>
                                      <a:latin typeface="Cambria Math" panose="02040503050406030204" pitchFamily="18" charset="0"/>
                                      <a:ea typeface="Times New Roman"/>
                                      <a:cs typeface="Times New Roman"/>
                                    </a:rPr>
                                    <m:t>𝑢</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Sub>
                              <m:r>
                                <a:rPr lang="en-US" altLang="en-US" sz="2400" i="0" dirty="0" smtClean="0">
                                  <a:solidFill>
                                    <a:srgbClr val="000000"/>
                                  </a:solidFill>
                                  <a:latin typeface="Cambria Math" panose="02040503050406030204" pitchFamily="18" charset="0"/>
                                  <a:ea typeface="Times New Roman"/>
                                  <a:cs typeface="Times New Roman"/>
                                </a:rPr>
                                <m:t>,</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𝜃</m:t>
                                  </m:r>
                                </m:e>
                                <m:sub>
                                  <m:r>
                                    <a:rPr lang="en-US" altLang="en-US" sz="2400" i="0" dirty="0" smtClean="0">
                                      <a:solidFill>
                                        <a:srgbClr val="000000"/>
                                      </a:solidFill>
                                      <a:latin typeface="Cambria Math" panose="02040503050406030204" pitchFamily="18" charset="0"/>
                                      <a:ea typeface="Times New Roman"/>
                                      <a:cs typeface="Times New Roman"/>
                                    </a:rPr>
                                    <m:t>3</m:t>
                                  </m:r>
                                  <m:r>
                                    <m:rPr>
                                      <m:nor/>
                                    </m:rPr>
                                    <a:rPr lang="en-US" altLang="en-US" sz="2400" i="0" dirty="0" smtClean="0">
                                      <a:solidFill>
                                        <a:srgbClr val="000000"/>
                                      </a:solidFill>
                                      <a:latin typeface="Times New Roman"/>
                                      <a:ea typeface="Times New Roman"/>
                                      <a:cs typeface="Times New Roman"/>
                                    </a:rPr>
                                    <m:t>dB</m:t>
                                  </m:r>
                                </m:sub>
                              </m:sSub>
                            </m:e>
                          </m:d>
                        </m:e>
                      </m:d>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  </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𝑈</m:t>
                          </m:r>
                        </m:e>
                        <m:sub>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Sub>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)&gt;0</m:t>
                      </m:r>
                    </m:oMath>
                  </m:oMathPara>
                </a14:m>
                <a:endParaRPr lang="en-US" altLang="en-US" sz="2400" dirty="0">
                  <a:solidFill>
                    <a:srgbClr val="000000"/>
                  </a:solidFill>
                  <a:latin typeface="Times New Roman"/>
                  <a:ea typeface="Times New Roman"/>
                  <a:cs typeface="Times New Roman"/>
                </a:endParaRPr>
              </a:p>
            </p:txBody>
          </p:sp>
        </mc:Choice>
        <mc:Fallback xmlns="">
          <p:sp>
            <p:nvSpPr>
              <p:cNvPr id="6" name="edu:formula-omml" descr="Native Office Math: a13_rate"/>
              <p:cNvSpPr txBox="1">
                <a:spLocks noRot="1" noChangeAspect="1" noMove="1" noResize="1" noEditPoints="1" noAdjustHandles="1" noChangeArrowheads="1" noChangeShapeType="1" noTextEdit="1"/>
              </p:cNvSpPr>
              <p:nvPr/>
            </p:nvSpPr>
            <p:spPr>
              <a:xfrm>
                <a:off x="1395374" y="1835200"/>
                <a:ext cx="9404604" cy="1096365"/>
              </a:xfrm>
              <a:prstGeom prst="rect">
                <a:avLst/>
              </a:prstGeom>
              <a:blipFill>
                <a:blip r:embed="rId3"/>
                <a:stretch>
                  <a:fillRect l="-4342" r="-3370"/>
                </a:stretch>
              </a:blipFill>
              <a:effectLst/>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edu:card"/>
              <p:cNvSpPr/>
              <p:nvPr/>
            </p:nvSpPr>
            <p:spPr>
              <a:xfrm>
                <a:off x="565190" y="3096158"/>
                <a:ext cx="5417820" cy="960120"/>
              </a:xfrm>
              <a:prstGeom prst="roundRect">
                <a:avLst/>
              </a:prstGeom>
              <a:solidFill>
                <a:srgbClr val="F6F8FA"/>
              </a:solidFill>
              <a:ln w="11430">
                <a:solidFill>
                  <a:srgbClr val="9AA5B1"/>
                </a:solidFill>
              </a:ln>
              <a:effectLst/>
            </p:spPr>
            <p:txBody>
              <a:bodyPr wrap="square" tIns="0" bIns="0" rtlCol="0" anchor="ctr">
                <a:noAutofit/>
              </a:bodyPr>
              <a:lstStyle/>
              <a:p>
                <a:pPr algn="ctr">
                  <a:lnSpc>
                    <a:spcPct val="105000"/>
                  </a:lnSpc>
                </a:pPr>
                <a:r>
                  <a:rPr lang="en-US" altLang="en-US" sz="2000" b="1" i="0" noProof="1">
                    <a:solidFill>
                      <a:srgbClr val="000000"/>
                    </a:solidFill>
                    <a:latin typeface="Times New Roman"/>
                    <a:ea typeface="標楷體"/>
                    <a:cs typeface="Times New Roman"/>
                  </a:rPr>
                  <a:t>Sharing the beam</a:t>
                </a:r>
              </a:p>
              <a:p>
                <a:pPr algn="ctr">
                  <a:lnSpc>
                    <a:spcPct val="105000"/>
                  </a:lnSpc>
                  <a:spcBef>
                    <a:spcPts val="200"/>
                  </a:spcBef>
                </a:pPr>
                <a14:m>
                  <m:oMath xmlns:m="http://schemas.openxmlformats.org/officeDocument/2006/math">
                    <m:sSup>
                      <m:sSupPr>
                        <m:ctrlPr>
                          <a:rPr lang="en-US" altLang="en-US" sz="2000" i="1" dirty="0" smtClean="0">
                            <a:solidFill>
                              <a:srgbClr val="000000"/>
                            </a:solidFill>
                            <a:latin typeface="Cambria Math" panose="02040503050406030204" pitchFamily="18" charset="0"/>
                            <a:ea typeface="Times New Roman"/>
                            <a:cs typeface="Times New Roman"/>
                          </a:rPr>
                        </m:ctrlPr>
                      </m:sSupPr>
                      <m:e>
                        <m:r>
                          <a:rPr lang="en-US" altLang="en-US" sz="2000" i="1" dirty="0" smtClean="0">
                            <a:solidFill>
                              <a:srgbClr val="000000"/>
                            </a:solidFill>
                            <a:latin typeface="Cambria Math" panose="02040503050406030204" pitchFamily="18" charset="0"/>
                            <a:ea typeface="Times New Roman"/>
                            <a:cs typeface="Times New Roman"/>
                          </a:rPr>
                          <m:t>𝐵</m:t>
                        </m:r>
                      </m:e>
                      <m:sup>
                        <m:r>
                          <a:rPr lang="en-US" altLang="en-US" sz="2000" i="1" dirty="0" smtClean="0">
                            <a:solidFill>
                              <a:srgbClr val="000000"/>
                            </a:solidFill>
                            <a:latin typeface="Cambria Math" panose="02040503050406030204" pitchFamily="18" charset="0"/>
                            <a:ea typeface="Times New Roman"/>
                            <a:cs typeface="Times New Roman"/>
                          </a:rPr>
                          <m:t>𝑤</m:t>
                        </m:r>
                      </m:sup>
                    </m:sSup>
                    <m:r>
                      <a:rPr lang="en-US" altLang="en-US" sz="2000" i="0" dirty="0" smtClean="0">
                        <a:solidFill>
                          <a:srgbClr val="000000"/>
                        </a:solidFill>
                        <a:latin typeface="Cambria Math" panose="02040503050406030204" pitchFamily="18" charset="0"/>
                        <a:ea typeface="Times New Roman"/>
                        <a:cs typeface="Times New Roman"/>
                      </a:rPr>
                      <m:t>/</m:t>
                    </m:r>
                    <m:sSub>
                      <m:sSubPr>
                        <m:ctrlPr>
                          <a:rPr lang="en-US" altLang="en-US" sz="2000" i="1" dirty="0" smtClean="0">
                            <a:solidFill>
                              <a:srgbClr val="000000"/>
                            </a:solidFill>
                            <a:latin typeface="Cambria Math" panose="02040503050406030204" pitchFamily="18" charset="0"/>
                            <a:ea typeface="Times New Roman"/>
                            <a:cs typeface="Times New Roman"/>
                          </a:rPr>
                        </m:ctrlPr>
                      </m:sSubPr>
                      <m:e>
                        <m:r>
                          <a:rPr lang="en-US" altLang="en-US" sz="2000" i="1" dirty="0" smtClean="0">
                            <a:solidFill>
                              <a:srgbClr val="000000"/>
                            </a:solidFill>
                            <a:latin typeface="Cambria Math" panose="02040503050406030204" pitchFamily="18" charset="0"/>
                            <a:ea typeface="Times New Roman"/>
                            <a:cs typeface="Times New Roman"/>
                          </a:rPr>
                          <m:t>𝑈</m:t>
                        </m:r>
                      </m:e>
                      <m:sub>
                        <m:r>
                          <a:rPr lang="en-US" altLang="en-US" sz="2000" i="1" dirty="0" smtClean="0">
                            <a:solidFill>
                              <a:srgbClr val="000000"/>
                            </a:solidFill>
                            <a:latin typeface="Cambria Math" panose="02040503050406030204" pitchFamily="18" charset="0"/>
                            <a:ea typeface="Times New Roman"/>
                            <a:cs typeface="Times New Roman"/>
                          </a:rPr>
                          <m:t>𝑠</m:t>
                        </m:r>
                        <m:r>
                          <a:rPr lang="en-US" altLang="en-US" sz="2000" i="0" dirty="0" smtClean="0">
                            <a:solidFill>
                              <a:srgbClr val="000000"/>
                            </a:solidFill>
                            <a:latin typeface="Cambria Math" panose="02040503050406030204" pitchFamily="18" charset="0"/>
                            <a:ea typeface="Times New Roman"/>
                            <a:cs typeface="Times New Roman"/>
                          </a:rPr>
                          <m:t>,</m:t>
                        </m:r>
                        <m:r>
                          <a:rPr lang="en-US" altLang="en-US" sz="2000" i="1" dirty="0" smtClean="0">
                            <a:solidFill>
                              <a:srgbClr val="000000"/>
                            </a:solidFill>
                            <a:latin typeface="Cambria Math" panose="02040503050406030204" pitchFamily="18" charset="0"/>
                            <a:ea typeface="Times New Roman"/>
                            <a:cs typeface="Times New Roman"/>
                          </a:rPr>
                          <m:t>𝑣</m:t>
                        </m:r>
                      </m:sub>
                    </m:sSub>
                    <m:r>
                      <a:rPr lang="en-US" altLang="en-US" sz="2000" i="0" dirty="0" smtClean="0">
                        <a:solidFill>
                          <a:srgbClr val="000000"/>
                        </a:solidFill>
                        <a:latin typeface="Cambria Math" panose="02040503050406030204" pitchFamily="18" charset="0"/>
                        <a:ea typeface="Times New Roman"/>
                        <a:cs typeface="Times New Roman"/>
                      </a:rPr>
                      <m:t>(</m:t>
                    </m:r>
                    <m:r>
                      <a:rPr lang="en-US" altLang="en-US" sz="2000" i="1" dirty="0" smtClean="0">
                        <a:solidFill>
                          <a:srgbClr val="000000"/>
                        </a:solidFill>
                        <a:latin typeface="Cambria Math" panose="02040503050406030204" pitchFamily="18" charset="0"/>
                        <a:ea typeface="Times New Roman"/>
                        <a:cs typeface="Times New Roman"/>
                      </a:rPr>
                      <m:t>𝑡</m:t>
                    </m:r>
                    <m:r>
                      <a:rPr lang="en-US" altLang="en-US" sz="2000" i="0" dirty="0" smtClean="0">
                        <a:solidFill>
                          <a:srgbClr val="000000"/>
                        </a:solidFill>
                        <a:latin typeface="Cambria Math" panose="02040503050406030204" pitchFamily="18" charset="0"/>
                        <a:ea typeface="Times New Roman"/>
                        <a:cs typeface="Times New Roman"/>
                      </a:rPr>
                      <m:t>)</m:t>
                    </m:r>
                  </m:oMath>
                </a14:m>
                <a:r>
                  <a:rPr lang="en-US" altLang="en-US" sz="2000" b="0" i="0" noProof="1">
                    <a:solidFill>
                      <a:srgbClr val="000000"/>
                    </a:solidFill>
                    <a:latin typeface="Times New Roman"/>
                    <a:ea typeface="標楷體"/>
                    <a:cs typeface="Times New Roman"/>
                  </a:rPr>
                  <a:t> is the share each served user gets.</a:t>
                </a:r>
                <a:endParaRPr lang="en-US" altLang="en-US" dirty="0">
                  <a:solidFill>
                    <a:srgbClr val="000000"/>
                  </a:solidFill>
                  <a:latin typeface="Times New Roman"/>
                  <a:ea typeface="Times New Roman"/>
                  <a:cs typeface="Times New Roman"/>
                </a:endParaRPr>
              </a:p>
            </p:txBody>
          </p:sp>
        </mc:Choice>
        <mc:Fallback xmlns="">
          <p:sp>
            <p:nvSpPr>
              <p:cNvPr id="7" name="edu:card"/>
              <p:cNvSpPr/>
              <p:nvPr/>
            </p:nvSpPr>
            <p:spPr>
              <a:xfrm>
                <a:off x="565190" y="3096158"/>
                <a:ext cx="5417820" cy="960120"/>
              </a:xfrm>
              <a:prstGeom prst="roundRect">
                <a:avLst/>
              </a:prstGeom>
              <a:solidFill>
                <a:srgbClr val="F6F8FA"/>
              </a:solidFill>
              <a:ln w="11430">
                <a:solidFill>
                  <a:srgbClr val="9AA5B1"/>
                </a:solidFill>
              </a:ln>
              <a:effectLst/>
            </p:spPr>
            <p:txBody>
              <a:bodyPr rtlCol="0" anchor="ctr" tIns="0" bIns="0" wrap="square"/>
              <a:lstStyle/>
              <a:p>
                <a:pPr algn="ctr">
                  <a:lnSpc>
                    <a:spcPct val="105000"/>
                  </a:lnSpc>
                </a:pPr>
                <a:r>
                  <a:rPr sz="2000" b="1" i="0" lang="en-US" altLang="en-US" noProof="1" dirty="0">
                    <a:solidFill>
                      <a:srgbClr val="000000"/>
                    </a:solidFill>
                    <a:latin typeface="Times New Roman"/>
                    <a:ea typeface="標楷體"/>
                    <a:cs typeface="Times New Roman"/>
                  </a:rPr>
                  <a:t>Sharing the beam</a:t>
                </a:r>
              </a:p>
              <a:p>
                <a:pPr algn="ctr">
                  <a:lnSpc>
                    <a:spcPct val="105000"/>
                  </a:lnSpc>
                  <a:spcBef>
                    <a:spcPts val="200"/>
                  </a:spcBef>
                </a:pPr>
                <a:r>
                  <a:rPr sz="2000" b="0" i="0" lang="en-US" altLang="en-US" noProof="1" dirty="0">
                    <a:solidFill>
                      <a:srgbClr val="000000"/>
                    </a:solidFill>
                    <a:latin typeface="Times New Roman"/>
                    <a:ea typeface="標楷體"/>
                    <a:cs typeface="Times New Roman"/>
                  </a:rPr>
                  <a:t/>
                </a:r>
                <a:r>
                  <a:rPr sz="2000" b="0" i="0" lang="en-US" altLang="en-US" noProof="1" dirty="0">
                    <a:solidFill>
                      <a:srgbClr val="000000"/>
                    </a:solidFill>
                    <a:latin typeface="Times New Roman"/>
                    <a:ea typeface="標楷體"/>
                    <a:cs typeface="Times New Roman"/>
                  </a:rPr>
                  <a:t xml:space="preserve"> is the share each served user gets.</a:t>
                </a:r>
              </a:p>
            </p:txBody>
          </p:sp>
        </mc:Fallback>
      </mc:AlternateContent>
      <p:sp>
        <p:nvSpPr>
          <p:cNvPr id="8" name="edu:card"/>
          <p:cNvSpPr/>
          <p:nvPr/>
        </p:nvSpPr>
        <p:spPr>
          <a:xfrm>
            <a:off x="6211610" y="3096158"/>
            <a:ext cx="5417820" cy="960120"/>
          </a:xfrm>
          <a:prstGeom prst="roundRect">
            <a:avLst/>
          </a:prstGeom>
          <a:solidFill>
            <a:srgbClr val="F6F8FA"/>
          </a:solidFill>
          <a:ln w="11430">
            <a:solidFill>
              <a:srgbClr val="9AA5B1"/>
            </a:solidFill>
          </a:ln>
          <a:effectLst/>
        </p:spPr>
        <p:txBody>
          <a:bodyPr wrap="square" tIns="0" bIns="0" rtlCol="0" anchor="ctr"/>
          <a:lstStyle/>
          <a:p>
            <a:pPr algn="ctr">
              <a:lnSpc>
                <a:spcPct val="105000"/>
              </a:lnSpc>
            </a:pPr>
            <a:r>
              <a:rPr lang="en-US" altLang="en-US" sz="2000" b="1" i="0" noProof="1">
                <a:solidFill>
                  <a:srgbClr val="000000"/>
                </a:solidFill>
                <a:latin typeface="Times New Roman"/>
                <a:ea typeface="標楷體"/>
                <a:cs typeface="Times New Roman"/>
              </a:rPr>
              <a:t>Turning quality into bits</a:t>
            </a:r>
          </a:p>
          <a:p>
            <a:pPr algn="ctr">
              <a:lnSpc>
                <a:spcPct val="105000"/>
              </a:lnSpc>
              <a:spcBef>
                <a:spcPts val="200"/>
              </a:spcBef>
            </a:pPr>
            <a:r>
              <a:rPr lang="en-US" altLang="en-US" sz="2000" b="0" i="0" noProof="1">
                <a:solidFill>
                  <a:srgbClr val="000000"/>
                </a:solidFill>
                <a:latin typeface="Times New Roman"/>
                <a:ea typeface="標楷體"/>
                <a:cs typeface="Times New Roman"/>
              </a:rPr>
              <a:t>is the Shannon capacity per hertz, at this signal quality.</a:t>
            </a:r>
          </a:p>
        </p:txBody>
      </p:sp>
      <mc:AlternateContent xmlns:mc="http://schemas.openxmlformats.org/markup-compatibility/2006" xmlns:a14="http://schemas.microsoft.com/office/drawing/2010/main">
        <mc:Choice Requires="a14">
          <p:sp>
            <p:nvSpPr>
              <p:cNvPr id="9" name="edu:notation"/>
              <p:cNvSpPr txBox="1"/>
              <p:nvPr/>
            </p:nvSpPr>
            <p:spPr>
              <a:xfrm>
                <a:off x="565190" y="4735677"/>
                <a:ext cx="11064240" cy="1044244"/>
              </a:xfrm>
              <a:prstGeom prst="rect">
                <a:avLst/>
              </a:prstGeom>
              <a:noFill/>
              <a:effectLst/>
            </p:spPr>
            <p:txBody>
              <a:bodyPr wrap="square" lIns="0" tIns="0" rIns="0" bIns="0" anchor="t">
                <a:noAutofit/>
              </a:bodyPr>
              <a:lstStyle/>
              <a:p>
                <a:pPr algn="l">
                  <a:lnSpc>
                    <a:spcPct val="100000"/>
                  </a:lnSpc>
                  <a:spcAft>
                    <a:spcPts val="200"/>
                  </a:spcAft>
                </a:pPr>
                <a:r>
                  <a:rPr lang="en-US" altLang="en-US" sz="2400" b="1" i="0" noProof="1">
                    <a:solidFill>
                      <a:srgbClr val="000000"/>
                    </a:solidFill>
                    <a:latin typeface="Times New Roman"/>
                    <a:ea typeface="標楷體"/>
                    <a:cs typeface="Times New Roman"/>
                  </a:rPr>
                  <a:t>Notation</a:t>
                </a:r>
              </a:p>
              <a:p>
                <a:pPr algn="l">
                  <a:lnSpc>
                    <a:spcPct val="100000"/>
                  </a:lnSpc>
                  <a:spcAft>
                    <a:spcPts val="200"/>
                  </a:spcAft>
                </a:pPr>
                <a14:m>
                  <m:oMath xmlns:m="http://schemas.openxmlformats.org/officeDocument/2006/math">
                    <m:sSup>
                      <m:sSupPr>
                        <m:ctrlPr>
                          <a:rPr lang="en-US" altLang="en-US" sz="2400" i="1" dirty="0" smtClean="0">
                            <a:solidFill>
                              <a:srgbClr val="000000"/>
                            </a:solidFill>
                            <a:latin typeface="Cambria Math" panose="02040503050406030204" pitchFamily="18" charset="0"/>
                            <a:ea typeface="Times New Roman"/>
                            <a:cs typeface="Times New Roman"/>
                          </a:rPr>
                        </m:ctrlPr>
                      </m:sSupPr>
                      <m:e>
                        <m:r>
                          <a:rPr lang="en-US" altLang="en-US" sz="2400" i="1" dirty="0" smtClean="0">
                            <a:solidFill>
                              <a:srgbClr val="000000"/>
                            </a:solidFill>
                            <a:latin typeface="Cambria Math" panose="02040503050406030204" pitchFamily="18" charset="0"/>
                            <a:ea typeface="Times New Roman"/>
                            <a:cs typeface="Times New Roman"/>
                          </a:rPr>
                          <m:t>𝐵</m:t>
                        </m:r>
                      </m:e>
                      <m:sup>
                        <m:r>
                          <a:rPr lang="en-US" altLang="en-US" sz="2400" i="1" dirty="0" smtClean="0">
                            <a:solidFill>
                              <a:srgbClr val="000000"/>
                            </a:solidFill>
                            <a:latin typeface="Cambria Math" panose="02040503050406030204" pitchFamily="18" charset="0"/>
                            <a:ea typeface="Times New Roman"/>
                            <a:cs typeface="Times New Roman"/>
                          </a:rPr>
                          <m:t>𝑤</m:t>
                        </m:r>
                      </m:sup>
                    </m:sSup>
                  </m:oMath>
                </a14:m>
                <a:r>
                  <a:rPr lang="en-US" altLang="en-US" sz="2400" b="0" i="0" noProof="1">
                    <a:solidFill>
                      <a:srgbClr val="000000"/>
                    </a:solidFill>
                    <a:latin typeface="Times New Roman"/>
                    <a:ea typeface="標楷體"/>
                    <a:cs typeface="Times New Roman"/>
                  </a:rPr>
                  <a:t>: bandwidth assigned to one beam</a:t>
                </a:r>
                <a:endParaRPr lang="en-US" altLang="en-US" sz="2400" dirty="0">
                  <a:solidFill>
                    <a:srgbClr val="000000"/>
                  </a:solidFill>
                  <a:latin typeface="Times New Roman"/>
                  <a:ea typeface="Times New Roman"/>
                  <a:cs typeface="Times New Roman"/>
                </a:endParaRPr>
              </a:p>
              <a:p>
                <a:pPr algn="l">
                  <a:lnSpc>
                    <a:spcPct val="100000"/>
                  </a:lnSpc>
                  <a:spcAft>
                    <a:spcPts val="200"/>
                  </a:spcAft>
                </a:pPr>
                <a14:m>
                  <m:oMath xmlns:m="http://schemas.openxmlformats.org/officeDocument/2006/math">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𝑅</m:t>
                        </m:r>
                      </m:e>
                      <m:sub>
                        <m:r>
                          <a:rPr lang="en-US" altLang="en-US" sz="2400" i="1" dirty="0" smtClean="0">
                            <a:solidFill>
                              <a:srgbClr val="000000"/>
                            </a:solidFill>
                            <a:latin typeface="Cambria Math" panose="02040503050406030204" pitchFamily="18" charset="0"/>
                            <a:ea typeface="Times New Roman"/>
                            <a:cs typeface="Times New Roman"/>
                          </a:rPr>
                          <m:t>𝑢</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Sub>
                    <m:r>
                      <a:rPr lang="en-US" altLang="en-US" sz="2400" i="1" dirty="0" smtClean="0">
                        <a:solidFill>
                          <a:srgbClr val="000000"/>
                        </a:solidFill>
                        <a:latin typeface="Cambria Math" panose="02040503050406030204" pitchFamily="18" charset="0"/>
                        <a:ea typeface="Times New Roman"/>
                        <a:cs typeface="Times New Roman"/>
                      </a:rPr>
                      <m:t>​</m:t>
                    </m:r>
                    <m:d>
                      <m:dPr>
                        <m:ctrlPr>
                          <a:rPr lang="en-US" altLang="en-US" sz="2400" i="1" dirty="0" smtClean="0">
                            <a:solidFill>
                              <a:srgbClr val="000000"/>
                            </a:solidFill>
                            <a:latin typeface="Cambria Math" panose="02040503050406030204" pitchFamily="18" charset="0"/>
                            <a:ea typeface="Times New Roman"/>
                            <a:cs typeface="Times New Roman"/>
                          </a:rPr>
                        </m:ctrlPr>
                      </m:dPr>
                      <m:e>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𝜃</m:t>
                            </m:r>
                          </m:e>
                          <m:sub>
                            <m:r>
                              <a:rPr lang="en-US" altLang="en-US" sz="2400" i="1" dirty="0" smtClean="0">
                                <a:solidFill>
                                  <a:srgbClr val="000000"/>
                                </a:solidFill>
                                <a:latin typeface="Cambria Math" panose="02040503050406030204" pitchFamily="18" charset="0"/>
                                <a:ea typeface="Times New Roman"/>
                                <a:cs typeface="Times New Roman"/>
                              </a:rPr>
                              <m:t>𝑢</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Sub>
                        <m:r>
                          <a:rPr lang="en-US" altLang="en-US" sz="2400" i="0" dirty="0" smtClean="0">
                            <a:solidFill>
                              <a:srgbClr val="000000"/>
                            </a:solidFill>
                            <a:latin typeface="Cambria Math" panose="02040503050406030204" pitchFamily="18" charset="0"/>
                            <a:ea typeface="Times New Roman"/>
                            <a:cs typeface="Times New Roman"/>
                          </a:rPr>
                          <m:t>,</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𝜃</m:t>
                            </m:r>
                          </m:e>
                          <m:sub>
                            <m:r>
                              <a:rPr lang="en-US" altLang="en-US" sz="2400" i="0" dirty="0" smtClean="0">
                                <a:solidFill>
                                  <a:srgbClr val="000000"/>
                                </a:solidFill>
                                <a:latin typeface="Cambria Math" panose="02040503050406030204" pitchFamily="18" charset="0"/>
                                <a:ea typeface="Times New Roman"/>
                                <a:cs typeface="Times New Roman"/>
                              </a:rPr>
                              <m:t>3</m:t>
                            </m:r>
                            <m:r>
                              <m:rPr>
                                <m:nor/>
                              </m:rPr>
                              <a:rPr lang="en-US" altLang="en-US" sz="2400" i="0" dirty="0" smtClean="0">
                                <a:solidFill>
                                  <a:srgbClr val="000000"/>
                                </a:solidFill>
                                <a:latin typeface="Times New Roman"/>
                                <a:ea typeface="Times New Roman"/>
                                <a:cs typeface="Times New Roman"/>
                              </a:rPr>
                              <m:t>dB</m:t>
                            </m:r>
                          </m:sub>
                        </m:sSub>
                      </m:e>
                    </m:d>
                  </m:oMath>
                </a14:m>
                <a:r>
                  <a:rPr lang="en-US" altLang="en-US" sz="2400" b="0" i="0" noProof="1">
                    <a:solidFill>
                      <a:srgbClr val="000000"/>
                    </a:solidFill>
                    <a:latin typeface="Times New Roman"/>
                    <a:ea typeface="標楷體"/>
                    <a:cs typeface="Times New Roman"/>
                  </a:rPr>
                  <a:t>: throughput actually delivered on link </a:t>
                </a:r>
                <a:r>
                  <a:rPr lang="en-US" altLang="en-US" sz="2400" b="0" i="1" noProof="1">
                    <a:solidFill>
                      <a:srgbClr val="000000"/>
                    </a:solidFill>
                    <a:latin typeface="Times New Roman"/>
                    <a:ea typeface="標楷體"/>
                    <a:cs typeface="Times New Roman"/>
                  </a:rPr>
                  <a:t>(u, s, v)</a:t>
                </a:r>
                <a:endParaRPr lang="en-US" altLang="en-US" sz="2400" dirty="0">
                  <a:solidFill>
                    <a:srgbClr val="000000"/>
                  </a:solidFill>
                  <a:latin typeface="Times New Roman"/>
                  <a:ea typeface="Times New Roman"/>
                  <a:cs typeface="Times New Roman"/>
                </a:endParaRPr>
              </a:p>
            </p:txBody>
          </p:sp>
        </mc:Choice>
        <mc:Fallback xmlns="">
          <p:sp>
            <p:nvSpPr>
              <p:cNvPr id="9" name="edu:notation"/>
              <p:cNvSpPr txBox="1">
                <a:spLocks noRot="1" noChangeAspect="1" noMove="1" noResize="1" noEditPoints="1" noAdjustHandles="1" noChangeArrowheads="1" noChangeShapeType="1" noTextEdit="1"/>
              </p:cNvSpPr>
              <p:nvPr/>
            </p:nvSpPr>
            <p:spPr>
              <a:xfrm>
                <a:off x="565190" y="4735677"/>
                <a:ext cx="11064240" cy="1044244"/>
              </a:xfrm>
              <a:prstGeom prst="rect">
                <a:avLst/>
              </a:prstGeom>
              <a:blipFill>
                <a:blip r:embed="rId4"/>
                <a:stretch>
                  <a:fillRect l="-1708" t="-9357" b="-29825"/>
                </a:stretch>
              </a:blipFill>
              <a:effectLst/>
            </p:spPr>
            <p:txBody>
              <a:bodyPr/>
              <a:lstStyle/>
              <a:p>
                <a:r>
                  <a:rPr lang="zh-TW" altLang="en-US">
                    <a:noFill/>
                  </a:rPr>
                  <a:t> </a:t>
                </a:r>
              </a:p>
            </p:txBody>
          </p:sp>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du:title"/>
          <p:cNvSpPr txBox="1"/>
          <p:nvPr/>
        </p:nvSpPr>
        <p:spPr>
          <a:xfrm>
            <a:off x="565190" y="141274"/>
            <a:ext cx="11417289" cy="571500"/>
          </a:xfrm>
          <a:prstGeom prst="rect">
            <a:avLst/>
          </a:prstGeom>
          <a:noFill/>
        </p:spPr>
        <p:txBody>
          <a:bodyPr wrap="square" lIns="0" tIns="0" rIns="0" bIns="0" anchor="b">
            <a:spAutoFit/>
          </a:bodyPr>
          <a:lstStyle/>
          <a:p>
            <a:pPr algn="l"/>
            <a:r>
              <a:rPr lang="en-US" altLang="en-US" sz="2800" b="1" i="0" noProof="1">
                <a:solidFill>
                  <a:srgbClr val="1B365D"/>
                </a:solidFill>
                <a:latin typeface="Times New Roman"/>
                <a:ea typeface="標楷體"/>
                <a:cs typeface="Times New Roman"/>
              </a:rPr>
              <a:t>Limits of a Single Objective</a:t>
            </a:r>
          </a:p>
        </p:txBody>
      </p:sp>
      <p:sp>
        <p:nvSpPr>
          <p:cNvPr id="4" name="edu:body"/>
          <p:cNvSpPr txBox="1"/>
          <p:nvPr/>
        </p:nvSpPr>
        <p:spPr>
          <a:xfrm>
            <a:off x="565190" y="896112"/>
            <a:ext cx="11064240" cy="386791"/>
          </a:xfrm>
          <a:prstGeom prst="rect">
            <a:avLst/>
          </a:prstGeom>
          <a:noFill/>
        </p:spPr>
        <p:txBody>
          <a:bodyPr wrap="square" lIns="0" tIns="0" rIns="0" bIns="0" anchor="t">
            <a:spAutoFit/>
          </a:bodyPr>
          <a:lstStyle/>
          <a:p>
            <a:pPr algn="l">
              <a:lnSpc>
                <a:spcPct val="112000"/>
              </a:lnSpc>
              <a:spcAft>
                <a:spcPts val="0"/>
              </a:spcAft>
            </a:pPr>
            <a:r>
              <a:rPr lang="en-US" altLang="en-US" sz="2400" b="0" i="0" noProof="1">
                <a:solidFill>
                  <a:srgbClr val="000000"/>
                </a:solidFill>
                <a:latin typeface="Times New Roman"/>
                <a:ea typeface="標楷體"/>
                <a:cs typeface="Times New Roman"/>
              </a:rPr>
              <a:t>Optimizing any single objective in isolation produces a distinct failure:</a:t>
            </a:r>
          </a:p>
        </p:txBody>
      </p:sp>
      <p:sp>
        <p:nvSpPr>
          <p:cNvPr id="5" name="edu:flow-node"/>
          <p:cNvSpPr/>
          <p:nvPr/>
        </p:nvSpPr>
        <p:spPr>
          <a:xfrm>
            <a:off x="565190" y="1447495"/>
            <a:ext cx="3383279" cy="1325880"/>
          </a:xfrm>
          <a:prstGeom prst="roundRect">
            <a:avLst/>
          </a:prstGeom>
          <a:solidFill>
            <a:srgbClr val="F6F8FA"/>
          </a:solidFill>
          <a:ln w="11430">
            <a:solidFill>
              <a:srgbClr val="9AA5B1"/>
            </a:solidFill>
          </a:ln>
          <a:effectLst/>
        </p:spPr>
        <p:txBody>
          <a:bodyPr wrap="square" tIns="0" bIns="0" rtlCol="0" anchor="ctr"/>
          <a:lstStyle/>
          <a:p>
            <a:pPr algn="ctr">
              <a:lnSpc>
                <a:spcPct val="105000"/>
              </a:lnSpc>
            </a:pPr>
            <a:r>
              <a:rPr lang="en-US" altLang="en-US" sz="2000" b="1" i="0" noProof="1">
                <a:solidFill>
                  <a:srgbClr val="000000"/>
                </a:solidFill>
                <a:latin typeface="Times New Roman"/>
                <a:ea typeface="標楷體"/>
                <a:cs typeface="Times New Roman"/>
              </a:rPr>
              <a:t>Signal strength alone</a:t>
            </a:r>
          </a:p>
          <a:p>
            <a:pPr algn="ctr">
              <a:lnSpc>
                <a:spcPct val="105000"/>
              </a:lnSpc>
              <a:spcBef>
                <a:spcPts val="200"/>
              </a:spcBef>
            </a:pPr>
            <a:r>
              <a:rPr lang="en-US" altLang="en-US" sz="2000" b="0" i="0" noProof="1">
                <a:solidFill>
                  <a:srgbClr val="000000"/>
                </a:solidFill>
                <a:latin typeface="Times New Roman"/>
                <a:ea typeface="標楷體"/>
                <a:cs typeface="Times New Roman"/>
              </a:rPr>
              <a:t>collapses per-user rate on the busiest beam</a:t>
            </a:r>
          </a:p>
        </p:txBody>
      </p:sp>
      <p:sp>
        <p:nvSpPr>
          <p:cNvPr id="6" name="edu:flow-node"/>
          <p:cNvSpPr/>
          <p:nvPr/>
        </p:nvSpPr>
        <p:spPr>
          <a:xfrm>
            <a:off x="4405670" y="1447495"/>
            <a:ext cx="3383279" cy="1325880"/>
          </a:xfrm>
          <a:prstGeom prst="roundRect">
            <a:avLst/>
          </a:prstGeom>
          <a:solidFill>
            <a:srgbClr val="F6F8FA"/>
          </a:solidFill>
          <a:ln w="11430">
            <a:solidFill>
              <a:srgbClr val="9AA5B1"/>
            </a:solidFill>
          </a:ln>
          <a:effectLst/>
        </p:spPr>
        <p:txBody>
          <a:bodyPr wrap="square" tIns="0" bIns="0" rtlCol="0" anchor="ctr"/>
          <a:lstStyle/>
          <a:p>
            <a:pPr algn="ctr">
              <a:lnSpc>
                <a:spcPct val="105000"/>
              </a:lnSpc>
            </a:pPr>
            <a:r>
              <a:rPr lang="en-US" altLang="en-US" sz="2000" b="1" i="0" noProof="1">
                <a:solidFill>
                  <a:srgbClr val="000000"/>
                </a:solidFill>
                <a:latin typeface="Times New Roman"/>
                <a:ea typeface="標楷體"/>
                <a:cs typeface="Times New Roman"/>
              </a:rPr>
              <a:t>Fewer handovers alone</a:t>
            </a:r>
          </a:p>
          <a:p>
            <a:pPr algn="ctr">
              <a:lnSpc>
                <a:spcPct val="105000"/>
              </a:lnSpc>
              <a:spcBef>
                <a:spcPts val="200"/>
              </a:spcBef>
            </a:pPr>
            <a:r>
              <a:rPr lang="en-US" altLang="en-US" sz="2000" b="0" i="0" noProof="1">
                <a:solidFill>
                  <a:srgbClr val="000000"/>
                </a:solidFill>
                <a:latin typeface="Times New Roman"/>
                <a:ea typeface="標楷體"/>
                <a:cs typeface="Times New Roman"/>
              </a:rPr>
              <a:t>leaves users on a beam moving out of range</a:t>
            </a:r>
          </a:p>
        </p:txBody>
      </p:sp>
      <p:cxnSp>
        <p:nvCxnSpPr>
          <p:cNvPr id="7" name="edu:arrow"/>
          <p:cNvCxnSpPr/>
          <p:nvPr/>
        </p:nvCxnSpPr>
        <p:spPr>
          <a:xfrm>
            <a:off x="3948470" y="2110435"/>
            <a:ext cx="457200" cy="0"/>
          </a:xfrm>
          <a:prstGeom prst="line">
            <a:avLst/>
          </a:prstGeom>
          <a:ln w="13970">
            <a:solidFill>
              <a:srgbClr val="6B7683"/>
            </a:solidFill>
            <a:tailEnd type="triangle" w="sm" len="sm"/>
          </a:ln>
        </p:spPr>
        <p:style>
          <a:lnRef idx="2">
            <a:schemeClr val="accent1"/>
          </a:lnRef>
          <a:fillRef idx="0">
            <a:schemeClr val="accent1"/>
          </a:fillRef>
          <a:effectRef idx="1">
            <a:schemeClr val="accent1"/>
          </a:effectRef>
          <a:fontRef idx="minor">
            <a:schemeClr val="tx1"/>
          </a:fontRef>
        </p:style>
      </p:cxnSp>
      <p:sp>
        <p:nvSpPr>
          <p:cNvPr id="8" name="edu:flow-node"/>
          <p:cNvSpPr/>
          <p:nvPr/>
        </p:nvSpPr>
        <p:spPr>
          <a:xfrm>
            <a:off x="8246150" y="1447495"/>
            <a:ext cx="3383279" cy="1325880"/>
          </a:xfrm>
          <a:prstGeom prst="roundRect">
            <a:avLst/>
          </a:prstGeom>
          <a:solidFill>
            <a:srgbClr val="F6F8FA"/>
          </a:solidFill>
          <a:ln w="11430">
            <a:solidFill>
              <a:srgbClr val="9AA5B1"/>
            </a:solidFill>
          </a:ln>
          <a:effectLst/>
        </p:spPr>
        <p:txBody>
          <a:bodyPr wrap="square" tIns="0" bIns="0" rtlCol="0" anchor="ctr"/>
          <a:lstStyle/>
          <a:p>
            <a:pPr algn="ctr">
              <a:lnSpc>
                <a:spcPct val="105000"/>
              </a:lnSpc>
            </a:pPr>
            <a:r>
              <a:rPr lang="en-US" altLang="en-US" sz="2000" b="1" i="0" noProof="1">
                <a:solidFill>
                  <a:srgbClr val="000000"/>
                </a:solidFill>
                <a:latin typeface="Times New Roman"/>
                <a:ea typeface="標楷體"/>
                <a:cs typeface="Times New Roman"/>
              </a:rPr>
              <a:t>Even load alone</a:t>
            </a:r>
          </a:p>
          <a:p>
            <a:pPr algn="ctr">
              <a:lnSpc>
                <a:spcPct val="105000"/>
              </a:lnSpc>
              <a:spcBef>
                <a:spcPts val="200"/>
              </a:spcBef>
            </a:pPr>
            <a:r>
              <a:rPr lang="en-US" altLang="en-US" sz="2000" b="0" i="0" noProof="1">
                <a:solidFill>
                  <a:srgbClr val="000000"/>
                </a:solidFill>
                <a:latin typeface="Times New Roman"/>
                <a:ea typeface="標楷體"/>
                <a:cs typeface="Times New Roman"/>
              </a:rPr>
              <a:t>spreads users onto beams that serve them badly</a:t>
            </a:r>
          </a:p>
        </p:txBody>
      </p:sp>
      <p:cxnSp>
        <p:nvCxnSpPr>
          <p:cNvPr id="9" name="edu:arrow"/>
          <p:cNvCxnSpPr/>
          <p:nvPr/>
        </p:nvCxnSpPr>
        <p:spPr>
          <a:xfrm>
            <a:off x="7788950" y="2110435"/>
            <a:ext cx="457200" cy="0"/>
          </a:xfrm>
          <a:prstGeom prst="line">
            <a:avLst/>
          </a:prstGeom>
          <a:ln w="13970">
            <a:solidFill>
              <a:srgbClr val="6B7683"/>
            </a:solidFill>
            <a:tailEnd type="triangle" w="sm" len="sm"/>
          </a:ln>
        </p:spPr>
        <p:style>
          <a:lnRef idx="2">
            <a:schemeClr val="accent1"/>
          </a:lnRef>
          <a:fillRef idx="0">
            <a:schemeClr val="accent1"/>
          </a:fillRef>
          <a:effectRef idx="1">
            <a:schemeClr val="accent1"/>
          </a:effectRef>
          <a:fontRef idx="minor">
            <a:schemeClr val="tx1"/>
          </a:fontRef>
        </p:style>
      </p:cxnSp>
      <p:sp>
        <p:nvSpPr>
          <p:cNvPr id="10" name="edu:body"/>
          <p:cNvSpPr txBox="1"/>
          <p:nvPr/>
        </p:nvSpPr>
        <p:spPr>
          <a:xfrm>
            <a:off x="565190" y="2937967"/>
            <a:ext cx="11064240" cy="1713098"/>
          </a:xfrm>
          <a:prstGeom prst="rect">
            <a:avLst/>
          </a:prstGeom>
          <a:noFill/>
        </p:spPr>
        <p:txBody>
          <a:bodyPr wrap="square" lIns="0" tIns="0" rIns="0" bIns="0" anchor="t">
            <a:spAutoFit/>
          </a:bodyPr>
          <a:lstStyle/>
          <a:p>
            <a:pPr marL="285750" indent="-285750" algn="l">
              <a:lnSpc>
                <a:spcPct val="112000"/>
              </a:lnSpc>
              <a:spcAft>
                <a:spcPts val="700"/>
              </a:spcAft>
              <a:buSzPts val="2800"/>
              <a:buFont typeface="Arial"/>
              <a:buChar char="•"/>
            </a:pPr>
            <a:r>
              <a:rPr lang="en-US" altLang="en-US" sz="2400" b="0" i="0" noProof="1">
                <a:solidFill>
                  <a:srgbClr val="000000"/>
                </a:solidFill>
                <a:latin typeface="Times New Roman"/>
                <a:ea typeface="標楷體"/>
                <a:cs typeface="Times New Roman"/>
              </a:rPr>
              <a:t>A joint criterion is needed: delivered service, switching cost, and traffic balance evaluated together.</a:t>
            </a:r>
          </a:p>
          <a:p>
            <a:pPr marL="285750" indent="-285750">
              <a:lnSpc>
                <a:spcPct val="112000"/>
              </a:lnSpc>
              <a:buSzPts val="2800"/>
              <a:buFont typeface="Arial"/>
              <a:buChar char="•"/>
            </a:pPr>
            <a:r>
              <a:rPr lang="en-US" altLang="en-US" sz="2400" b="1" i="0" noProof="1">
                <a:solidFill>
                  <a:srgbClr val="000000"/>
                </a:solidFill>
                <a:latin typeface="Times New Roman"/>
                <a:ea typeface="標楷體"/>
                <a:cs typeface="Times New Roman"/>
              </a:rPr>
              <a:t>P1, P2, P3: </a:t>
            </a:r>
            <a:r>
              <a:rPr lang="en-US" altLang="en-US" sz="2400" noProof="1">
                <a:solidFill>
                  <a:srgbClr val="000000"/>
                </a:solidFill>
                <a:cs typeface="Times New Roman"/>
              </a:rPr>
              <a:t>the three baseline objectives; P1 includes an angle-aware energy-efficiency contribution.</a:t>
            </a:r>
            <a:endParaRPr lang="en-US" altLang="en-US" sz="2400" b="0" i="0" noProof="1">
              <a:solidFill>
                <a:srgbClr val="000000"/>
              </a:solidFill>
              <a:latin typeface="Times New Roman"/>
              <a:ea typeface="標楷體"/>
              <a:cs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du:title"/>
          <p:cNvSpPr txBox="1"/>
          <p:nvPr/>
        </p:nvSpPr>
        <p:spPr>
          <a:xfrm>
            <a:off x="565190" y="141274"/>
            <a:ext cx="11417289" cy="571500"/>
          </a:xfrm>
          <a:prstGeom prst="rect">
            <a:avLst/>
          </a:prstGeom>
          <a:noFill/>
        </p:spPr>
        <p:txBody>
          <a:bodyPr wrap="square" lIns="0" tIns="0" rIns="0" bIns="0" anchor="b">
            <a:spAutoFit/>
          </a:bodyPr>
          <a:lstStyle/>
          <a:p>
            <a:pPr algn="l"/>
            <a:r>
              <a:rPr lang="en-US" altLang="en-US" sz="2800" b="1" i="0" noProof="1">
                <a:solidFill>
                  <a:srgbClr val="1B365D"/>
                </a:solidFill>
                <a:latin typeface="Times New Roman"/>
                <a:ea typeface="標楷體"/>
                <a:cs typeface="Times New Roman"/>
              </a:rPr>
              <a:t>Joint Optimization Problem: P1–P3</a:t>
            </a:r>
          </a:p>
        </p:txBody>
      </p:sp>
      <p:sp>
        <p:nvSpPr>
          <p:cNvPr id="3" name="edu:citation"/>
          <p:cNvSpPr txBox="1"/>
          <p:nvPr/>
        </p:nvSpPr>
        <p:spPr>
          <a:xfrm>
            <a:off x="495330" y="6316675"/>
            <a:ext cx="11018520" cy="505663"/>
          </a:xfrm>
          <a:prstGeom prst="rect">
            <a:avLst/>
          </a:prstGeom>
          <a:noFill/>
        </p:spPr>
        <p:txBody>
          <a:bodyPr wrap="square" lIns="0" tIns="0" rIns="0" bIns="0" anchor="t">
            <a:spAutoFit/>
          </a:bodyPr>
          <a:lstStyle/>
          <a:p>
            <a:pPr algn="l">
              <a:lnSpc>
                <a:spcPct val="105000"/>
              </a:lnSpc>
            </a:pPr>
            <a:r>
              <a:rPr lang="en-US" altLang="en-US" sz="1400" b="0" i="0" noProof="1">
                <a:solidFill>
                  <a:srgbClr val="000000"/>
                </a:solidFill>
                <a:latin typeface="Times New Roman"/>
                <a:ea typeface="標楷體"/>
                <a:cs typeface="Times New Roman"/>
              </a:rPr>
              <a:t>Y. Sun et al., “Handover for Multi-Beam LEO Satellite Networks: A Multi-Objective Reinforcement Learning Method,” IEEE Communications Letters, Dec. 2024.</a:t>
            </a:r>
          </a:p>
        </p:txBody>
      </p:sp>
      <p:sp>
        <p:nvSpPr>
          <p:cNvPr id="5" name="edu:body"/>
          <p:cNvSpPr txBox="1"/>
          <p:nvPr/>
        </p:nvSpPr>
        <p:spPr>
          <a:xfrm>
            <a:off x="565190" y="896112"/>
            <a:ext cx="11064240" cy="1161288"/>
          </a:xfrm>
          <a:prstGeom prst="rect">
            <a:avLst/>
          </a:prstGeom>
          <a:noFill/>
        </p:spPr>
        <p:txBody>
          <a:bodyPr wrap="square" lIns="0" tIns="0" rIns="0" bIns="0" anchor="t">
            <a:spAutoFit/>
          </a:bodyPr>
          <a:lstStyle/>
          <a:p>
            <a:pPr algn="l">
              <a:lnSpc>
                <a:spcPct val="112000"/>
              </a:lnSpc>
              <a:spcAft>
                <a:spcPts val="0"/>
              </a:spcAft>
            </a:pPr>
            <a:r>
              <a:rPr lang="en-US" altLang="en-US" sz="2400" b="0" i="0" noProof="1">
                <a:solidFill>
                  <a:srgbClr val="000000"/>
                </a:solidFill>
                <a:latin typeface="Times New Roman"/>
                <a:ea typeface="標楷體"/>
                <a:cs typeface="Times New Roman"/>
              </a:rPr>
              <a:t>Across the whole run, the network optimizes the three original objectives together. The brace keeps the public MODQN objective contract visible, with P1 written here at first-order expansion:</a:t>
            </a:r>
          </a:p>
        </p:txBody>
      </p:sp>
      <p:sp>
        <p:nvSpPr>
          <p:cNvPr id="7" name="edu:body"/>
          <p:cNvSpPr txBox="1"/>
          <p:nvPr/>
        </p:nvSpPr>
        <p:spPr>
          <a:xfrm>
            <a:off x="565190" y="5231658"/>
            <a:ext cx="11064240" cy="774496"/>
          </a:xfrm>
          <a:prstGeom prst="rect">
            <a:avLst/>
          </a:prstGeom>
          <a:noFill/>
        </p:spPr>
        <p:txBody>
          <a:bodyPr wrap="square" lIns="0" tIns="0" rIns="0" bIns="0" anchor="t">
            <a:spAutoFit/>
          </a:bodyPr>
          <a:lstStyle/>
          <a:p>
            <a:pPr algn="l">
              <a:lnSpc>
                <a:spcPct val="112000"/>
              </a:lnSpc>
              <a:spcAft>
                <a:spcPts val="0"/>
              </a:spcAft>
            </a:pPr>
            <a:r>
              <a:rPr lang="en-US" altLang="en-US" sz="2400" b="0" i="0" noProof="1">
                <a:solidFill>
                  <a:srgbClr val="000000"/>
                </a:solidFill>
                <a:latin typeface="Times New Roman"/>
                <a:ea typeface="標楷體"/>
                <a:cs typeface="Times New Roman"/>
              </a:rPr>
              <a:t>P1 maximizes delivered data per unit energy, P2 minimizes switching cost, and P3 minimizes squared beam occupancy.</a:t>
            </a:r>
          </a:p>
        </p:txBody>
      </p:sp>
      <mc:AlternateContent xmlns:mc="http://schemas.openxmlformats.org/markup-compatibility/2006" xmlns:a14="http://schemas.microsoft.com/office/drawing/2010/main">
        <mc:Choice Requires="a14">
          <p:sp>
            <p:nvSpPr>
              <p:cNvPr id="9" name="edu:formula-omml" descr="Native Office Math: a20_p123">
                <a:extLst>
                  <a:ext uri="{FF2B5EF4-FFF2-40B4-BE49-F238E27FC236}">
                    <a16:creationId xmlns:a16="http://schemas.microsoft.com/office/drawing/2014/main" id="{62FCFC50-EBF7-F4A1-7F3B-CA6A321669A6}"/>
                  </a:ext>
                </a:extLst>
              </p:cNvPr>
              <p:cNvSpPr txBox="1"/>
              <p:nvPr/>
            </p:nvSpPr>
            <p:spPr>
              <a:xfrm>
                <a:off x="2939996" y="2534811"/>
                <a:ext cx="7349032" cy="2294229"/>
              </a:xfrm>
              <a:prstGeom prst="rect">
                <a:avLst/>
              </a:prstGeom>
              <a:noFill/>
              <a:effectLst/>
            </p:spPr>
            <p:txBody>
              <a:bodyPr wrap="none" lIns="0" tIns="0" rIns="0" bIns="0" anchor="ctr">
                <a:noAutofit/>
              </a:bodyPr>
              <a:lstStyle/>
              <a:p>
                <a:pPr algn="ctr"/>
                <a14:m>
                  <m:oMathPara xmlns:m="http://schemas.openxmlformats.org/officeDocument/2006/math">
                    <m:oMath>
                      <m:d>
                        <m:dPr>
                          <m:begChr m:val="{"/>
                          <m:endChr m:val=""/>
                          <m:ctrlPr>
                            <a:rPr lang="en-US" altLang="en-US" sz="2400" i="1" dirty="0" smtClean="0">
                              <a:solidFill>
                                <a:srgbClr val="000000"/>
                              </a:solidFill>
                              <a:latin typeface="Cambria Math" panose="02040503050406030204" pitchFamily="18" charset="0"/>
                              <a:ea typeface="Times New Roman"/>
                              <a:cs typeface="Times New Roman"/>
                            </a:rPr>
                          </m:ctrlPr>
                        </m:dPr>
                        <m:e>
                          <m:m>
                            <m:mPr>
                              <m:plcHide m:val="on"/>
                              <m:mcs>
                                <m:mc>
                                  <m:mcPr>
                                    <m:count m:val="1"/>
                                    <m:mcJc m:val="center"/>
                                  </m:mcPr>
                                </m:mc>
                              </m:mcs>
                              <m:ctrlPr>
                                <a:rPr lang="en-US" altLang="en-US" sz="2400" i="1" dirty="0" smtClean="0">
                                  <a:solidFill>
                                    <a:srgbClr val="000000"/>
                                  </a:solidFill>
                                  <a:latin typeface="Cambria Math" panose="02040503050406030204" pitchFamily="18" charset="0"/>
                                  <a:ea typeface="Times New Roman"/>
                                  <a:cs typeface="Times New Roman"/>
                                </a:rPr>
                              </m:ctrlPr>
                            </m:mPr>
                            <m:mr>
                              <m:e>
                                <m:r>
                                  <m:rPr>
                                    <m:nor/>
                                  </m:rPr>
                                  <a:rPr lang="en-US" altLang="en-US" sz="2400" i="0" dirty="0" smtClean="0">
                                    <a:solidFill>
                                      <a:srgbClr val="000000"/>
                                    </a:solidFill>
                                    <a:latin typeface="Times New Roman"/>
                                    <a:ea typeface="Times New Roman"/>
                                    <a:cs typeface="Times New Roman"/>
                                  </a:rPr>
                                  <m:t>P</m:t>
                                </m:r>
                                <m:r>
                                  <a:rPr lang="en-US" altLang="en-US" sz="2400" i="0" dirty="0" smtClean="0">
                                    <a:solidFill>
                                      <a:srgbClr val="000000"/>
                                    </a:solidFill>
                                    <a:latin typeface="Cambria Math" panose="02040503050406030204" pitchFamily="18" charset="0"/>
                                    <a:ea typeface="Times New Roman"/>
                                    <a:cs typeface="Times New Roman"/>
                                  </a:rPr>
                                  <m:t>1:</m:t>
                                </m:r>
                                <m:r>
                                  <a:rPr lang="en-US" altLang="en-US" sz="2400" i="1" dirty="0" smtClean="0">
                                    <a:solidFill>
                                      <a:srgbClr val="000000"/>
                                    </a:solidFill>
                                    <a:latin typeface="Cambria Math" panose="02040503050406030204" pitchFamily="18" charset="0"/>
                                    <a:ea typeface="Times New Roman"/>
                                    <a:cs typeface="Times New Roman"/>
                                  </a:rPr>
                                  <m:t> </m:t>
                                </m:r>
                                <m:r>
                                  <m:rPr>
                                    <m:nor/>
                                  </m:rPr>
                                  <a:rPr lang="en-US" altLang="en-US" sz="2400" i="0" dirty="0" smtClean="0">
                                    <a:solidFill>
                                      <a:srgbClr val="000000"/>
                                    </a:solidFill>
                                    <a:latin typeface="Times New Roman"/>
                                    <a:ea typeface="Times New Roman"/>
                                    <a:cs typeface="Times New Roman"/>
                                  </a:rPr>
                                  <m:t>max</m:t>
                                </m:r>
                                <m:r>
                                  <a:rPr lang="en-US" altLang="en-US" sz="2400" i="1" dirty="0" smtClean="0">
                                    <a:solidFill>
                                      <a:srgbClr val="000000"/>
                                    </a:solidFill>
                                    <a:latin typeface="Cambria Math" panose="02040503050406030204" pitchFamily="18" charset="0"/>
                                    <a:ea typeface="Times New Roman"/>
                                    <a:cs typeface="Times New Roman"/>
                                  </a:rPr>
                                  <m:t> </m:t>
                                </m:r>
                                <m:nary>
                                  <m:naryPr>
                                    <m:chr m:val="∑"/>
                                    <m:limLoc m:val="undOvr"/>
                                    <m:ctrlPr>
                                      <a:rPr lang="en-US" altLang="en-US" sz="2400" i="1" dirty="0" smtClean="0">
                                        <a:solidFill>
                                          <a:srgbClr val="000000"/>
                                        </a:solidFill>
                                        <a:latin typeface="Cambria Math" panose="02040503050406030204" pitchFamily="18" charset="0"/>
                                        <a:ea typeface="Times New Roman"/>
                                        <a:cs typeface="Times New Roman"/>
                                      </a:rPr>
                                    </m:ctrlPr>
                                  </m:naryPr>
                                  <m:sub>
                                    <m:r>
                                      <a:rPr lang="en-US" altLang="en-US" sz="2400" i="1" dirty="0" smtClean="0">
                                        <a:solidFill>
                                          <a:srgbClr val="000000"/>
                                        </a:solidFill>
                                        <a:latin typeface="Cambria Math" panose="02040503050406030204" pitchFamily="18" charset="0"/>
                                        <a:ea typeface="Times New Roman"/>
                                        <a:cs typeface="Times New Roman"/>
                                      </a:rPr>
                                      <m:t>𝑡</m:t>
                                    </m:r>
                                  </m:sub>
                                  <m:sup>
                                    <m:r>
                                      <a:rPr lang="en-US" altLang="en-US" sz="2400" i="1" dirty="0" smtClean="0">
                                        <a:solidFill>
                                          <a:srgbClr val="000000"/>
                                        </a:solidFill>
                                        <a:latin typeface="Cambria Math" panose="02040503050406030204" pitchFamily="18" charset="0"/>
                                        <a:ea typeface="Times New Roman"/>
                                        <a:cs typeface="Times New Roman"/>
                                      </a:rPr>
                                      <m:t>​</m:t>
                                    </m:r>
                                  </m:sup>
                                  <m:e>
                                    <m:nary>
                                      <m:naryPr>
                                        <m:chr m:val="∑"/>
                                        <m:limLoc m:val="undOvr"/>
                                        <m:ctrlPr>
                                          <a:rPr lang="en-US" altLang="en-US" sz="2400" i="1" dirty="0" smtClean="0">
                                            <a:solidFill>
                                              <a:srgbClr val="000000"/>
                                            </a:solidFill>
                                            <a:latin typeface="Cambria Math" panose="02040503050406030204" pitchFamily="18" charset="0"/>
                                            <a:ea typeface="Times New Roman"/>
                                            <a:cs typeface="Times New Roman"/>
                                          </a:rPr>
                                        </m:ctrlPr>
                                      </m:naryPr>
                                      <m:sub>
                                        <m:r>
                                          <a:rPr lang="en-US" altLang="en-US" sz="2400" i="1" dirty="0" smtClean="0">
                                            <a:solidFill>
                                              <a:srgbClr val="000000"/>
                                            </a:solidFill>
                                            <a:latin typeface="Cambria Math" panose="02040503050406030204" pitchFamily="18" charset="0"/>
                                            <a:ea typeface="Times New Roman"/>
                                            <a:cs typeface="Times New Roman"/>
                                          </a:rPr>
                                          <m:t>𝜅</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𝒦</m:t>
                                        </m:r>
                                      </m:sub>
                                      <m:sup>
                                        <m:r>
                                          <a:rPr lang="en-US" altLang="en-US" sz="2400" i="1" dirty="0" smtClean="0">
                                            <a:solidFill>
                                              <a:srgbClr val="000000"/>
                                            </a:solidFill>
                                            <a:latin typeface="Cambria Math" panose="02040503050406030204" pitchFamily="18" charset="0"/>
                                            <a:ea typeface="Times New Roman"/>
                                            <a:cs typeface="Times New Roman"/>
                                          </a:rPr>
                                          <m:t>​</m:t>
                                        </m:r>
                                      </m:sup>
                                      <m:e>
                                        <m:nary>
                                          <m:naryPr>
                                            <m:chr m:val="∑"/>
                                            <m:limLoc m:val="undOvr"/>
                                            <m:ctrlPr>
                                              <a:rPr lang="en-US" altLang="en-US" sz="2400" i="1" dirty="0" smtClean="0">
                                                <a:solidFill>
                                                  <a:srgbClr val="000000"/>
                                                </a:solidFill>
                                                <a:latin typeface="Cambria Math" panose="02040503050406030204" pitchFamily="18" charset="0"/>
                                                <a:ea typeface="Times New Roman"/>
                                                <a:cs typeface="Times New Roman"/>
                                              </a:rPr>
                                            </m:ctrlPr>
                                          </m:naryPr>
                                          <m:sub>
                                            <m:r>
                                              <a:rPr lang="en-US" altLang="en-US" sz="2400" i="1" dirty="0" smtClean="0">
                                                <a:solidFill>
                                                  <a:srgbClr val="000000"/>
                                                </a:solidFill>
                                                <a:latin typeface="Cambria Math" panose="02040503050406030204" pitchFamily="18" charset="0"/>
                                                <a:ea typeface="Times New Roman"/>
                                                <a:cs typeface="Times New Roman"/>
                                              </a:rPr>
                                              <m:t>𝑢</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𝒰</m:t>
                                            </m:r>
                                          </m:sub>
                                          <m:sup>
                                            <m:r>
                                              <a:rPr lang="en-US" altLang="en-US" sz="2400" i="1" dirty="0" smtClean="0">
                                                <a:solidFill>
                                                  <a:srgbClr val="000000"/>
                                                </a:solidFill>
                                                <a:latin typeface="Cambria Math" panose="02040503050406030204" pitchFamily="18" charset="0"/>
                                                <a:ea typeface="Times New Roman"/>
                                                <a:cs typeface="Times New Roman"/>
                                              </a:rPr>
                                              <m:t>​</m:t>
                                            </m:r>
                                          </m:sup>
                                          <m:e>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𝑥</m:t>
                                                </m:r>
                                              </m:e>
                                              <m:sub>
                                                <m:r>
                                                  <a:rPr lang="en-US" altLang="en-US" sz="2400" i="1" dirty="0" smtClean="0">
                                                    <a:solidFill>
                                                      <a:srgbClr val="000000"/>
                                                    </a:solidFill>
                                                    <a:latin typeface="Cambria Math" panose="02040503050406030204" pitchFamily="18" charset="0"/>
                                                    <a:ea typeface="Times New Roman"/>
                                                    <a:cs typeface="Times New Roman"/>
                                                  </a:rPr>
                                                  <m:t>𝑢</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Sub>
                                          </m:e>
                                        </m:nary>
                                      </m:e>
                                    </m:nary>
                                  </m:e>
                                </m:nary>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 </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𝜂</m:t>
                                    </m:r>
                                  </m:e>
                                  <m:sub>
                                    <m:r>
                                      <a:rPr lang="en-US" altLang="en-US" sz="2400" i="1" dirty="0" smtClean="0">
                                        <a:solidFill>
                                          <a:srgbClr val="000000"/>
                                        </a:solidFill>
                                        <a:latin typeface="Cambria Math" panose="02040503050406030204" pitchFamily="18" charset="0"/>
                                        <a:ea typeface="Times New Roman"/>
                                        <a:cs typeface="Times New Roman"/>
                                      </a:rPr>
                                      <m:t>𝑢</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Sub>
                                <m:r>
                                  <a:rPr lang="en-US" altLang="en-US" sz="2400" i="1" dirty="0" smtClean="0">
                                    <a:solidFill>
                                      <a:srgbClr val="000000"/>
                                    </a:solidFill>
                                    <a:latin typeface="Cambria Math" panose="02040503050406030204" pitchFamily="18" charset="0"/>
                                    <a:ea typeface="Times New Roman"/>
                                    <a:cs typeface="Times New Roman"/>
                                  </a:rPr>
                                  <m:t>​</m:t>
                                </m:r>
                                <m:d>
                                  <m:dPr>
                                    <m:ctrlPr>
                                      <a:rPr lang="en-US" altLang="en-US" sz="2400" i="1" dirty="0" smtClean="0">
                                        <a:solidFill>
                                          <a:srgbClr val="000000"/>
                                        </a:solidFill>
                                        <a:latin typeface="Cambria Math" panose="02040503050406030204" pitchFamily="18" charset="0"/>
                                        <a:ea typeface="Times New Roman"/>
                                        <a:cs typeface="Times New Roman"/>
                                      </a:rPr>
                                    </m:ctrlPr>
                                  </m:dPr>
                                  <m:e>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𝜃</m:t>
                                        </m:r>
                                      </m:e>
                                      <m:sub>
                                        <m:r>
                                          <a:rPr lang="en-US" altLang="en-US" sz="2400" i="1" dirty="0" smtClean="0">
                                            <a:solidFill>
                                              <a:srgbClr val="000000"/>
                                            </a:solidFill>
                                            <a:latin typeface="Cambria Math" panose="02040503050406030204" pitchFamily="18" charset="0"/>
                                            <a:ea typeface="Times New Roman"/>
                                            <a:cs typeface="Times New Roman"/>
                                          </a:rPr>
                                          <m:t>𝑢</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Sub>
                                    <m:r>
                                      <a:rPr lang="en-US" altLang="en-US" sz="2400" i="0" dirty="0" smtClean="0">
                                        <a:solidFill>
                                          <a:srgbClr val="000000"/>
                                        </a:solidFill>
                                        <a:latin typeface="Cambria Math" panose="02040503050406030204" pitchFamily="18" charset="0"/>
                                        <a:ea typeface="Times New Roman"/>
                                        <a:cs typeface="Times New Roman"/>
                                      </a:rPr>
                                      <m:t>,</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𝜃</m:t>
                                        </m:r>
                                      </m:e>
                                      <m:sub>
                                        <m:r>
                                          <a:rPr lang="en-US" altLang="en-US" sz="2400" i="0" dirty="0" smtClean="0">
                                            <a:solidFill>
                                              <a:srgbClr val="000000"/>
                                            </a:solidFill>
                                            <a:latin typeface="Cambria Math" panose="02040503050406030204" pitchFamily="18" charset="0"/>
                                            <a:ea typeface="Times New Roman"/>
                                            <a:cs typeface="Times New Roman"/>
                                          </a:rPr>
                                          <m:t>3</m:t>
                                        </m:r>
                                        <m:r>
                                          <m:rPr>
                                            <m:nor/>
                                          </m:rPr>
                                          <a:rPr lang="en-US" altLang="en-US" sz="2400" i="0" dirty="0" smtClean="0">
                                            <a:solidFill>
                                              <a:srgbClr val="000000"/>
                                            </a:solidFill>
                                            <a:latin typeface="Times New Roman"/>
                                            <a:ea typeface="Times New Roman"/>
                                            <a:cs typeface="Times New Roman"/>
                                          </a:rPr>
                                          <m:t>dB</m:t>
                                        </m:r>
                                      </m:sub>
                                    </m:sSub>
                                  </m:e>
                                </m:d>
                              </m:e>
                            </m:mr>
                            <m:mr>
                              <m:e>
                                <m:r>
                                  <m:rPr>
                                    <m:nor/>
                                  </m:rPr>
                                  <a:rPr lang="en-US" altLang="en-US" sz="2400" i="0" dirty="0" smtClean="0">
                                    <a:solidFill>
                                      <a:srgbClr val="000000"/>
                                    </a:solidFill>
                                    <a:latin typeface="Times New Roman"/>
                                    <a:ea typeface="Times New Roman"/>
                                    <a:cs typeface="Times New Roman"/>
                                  </a:rPr>
                                  <m:t>P</m:t>
                                </m:r>
                                <m:r>
                                  <a:rPr lang="en-US" altLang="en-US" sz="2400" i="0" dirty="0" smtClean="0">
                                    <a:solidFill>
                                      <a:srgbClr val="000000"/>
                                    </a:solidFill>
                                    <a:latin typeface="Cambria Math" panose="02040503050406030204" pitchFamily="18" charset="0"/>
                                    <a:ea typeface="Times New Roman"/>
                                    <a:cs typeface="Times New Roman"/>
                                  </a:rPr>
                                  <m:t>2:</m:t>
                                </m:r>
                                <m:r>
                                  <a:rPr lang="en-US" altLang="en-US" sz="2400" i="1" dirty="0" smtClean="0">
                                    <a:solidFill>
                                      <a:srgbClr val="000000"/>
                                    </a:solidFill>
                                    <a:latin typeface="Cambria Math" panose="02040503050406030204" pitchFamily="18" charset="0"/>
                                    <a:ea typeface="Times New Roman"/>
                                    <a:cs typeface="Times New Roman"/>
                                  </a:rPr>
                                  <m:t> </m:t>
                                </m:r>
                                <m:r>
                                  <m:rPr>
                                    <m:nor/>
                                  </m:rPr>
                                  <a:rPr lang="en-US" altLang="en-US" sz="2400" i="0" dirty="0" smtClean="0">
                                    <a:solidFill>
                                      <a:srgbClr val="000000"/>
                                    </a:solidFill>
                                    <a:latin typeface="Times New Roman"/>
                                    <a:ea typeface="Times New Roman"/>
                                    <a:cs typeface="Times New Roman"/>
                                  </a:rPr>
                                  <m:t>min</m:t>
                                </m:r>
                                <m:r>
                                  <a:rPr lang="en-US" altLang="en-US" sz="2400" i="1" dirty="0" smtClean="0">
                                    <a:solidFill>
                                      <a:srgbClr val="000000"/>
                                    </a:solidFill>
                                    <a:latin typeface="Cambria Math" panose="02040503050406030204" pitchFamily="18" charset="0"/>
                                    <a:ea typeface="Times New Roman"/>
                                    <a:cs typeface="Times New Roman"/>
                                  </a:rPr>
                                  <m:t> </m:t>
                                </m:r>
                                <m:nary>
                                  <m:naryPr>
                                    <m:chr m:val="∑"/>
                                    <m:limLoc m:val="undOvr"/>
                                    <m:ctrlPr>
                                      <a:rPr lang="en-US" altLang="en-US" sz="2400" i="1" dirty="0" smtClean="0">
                                        <a:solidFill>
                                          <a:srgbClr val="000000"/>
                                        </a:solidFill>
                                        <a:latin typeface="Cambria Math" panose="02040503050406030204" pitchFamily="18" charset="0"/>
                                        <a:ea typeface="Times New Roman"/>
                                        <a:cs typeface="Times New Roman"/>
                                      </a:rPr>
                                    </m:ctrlPr>
                                  </m:naryPr>
                                  <m:sub>
                                    <m:r>
                                      <a:rPr lang="en-US" altLang="en-US" sz="2400" i="1" dirty="0" smtClean="0">
                                        <a:solidFill>
                                          <a:srgbClr val="000000"/>
                                        </a:solidFill>
                                        <a:latin typeface="Cambria Math" panose="02040503050406030204" pitchFamily="18" charset="0"/>
                                        <a:ea typeface="Times New Roman"/>
                                        <a:cs typeface="Times New Roman"/>
                                      </a:rPr>
                                      <m:t>𝑡</m:t>
                                    </m:r>
                                  </m:sub>
                                  <m:sup>
                                    <m:r>
                                      <a:rPr lang="en-US" altLang="en-US" sz="2400" i="1" dirty="0" smtClean="0">
                                        <a:solidFill>
                                          <a:srgbClr val="000000"/>
                                        </a:solidFill>
                                        <a:latin typeface="Cambria Math" panose="02040503050406030204" pitchFamily="18" charset="0"/>
                                        <a:ea typeface="Times New Roman"/>
                                        <a:cs typeface="Times New Roman"/>
                                      </a:rPr>
                                      <m:t>​</m:t>
                                    </m:r>
                                  </m:sup>
                                  <m:e>
                                    <m:nary>
                                      <m:naryPr>
                                        <m:chr m:val="∑"/>
                                        <m:limLoc m:val="undOvr"/>
                                        <m:ctrlPr>
                                          <a:rPr lang="en-US" altLang="en-US" sz="2400" i="1" dirty="0" smtClean="0">
                                            <a:solidFill>
                                              <a:srgbClr val="000000"/>
                                            </a:solidFill>
                                            <a:latin typeface="Cambria Math" panose="02040503050406030204" pitchFamily="18" charset="0"/>
                                            <a:ea typeface="Times New Roman"/>
                                            <a:cs typeface="Times New Roman"/>
                                          </a:rPr>
                                        </m:ctrlPr>
                                      </m:naryPr>
                                      <m:sub>
                                        <m:r>
                                          <a:rPr lang="en-US" altLang="en-US" sz="2400" i="1" dirty="0" smtClean="0">
                                            <a:solidFill>
                                              <a:srgbClr val="000000"/>
                                            </a:solidFill>
                                            <a:latin typeface="Cambria Math" panose="02040503050406030204" pitchFamily="18" charset="0"/>
                                            <a:ea typeface="Times New Roman"/>
                                            <a:cs typeface="Times New Roman"/>
                                          </a:rPr>
                                          <m:t>𝑢</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𝒰</m:t>
                                        </m:r>
                                      </m:sub>
                                      <m:sup>
                                        <m:r>
                                          <a:rPr lang="en-US" altLang="en-US" sz="2400" i="1" dirty="0" smtClean="0">
                                            <a:solidFill>
                                              <a:srgbClr val="000000"/>
                                            </a:solidFill>
                                            <a:latin typeface="Cambria Math" panose="02040503050406030204" pitchFamily="18" charset="0"/>
                                            <a:ea typeface="Times New Roman"/>
                                            <a:cs typeface="Times New Roman"/>
                                          </a:rPr>
                                          <m:t>​</m:t>
                                        </m:r>
                                      </m:sup>
                                      <m:e>
                                        <m:sSub>
                                          <m:sSubPr>
                                            <m:ctrlPr>
                                              <a:rPr lang="en-US" altLang="en-US" sz="2400" i="0" dirty="0" smtClean="0">
                                                <a:solidFill>
                                                  <a:srgbClr val="000000"/>
                                                </a:solidFill>
                                                <a:latin typeface="Times New Roman"/>
                                                <a:ea typeface="Times New Roman"/>
                                                <a:cs typeface="Times New Roman"/>
                                              </a:rPr>
                                            </m:ctrlPr>
                                          </m:sSubPr>
                                          <m:e>
                                            <m:r>
                                              <m:rPr>
                                                <m:nor/>
                                              </m:rPr>
                                              <a:rPr lang="en-US" altLang="en-US" sz="2400" i="0" dirty="0" smtClean="0">
                                                <a:solidFill>
                                                  <a:srgbClr val="000000"/>
                                                </a:solidFill>
                                                <a:latin typeface="Times New Roman"/>
                                                <a:ea typeface="Times New Roman"/>
                                                <a:cs typeface="Times New Roman"/>
                                              </a:rPr>
                                              <m:t>Ψ</m:t>
                                            </m:r>
                                          </m:e>
                                          <m:sub>
                                            <m:r>
                                              <a:rPr lang="en-US" altLang="en-US" sz="2400" i="1" dirty="0" smtClean="0">
                                                <a:solidFill>
                                                  <a:srgbClr val="000000"/>
                                                </a:solidFill>
                                                <a:latin typeface="Cambria Math" panose="02040503050406030204" pitchFamily="18" charset="0"/>
                                                <a:ea typeface="Times New Roman"/>
                                                <a:cs typeface="Times New Roman"/>
                                              </a:rPr>
                                              <m:t>𝑢</m:t>
                                            </m:r>
                                          </m:sub>
                                        </m:sSub>
                                      </m:e>
                                    </m:nary>
                                  </m:e>
                                </m:nary>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e>
                            </m:mr>
                            <m:mr>
                              <m:e>
                                <m:r>
                                  <m:rPr>
                                    <m:nor/>
                                  </m:rPr>
                                  <a:rPr lang="en-US" altLang="en-US" sz="2400" i="0" dirty="0">
                                    <a:solidFill>
                                      <a:srgbClr val="000000"/>
                                    </a:solidFill>
                                    <a:ea typeface="Times New Roman"/>
                                    <a:cs typeface="Times New Roman"/>
                                  </a:rPr>
                                  <m:t>P</m:t>
                                </m:r>
                                <m:r>
                                  <a:rPr lang="en-US" altLang="en-US" sz="2400" dirty="0">
                                    <a:solidFill>
                                      <a:srgbClr val="000000"/>
                                    </a:solidFill>
                                    <a:latin typeface="Cambria Math" panose="02040503050406030204" pitchFamily="18" charset="0"/>
                                    <a:ea typeface="Times New Roman"/>
                                    <a:cs typeface="Times New Roman"/>
                                  </a:rPr>
                                  <m:t>3:</m:t>
                                </m:r>
                                <m:r>
                                  <a:rPr lang="en-US" altLang="en-US" sz="2400" i="1" dirty="0">
                                    <a:solidFill>
                                      <a:srgbClr val="000000"/>
                                    </a:solidFill>
                                    <a:latin typeface="Cambria Math" panose="02040503050406030204" pitchFamily="18" charset="0"/>
                                    <a:ea typeface="Times New Roman"/>
                                    <a:cs typeface="Times New Roman"/>
                                  </a:rPr>
                                  <m:t> </m:t>
                                </m:r>
                                <m:r>
                                  <m:rPr>
                                    <m:nor/>
                                  </m:rPr>
                                  <a:rPr lang="en-US" altLang="en-US" sz="2400" i="0" dirty="0">
                                    <a:solidFill>
                                      <a:srgbClr val="000000"/>
                                    </a:solidFill>
                                    <a:ea typeface="Times New Roman"/>
                                    <a:cs typeface="Times New Roman"/>
                                  </a:rPr>
                                  <m:t>min</m:t>
                                </m:r>
                                <m:r>
                                  <a:rPr lang="en-US" altLang="en-US" sz="2400" i="1" dirty="0">
                                    <a:solidFill>
                                      <a:srgbClr val="000000"/>
                                    </a:solidFill>
                                    <a:latin typeface="Cambria Math" panose="02040503050406030204" pitchFamily="18" charset="0"/>
                                    <a:ea typeface="Times New Roman"/>
                                    <a:cs typeface="Times New Roman"/>
                                  </a:rPr>
                                  <m:t> </m:t>
                                </m:r>
                                <m:nary>
                                  <m:naryPr>
                                    <m:chr m:val="∑"/>
                                    <m:limLoc m:val="undOvr"/>
                                    <m:ctrlPr>
                                      <a:rPr lang="en-US" altLang="en-US" sz="2400" i="1" dirty="0">
                                        <a:solidFill>
                                          <a:srgbClr val="000000"/>
                                        </a:solidFill>
                                        <a:latin typeface="Cambria Math" panose="02040503050406030204" pitchFamily="18" charset="0"/>
                                        <a:ea typeface="Times New Roman"/>
                                        <a:cs typeface="Times New Roman"/>
                                      </a:rPr>
                                    </m:ctrlPr>
                                  </m:naryPr>
                                  <m:sub>
                                    <m:r>
                                      <a:rPr lang="en-US" altLang="en-US" sz="2400" i="1" dirty="0">
                                        <a:solidFill>
                                          <a:srgbClr val="000000"/>
                                        </a:solidFill>
                                        <a:latin typeface="Cambria Math" panose="02040503050406030204" pitchFamily="18" charset="0"/>
                                        <a:ea typeface="Times New Roman"/>
                                        <a:cs typeface="Times New Roman"/>
                                      </a:rPr>
                                      <m:t>𝑡</m:t>
                                    </m:r>
                                  </m:sub>
                                  <m:sup>
                                    <m:r>
                                      <a:rPr lang="en-US" altLang="en-US" sz="2400" i="1" dirty="0">
                                        <a:solidFill>
                                          <a:srgbClr val="000000"/>
                                        </a:solidFill>
                                        <a:latin typeface="Cambria Math" panose="02040503050406030204" pitchFamily="18" charset="0"/>
                                        <a:ea typeface="Times New Roman"/>
                                        <a:cs typeface="Times New Roman"/>
                                      </a:rPr>
                                      <m:t>​</m:t>
                                    </m:r>
                                  </m:sup>
                                  <m:e>
                                    <m:d>
                                      <m:dPr>
                                        <m:ctrlPr>
                                          <a:rPr lang="en-US" altLang="en-US" sz="2400" i="1" dirty="0">
                                            <a:solidFill>
                                              <a:srgbClr val="000000"/>
                                            </a:solidFill>
                                            <a:latin typeface="Cambria Math" panose="02040503050406030204" pitchFamily="18" charset="0"/>
                                            <a:ea typeface="Times New Roman"/>
                                            <a:cs typeface="Times New Roman"/>
                                          </a:rPr>
                                        </m:ctrlPr>
                                      </m:dPr>
                                      <m:e>
                                        <m:limLow>
                                          <m:limLowPr>
                                            <m:ctrlPr>
                                              <a:rPr lang="en-US" altLang="en-US" sz="2400" i="0" dirty="0">
                                                <a:solidFill>
                                                  <a:srgbClr val="000000"/>
                                                </a:solidFill>
                                                <a:ea typeface="Times New Roman"/>
                                                <a:cs typeface="Times New Roman"/>
                                              </a:rPr>
                                            </m:ctrlPr>
                                          </m:limLowPr>
                                          <m:e>
                                            <m:r>
                                              <m:rPr>
                                                <m:nor/>
                                              </m:rPr>
                                              <a:rPr lang="en-US" altLang="en-US" sz="2400" i="0" dirty="0">
                                                <a:solidFill>
                                                  <a:srgbClr val="000000"/>
                                                </a:solidFill>
                                                <a:ea typeface="Times New Roman"/>
                                                <a:cs typeface="Times New Roman"/>
                                              </a:rPr>
                                              <m:t>max</m:t>
                                            </m:r>
                                          </m:e>
                                          <m:lim>
                                            <m:r>
                                              <a:rPr lang="en-US" altLang="en-US" sz="2400" dirty="0">
                                                <a:solidFill>
                                                  <a:srgbClr val="000000"/>
                                                </a:solidFill>
                                                <a:latin typeface="Cambria Math" panose="02040503050406030204" pitchFamily="18" charset="0"/>
                                                <a:ea typeface="Times New Roman"/>
                                                <a:cs typeface="Times New Roman"/>
                                              </a:rPr>
                                              <m:t>(</m:t>
                                            </m:r>
                                            <m:r>
                                              <a:rPr lang="en-US" altLang="en-US" sz="2400" i="1" dirty="0">
                                                <a:solidFill>
                                                  <a:srgbClr val="000000"/>
                                                </a:solidFill>
                                                <a:latin typeface="Cambria Math" panose="02040503050406030204" pitchFamily="18" charset="0"/>
                                                <a:ea typeface="Times New Roman"/>
                                                <a:cs typeface="Times New Roman"/>
                                              </a:rPr>
                                              <m:t>𝑠</m:t>
                                            </m:r>
                                            <m:r>
                                              <a:rPr lang="en-US" altLang="en-US" sz="2400" dirty="0">
                                                <a:solidFill>
                                                  <a:srgbClr val="000000"/>
                                                </a:solidFill>
                                                <a:latin typeface="Cambria Math" panose="02040503050406030204" pitchFamily="18" charset="0"/>
                                                <a:ea typeface="Times New Roman"/>
                                                <a:cs typeface="Times New Roman"/>
                                              </a:rPr>
                                              <m:t>,</m:t>
                                            </m:r>
                                            <m:r>
                                              <a:rPr lang="en-US" altLang="en-US" sz="2400" i="1" dirty="0">
                                                <a:solidFill>
                                                  <a:srgbClr val="000000"/>
                                                </a:solidFill>
                                                <a:latin typeface="Cambria Math" panose="02040503050406030204" pitchFamily="18" charset="0"/>
                                                <a:ea typeface="Times New Roman"/>
                                                <a:cs typeface="Times New Roman"/>
                                              </a:rPr>
                                              <m:t>𝑣</m:t>
                                            </m:r>
                                            <m:r>
                                              <a:rPr lang="en-US" altLang="en-US" sz="2400" dirty="0">
                                                <a:solidFill>
                                                  <a:srgbClr val="000000"/>
                                                </a:solidFill>
                                                <a:latin typeface="Cambria Math" panose="02040503050406030204" pitchFamily="18" charset="0"/>
                                                <a:ea typeface="Times New Roman"/>
                                                <a:cs typeface="Times New Roman"/>
                                              </a:rPr>
                                              <m:t>)∈</m:t>
                                            </m:r>
                                            <m:r>
                                              <a:rPr lang="en-US" altLang="en-US" sz="2400" i="1" dirty="0">
                                                <a:solidFill>
                                                  <a:srgbClr val="000000"/>
                                                </a:solidFill>
                                                <a:latin typeface="Cambria Math" panose="02040503050406030204" pitchFamily="18" charset="0"/>
                                                <a:ea typeface="Times New Roman"/>
                                                <a:cs typeface="Times New Roman"/>
                                              </a:rPr>
                                              <m:t>𝒦</m:t>
                                            </m:r>
                                          </m:lim>
                                        </m:limLow>
                                        <m:nary>
                                          <m:naryPr>
                                            <m:chr m:val="∑"/>
                                            <m:limLoc m:val="undOvr"/>
                                            <m:ctrlPr>
                                              <a:rPr lang="en-US" altLang="en-US" sz="2400" i="1" dirty="0">
                                                <a:solidFill>
                                                  <a:srgbClr val="000000"/>
                                                </a:solidFill>
                                                <a:latin typeface="Cambria Math" panose="02040503050406030204" pitchFamily="18" charset="0"/>
                                                <a:ea typeface="Times New Roman"/>
                                                <a:cs typeface="Times New Roman"/>
                                              </a:rPr>
                                            </m:ctrlPr>
                                          </m:naryPr>
                                          <m:sub>
                                            <m:r>
                                              <a:rPr lang="en-US" altLang="en-US" sz="2400" i="1" dirty="0">
                                                <a:solidFill>
                                                  <a:srgbClr val="000000"/>
                                                </a:solidFill>
                                                <a:latin typeface="Cambria Math" panose="02040503050406030204" pitchFamily="18" charset="0"/>
                                                <a:ea typeface="Times New Roman"/>
                                                <a:cs typeface="Times New Roman"/>
                                              </a:rPr>
                                              <m:t>𝑢</m:t>
                                            </m:r>
                                            <m:r>
                                              <a:rPr lang="en-US" altLang="en-US" sz="2400" dirty="0">
                                                <a:solidFill>
                                                  <a:srgbClr val="000000"/>
                                                </a:solidFill>
                                                <a:latin typeface="Cambria Math" panose="02040503050406030204" pitchFamily="18" charset="0"/>
                                                <a:ea typeface="Times New Roman"/>
                                                <a:cs typeface="Times New Roman"/>
                                              </a:rPr>
                                              <m:t>∈</m:t>
                                            </m:r>
                                            <m:r>
                                              <a:rPr lang="en-US" altLang="en-US" sz="2400" i="1" dirty="0">
                                                <a:solidFill>
                                                  <a:srgbClr val="000000"/>
                                                </a:solidFill>
                                                <a:latin typeface="Cambria Math" panose="02040503050406030204" pitchFamily="18" charset="0"/>
                                                <a:ea typeface="Times New Roman"/>
                                                <a:cs typeface="Times New Roman"/>
                                              </a:rPr>
                                              <m:t>𝒰</m:t>
                                            </m:r>
                                          </m:sub>
                                          <m:sup>
                                            <m:r>
                                              <a:rPr lang="en-US" altLang="en-US" sz="2400" i="1" dirty="0">
                                                <a:solidFill>
                                                  <a:srgbClr val="000000"/>
                                                </a:solidFill>
                                                <a:latin typeface="Cambria Math" panose="02040503050406030204" pitchFamily="18" charset="0"/>
                                                <a:ea typeface="Times New Roman"/>
                                                <a:cs typeface="Times New Roman"/>
                                              </a:rPr>
                                              <m:t>​</m:t>
                                            </m:r>
                                          </m:sup>
                                          <m:e>
                                            <m:sSub>
                                              <m:sSubPr>
                                                <m:ctrlPr>
                                                  <a:rPr lang="en-US" altLang="en-US" sz="2400" i="1" dirty="0">
                                                    <a:solidFill>
                                                      <a:srgbClr val="000000"/>
                                                    </a:solidFill>
                                                    <a:latin typeface="Cambria Math" panose="02040503050406030204" pitchFamily="18" charset="0"/>
                                                    <a:ea typeface="Times New Roman"/>
                                                    <a:cs typeface="Times New Roman"/>
                                                  </a:rPr>
                                                </m:ctrlPr>
                                              </m:sSubPr>
                                              <m:e>
                                                <m:r>
                                                  <a:rPr lang="en-US" altLang="en-US" sz="2400" i="1" dirty="0">
                                                    <a:solidFill>
                                                      <a:srgbClr val="000000"/>
                                                    </a:solidFill>
                                                    <a:latin typeface="Cambria Math" panose="02040503050406030204" pitchFamily="18" charset="0"/>
                                                    <a:ea typeface="Times New Roman"/>
                                                    <a:cs typeface="Times New Roman"/>
                                                  </a:rPr>
                                                  <m:t>𝑥</m:t>
                                                </m:r>
                                              </m:e>
                                              <m:sub>
                                                <m:r>
                                                  <a:rPr lang="en-US" altLang="en-US" sz="2400" i="1" dirty="0">
                                                    <a:solidFill>
                                                      <a:srgbClr val="000000"/>
                                                    </a:solidFill>
                                                    <a:latin typeface="Cambria Math" panose="02040503050406030204" pitchFamily="18" charset="0"/>
                                                    <a:ea typeface="Times New Roman"/>
                                                    <a:cs typeface="Times New Roman"/>
                                                  </a:rPr>
                                                  <m:t>𝑢</m:t>
                                                </m:r>
                                                <m:r>
                                                  <a:rPr lang="en-US" altLang="en-US" sz="2400" dirty="0">
                                                    <a:solidFill>
                                                      <a:srgbClr val="000000"/>
                                                    </a:solidFill>
                                                    <a:latin typeface="Cambria Math" panose="02040503050406030204" pitchFamily="18" charset="0"/>
                                                    <a:ea typeface="Times New Roman"/>
                                                    <a:cs typeface="Times New Roman"/>
                                                  </a:rPr>
                                                  <m:t>,</m:t>
                                                </m:r>
                                                <m:r>
                                                  <a:rPr lang="en-US" altLang="en-US" sz="2400" i="1" dirty="0">
                                                    <a:solidFill>
                                                      <a:srgbClr val="000000"/>
                                                    </a:solidFill>
                                                    <a:latin typeface="Cambria Math" panose="02040503050406030204" pitchFamily="18" charset="0"/>
                                                    <a:ea typeface="Times New Roman"/>
                                                    <a:cs typeface="Times New Roman"/>
                                                  </a:rPr>
                                                  <m:t>𝑠</m:t>
                                                </m:r>
                                                <m:r>
                                                  <a:rPr lang="en-US" altLang="en-US" sz="2400" dirty="0">
                                                    <a:solidFill>
                                                      <a:srgbClr val="000000"/>
                                                    </a:solidFill>
                                                    <a:latin typeface="Cambria Math" panose="02040503050406030204" pitchFamily="18" charset="0"/>
                                                    <a:ea typeface="Times New Roman"/>
                                                    <a:cs typeface="Times New Roman"/>
                                                  </a:rPr>
                                                  <m:t>,</m:t>
                                                </m:r>
                                                <m:r>
                                                  <a:rPr lang="en-US" altLang="en-US" sz="2400" i="1" dirty="0">
                                                    <a:solidFill>
                                                      <a:srgbClr val="000000"/>
                                                    </a:solidFill>
                                                    <a:latin typeface="Cambria Math" panose="02040503050406030204" pitchFamily="18" charset="0"/>
                                                    <a:ea typeface="Times New Roman"/>
                                                    <a:cs typeface="Times New Roman"/>
                                                  </a:rPr>
                                                  <m:t>𝑣</m:t>
                                                </m:r>
                                              </m:sub>
                                            </m:sSub>
                                          </m:e>
                                        </m:nary>
                                        <m:r>
                                          <a:rPr lang="en-US" altLang="en-US" sz="2400" dirty="0">
                                            <a:solidFill>
                                              <a:srgbClr val="000000"/>
                                            </a:solidFill>
                                            <a:latin typeface="Cambria Math" panose="02040503050406030204" pitchFamily="18" charset="0"/>
                                            <a:ea typeface="Times New Roman"/>
                                            <a:cs typeface="Times New Roman"/>
                                          </a:rPr>
                                          <m:t>(</m:t>
                                        </m:r>
                                        <m:r>
                                          <a:rPr lang="en-US" altLang="en-US" sz="2400" i="1" dirty="0">
                                            <a:solidFill>
                                              <a:srgbClr val="000000"/>
                                            </a:solidFill>
                                            <a:latin typeface="Cambria Math" panose="02040503050406030204" pitchFamily="18" charset="0"/>
                                            <a:ea typeface="Times New Roman"/>
                                            <a:cs typeface="Times New Roman"/>
                                          </a:rPr>
                                          <m:t>𝑡</m:t>
                                        </m:r>
                                        <m:r>
                                          <a:rPr lang="en-US" altLang="en-US" sz="2400" dirty="0">
                                            <a:solidFill>
                                              <a:srgbClr val="000000"/>
                                            </a:solidFill>
                                            <a:latin typeface="Cambria Math" panose="02040503050406030204" pitchFamily="18" charset="0"/>
                                            <a:ea typeface="Times New Roman"/>
                                            <a:cs typeface="Times New Roman"/>
                                          </a:rPr>
                                          <m:t>)</m:t>
                                        </m:r>
                                        <m:sSub>
                                          <m:sSubPr>
                                            <m:ctrlPr>
                                              <a:rPr lang="en-US" altLang="en-US" sz="2400" i="1" dirty="0">
                                                <a:solidFill>
                                                  <a:srgbClr val="000000"/>
                                                </a:solidFill>
                                                <a:latin typeface="Cambria Math" panose="02040503050406030204" pitchFamily="18" charset="0"/>
                                                <a:ea typeface="Times New Roman"/>
                                                <a:cs typeface="Times New Roman"/>
                                              </a:rPr>
                                            </m:ctrlPr>
                                          </m:sSubPr>
                                          <m:e>
                                            <m:r>
                                              <a:rPr lang="en-US" altLang="en-US" sz="2400" i="1" dirty="0">
                                                <a:solidFill>
                                                  <a:srgbClr val="000000"/>
                                                </a:solidFill>
                                                <a:latin typeface="Cambria Math" panose="02040503050406030204" pitchFamily="18" charset="0"/>
                                                <a:ea typeface="Times New Roman"/>
                                                <a:cs typeface="Times New Roman"/>
                                              </a:rPr>
                                              <m:t>𝑅</m:t>
                                            </m:r>
                                          </m:e>
                                          <m:sub>
                                            <m:r>
                                              <a:rPr lang="en-US" altLang="en-US" sz="2400" i="1" dirty="0">
                                                <a:solidFill>
                                                  <a:srgbClr val="000000"/>
                                                </a:solidFill>
                                                <a:latin typeface="Cambria Math" panose="02040503050406030204" pitchFamily="18" charset="0"/>
                                                <a:ea typeface="Times New Roman"/>
                                                <a:cs typeface="Times New Roman"/>
                                              </a:rPr>
                                              <m:t>𝑢</m:t>
                                            </m:r>
                                            <m:r>
                                              <a:rPr lang="en-US" altLang="en-US" sz="2400" dirty="0">
                                                <a:solidFill>
                                                  <a:srgbClr val="000000"/>
                                                </a:solidFill>
                                                <a:latin typeface="Cambria Math" panose="02040503050406030204" pitchFamily="18" charset="0"/>
                                                <a:ea typeface="Times New Roman"/>
                                                <a:cs typeface="Times New Roman"/>
                                              </a:rPr>
                                              <m:t>,</m:t>
                                            </m:r>
                                            <m:r>
                                              <a:rPr lang="en-US" altLang="en-US" sz="2400" i="1" dirty="0">
                                                <a:solidFill>
                                                  <a:srgbClr val="000000"/>
                                                </a:solidFill>
                                                <a:latin typeface="Cambria Math" panose="02040503050406030204" pitchFamily="18" charset="0"/>
                                                <a:ea typeface="Times New Roman"/>
                                                <a:cs typeface="Times New Roman"/>
                                              </a:rPr>
                                              <m:t>𝑠</m:t>
                                            </m:r>
                                            <m:r>
                                              <a:rPr lang="en-US" altLang="en-US" sz="2400" dirty="0">
                                                <a:solidFill>
                                                  <a:srgbClr val="000000"/>
                                                </a:solidFill>
                                                <a:latin typeface="Cambria Math" panose="02040503050406030204" pitchFamily="18" charset="0"/>
                                                <a:ea typeface="Times New Roman"/>
                                                <a:cs typeface="Times New Roman"/>
                                              </a:rPr>
                                              <m:t>,</m:t>
                                            </m:r>
                                            <m:r>
                                              <a:rPr lang="en-US" altLang="en-US" sz="2400" i="1" dirty="0">
                                                <a:solidFill>
                                                  <a:srgbClr val="000000"/>
                                                </a:solidFill>
                                                <a:latin typeface="Cambria Math" panose="02040503050406030204" pitchFamily="18" charset="0"/>
                                                <a:ea typeface="Times New Roman"/>
                                                <a:cs typeface="Times New Roman"/>
                                              </a:rPr>
                                              <m:t>𝑣</m:t>
                                            </m:r>
                                          </m:sub>
                                        </m:sSub>
                                        <m:r>
                                          <a:rPr lang="en-US" altLang="en-US" sz="2400" dirty="0">
                                            <a:solidFill>
                                              <a:srgbClr val="000000"/>
                                            </a:solidFill>
                                            <a:latin typeface="Cambria Math" panose="02040503050406030204" pitchFamily="18" charset="0"/>
                                            <a:ea typeface="Times New Roman"/>
                                            <a:cs typeface="Times New Roman"/>
                                          </a:rPr>
                                          <m:t>(</m:t>
                                        </m:r>
                                        <m:r>
                                          <a:rPr lang="en-US" altLang="en-US" sz="2400" i="1" dirty="0">
                                            <a:solidFill>
                                              <a:srgbClr val="000000"/>
                                            </a:solidFill>
                                            <a:latin typeface="Cambria Math" panose="02040503050406030204" pitchFamily="18" charset="0"/>
                                            <a:ea typeface="Times New Roman"/>
                                            <a:cs typeface="Times New Roman"/>
                                          </a:rPr>
                                          <m:t>𝑡</m:t>
                                        </m:r>
                                        <m:r>
                                          <a:rPr lang="en-US" altLang="en-US" sz="2400" dirty="0">
                                            <a:solidFill>
                                              <a:srgbClr val="000000"/>
                                            </a:solidFill>
                                            <a:latin typeface="Cambria Math" panose="02040503050406030204" pitchFamily="18" charset="0"/>
                                            <a:ea typeface="Times New Roman"/>
                                            <a:cs typeface="Times New Roman"/>
                                          </a:rPr>
                                          <m:t>)−</m:t>
                                        </m:r>
                                        <m:limLow>
                                          <m:limLowPr>
                                            <m:ctrlPr>
                                              <a:rPr lang="en-US" altLang="en-US" sz="2400" i="0" dirty="0">
                                                <a:solidFill>
                                                  <a:srgbClr val="000000"/>
                                                </a:solidFill>
                                                <a:ea typeface="Times New Roman"/>
                                                <a:cs typeface="Times New Roman"/>
                                              </a:rPr>
                                            </m:ctrlPr>
                                          </m:limLowPr>
                                          <m:e>
                                            <m:r>
                                              <m:rPr>
                                                <m:nor/>
                                              </m:rPr>
                                              <a:rPr lang="en-US" altLang="en-US" sz="2400" i="0" dirty="0">
                                                <a:solidFill>
                                                  <a:srgbClr val="000000"/>
                                                </a:solidFill>
                                                <a:ea typeface="Times New Roman"/>
                                                <a:cs typeface="Times New Roman"/>
                                              </a:rPr>
                                              <m:t>min</m:t>
                                            </m:r>
                                          </m:e>
                                          <m:lim>
                                            <m:r>
                                              <a:rPr lang="en-US" altLang="en-US" sz="2400" dirty="0">
                                                <a:solidFill>
                                                  <a:srgbClr val="000000"/>
                                                </a:solidFill>
                                                <a:latin typeface="Cambria Math" panose="02040503050406030204" pitchFamily="18" charset="0"/>
                                                <a:ea typeface="Times New Roman"/>
                                                <a:cs typeface="Times New Roman"/>
                                              </a:rPr>
                                              <m:t>(</m:t>
                                            </m:r>
                                            <m:r>
                                              <a:rPr lang="en-US" altLang="en-US" sz="2400" i="1" dirty="0">
                                                <a:solidFill>
                                                  <a:srgbClr val="000000"/>
                                                </a:solidFill>
                                                <a:latin typeface="Cambria Math" panose="02040503050406030204" pitchFamily="18" charset="0"/>
                                                <a:ea typeface="Times New Roman"/>
                                                <a:cs typeface="Times New Roman"/>
                                              </a:rPr>
                                              <m:t>𝑠</m:t>
                                            </m:r>
                                            <m:r>
                                              <a:rPr lang="en-US" altLang="en-US" sz="2400" dirty="0">
                                                <a:solidFill>
                                                  <a:srgbClr val="000000"/>
                                                </a:solidFill>
                                                <a:latin typeface="Cambria Math" panose="02040503050406030204" pitchFamily="18" charset="0"/>
                                                <a:ea typeface="Times New Roman"/>
                                                <a:cs typeface="Times New Roman"/>
                                              </a:rPr>
                                              <m:t>,</m:t>
                                            </m:r>
                                            <m:r>
                                              <a:rPr lang="en-US" altLang="en-US" sz="2400" i="1" dirty="0">
                                                <a:solidFill>
                                                  <a:srgbClr val="000000"/>
                                                </a:solidFill>
                                                <a:latin typeface="Cambria Math" panose="02040503050406030204" pitchFamily="18" charset="0"/>
                                                <a:ea typeface="Times New Roman"/>
                                                <a:cs typeface="Times New Roman"/>
                                              </a:rPr>
                                              <m:t>𝑣</m:t>
                                            </m:r>
                                            <m:r>
                                              <a:rPr lang="en-US" altLang="en-US" sz="2400" dirty="0">
                                                <a:solidFill>
                                                  <a:srgbClr val="000000"/>
                                                </a:solidFill>
                                                <a:latin typeface="Cambria Math" panose="02040503050406030204" pitchFamily="18" charset="0"/>
                                                <a:ea typeface="Times New Roman"/>
                                                <a:cs typeface="Times New Roman"/>
                                              </a:rPr>
                                              <m:t>)∈</m:t>
                                            </m:r>
                                            <m:r>
                                              <a:rPr lang="en-US" altLang="en-US" sz="2400" i="1" dirty="0">
                                                <a:solidFill>
                                                  <a:srgbClr val="000000"/>
                                                </a:solidFill>
                                                <a:latin typeface="Cambria Math" panose="02040503050406030204" pitchFamily="18" charset="0"/>
                                                <a:ea typeface="Times New Roman"/>
                                                <a:cs typeface="Times New Roman"/>
                                              </a:rPr>
                                              <m:t>𝒦</m:t>
                                            </m:r>
                                          </m:lim>
                                        </m:limLow>
                                        <m:nary>
                                          <m:naryPr>
                                            <m:chr m:val="∑"/>
                                            <m:limLoc m:val="undOvr"/>
                                            <m:ctrlPr>
                                              <a:rPr lang="en-US" altLang="en-US" sz="2400" i="1" dirty="0">
                                                <a:solidFill>
                                                  <a:srgbClr val="000000"/>
                                                </a:solidFill>
                                                <a:latin typeface="Cambria Math" panose="02040503050406030204" pitchFamily="18" charset="0"/>
                                                <a:ea typeface="Times New Roman"/>
                                                <a:cs typeface="Times New Roman"/>
                                              </a:rPr>
                                            </m:ctrlPr>
                                          </m:naryPr>
                                          <m:sub>
                                            <m:r>
                                              <a:rPr lang="en-US" altLang="en-US" sz="2400" i="1" dirty="0">
                                                <a:solidFill>
                                                  <a:srgbClr val="000000"/>
                                                </a:solidFill>
                                                <a:latin typeface="Cambria Math" panose="02040503050406030204" pitchFamily="18" charset="0"/>
                                                <a:ea typeface="Times New Roman"/>
                                                <a:cs typeface="Times New Roman"/>
                                              </a:rPr>
                                              <m:t>𝑢</m:t>
                                            </m:r>
                                            <m:r>
                                              <a:rPr lang="en-US" altLang="en-US" sz="2400" dirty="0">
                                                <a:solidFill>
                                                  <a:srgbClr val="000000"/>
                                                </a:solidFill>
                                                <a:latin typeface="Cambria Math" panose="02040503050406030204" pitchFamily="18" charset="0"/>
                                                <a:ea typeface="Times New Roman"/>
                                                <a:cs typeface="Times New Roman"/>
                                              </a:rPr>
                                              <m:t>∈</m:t>
                                            </m:r>
                                            <m:r>
                                              <a:rPr lang="en-US" altLang="en-US" sz="2400" i="1" dirty="0">
                                                <a:solidFill>
                                                  <a:srgbClr val="000000"/>
                                                </a:solidFill>
                                                <a:latin typeface="Cambria Math" panose="02040503050406030204" pitchFamily="18" charset="0"/>
                                                <a:ea typeface="Times New Roman"/>
                                                <a:cs typeface="Times New Roman"/>
                                              </a:rPr>
                                              <m:t>𝒰</m:t>
                                            </m:r>
                                          </m:sub>
                                          <m:sup>
                                            <m:r>
                                              <a:rPr lang="en-US" altLang="en-US" sz="2400" i="1" dirty="0">
                                                <a:solidFill>
                                                  <a:srgbClr val="000000"/>
                                                </a:solidFill>
                                                <a:latin typeface="Cambria Math" panose="02040503050406030204" pitchFamily="18" charset="0"/>
                                                <a:ea typeface="Times New Roman"/>
                                                <a:cs typeface="Times New Roman"/>
                                              </a:rPr>
                                              <m:t>​</m:t>
                                            </m:r>
                                          </m:sup>
                                          <m:e>
                                            <m:sSub>
                                              <m:sSubPr>
                                                <m:ctrlPr>
                                                  <a:rPr lang="en-US" altLang="en-US" sz="2400" i="1" dirty="0">
                                                    <a:solidFill>
                                                      <a:srgbClr val="000000"/>
                                                    </a:solidFill>
                                                    <a:latin typeface="Cambria Math" panose="02040503050406030204" pitchFamily="18" charset="0"/>
                                                    <a:ea typeface="Times New Roman"/>
                                                    <a:cs typeface="Times New Roman"/>
                                                  </a:rPr>
                                                </m:ctrlPr>
                                              </m:sSubPr>
                                              <m:e>
                                                <m:r>
                                                  <a:rPr lang="en-US" altLang="en-US" sz="2400" i="1" dirty="0">
                                                    <a:solidFill>
                                                      <a:srgbClr val="000000"/>
                                                    </a:solidFill>
                                                    <a:latin typeface="Cambria Math" panose="02040503050406030204" pitchFamily="18" charset="0"/>
                                                    <a:ea typeface="Times New Roman"/>
                                                    <a:cs typeface="Times New Roman"/>
                                                  </a:rPr>
                                                  <m:t>𝑥</m:t>
                                                </m:r>
                                              </m:e>
                                              <m:sub>
                                                <m:r>
                                                  <a:rPr lang="en-US" altLang="en-US" sz="2400" i="1" dirty="0">
                                                    <a:solidFill>
                                                      <a:srgbClr val="000000"/>
                                                    </a:solidFill>
                                                    <a:latin typeface="Cambria Math" panose="02040503050406030204" pitchFamily="18" charset="0"/>
                                                    <a:ea typeface="Times New Roman"/>
                                                    <a:cs typeface="Times New Roman"/>
                                                  </a:rPr>
                                                  <m:t>𝑢</m:t>
                                                </m:r>
                                                <m:r>
                                                  <a:rPr lang="en-US" altLang="en-US" sz="2400" dirty="0">
                                                    <a:solidFill>
                                                      <a:srgbClr val="000000"/>
                                                    </a:solidFill>
                                                    <a:latin typeface="Cambria Math" panose="02040503050406030204" pitchFamily="18" charset="0"/>
                                                    <a:ea typeface="Times New Roman"/>
                                                    <a:cs typeface="Times New Roman"/>
                                                  </a:rPr>
                                                  <m:t>,</m:t>
                                                </m:r>
                                                <m:r>
                                                  <a:rPr lang="en-US" altLang="en-US" sz="2400" i="1" dirty="0">
                                                    <a:solidFill>
                                                      <a:srgbClr val="000000"/>
                                                    </a:solidFill>
                                                    <a:latin typeface="Cambria Math" panose="02040503050406030204" pitchFamily="18" charset="0"/>
                                                    <a:ea typeface="Times New Roman"/>
                                                    <a:cs typeface="Times New Roman"/>
                                                  </a:rPr>
                                                  <m:t>𝑠</m:t>
                                                </m:r>
                                                <m:r>
                                                  <a:rPr lang="en-US" altLang="en-US" sz="2400" dirty="0">
                                                    <a:solidFill>
                                                      <a:srgbClr val="000000"/>
                                                    </a:solidFill>
                                                    <a:latin typeface="Cambria Math" panose="02040503050406030204" pitchFamily="18" charset="0"/>
                                                    <a:ea typeface="Times New Roman"/>
                                                    <a:cs typeface="Times New Roman"/>
                                                  </a:rPr>
                                                  <m:t>,</m:t>
                                                </m:r>
                                                <m:r>
                                                  <a:rPr lang="en-US" altLang="en-US" sz="2400" i="1" dirty="0">
                                                    <a:solidFill>
                                                      <a:srgbClr val="000000"/>
                                                    </a:solidFill>
                                                    <a:latin typeface="Cambria Math" panose="02040503050406030204" pitchFamily="18" charset="0"/>
                                                    <a:ea typeface="Times New Roman"/>
                                                    <a:cs typeface="Times New Roman"/>
                                                  </a:rPr>
                                                  <m:t>𝑣</m:t>
                                                </m:r>
                                              </m:sub>
                                            </m:sSub>
                                          </m:e>
                                        </m:nary>
                                        <m:r>
                                          <a:rPr lang="en-US" altLang="en-US" sz="2400" dirty="0">
                                            <a:solidFill>
                                              <a:srgbClr val="000000"/>
                                            </a:solidFill>
                                            <a:latin typeface="Cambria Math" panose="02040503050406030204" pitchFamily="18" charset="0"/>
                                            <a:ea typeface="Times New Roman"/>
                                            <a:cs typeface="Times New Roman"/>
                                          </a:rPr>
                                          <m:t>(</m:t>
                                        </m:r>
                                        <m:r>
                                          <a:rPr lang="en-US" altLang="en-US" sz="2400" i="1" dirty="0">
                                            <a:solidFill>
                                              <a:srgbClr val="000000"/>
                                            </a:solidFill>
                                            <a:latin typeface="Cambria Math" panose="02040503050406030204" pitchFamily="18" charset="0"/>
                                            <a:ea typeface="Times New Roman"/>
                                            <a:cs typeface="Times New Roman"/>
                                          </a:rPr>
                                          <m:t>𝑡</m:t>
                                        </m:r>
                                        <m:r>
                                          <a:rPr lang="en-US" altLang="en-US" sz="2400" dirty="0">
                                            <a:solidFill>
                                              <a:srgbClr val="000000"/>
                                            </a:solidFill>
                                            <a:latin typeface="Cambria Math" panose="02040503050406030204" pitchFamily="18" charset="0"/>
                                            <a:ea typeface="Times New Roman"/>
                                            <a:cs typeface="Times New Roman"/>
                                          </a:rPr>
                                          <m:t>)</m:t>
                                        </m:r>
                                        <m:sSub>
                                          <m:sSubPr>
                                            <m:ctrlPr>
                                              <a:rPr lang="en-US" altLang="en-US" sz="2400" i="1" dirty="0">
                                                <a:solidFill>
                                                  <a:srgbClr val="000000"/>
                                                </a:solidFill>
                                                <a:latin typeface="Cambria Math" panose="02040503050406030204" pitchFamily="18" charset="0"/>
                                                <a:ea typeface="Times New Roman"/>
                                                <a:cs typeface="Times New Roman"/>
                                              </a:rPr>
                                            </m:ctrlPr>
                                          </m:sSubPr>
                                          <m:e>
                                            <m:r>
                                              <a:rPr lang="en-US" altLang="en-US" sz="2400" i="1" dirty="0">
                                                <a:solidFill>
                                                  <a:srgbClr val="000000"/>
                                                </a:solidFill>
                                                <a:latin typeface="Cambria Math" panose="02040503050406030204" pitchFamily="18" charset="0"/>
                                                <a:ea typeface="Times New Roman"/>
                                                <a:cs typeface="Times New Roman"/>
                                              </a:rPr>
                                              <m:t>𝑅</m:t>
                                            </m:r>
                                          </m:e>
                                          <m:sub>
                                            <m:r>
                                              <a:rPr lang="en-US" altLang="en-US" sz="2400" i="1" dirty="0">
                                                <a:solidFill>
                                                  <a:srgbClr val="000000"/>
                                                </a:solidFill>
                                                <a:latin typeface="Cambria Math" panose="02040503050406030204" pitchFamily="18" charset="0"/>
                                                <a:ea typeface="Times New Roman"/>
                                                <a:cs typeface="Times New Roman"/>
                                              </a:rPr>
                                              <m:t>𝑢</m:t>
                                            </m:r>
                                            <m:r>
                                              <a:rPr lang="en-US" altLang="en-US" sz="2400" dirty="0">
                                                <a:solidFill>
                                                  <a:srgbClr val="000000"/>
                                                </a:solidFill>
                                                <a:latin typeface="Cambria Math" panose="02040503050406030204" pitchFamily="18" charset="0"/>
                                                <a:ea typeface="Times New Roman"/>
                                                <a:cs typeface="Times New Roman"/>
                                              </a:rPr>
                                              <m:t>,</m:t>
                                            </m:r>
                                            <m:r>
                                              <a:rPr lang="en-US" altLang="en-US" sz="2400" i="1" dirty="0">
                                                <a:solidFill>
                                                  <a:srgbClr val="000000"/>
                                                </a:solidFill>
                                                <a:latin typeface="Cambria Math" panose="02040503050406030204" pitchFamily="18" charset="0"/>
                                                <a:ea typeface="Times New Roman"/>
                                                <a:cs typeface="Times New Roman"/>
                                              </a:rPr>
                                              <m:t>𝑠</m:t>
                                            </m:r>
                                            <m:r>
                                              <a:rPr lang="en-US" altLang="en-US" sz="2400" dirty="0">
                                                <a:solidFill>
                                                  <a:srgbClr val="000000"/>
                                                </a:solidFill>
                                                <a:latin typeface="Cambria Math" panose="02040503050406030204" pitchFamily="18" charset="0"/>
                                                <a:ea typeface="Times New Roman"/>
                                                <a:cs typeface="Times New Roman"/>
                                              </a:rPr>
                                              <m:t>,</m:t>
                                            </m:r>
                                            <m:r>
                                              <a:rPr lang="en-US" altLang="en-US" sz="2400" i="1" dirty="0">
                                                <a:solidFill>
                                                  <a:srgbClr val="000000"/>
                                                </a:solidFill>
                                                <a:latin typeface="Cambria Math" panose="02040503050406030204" pitchFamily="18" charset="0"/>
                                                <a:ea typeface="Times New Roman"/>
                                                <a:cs typeface="Times New Roman"/>
                                              </a:rPr>
                                              <m:t>𝑣</m:t>
                                            </m:r>
                                          </m:sub>
                                        </m:sSub>
                                        <m:r>
                                          <a:rPr lang="en-US" altLang="en-US" sz="2400" dirty="0">
                                            <a:solidFill>
                                              <a:srgbClr val="000000"/>
                                            </a:solidFill>
                                            <a:latin typeface="Cambria Math" panose="02040503050406030204" pitchFamily="18" charset="0"/>
                                            <a:ea typeface="Times New Roman"/>
                                            <a:cs typeface="Times New Roman"/>
                                          </a:rPr>
                                          <m:t>(</m:t>
                                        </m:r>
                                        <m:r>
                                          <a:rPr lang="en-US" altLang="en-US" sz="2400" i="1" dirty="0">
                                            <a:solidFill>
                                              <a:srgbClr val="000000"/>
                                            </a:solidFill>
                                            <a:latin typeface="Cambria Math" panose="02040503050406030204" pitchFamily="18" charset="0"/>
                                            <a:ea typeface="Times New Roman"/>
                                            <a:cs typeface="Times New Roman"/>
                                          </a:rPr>
                                          <m:t>𝑡</m:t>
                                        </m:r>
                                        <m:r>
                                          <a:rPr lang="en-US" altLang="en-US" sz="2400" dirty="0">
                                            <a:solidFill>
                                              <a:srgbClr val="000000"/>
                                            </a:solidFill>
                                            <a:latin typeface="Cambria Math" panose="02040503050406030204" pitchFamily="18" charset="0"/>
                                            <a:ea typeface="Times New Roman"/>
                                            <a:cs typeface="Times New Roman"/>
                                          </a:rPr>
                                          <m:t>)</m:t>
                                        </m:r>
                                      </m:e>
                                    </m:d>
                                  </m:e>
                                </m:nary>
                              </m:e>
                            </m:mr>
                          </m:m>
                        </m:e>
                      </m:d>
                    </m:oMath>
                  </m:oMathPara>
                </a14:m>
                <a:endParaRPr lang="en-US" altLang="en-US" sz="2400" dirty="0">
                  <a:solidFill>
                    <a:srgbClr val="000000"/>
                  </a:solidFill>
                  <a:latin typeface="Times New Roman"/>
                  <a:ea typeface="Times New Roman"/>
                  <a:cs typeface="Times New Roman"/>
                </a:endParaRPr>
              </a:p>
            </p:txBody>
          </p:sp>
        </mc:Choice>
        <mc:Fallback xmlns="">
          <p:sp>
            <p:nvSpPr>
              <p:cNvPr id="9" name="edu:formula-omml" descr="Native Office Math: a20_p123">
                <a:extLst>
                  <a:ext uri="{FF2B5EF4-FFF2-40B4-BE49-F238E27FC236}">
                    <a16:creationId xmlns:a16="http://schemas.microsoft.com/office/drawing/2014/main" id="{62FCFC50-EBF7-F4A1-7F3B-CA6A321669A6}"/>
                  </a:ext>
                </a:extLst>
              </p:cNvPr>
              <p:cNvSpPr txBox="1">
                <a:spLocks noRot="1" noChangeAspect="1" noMove="1" noResize="1" noEditPoints="1" noAdjustHandles="1" noChangeArrowheads="1" noChangeShapeType="1" noTextEdit="1"/>
              </p:cNvSpPr>
              <p:nvPr/>
            </p:nvSpPr>
            <p:spPr>
              <a:xfrm>
                <a:off x="2939996" y="2534811"/>
                <a:ext cx="7349032" cy="2294229"/>
              </a:xfrm>
              <a:prstGeom prst="rect">
                <a:avLst/>
              </a:prstGeom>
              <a:blipFill>
                <a:blip r:embed="rId3"/>
                <a:stretch>
                  <a:fillRect l="-15589" t="-13298" r="-14594" b="-14894"/>
                </a:stretch>
              </a:blipFill>
              <a:effectLst/>
            </p:spPr>
            <p:txBody>
              <a:bodyPr/>
              <a:lstStyle/>
              <a:p>
                <a:r>
                  <a:rPr lang="zh-TW" altLang="en-US">
                    <a:noFill/>
                  </a:rPr>
                  <a:t> </a:t>
                </a:r>
              </a:p>
            </p:txBody>
          </p:sp>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du:title"/>
          <p:cNvSpPr txBox="1"/>
          <p:nvPr/>
        </p:nvSpPr>
        <p:spPr>
          <a:xfrm>
            <a:off x="565190" y="141274"/>
            <a:ext cx="11417289" cy="571500"/>
          </a:xfrm>
          <a:prstGeom prst="rect">
            <a:avLst/>
          </a:prstGeom>
          <a:noFill/>
        </p:spPr>
        <p:txBody>
          <a:bodyPr wrap="square" lIns="0" tIns="0" rIns="0" bIns="0" anchor="b">
            <a:spAutoFit/>
          </a:bodyPr>
          <a:lstStyle/>
          <a:p>
            <a:pPr algn="l"/>
            <a:r>
              <a:rPr lang="en-US" altLang="en-US" sz="2800" b="1" i="0" noProof="1">
                <a:solidFill>
                  <a:srgbClr val="1B365D"/>
                </a:solidFill>
                <a:latin typeface="Times New Roman"/>
                <a:ea typeface="標楷體"/>
                <a:cs typeface="Times New Roman"/>
              </a:rPr>
              <a:t>P1: Expand the Angle-Aware First Reward</a:t>
            </a:r>
          </a:p>
        </p:txBody>
      </p:sp>
      <p:sp>
        <p:nvSpPr>
          <p:cNvPr id="4" name="edu:body"/>
          <p:cNvSpPr txBox="1"/>
          <p:nvPr/>
        </p:nvSpPr>
        <p:spPr>
          <a:xfrm>
            <a:off x="565190" y="896112"/>
            <a:ext cx="11064240" cy="386791"/>
          </a:xfrm>
          <a:prstGeom prst="rect">
            <a:avLst/>
          </a:prstGeom>
          <a:noFill/>
        </p:spPr>
        <p:txBody>
          <a:bodyPr wrap="square" lIns="0" tIns="0" rIns="0" bIns="0" anchor="t">
            <a:spAutoFit/>
          </a:bodyPr>
          <a:lstStyle/>
          <a:p>
            <a:pPr algn="l">
              <a:lnSpc>
                <a:spcPct val="112000"/>
              </a:lnSpc>
              <a:spcAft>
                <a:spcPts val="0"/>
              </a:spcAft>
            </a:pPr>
            <a:r>
              <a:rPr lang="en-US" altLang="en-US" sz="2400" b="0" i="0" noProof="1">
                <a:solidFill>
                  <a:srgbClr val="000000"/>
                </a:solidFill>
                <a:latin typeface="Times New Roman"/>
                <a:ea typeface="標楷體"/>
                <a:cs typeface="Times New Roman"/>
              </a:rPr>
              <a:t>The P1 inner sum first evaluates link energy efficiency, then selects the serving link:</a:t>
            </a:r>
          </a:p>
        </p:txBody>
      </p:sp>
      <mc:AlternateContent xmlns:mc="http://schemas.openxmlformats.org/markup-compatibility/2006" xmlns:a14="http://schemas.microsoft.com/office/drawing/2010/main">
        <mc:Choice Requires="a14">
          <p:sp>
            <p:nvSpPr>
              <p:cNvPr id="5" name="edu:formula-omml" descr="Native Office Math: a15_ee"/>
              <p:cNvSpPr txBox="1"/>
              <p:nvPr/>
            </p:nvSpPr>
            <p:spPr>
              <a:xfrm>
                <a:off x="3400653" y="1447495"/>
                <a:ext cx="5394045" cy="1096365"/>
              </a:xfrm>
              <a:prstGeom prst="rect">
                <a:avLst/>
              </a:prstGeom>
              <a:noFill/>
              <a:effectLst/>
            </p:spPr>
            <p:txBody>
              <a:bodyPr wrap="none" lIns="0" tIns="0" rIns="0" bIns="0" anchor="ctr">
                <a:noAutofit/>
              </a:bodyPr>
              <a:lstStyle/>
              <a:p>
                <a:pPr algn="ctr"/>
                <a14:m>
                  <m:oMathPara xmlns:m="http://schemas.openxmlformats.org/officeDocument/2006/math">
                    <m:oMath>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𝜂</m:t>
                          </m:r>
                        </m:e>
                        <m:sub>
                          <m:r>
                            <a:rPr lang="en-US" altLang="en-US" sz="2400" i="1" dirty="0" smtClean="0">
                              <a:solidFill>
                                <a:srgbClr val="000000"/>
                              </a:solidFill>
                              <a:latin typeface="Cambria Math" panose="02040503050406030204" pitchFamily="18" charset="0"/>
                              <a:ea typeface="Times New Roman"/>
                              <a:cs typeface="Times New Roman"/>
                            </a:rPr>
                            <m:t>𝑢</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Sub>
                      <m:r>
                        <a:rPr lang="en-US" altLang="en-US" sz="2400" i="1" dirty="0" smtClean="0">
                          <a:solidFill>
                            <a:srgbClr val="000000"/>
                          </a:solidFill>
                          <a:latin typeface="Cambria Math" panose="02040503050406030204" pitchFamily="18" charset="0"/>
                          <a:ea typeface="Times New Roman"/>
                          <a:cs typeface="Times New Roman"/>
                        </a:rPr>
                        <m:t>​</m:t>
                      </m:r>
                      <m:d>
                        <m:dPr>
                          <m:ctrlPr>
                            <a:rPr lang="en-US" altLang="en-US" sz="2400" i="1" dirty="0" smtClean="0">
                              <a:solidFill>
                                <a:srgbClr val="000000"/>
                              </a:solidFill>
                              <a:latin typeface="Cambria Math" panose="02040503050406030204" pitchFamily="18" charset="0"/>
                              <a:ea typeface="Times New Roman"/>
                              <a:cs typeface="Times New Roman"/>
                            </a:rPr>
                          </m:ctrlPr>
                        </m:dPr>
                        <m:e>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𝜃</m:t>
                              </m:r>
                            </m:e>
                            <m:sub>
                              <m:r>
                                <a:rPr lang="en-US" altLang="en-US" sz="2400" i="1" dirty="0" smtClean="0">
                                  <a:solidFill>
                                    <a:srgbClr val="000000"/>
                                  </a:solidFill>
                                  <a:latin typeface="Cambria Math" panose="02040503050406030204" pitchFamily="18" charset="0"/>
                                  <a:ea typeface="Times New Roman"/>
                                  <a:cs typeface="Times New Roman"/>
                                </a:rPr>
                                <m:t>𝑢</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Sub>
                          <m:r>
                            <a:rPr lang="en-US" altLang="en-US" sz="2400" i="0" dirty="0" smtClean="0">
                              <a:solidFill>
                                <a:srgbClr val="000000"/>
                              </a:solidFill>
                              <a:latin typeface="Cambria Math" panose="02040503050406030204" pitchFamily="18" charset="0"/>
                              <a:ea typeface="Times New Roman"/>
                              <a:cs typeface="Times New Roman"/>
                            </a:rPr>
                            <m:t>,</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𝜃</m:t>
                              </m:r>
                            </m:e>
                            <m:sub>
                              <m:r>
                                <a:rPr lang="en-US" altLang="en-US" sz="2400" i="0" dirty="0" smtClean="0">
                                  <a:solidFill>
                                    <a:srgbClr val="000000"/>
                                  </a:solidFill>
                                  <a:latin typeface="Cambria Math" panose="02040503050406030204" pitchFamily="18" charset="0"/>
                                  <a:ea typeface="Times New Roman"/>
                                  <a:cs typeface="Times New Roman"/>
                                </a:rPr>
                                <m:t>3</m:t>
                              </m:r>
                              <m:r>
                                <m:rPr>
                                  <m:nor/>
                                </m:rPr>
                                <a:rPr lang="en-US" altLang="en-US" sz="2400" i="0" dirty="0" smtClean="0">
                                  <a:solidFill>
                                    <a:srgbClr val="000000"/>
                                  </a:solidFill>
                                  <a:latin typeface="Times New Roman"/>
                                  <a:ea typeface="Times New Roman"/>
                                  <a:cs typeface="Times New Roman"/>
                                </a:rPr>
                                <m:t>dB</m:t>
                              </m:r>
                            </m:sub>
                          </m:sSub>
                        </m:e>
                      </m:d>
                      <m:r>
                        <a:rPr lang="en-US" altLang="en-US" sz="2400" i="0" dirty="0" smtClean="0">
                          <a:solidFill>
                            <a:srgbClr val="000000"/>
                          </a:solidFill>
                          <a:latin typeface="Cambria Math" panose="02040503050406030204" pitchFamily="18" charset="0"/>
                          <a:ea typeface="Times New Roman"/>
                          <a:cs typeface="Times New Roman"/>
                        </a:rPr>
                        <m:t>=</m:t>
                      </m:r>
                      <m:f>
                        <m:fPr>
                          <m:ctrlPr>
                            <a:rPr lang="en-US" altLang="en-US" sz="2400" i="1" dirty="0" smtClean="0">
                              <a:solidFill>
                                <a:srgbClr val="000000"/>
                              </a:solidFill>
                              <a:latin typeface="Cambria Math" panose="02040503050406030204" pitchFamily="18" charset="0"/>
                              <a:ea typeface="Times New Roman"/>
                              <a:cs typeface="Times New Roman"/>
                            </a:rPr>
                          </m:ctrlPr>
                        </m:fPr>
                        <m:num>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𝑅</m:t>
                              </m:r>
                            </m:e>
                            <m:sub>
                              <m:r>
                                <a:rPr lang="en-US" altLang="en-US" sz="2400" i="1" dirty="0" smtClean="0">
                                  <a:solidFill>
                                    <a:srgbClr val="000000"/>
                                  </a:solidFill>
                                  <a:latin typeface="Cambria Math" panose="02040503050406030204" pitchFamily="18" charset="0"/>
                                  <a:ea typeface="Times New Roman"/>
                                  <a:cs typeface="Times New Roman"/>
                                </a:rPr>
                                <m:t>𝑢</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Sub>
                          <m:r>
                            <a:rPr lang="en-US" altLang="en-US" sz="2400" i="1" dirty="0" smtClean="0">
                              <a:solidFill>
                                <a:srgbClr val="000000"/>
                              </a:solidFill>
                              <a:latin typeface="Cambria Math" panose="02040503050406030204" pitchFamily="18" charset="0"/>
                              <a:ea typeface="Times New Roman"/>
                              <a:cs typeface="Times New Roman"/>
                            </a:rPr>
                            <m:t>​</m:t>
                          </m:r>
                          <m:d>
                            <m:dPr>
                              <m:ctrlPr>
                                <a:rPr lang="en-US" altLang="en-US" sz="2400" i="1" dirty="0" smtClean="0">
                                  <a:solidFill>
                                    <a:srgbClr val="000000"/>
                                  </a:solidFill>
                                  <a:latin typeface="Cambria Math" panose="02040503050406030204" pitchFamily="18" charset="0"/>
                                  <a:ea typeface="Times New Roman"/>
                                  <a:cs typeface="Times New Roman"/>
                                </a:rPr>
                              </m:ctrlPr>
                            </m:dPr>
                            <m:e>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𝜃</m:t>
                                  </m:r>
                                </m:e>
                                <m:sub>
                                  <m:r>
                                    <a:rPr lang="en-US" altLang="en-US" sz="2400" i="1" dirty="0" smtClean="0">
                                      <a:solidFill>
                                        <a:srgbClr val="000000"/>
                                      </a:solidFill>
                                      <a:latin typeface="Cambria Math" panose="02040503050406030204" pitchFamily="18" charset="0"/>
                                      <a:ea typeface="Times New Roman"/>
                                      <a:cs typeface="Times New Roman"/>
                                    </a:rPr>
                                    <m:t>𝑢</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Sub>
                              <m:r>
                                <a:rPr lang="en-US" altLang="en-US" sz="2400" i="0" dirty="0" smtClean="0">
                                  <a:solidFill>
                                    <a:srgbClr val="000000"/>
                                  </a:solidFill>
                                  <a:latin typeface="Cambria Math" panose="02040503050406030204" pitchFamily="18" charset="0"/>
                                  <a:ea typeface="Times New Roman"/>
                                  <a:cs typeface="Times New Roman"/>
                                </a:rPr>
                                <m:t>,</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𝜃</m:t>
                                  </m:r>
                                </m:e>
                                <m:sub>
                                  <m:r>
                                    <a:rPr lang="en-US" altLang="en-US" sz="2400" i="0" dirty="0" smtClean="0">
                                      <a:solidFill>
                                        <a:srgbClr val="000000"/>
                                      </a:solidFill>
                                      <a:latin typeface="Cambria Math" panose="02040503050406030204" pitchFamily="18" charset="0"/>
                                      <a:ea typeface="Times New Roman"/>
                                      <a:cs typeface="Times New Roman"/>
                                    </a:rPr>
                                    <m:t>3</m:t>
                                  </m:r>
                                  <m:r>
                                    <m:rPr>
                                      <m:nor/>
                                    </m:rPr>
                                    <a:rPr lang="en-US" altLang="en-US" sz="2400" i="0" dirty="0" smtClean="0">
                                      <a:solidFill>
                                        <a:srgbClr val="000000"/>
                                      </a:solidFill>
                                      <a:latin typeface="Times New Roman"/>
                                      <a:ea typeface="Times New Roman"/>
                                      <a:cs typeface="Times New Roman"/>
                                    </a:rPr>
                                    <m:t>dB</m:t>
                                  </m:r>
                                </m:sub>
                              </m:sSub>
                            </m:e>
                          </m:d>
                        </m:num>
                        <m:den>
                          <m:sSup>
                            <m:sSupPr>
                              <m:ctrlPr>
                                <a:rPr lang="en-US" altLang="en-US" sz="2400" i="1" dirty="0" smtClean="0">
                                  <a:solidFill>
                                    <a:srgbClr val="000000"/>
                                  </a:solidFill>
                                  <a:latin typeface="Cambria Math" panose="02040503050406030204" pitchFamily="18" charset="0"/>
                                  <a:ea typeface="Times New Roman"/>
                                  <a:cs typeface="Times New Roman"/>
                                </a:rPr>
                              </m:ctrlPr>
                            </m:sSupPr>
                            <m:e>
                              <m:r>
                                <a:rPr lang="en-US" altLang="en-US" sz="2400" i="1" dirty="0" smtClean="0">
                                  <a:solidFill>
                                    <a:srgbClr val="000000"/>
                                  </a:solidFill>
                                  <a:latin typeface="Cambria Math" panose="02040503050406030204" pitchFamily="18" charset="0"/>
                                  <a:ea typeface="Times New Roman"/>
                                  <a:cs typeface="Times New Roman"/>
                                </a:rPr>
                                <m:t>𝑃</m:t>
                              </m:r>
                            </m:e>
                            <m:sup>
                              <m:r>
                                <a:rPr lang="en-US" altLang="en-US" sz="2400" i="1" dirty="0" smtClean="0">
                                  <a:solidFill>
                                    <a:srgbClr val="000000"/>
                                  </a:solidFill>
                                  <a:latin typeface="Cambria Math" panose="02040503050406030204" pitchFamily="18" charset="0"/>
                                  <a:ea typeface="Times New Roman"/>
                                  <a:cs typeface="Times New Roman"/>
                                </a:rPr>
                                <m:t>𝑁</m:t>
                              </m:r>
                            </m:sup>
                          </m:sSup>
                          <m:r>
                            <a:rPr lang="en-US" altLang="en-US" sz="2400" i="1" dirty="0" smtClean="0">
                              <a:solidFill>
                                <a:srgbClr val="000000"/>
                              </a:solidFill>
                              <a:latin typeface="Cambria Math" panose="02040503050406030204" pitchFamily="18" charset="0"/>
                              <a:ea typeface="Times New Roman"/>
                              <a:cs typeface="Times New Roman"/>
                            </a:rPr>
                            <m:t>​</m:t>
                          </m:r>
                          <m:d>
                            <m:dPr>
                              <m:ctrlPr>
                                <a:rPr lang="en-US" altLang="en-US" sz="2400" i="1" dirty="0" smtClean="0">
                                  <a:solidFill>
                                    <a:srgbClr val="000000"/>
                                  </a:solidFill>
                                  <a:latin typeface="Cambria Math" panose="02040503050406030204" pitchFamily="18" charset="0"/>
                                  <a:ea typeface="Times New Roman"/>
                                  <a:cs typeface="Times New Roman"/>
                                </a:rPr>
                              </m:ctrlPr>
                            </m:dPr>
                            <m:e>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sSub>
                                <m:sSubPr>
                                  <m:ctrlPr>
                                    <a:rPr lang="en-US" altLang="en-US" sz="2400" i="1" dirty="0">
                                      <a:solidFill>
                                        <a:srgbClr val="000000"/>
                                      </a:solidFill>
                                      <a:latin typeface="Cambria Math" panose="02040503050406030204" pitchFamily="18" charset="0"/>
                                      <a:ea typeface="Times New Roman"/>
                                      <a:cs typeface="Times New Roman"/>
                                    </a:rPr>
                                  </m:ctrlPr>
                                </m:sSubPr>
                                <m:e>
                                  <m:r>
                                    <a:rPr lang="en-US" altLang="en-US" sz="2400" i="1" dirty="0">
                                      <a:solidFill>
                                        <a:srgbClr val="000000"/>
                                      </a:solidFill>
                                      <a:latin typeface="Cambria Math" panose="02040503050406030204" pitchFamily="18" charset="0"/>
                                      <a:ea typeface="Times New Roman"/>
                                      <a:cs typeface="Times New Roman"/>
                                    </a:rPr>
                                    <m:t>𝜃</m:t>
                                  </m:r>
                                </m:e>
                                <m:sub>
                                  <m:r>
                                    <a:rPr lang="en-US" altLang="en-US" sz="2400" i="1" dirty="0">
                                      <a:solidFill>
                                        <a:srgbClr val="000000"/>
                                      </a:solidFill>
                                      <a:latin typeface="Cambria Math" panose="02040503050406030204" pitchFamily="18" charset="0"/>
                                      <a:ea typeface="Times New Roman"/>
                                      <a:cs typeface="Times New Roman"/>
                                    </a:rPr>
                                    <m:t>𝑢</m:t>
                                  </m:r>
                                  <m:r>
                                    <a:rPr lang="en-US" altLang="en-US" sz="2400" dirty="0">
                                      <a:solidFill>
                                        <a:srgbClr val="000000"/>
                                      </a:solidFill>
                                      <a:latin typeface="Cambria Math" panose="02040503050406030204" pitchFamily="18" charset="0"/>
                                      <a:ea typeface="Times New Roman"/>
                                      <a:cs typeface="Times New Roman"/>
                                    </a:rPr>
                                    <m:t>,</m:t>
                                  </m:r>
                                  <m:r>
                                    <a:rPr lang="en-US" altLang="en-US" sz="2400" i="1" dirty="0">
                                      <a:solidFill>
                                        <a:srgbClr val="000000"/>
                                      </a:solidFill>
                                      <a:latin typeface="Cambria Math" panose="02040503050406030204" pitchFamily="18" charset="0"/>
                                      <a:ea typeface="Times New Roman"/>
                                      <a:cs typeface="Times New Roman"/>
                                    </a:rPr>
                                    <m:t>𝑠</m:t>
                                  </m:r>
                                  <m:r>
                                    <a:rPr lang="en-US" altLang="en-US" sz="2400" dirty="0">
                                      <a:solidFill>
                                        <a:srgbClr val="000000"/>
                                      </a:solidFill>
                                      <a:latin typeface="Cambria Math" panose="02040503050406030204" pitchFamily="18" charset="0"/>
                                      <a:ea typeface="Times New Roman"/>
                                      <a:cs typeface="Times New Roman"/>
                                    </a:rPr>
                                    <m:t>,</m:t>
                                  </m:r>
                                  <m:r>
                                    <a:rPr lang="en-US" altLang="en-US" sz="2400" i="1" dirty="0">
                                      <a:solidFill>
                                        <a:srgbClr val="000000"/>
                                      </a:solidFill>
                                      <a:latin typeface="Cambria Math" panose="02040503050406030204" pitchFamily="18" charset="0"/>
                                      <a:ea typeface="Times New Roman"/>
                                      <a:cs typeface="Times New Roman"/>
                                    </a:rPr>
                                    <m:t>𝑣</m:t>
                                  </m:r>
                                </m:sub>
                              </m:sSub>
                              <m:r>
                                <a:rPr lang="en-US" altLang="en-US" sz="2400" i="0" dirty="0" smtClean="0">
                                  <a:solidFill>
                                    <a:srgbClr val="000000"/>
                                  </a:solidFill>
                                  <a:latin typeface="Cambria Math" panose="02040503050406030204" pitchFamily="18" charset="0"/>
                                  <a:ea typeface="Times New Roman"/>
                                  <a:cs typeface="Times New Roman"/>
                                </a:rPr>
                                <m:t>,</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𝜃</m:t>
                                  </m:r>
                                </m:e>
                                <m:sub>
                                  <m:r>
                                    <a:rPr lang="en-US" altLang="en-US" sz="2400" i="0" dirty="0" smtClean="0">
                                      <a:solidFill>
                                        <a:srgbClr val="000000"/>
                                      </a:solidFill>
                                      <a:latin typeface="Cambria Math" panose="02040503050406030204" pitchFamily="18" charset="0"/>
                                      <a:ea typeface="Times New Roman"/>
                                      <a:cs typeface="Times New Roman"/>
                                    </a:rPr>
                                    <m:t>3</m:t>
                                  </m:r>
                                  <m:r>
                                    <m:rPr>
                                      <m:nor/>
                                    </m:rPr>
                                    <a:rPr lang="en-US" altLang="en-US" sz="2400" i="0" dirty="0" smtClean="0">
                                      <a:solidFill>
                                        <a:srgbClr val="000000"/>
                                      </a:solidFill>
                                      <a:latin typeface="Times New Roman"/>
                                      <a:ea typeface="Times New Roman"/>
                                      <a:cs typeface="Times New Roman"/>
                                    </a:rPr>
                                    <m:t>dB</m:t>
                                  </m:r>
                                </m:sub>
                              </m:sSub>
                            </m:e>
                          </m:d>
                        </m:den>
                      </m:f>
                    </m:oMath>
                  </m:oMathPara>
                </a14:m>
                <a:endParaRPr lang="en-US" altLang="en-US" sz="2400" dirty="0">
                  <a:solidFill>
                    <a:srgbClr val="000000"/>
                  </a:solidFill>
                  <a:latin typeface="Times New Roman"/>
                  <a:ea typeface="Times New Roman"/>
                  <a:cs typeface="Times New Roman"/>
                </a:endParaRPr>
              </a:p>
            </p:txBody>
          </p:sp>
        </mc:Choice>
        <mc:Fallback xmlns="">
          <p:sp>
            <p:nvSpPr>
              <p:cNvPr id="5" name="edu:formula-omml" descr="Native Office Math: a15_ee"/>
              <p:cNvSpPr txBox="1">
                <a:spLocks noRot="1" noChangeAspect="1" noMove="1" noResize="1" noEditPoints="1" noAdjustHandles="1" noChangeArrowheads="1" noChangeShapeType="1" noTextEdit="1"/>
              </p:cNvSpPr>
              <p:nvPr/>
            </p:nvSpPr>
            <p:spPr>
              <a:xfrm>
                <a:off x="3400653" y="1447495"/>
                <a:ext cx="5394045" cy="1096365"/>
              </a:xfrm>
              <a:prstGeom prst="rect">
                <a:avLst/>
              </a:prstGeom>
              <a:blipFill>
                <a:blip r:embed="rId3"/>
                <a:stretch>
                  <a:fillRect l="-2938" r="-1582"/>
                </a:stretch>
              </a:blipFill>
              <a:effectLst/>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edu:formula-omml" descr="Native Office Math: a15_r1"/>
              <p:cNvSpPr txBox="1"/>
              <p:nvPr/>
            </p:nvSpPr>
            <p:spPr>
              <a:xfrm>
                <a:off x="2739542" y="2708452"/>
                <a:ext cx="6716268" cy="862279"/>
              </a:xfrm>
              <a:prstGeom prst="rect">
                <a:avLst/>
              </a:prstGeom>
              <a:noFill/>
              <a:effectLst/>
            </p:spPr>
            <p:txBody>
              <a:bodyPr wrap="none" lIns="0" tIns="0" rIns="0" bIns="0" anchor="ctr">
                <a:noAutofit/>
              </a:bodyPr>
              <a:lstStyle/>
              <a:p>
                <a:pPr algn="ctr"/>
                <a14:m>
                  <m:oMathPara xmlns:m="http://schemas.openxmlformats.org/officeDocument/2006/math">
                    <m:oMath>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𝑟</m:t>
                          </m:r>
                        </m:e>
                        <m:sub>
                          <m:r>
                            <a:rPr lang="en-US" altLang="en-US" sz="2400" i="0" dirty="0" smtClean="0">
                              <a:solidFill>
                                <a:srgbClr val="000000"/>
                              </a:solidFill>
                              <a:latin typeface="Cambria Math" panose="02040503050406030204" pitchFamily="18" charset="0"/>
                              <a:ea typeface="Times New Roman"/>
                              <a:cs typeface="Times New Roman"/>
                            </a:rPr>
                            <m:t>1,</m:t>
                          </m:r>
                          <m:r>
                            <a:rPr lang="en-US" altLang="en-US" sz="2400" i="1" dirty="0" smtClean="0">
                              <a:solidFill>
                                <a:srgbClr val="000000"/>
                              </a:solidFill>
                              <a:latin typeface="Cambria Math" panose="02040503050406030204" pitchFamily="18" charset="0"/>
                              <a:ea typeface="Times New Roman"/>
                              <a:cs typeface="Times New Roman"/>
                            </a:rPr>
                            <m:t>𝑢</m:t>
                          </m:r>
                        </m:sub>
                      </m:sSub>
                      <m:r>
                        <a:rPr lang="en-US" altLang="en-US" sz="2400" i="1" dirty="0" smtClean="0">
                          <a:solidFill>
                            <a:srgbClr val="000000"/>
                          </a:solidFill>
                          <a:latin typeface="Cambria Math" panose="02040503050406030204" pitchFamily="18" charset="0"/>
                          <a:ea typeface="Times New Roman"/>
                          <a:cs typeface="Times New Roman"/>
                        </a:rPr>
                        <m:t>​</m:t>
                      </m:r>
                      <m:d>
                        <m:dPr>
                          <m:ctrlPr>
                            <a:rPr lang="en-US" altLang="en-US" sz="2400" i="1" dirty="0" smtClean="0">
                              <a:solidFill>
                                <a:srgbClr val="000000"/>
                              </a:solidFill>
                              <a:latin typeface="Cambria Math" panose="02040503050406030204" pitchFamily="18" charset="0"/>
                              <a:ea typeface="Times New Roman"/>
                              <a:cs typeface="Times New Roman"/>
                            </a:rPr>
                          </m:ctrlPr>
                        </m:dPr>
                        <m:e>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sSub>
                            <m:sSubPr>
                              <m:ctrlPr>
                                <a:rPr lang="en-US" altLang="en-US" sz="2400" i="1" dirty="0">
                                  <a:solidFill>
                                    <a:srgbClr val="000000"/>
                                  </a:solidFill>
                                  <a:latin typeface="Cambria Math" panose="02040503050406030204" pitchFamily="18" charset="0"/>
                                  <a:ea typeface="Times New Roman"/>
                                  <a:cs typeface="Times New Roman"/>
                                </a:rPr>
                              </m:ctrlPr>
                            </m:sSubPr>
                            <m:e>
                              <m:r>
                                <a:rPr lang="en-US" altLang="en-US" sz="2400" i="1" dirty="0">
                                  <a:solidFill>
                                    <a:srgbClr val="000000"/>
                                  </a:solidFill>
                                  <a:latin typeface="Cambria Math" panose="02040503050406030204" pitchFamily="18" charset="0"/>
                                  <a:ea typeface="Times New Roman"/>
                                  <a:cs typeface="Times New Roman"/>
                                </a:rPr>
                                <m:t>𝜃</m:t>
                              </m:r>
                            </m:e>
                            <m:sub>
                              <m:r>
                                <a:rPr lang="en-US" altLang="en-US" sz="2400" i="1" dirty="0">
                                  <a:solidFill>
                                    <a:srgbClr val="000000"/>
                                  </a:solidFill>
                                  <a:latin typeface="Cambria Math" panose="02040503050406030204" pitchFamily="18" charset="0"/>
                                  <a:ea typeface="Times New Roman"/>
                                  <a:cs typeface="Times New Roman"/>
                                </a:rPr>
                                <m:t>𝑢</m:t>
                              </m:r>
                              <m:r>
                                <a:rPr lang="en-US" altLang="en-US" sz="2400" dirty="0">
                                  <a:solidFill>
                                    <a:srgbClr val="000000"/>
                                  </a:solidFill>
                                  <a:latin typeface="Cambria Math" panose="02040503050406030204" pitchFamily="18" charset="0"/>
                                  <a:ea typeface="Times New Roman"/>
                                  <a:cs typeface="Times New Roman"/>
                                </a:rPr>
                                <m:t>,</m:t>
                              </m:r>
                              <m:r>
                                <a:rPr lang="en-US" altLang="en-US" sz="2400" i="1" dirty="0">
                                  <a:solidFill>
                                    <a:srgbClr val="000000"/>
                                  </a:solidFill>
                                  <a:latin typeface="Cambria Math" panose="02040503050406030204" pitchFamily="18" charset="0"/>
                                  <a:ea typeface="Times New Roman"/>
                                  <a:cs typeface="Times New Roman"/>
                                </a:rPr>
                                <m:t>𝑠</m:t>
                              </m:r>
                              <m:r>
                                <a:rPr lang="en-US" altLang="en-US" sz="2400" dirty="0">
                                  <a:solidFill>
                                    <a:srgbClr val="000000"/>
                                  </a:solidFill>
                                  <a:latin typeface="Cambria Math" panose="02040503050406030204" pitchFamily="18" charset="0"/>
                                  <a:ea typeface="Times New Roman"/>
                                  <a:cs typeface="Times New Roman"/>
                                </a:rPr>
                                <m:t>,</m:t>
                              </m:r>
                              <m:r>
                                <a:rPr lang="en-US" altLang="en-US" sz="2400" i="1" dirty="0">
                                  <a:solidFill>
                                    <a:srgbClr val="000000"/>
                                  </a:solidFill>
                                  <a:latin typeface="Cambria Math" panose="02040503050406030204" pitchFamily="18" charset="0"/>
                                  <a:ea typeface="Times New Roman"/>
                                  <a:cs typeface="Times New Roman"/>
                                </a:rPr>
                                <m:t>𝑣</m:t>
                              </m:r>
                            </m:sub>
                          </m:sSub>
                          <m:r>
                            <a:rPr lang="en-US" altLang="en-US" sz="2400" i="0" dirty="0" smtClean="0">
                              <a:solidFill>
                                <a:srgbClr val="000000"/>
                              </a:solidFill>
                              <a:latin typeface="Cambria Math" panose="02040503050406030204" pitchFamily="18" charset="0"/>
                              <a:ea typeface="Times New Roman"/>
                              <a:cs typeface="Times New Roman"/>
                            </a:rPr>
                            <m:t>,</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𝜃</m:t>
                              </m:r>
                            </m:e>
                            <m:sub>
                              <m:r>
                                <a:rPr lang="en-US" altLang="en-US" sz="2400" i="0" dirty="0" smtClean="0">
                                  <a:solidFill>
                                    <a:srgbClr val="000000"/>
                                  </a:solidFill>
                                  <a:latin typeface="Cambria Math" panose="02040503050406030204" pitchFamily="18" charset="0"/>
                                  <a:ea typeface="Times New Roman"/>
                                  <a:cs typeface="Times New Roman"/>
                                </a:rPr>
                                <m:t>3</m:t>
                              </m:r>
                              <m:r>
                                <m:rPr>
                                  <m:nor/>
                                </m:rPr>
                                <a:rPr lang="en-US" altLang="en-US" sz="2400" i="0" dirty="0" smtClean="0">
                                  <a:solidFill>
                                    <a:srgbClr val="000000"/>
                                  </a:solidFill>
                                  <a:latin typeface="Times New Roman"/>
                                  <a:ea typeface="Times New Roman"/>
                                  <a:cs typeface="Times New Roman"/>
                                </a:rPr>
                                <m:t>dB</m:t>
                              </m:r>
                            </m:sub>
                          </m:sSub>
                        </m:e>
                      </m:d>
                      <m:r>
                        <a:rPr lang="en-US" altLang="en-US" sz="2400" i="0" dirty="0" smtClean="0">
                          <a:solidFill>
                            <a:srgbClr val="000000"/>
                          </a:solidFill>
                          <a:latin typeface="Cambria Math" panose="02040503050406030204" pitchFamily="18" charset="0"/>
                          <a:ea typeface="Times New Roman"/>
                          <a:cs typeface="Times New Roman"/>
                        </a:rPr>
                        <m:t>=</m:t>
                      </m:r>
                      <m:nary>
                        <m:naryPr>
                          <m:chr m:val="∑"/>
                          <m:limLoc m:val="undOvr"/>
                          <m:ctrlPr>
                            <a:rPr lang="en-US" altLang="en-US" sz="2400" i="1" dirty="0" smtClean="0">
                              <a:solidFill>
                                <a:srgbClr val="000000"/>
                              </a:solidFill>
                              <a:latin typeface="Cambria Math" panose="02040503050406030204" pitchFamily="18" charset="0"/>
                              <a:ea typeface="Times New Roman"/>
                              <a:cs typeface="Times New Roman"/>
                            </a:rPr>
                          </m:ctrlPr>
                        </m:naryPr>
                        <m:sub>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𝒮</m:t>
                          </m:r>
                        </m:sub>
                        <m:sup>
                          <m:r>
                            <a:rPr lang="en-US" altLang="en-US" sz="2400" i="1" dirty="0" smtClean="0">
                              <a:solidFill>
                                <a:srgbClr val="000000"/>
                              </a:solidFill>
                              <a:latin typeface="Cambria Math" panose="02040503050406030204" pitchFamily="18" charset="0"/>
                              <a:ea typeface="Times New Roman"/>
                              <a:cs typeface="Times New Roman"/>
                            </a:rPr>
                            <m:t>​</m:t>
                          </m:r>
                        </m:sup>
                        <m:e>
                          <m:nary>
                            <m:naryPr>
                              <m:chr m:val="∑"/>
                              <m:limLoc m:val="undOvr"/>
                              <m:ctrlPr>
                                <a:rPr lang="en-US" altLang="en-US" sz="2400" i="1" dirty="0" smtClean="0">
                                  <a:solidFill>
                                    <a:srgbClr val="000000"/>
                                  </a:solidFill>
                                  <a:latin typeface="Cambria Math" panose="02040503050406030204" pitchFamily="18" charset="0"/>
                                  <a:ea typeface="Times New Roman"/>
                                  <a:cs typeface="Times New Roman"/>
                                </a:rPr>
                              </m:ctrlPr>
                            </m:naryPr>
                            <m:sub>
                              <m:r>
                                <a:rPr lang="en-US" altLang="en-US" sz="2400" i="1" dirty="0" smtClean="0">
                                  <a:solidFill>
                                    <a:srgbClr val="000000"/>
                                  </a:solidFill>
                                  <a:latin typeface="Cambria Math" panose="02040503050406030204" pitchFamily="18" charset="0"/>
                                  <a:ea typeface="Times New Roman"/>
                                  <a:cs typeface="Times New Roman"/>
                                </a:rPr>
                                <m:t>𝑣</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𝒱</m:t>
                              </m:r>
                            </m:sub>
                            <m:sup>
                              <m:r>
                                <a:rPr lang="en-US" altLang="en-US" sz="2400" i="1" dirty="0" smtClean="0">
                                  <a:solidFill>
                                    <a:srgbClr val="000000"/>
                                  </a:solidFill>
                                  <a:latin typeface="Cambria Math" panose="02040503050406030204" pitchFamily="18" charset="0"/>
                                  <a:ea typeface="Times New Roman"/>
                                  <a:cs typeface="Times New Roman"/>
                                </a:rPr>
                                <m:t>​</m:t>
                              </m:r>
                            </m:sup>
                            <m:e>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𝑥</m:t>
                                  </m:r>
                                </m:e>
                                <m:sub>
                                  <m:r>
                                    <a:rPr lang="en-US" altLang="en-US" sz="2400" i="1" dirty="0" smtClean="0">
                                      <a:solidFill>
                                        <a:srgbClr val="000000"/>
                                      </a:solidFill>
                                      <a:latin typeface="Cambria Math" panose="02040503050406030204" pitchFamily="18" charset="0"/>
                                      <a:ea typeface="Times New Roman"/>
                                      <a:cs typeface="Times New Roman"/>
                                    </a:rPr>
                                    <m:t>𝑢</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Sub>
                            </m:e>
                          </m:nary>
                        </m:e>
                      </m:nary>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 </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𝜂</m:t>
                          </m:r>
                        </m:e>
                        <m:sub>
                          <m:r>
                            <a:rPr lang="en-US" altLang="en-US" sz="2400" i="1" dirty="0" smtClean="0">
                              <a:solidFill>
                                <a:srgbClr val="000000"/>
                              </a:solidFill>
                              <a:latin typeface="Cambria Math" panose="02040503050406030204" pitchFamily="18" charset="0"/>
                              <a:ea typeface="Times New Roman"/>
                              <a:cs typeface="Times New Roman"/>
                            </a:rPr>
                            <m:t>𝑢</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Sub>
                      <m:r>
                        <a:rPr lang="en-US" altLang="en-US" sz="2400" i="1" dirty="0" smtClean="0">
                          <a:solidFill>
                            <a:srgbClr val="000000"/>
                          </a:solidFill>
                          <a:latin typeface="Cambria Math" panose="02040503050406030204" pitchFamily="18" charset="0"/>
                          <a:ea typeface="Times New Roman"/>
                          <a:cs typeface="Times New Roman"/>
                        </a:rPr>
                        <m:t>​</m:t>
                      </m:r>
                      <m:d>
                        <m:dPr>
                          <m:ctrlPr>
                            <a:rPr lang="en-US" altLang="en-US" sz="2400" i="1" dirty="0" smtClean="0">
                              <a:solidFill>
                                <a:srgbClr val="000000"/>
                              </a:solidFill>
                              <a:latin typeface="Cambria Math" panose="02040503050406030204" pitchFamily="18" charset="0"/>
                              <a:ea typeface="Times New Roman"/>
                              <a:cs typeface="Times New Roman"/>
                            </a:rPr>
                          </m:ctrlPr>
                        </m:dPr>
                        <m:e>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𝜃</m:t>
                              </m:r>
                            </m:e>
                            <m:sub>
                              <m:r>
                                <a:rPr lang="en-US" altLang="en-US" sz="2400" i="1" dirty="0" smtClean="0">
                                  <a:solidFill>
                                    <a:srgbClr val="000000"/>
                                  </a:solidFill>
                                  <a:latin typeface="Cambria Math" panose="02040503050406030204" pitchFamily="18" charset="0"/>
                                  <a:ea typeface="Times New Roman"/>
                                  <a:cs typeface="Times New Roman"/>
                                </a:rPr>
                                <m:t>𝑢</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Sub>
                          <m:r>
                            <a:rPr lang="en-US" altLang="en-US" sz="2400" i="0" dirty="0" smtClean="0">
                              <a:solidFill>
                                <a:srgbClr val="000000"/>
                              </a:solidFill>
                              <a:latin typeface="Cambria Math" panose="02040503050406030204" pitchFamily="18" charset="0"/>
                              <a:ea typeface="Times New Roman"/>
                              <a:cs typeface="Times New Roman"/>
                            </a:rPr>
                            <m:t>,</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𝜃</m:t>
                              </m:r>
                            </m:e>
                            <m:sub>
                              <m:r>
                                <a:rPr lang="en-US" altLang="en-US" sz="2400" i="0" dirty="0" smtClean="0">
                                  <a:solidFill>
                                    <a:srgbClr val="000000"/>
                                  </a:solidFill>
                                  <a:latin typeface="Cambria Math" panose="02040503050406030204" pitchFamily="18" charset="0"/>
                                  <a:ea typeface="Times New Roman"/>
                                  <a:cs typeface="Times New Roman"/>
                                </a:rPr>
                                <m:t>3</m:t>
                              </m:r>
                              <m:r>
                                <m:rPr>
                                  <m:nor/>
                                </m:rPr>
                                <a:rPr lang="en-US" altLang="en-US" sz="2400" i="0" dirty="0" smtClean="0">
                                  <a:solidFill>
                                    <a:srgbClr val="000000"/>
                                  </a:solidFill>
                                  <a:latin typeface="Times New Roman"/>
                                  <a:ea typeface="Times New Roman"/>
                                  <a:cs typeface="Times New Roman"/>
                                </a:rPr>
                                <m:t>dB</m:t>
                              </m:r>
                            </m:sub>
                          </m:sSub>
                        </m:e>
                      </m:d>
                    </m:oMath>
                  </m:oMathPara>
                </a14:m>
                <a:endParaRPr lang="en-US" altLang="en-US" sz="2400" dirty="0">
                  <a:solidFill>
                    <a:srgbClr val="000000"/>
                  </a:solidFill>
                  <a:latin typeface="Times New Roman"/>
                  <a:ea typeface="Times New Roman"/>
                  <a:cs typeface="Times New Roman"/>
                </a:endParaRPr>
              </a:p>
            </p:txBody>
          </p:sp>
        </mc:Choice>
        <mc:Fallback xmlns="">
          <p:sp>
            <p:nvSpPr>
              <p:cNvPr id="6" name="edu:formula-omml" descr="Native Office Math: a15_r1"/>
              <p:cNvSpPr txBox="1">
                <a:spLocks noRot="1" noChangeAspect="1" noMove="1" noResize="1" noEditPoints="1" noAdjustHandles="1" noChangeArrowheads="1" noChangeShapeType="1" noTextEdit="1"/>
              </p:cNvSpPr>
              <p:nvPr/>
            </p:nvSpPr>
            <p:spPr>
              <a:xfrm>
                <a:off x="2739542" y="2708452"/>
                <a:ext cx="6716268" cy="862279"/>
              </a:xfrm>
              <a:prstGeom prst="rect">
                <a:avLst/>
              </a:prstGeom>
              <a:blipFill>
                <a:blip r:embed="rId4"/>
                <a:stretch>
                  <a:fillRect l="-5989" r="-4628" b="-1408"/>
                </a:stretch>
              </a:blipFill>
              <a:effectLst/>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edu:notation"/>
              <p:cNvSpPr txBox="1"/>
              <p:nvPr/>
            </p:nvSpPr>
            <p:spPr>
              <a:xfrm>
                <a:off x="565190" y="4398780"/>
                <a:ext cx="11273884" cy="1044244"/>
              </a:xfrm>
              <a:prstGeom prst="rect">
                <a:avLst/>
              </a:prstGeom>
              <a:noFill/>
              <a:effectLst/>
            </p:spPr>
            <p:txBody>
              <a:bodyPr wrap="square" lIns="0" tIns="0" rIns="0" bIns="0" anchor="t">
                <a:noAutofit/>
              </a:bodyPr>
              <a:lstStyle/>
              <a:p>
                <a:pPr algn="l">
                  <a:lnSpc>
                    <a:spcPct val="100000"/>
                  </a:lnSpc>
                  <a:spcAft>
                    <a:spcPts val="200"/>
                  </a:spcAft>
                </a:pPr>
                <a:r>
                  <a:rPr lang="en-US" altLang="en-US" sz="2400" b="1" i="0" noProof="1">
                    <a:solidFill>
                      <a:srgbClr val="000000"/>
                    </a:solidFill>
                    <a:latin typeface="Times New Roman"/>
                    <a:ea typeface="標楷體"/>
                    <a:cs typeface="Times New Roman"/>
                  </a:rPr>
                  <a:t>Notation</a:t>
                </a:r>
              </a:p>
              <a:p>
                <a:pPr algn="l">
                  <a:lnSpc>
                    <a:spcPct val="100000"/>
                  </a:lnSpc>
                  <a:spcAft>
                    <a:spcPts val="200"/>
                  </a:spcAft>
                </a:pPr>
                <a14:m>
                  <m:oMath xmlns:m="http://schemas.openxmlformats.org/officeDocument/2006/math">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𝑟</m:t>
                        </m:r>
                      </m:e>
                      <m:sub>
                        <m:r>
                          <a:rPr lang="en-US" altLang="en-US" sz="2400" i="0" dirty="0" smtClean="0">
                            <a:solidFill>
                              <a:srgbClr val="000000"/>
                            </a:solidFill>
                            <a:latin typeface="Cambria Math" panose="02040503050406030204" pitchFamily="18" charset="0"/>
                            <a:ea typeface="Times New Roman"/>
                            <a:cs typeface="Times New Roman"/>
                          </a:rPr>
                          <m:t>1,</m:t>
                        </m:r>
                        <m:r>
                          <a:rPr lang="en-US" altLang="en-US" sz="2400" i="1" dirty="0" smtClean="0">
                            <a:solidFill>
                              <a:srgbClr val="000000"/>
                            </a:solidFill>
                            <a:latin typeface="Cambria Math" panose="02040503050406030204" pitchFamily="18" charset="0"/>
                            <a:ea typeface="Times New Roman"/>
                            <a:cs typeface="Times New Roman"/>
                          </a:rPr>
                          <m:t>𝑢</m:t>
                        </m:r>
                      </m:sub>
                    </m:sSub>
                    <m:r>
                      <a:rPr lang="en-US" altLang="en-US" sz="2400" i="1" dirty="0" smtClean="0">
                        <a:solidFill>
                          <a:srgbClr val="000000"/>
                        </a:solidFill>
                        <a:latin typeface="Cambria Math" panose="02040503050406030204" pitchFamily="18" charset="0"/>
                        <a:ea typeface="Times New Roman"/>
                        <a:cs typeface="Times New Roman"/>
                      </a:rPr>
                      <m:t>​</m:t>
                    </m:r>
                    <m:d>
                      <m:dPr>
                        <m:ctrlPr>
                          <a:rPr lang="en-US" altLang="en-US" sz="2400" i="1" dirty="0" smtClean="0">
                            <a:solidFill>
                              <a:srgbClr val="000000"/>
                            </a:solidFill>
                            <a:latin typeface="Cambria Math" panose="02040503050406030204" pitchFamily="18" charset="0"/>
                            <a:ea typeface="Times New Roman"/>
                            <a:cs typeface="Times New Roman"/>
                          </a:rPr>
                        </m:ctrlPr>
                      </m:dPr>
                      <m:e>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𝜃</m:t>
                        </m:r>
                        <m:r>
                          <a:rPr lang="en-US" altLang="en-US" sz="2400" i="0" dirty="0" smtClean="0">
                            <a:solidFill>
                              <a:srgbClr val="000000"/>
                            </a:solidFill>
                            <a:latin typeface="Cambria Math" panose="02040503050406030204" pitchFamily="18" charset="0"/>
                            <a:ea typeface="Times New Roman"/>
                            <a:cs typeface="Times New Roman"/>
                          </a:rPr>
                          <m:t>,</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𝜃</m:t>
                            </m:r>
                          </m:e>
                          <m:sub>
                            <m:r>
                              <a:rPr lang="en-US" altLang="en-US" sz="2400" i="0" dirty="0" smtClean="0">
                                <a:solidFill>
                                  <a:srgbClr val="000000"/>
                                </a:solidFill>
                                <a:latin typeface="Cambria Math" panose="02040503050406030204" pitchFamily="18" charset="0"/>
                                <a:ea typeface="Times New Roman"/>
                                <a:cs typeface="Times New Roman"/>
                              </a:rPr>
                              <m:t>3</m:t>
                            </m:r>
                            <m:r>
                              <m:rPr>
                                <m:nor/>
                              </m:rPr>
                              <a:rPr lang="en-US" altLang="en-US" sz="2400" i="0" dirty="0" smtClean="0">
                                <a:solidFill>
                                  <a:srgbClr val="000000"/>
                                </a:solidFill>
                                <a:latin typeface="Times New Roman"/>
                                <a:ea typeface="Times New Roman"/>
                                <a:cs typeface="Times New Roman"/>
                              </a:rPr>
                              <m:t>dB</m:t>
                            </m:r>
                          </m:sub>
                        </m:sSub>
                      </m:e>
                    </m:d>
                  </m:oMath>
                </a14:m>
                <a:r>
                  <a:rPr lang="en-US" altLang="en-US" sz="2400" b="0" i="0" noProof="1">
                    <a:solidFill>
                      <a:srgbClr val="000000"/>
                    </a:solidFill>
                    <a:latin typeface="Times New Roman"/>
                    <a:ea typeface="標楷體"/>
                    <a:cs typeface="Times New Roman"/>
                  </a:rPr>
                  <a:t>: first reward of user </a:t>
                </a:r>
                <a:r>
                  <a:rPr lang="en-US" altLang="en-US" sz="2400" b="0" i="1" noProof="1">
                    <a:solidFill>
                      <a:srgbClr val="000000"/>
                    </a:solidFill>
                    <a:latin typeface="Times New Roman"/>
                    <a:ea typeface="標楷體"/>
                    <a:cs typeface="Times New Roman"/>
                  </a:rPr>
                  <a:t>u</a:t>
                </a:r>
                <a:r>
                  <a:rPr lang="en-US" altLang="en-US" sz="2400" b="0" i="0" noProof="1">
                    <a:solidFill>
                      <a:srgbClr val="000000"/>
                    </a:solidFill>
                    <a:latin typeface="Times New Roman"/>
                    <a:ea typeface="標楷體"/>
                    <a:cs typeface="Times New Roman"/>
                  </a:rPr>
                  <a:t>: its additive contribution to system energy efficiency</a:t>
                </a:r>
                <a:endParaRPr lang="en-US" altLang="en-US" sz="2400" dirty="0">
                  <a:solidFill>
                    <a:srgbClr val="000000"/>
                  </a:solidFill>
                  <a:latin typeface="Times New Roman"/>
                  <a:ea typeface="Times New Roman"/>
                  <a:cs typeface="Times New Roman"/>
                </a:endParaRPr>
              </a:p>
              <a:p>
                <a:pPr algn="l">
                  <a:lnSpc>
                    <a:spcPct val="100000"/>
                  </a:lnSpc>
                  <a:spcAft>
                    <a:spcPts val="200"/>
                  </a:spcAft>
                </a:pPr>
                <a14:m>
                  <m:oMath xmlns:m="http://schemas.openxmlformats.org/officeDocument/2006/math">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𝜂</m:t>
                        </m:r>
                      </m:e>
                      <m:sub>
                        <m:r>
                          <a:rPr lang="en-US" altLang="en-US" sz="2400" i="1" dirty="0" smtClean="0">
                            <a:solidFill>
                              <a:srgbClr val="000000"/>
                            </a:solidFill>
                            <a:latin typeface="Cambria Math" panose="02040503050406030204" pitchFamily="18" charset="0"/>
                            <a:ea typeface="Times New Roman"/>
                            <a:cs typeface="Times New Roman"/>
                          </a:rPr>
                          <m:t>𝑢</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Sub>
                    <m:r>
                      <a:rPr lang="en-US" altLang="en-US" sz="2400" i="1" dirty="0" smtClean="0">
                        <a:solidFill>
                          <a:srgbClr val="000000"/>
                        </a:solidFill>
                        <a:latin typeface="Cambria Math" panose="02040503050406030204" pitchFamily="18" charset="0"/>
                        <a:ea typeface="Times New Roman"/>
                        <a:cs typeface="Times New Roman"/>
                      </a:rPr>
                      <m:t>​</m:t>
                    </m:r>
                    <m:d>
                      <m:dPr>
                        <m:ctrlPr>
                          <a:rPr lang="en-US" altLang="en-US" sz="2400" i="1" dirty="0" smtClean="0">
                            <a:solidFill>
                              <a:srgbClr val="000000"/>
                            </a:solidFill>
                            <a:latin typeface="Cambria Math" panose="02040503050406030204" pitchFamily="18" charset="0"/>
                            <a:ea typeface="Times New Roman"/>
                            <a:cs typeface="Times New Roman"/>
                          </a:rPr>
                        </m:ctrlPr>
                      </m:dPr>
                      <m:e>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𝜃</m:t>
                            </m:r>
                          </m:e>
                          <m:sub>
                            <m:r>
                              <a:rPr lang="en-US" altLang="en-US" sz="2400" i="1" dirty="0" smtClean="0">
                                <a:solidFill>
                                  <a:srgbClr val="000000"/>
                                </a:solidFill>
                                <a:latin typeface="Cambria Math" panose="02040503050406030204" pitchFamily="18" charset="0"/>
                                <a:ea typeface="Times New Roman"/>
                                <a:cs typeface="Times New Roman"/>
                              </a:rPr>
                              <m:t>𝑢</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Sub>
                        <m:r>
                          <a:rPr lang="en-US" altLang="en-US" sz="2400" i="0" dirty="0" smtClean="0">
                            <a:solidFill>
                              <a:srgbClr val="000000"/>
                            </a:solidFill>
                            <a:latin typeface="Cambria Math" panose="02040503050406030204" pitchFamily="18" charset="0"/>
                            <a:ea typeface="Times New Roman"/>
                            <a:cs typeface="Times New Roman"/>
                          </a:rPr>
                          <m:t>,</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𝜃</m:t>
                            </m:r>
                          </m:e>
                          <m:sub>
                            <m:r>
                              <a:rPr lang="en-US" altLang="en-US" sz="2400" i="0" dirty="0" smtClean="0">
                                <a:solidFill>
                                  <a:srgbClr val="000000"/>
                                </a:solidFill>
                                <a:latin typeface="Cambria Math" panose="02040503050406030204" pitchFamily="18" charset="0"/>
                                <a:ea typeface="Times New Roman"/>
                                <a:cs typeface="Times New Roman"/>
                              </a:rPr>
                              <m:t>3</m:t>
                            </m:r>
                            <m:r>
                              <m:rPr>
                                <m:nor/>
                              </m:rPr>
                              <a:rPr lang="en-US" altLang="en-US" sz="2400" i="0" dirty="0" smtClean="0">
                                <a:solidFill>
                                  <a:srgbClr val="000000"/>
                                </a:solidFill>
                                <a:latin typeface="Times New Roman"/>
                                <a:ea typeface="Times New Roman"/>
                                <a:cs typeface="Times New Roman"/>
                              </a:rPr>
                              <m:t>dB</m:t>
                            </m:r>
                          </m:sub>
                        </m:sSub>
                      </m:e>
                    </m:d>
                  </m:oMath>
                </a14:m>
                <a:r>
                  <a:rPr lang="en-US" altLang="en-US" sz="2400" b="0" i="0" noProof="1">
                    <a:solidFill>
                      <a:srgbClr val="000000"/>
                    </a:solidFill>
                    <a:latin typeface="Times New Roman"/>
                    <a:ea typeface="標楷體"/>
                    <a:cs typeface="Times New Roman"/>
                  </a:rPr>
                  <a:t>: energy efficiency displayed for one link: its throughput over shared system power</a:t>
                </a:r>
                <a:endParaRPr lang="en-US" altLang="en-US" sz="2400" dirty="0">
                  <a:solidFill>
                    <a:srgbClr val="000000"/>
                  </a:solidFill>
                  <a:latin typeface="Times New Roman"/>
                  <a:ea typeface="Times New Roman"/>
                  <a:cs typeface="Times New Roman"/>
                </a:endParaRPr>
              </a:p>
            </p:txBody>
          </p:sp>
        </mc:Choice>
        <mc:Fallback xmlns="">
          <p:sp>
            <p:nvSpPr>
              <p:cNvPr id="7" name="edu:notation"/>
              <p:cNvSpPr txBox="1">
                <a:spLocks noRot="1" noChangeAspect="1" noMove="1" noResize="1" noEditPoints="1" noAdjustHandles="1" noChangeArrowheads="1" noChangeShapeType="1" noTextEdit="1"/>
              </p:cNvSpPr>
              <p:nvPr/>
            </p:nvSpPr>
            <p:spPr>
              <a:xfrm>
                <a:off x="565190" y="4398780"/>
                <a:ext cx="11273884" cy="1044244"/>
              </a:xfrm>
              <a:prstGeom prst="rect">
                <a:avLst/>
              </a:prstGeom>
              <a:blipFill>
                <a:blip r:embed="rId5"/>
                <a:stretch>
                  <a:fillRect l="-1677" t="-9357" b="-73099"/>
                </a:stretch>
              </a:blipFill>
              <a:effectLst/>
            </p:spPr>
            <p:txBody>
              <a:bodyPr/>
              <a:lstStyle/>
              <a:p>
                <a:r>
                  <a:rPr lang="zh-TW" altLang="en-US">
                    <a:noFill/>
                  </a:rPr>
                  <a:t> </a:t>
                </a:r>
              </a:p>
            </p:txBody>
          </p:sp>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du:title"/>
          <p:cNvSpPr txBox="1"/>
          <p:nvPr/>
        </p:nvSpPr>
        <p:spPr>
          <a:xfrm>
            <a:off x="565190" y="141274"/>
            <a:ext cx="11417289" cy="571500"/>
          </a:xfrm>
          <a:prstGeom prst="rect">
            <a:avLst/>
          </a:prstGeom>
          <a:noFill/>
        </p:spPr>
        <p:txBody>
          <a:bodyPr wrap="square" lIns="0" tIns="0" rIns="0" bIns="0" anchor="b">
            <a:spAutoFit/>
          </a:bodyPr>
          <a:lstStyle/>
          <a:p>
            <a:pPr algn="l"/>
            <a:r>
              <a:rPr lang="en-US" altLang="en-US" sz="2800" b="1" i="0" noProof="1">
                <a:solidFill>
                  <a:srgbClr val="1B365D"/>
                </a:solidFill>
                <a:latin typeface="Times New Roman"/>
                <a:ea typeface="標楷體"/>
                <a:cs typeface="Times New Roman"/>
              </a:rPr>
              <a:t>P2: Handover Cost</a:t>
            </a:r>
          </a:p>
        </p:txBody>
      </p:sp>
      <p:sp>
        <p:nvSpPr>
          <p:cNvPr id="3" name="edu:citation"/>
          <p:cNvSpPr txBox="1"/>
          <p:nvPr/>
        </p:nvSpPr>
        <p:spPr>
          <a:xfrm>
            <a:off x="495330" y="6316675"/>
            <a:ext cx="11018520" cy="505663"/>
          </a:xfrm>
          <a:prstGeom prst="rect">
            <a:avLst/>
          </a:prstGeom>
          <a:noFill/>
        </p:spPr>
        <p:txBody>
          <a:bodyPr wrap="square" lIns="0" tIns="0" rIns="0" bIns="0" anchor="t">
            <a:spAutoFit/>
          </a:bodyPr>
          <a:lstStyle/>
          <a:p>
            <a:pPr algn="l">
              <a:lnSpc>
                <a:spcPct val="105000"/>
              </a:lnSpc>
            </a:pPr>
            <a:r>
              <a:rPr lang="en-US" altLang="en-US" sz="1400" b="0" i="0" noProof="1">
                <a:solidFill>
                  <a:srgbClr val="000000"/>
                </a:solidFill>
                <a:latin typeface="Times New Roman"/>
                <a:ea typeface="標楷體"/>
                <a:cs typeface="Times New Roman"/>
              </a:rPr>
              <a:t>Y. Sun et al., “Handover for Multi-Beam LEO Satellite Networks: A Multi-Objective Reinforcement Learning Method,” IEEE Communications Letters, Dec. 2024.</a:t>
            </a:r>
          </a:p>
        </p:txBody>
      </p:sp>
      <mc:AlternateContent xmlns:mc="http://schemas.openxmlformats.org/markup-compatibility/2006" xmlns:a14="http://schemas.microsoft.com/office/drawing/2010/main">
        <mc:Choice Requires="a14">
          <p:sp>
            <p:nvSpPr>
              <p:cNvPr id="5" name="edu:body"/>
              <p:cNvSpPr txBox="1"/>
              <p:nvPr/>
            </p:nvSpPr>
            <p:spPr>
              <a:xfrm>
                <a:off x="565190" y="896112"/>
                <a:ext cx="11064240" cy="774496"/>
              </a:xfrm>
              <a:prstGeom prst="rect">
                <a:avLst/>
              </a:prstGeom>
              <a:noFill/>
              <a:effectLst/>
            </p:spPr>
            <p:txBody>
              <a:bodyPr wrap="square" lIns="0" tIns="0" rIns="0" bIns="0" anchor="t">
                <a:noAutofit/>
              </a:bodyPr>
              <a:lstStyle/>
              <a:p>
                <a:pPr algn="l">
                  <a:lnSpc>
                    <a:spcPct val="112000"/>
                  </a:lnSpc>
                  <a:spcAft>
                    <a:spcPts val="0"/>
                  </a:spcAft>
                </a:pPr>
                <a:r>
                  <a:rPr lang="en-US" altLang="en-US" sz="2400" b="0" i="0" noProof="1">
                    <a:solidFill>
                      <a:srgbClr val="000000"/>
                    </a:solidFill>
                    <a:latin typeface="Times New Roman"/>
                    <a:ea typeface="標楷體"/>
                    <a:cs typeface="Times New Roman"/>
                  </a:rPr>
                  <a:t>The beam actually serving a user is written </a:t>
                </a:r>
                <a14:m>
                  <m:oMath xmlns:m="http://schemas.openxmlformats.org/officeDocument/2006/math">
                    <m:r>
                      <a:rPr lang="en-US" altLang="en-US" sz="2400" i="0" dirty="0" smtClean="0">
                        <a:solidFill>
                          <a:srgbClr val="000000"/>
                        </a:solidFill>
                        <a:latin typeface="Cambria Math" panose="02040503050406030204" pitchFamily="18" charset="0"/>
                        <a:ea typeface="Times New Roman"/>
                        <a:cs typeface="Times New Roman"/>
                      </a:rPr>
                      <m:t>(</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𝜌</m:t>
                        </m:r>
                      </m:e>
                      <m:sub>
                        <m:r>
                          <a:rPr lang="en-US" altLang="en-US" sz="2400" i="1" dirty="0" smtClean="0">
                            <a:solidFill>
                              <a:srgbClr val="000000"/>
                            </a:solidFill>
                            <a:latin typeface="Cambria Math" panose="02040503050406030204" pitchFamily="18" charset="0"/>
                            <a:ea typeface="Times New Roman"/>
                            <a:cs typeface="Times New Roman"/>
                          </a:rPr>
                          <m:t>𝑢</m:t>
                        </m:r>
                      </m:sub>
                    </m:sSub>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𝛿</m:t>
                        </m:r>
                      </m:e>
                      <m:sub>
                        <m:r>
                          <a:rPr lang="en-US" altLang="en-US" sz="2400" i="1" dirty="0" smtClean="0">
                            <a:solidFill>
                              <a:srgbClr val="000000"/>
                            </a:solidFill>
                            <a:latin typeface="Cambria Math" panose="02040503050406030204" pitchFamily="18" charset="0"/>
                            <a:ea typeface="Times New Roman"/>
                            <a:cs typeface="Times New Roman"/>
                          </a:rPr>
                          <m:t>𝑢</m:t>
                        </m:r>
                      </m:sub>
                    </m:sSub>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oMath>
                </a14:m>
                <a:r>
                  <a:rPr lang="en-US" altLang="en-US" sz="2400" b="0" i="0" noProof="1">
                    <a:solidFill>
                      <a:srgbClr val="000000"/>
                    </a:solidFill>
                    <a:latin typeface="Times New Roman"/>
                    <a:ea typeface="標楷體"/>
                    <a:cs typeface="Times New Roman"/>
                  </a:rPr>
                  <a:t>, a switch is charged according to how far the user moved:</a:t>
                </a:r>
                <a:endParaRPr lang="en-US" altLang="en-US" dirty="0">
                  <a:solidFill>
                    <a:srgbClr val="000000"/>
                  </a:solidFill>
                  <a:latin typeface="Times New Roman"/>
                  <a:ea typeface="Times New Roman"/>
                  <a:cs typeface="Times New Roman"/>
                </a:endParaRPr>
              </a:p>
            </p:txBody>
          </p:sp>
        </mc:Choice>
        <mc:Fallback xmlns="">
          <p:sp>
            <p:nvSpPr>
              <p:cNvPr id="5" name="edu:body"/>
              <p:cNvSpPr txBox="1"/>
              <p:nvPr/>
            </p:nvSpPr>
            <p:spPr>
              <a:xfrm>
                <a:off x="565190" y="896112"/>
                <a:ext cx="11064240" cy="774496"/>
              </a:xfrm>
              <a:prstGeom prst="rect">
                <a:avLst/>
              </a:prstGeom>
              <a:noFill/>
            </p:spPr>
            <p:txBody>
              <a:bodyPr wrap="square" anchor="t" lIns="0" rIns="0" tIns="0" bIns="0">
                <a:spAutoFit/>
              </a:bodyPr>
              <a:lstStyle/>
              <a:p>
                <a:pPr algn="l">
                  <a:lnSpc>
                    <a:spcPct val="112000"/>
                  </a:lnSpc>
                  <a:spcAft>
                    <a:spcPts val="0"/>
                  </a:spcAft>
                </a:pPr>
                <a:r>
                  <a:rPr sz="2400" b="0" i="0" lang="en-US" altLang="en-US" noProof="1" dirty="0">
                    <a:solidFill>
                      <a:srgbClr val="000000"/>
                    </a:solidFill>
                    <a:latin typeface="Times New Roman"/>
                    <a:ea typeface="標楷體"/>
                    <a:cs typeface="Times New Roman"/>
                  </a:rPr>
                  <a:t xml:space="preserve">The beam actually serving a user is written </a:t>
                </a:r>
                <a:r>
                  <a:rPr sz="2400" b="0" i="0" lang="en-US" altLang="en-US" noProof="1" dirty="0">
                    <a:solidFill>
                      <a:srgbClr val="000000"/>
                    </a:solidFill>
                    <a:latin typeface="Times New Roman"/>
                    <a:ea typeface="標楷體"/>
                    <a:cs typeface="Times New Roman"/>
                  </a:rPr>
                  <a:t/>
                </a:r>
                <a:r>
                  <a:rPr sz="2400" b="0" i="0" lang="en-US" altLang="en-US" noProof="1" dirty="0">
                    <a:solidFill>
                      <a:srgbClr val="000000"/>
                    </a:solidFill>
                    <a:latin typeface="Times New Roman"/>
                    <a:ea typeface="標楷體"/>
                    <a:cs typeface="Times New Roman"/>
                  </a:rPr>
                  <a:t>, a switch is charged according to how far the user moved:</a:t>
                </a:r>
              </a:p>
            </p:txBody>
          </p:sp>
        </mc:Fallback>
      </mc:AlternateContent>
      <mc:AlternateContent xmlns:mc="http://schemas.openxmlformats.org/markup-compatibility/2006" xmlns:a14="http://schemas.microsoft.com/office/drawing/2010/main">
        <mc:Choice Requires="a14">
          <p:sp>
            <p:nvSpPr>
              <p:cNvPr id="6" name="edu:formula-omml" descr="Native Office Math: a16_handover"/>
              <p:cNvSpPr txBox="1"/>
              <p:nvPr/>
            </p:nvSpPr>
            <p:spPr>
              <a:xfrm>
                <a:off x="1719986" y="1835200"/>
                <a:ext cx="8755380" cy="1472184"/>
              </a:xfrm>
              <a:prstGeom prst="rect">
                <a:avLst/>
              </a:prstGeom>
              <a:noFill/>
              <a:effectLst/>
            </p:spPr>
            <p:txBody>
              <a:bodyPr wrap="none" lIns="0" tIns="0" rIns="0" bIns="0" anchor="ctr">
                <a:noAutofit/>
              </a:bodyPr>
              <a:lstStyle/>
              <a:p>
                <a:pPr algn="ctr"/>
                <a14:m>
                  <m:oMathPara xmlns:m="http://schemas.openxmlformats.org/officeDocument/2006/math">
                    <m:oMath>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𝑟</m:t>
                          </m:r>
                        </m:e>
                        <m:sub>
                          <m:r>
                            <a:rPr lang="en-US" altLang="en-US" sz="2400" i="0" dirty="0" smtClean="0">
                              <a:solidFill>
                                <a:srgbClr val="000000"/>
                              </a:solidFill>
                              <a:latin typeface="Cambria Math" panose="02040503050406030204" pitchFamily="18" charset="0"/>
                              <a:ea typeface="Times New Roman"/>
                              <a:cs typeface="Times New Roman"/>
                            </a:rPr>
                            <m:t>2,</m:t>
                          </m:r>
                          <m:r>
                            <a:rPr lang="en-US" altLang="en-US" sz="2400" i="1" dirty="0" smtClean="0">
                              <a:solidFill>
                                <a:srgbClr val="000000"/>
                              </a:solidFill>
                              <a:latin typeface="Cambria Math" panose="02040503050406030204" pitchFamily="18" charset="0"/>
                              <a:ea typeface="Times New Roman"/>
                              <a:cs typeface="Times New Roman"/>
                            </a:rPr>
                            <m:t>𝑢</m:t>
                          </m:r>
                        </m:sub>
                      </m:sSub>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𝛹</m:t>
                          </m:r>
                        </m:e>
                        <m:sub>
                          <m:r>
                            <a:rPr lang="en-US" altLang="en-US" sz="2400" i="1" dirty="0" smtClean="0">
                              <a:solidFill>
                                <a:srgbClr val="000000"/>
                              </a:solidFill>
                              <a:latin typeface="Cambria Math" panose="02040503050406030204" pitchFamily="18" charset="0"/>
                              <a:ea typeface="Times New Roman"/>
                              <a:cs typeface="Times New Roman"/>
                            </a:rPr>
                            <m:t>𝑢</m:t>
                          </m:r>
                        </m:sub>
                      </m:sSub>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  </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𝛹</m:t>
                          </m:r>
                        </m:e>
                        <m:sub>
                          <m:r>
                            <a:rPr lang="en-US" altLang="en-US" sz="2400" i="1" dirty="0" smtClean="0">
                              <a:solidFill>
                                <a:srgbClr val="000000"/>
                              </a:solidFill>
                              <a:latin typeface="Cambria Math" panose="02040503050406030204" pitchFamily="18" charset="0"/>
                              <a:ea typeface="Times New Roman"/>
                              <a:cs typeface="Times New Roman"/>
                            </a:rPr>
                            <m:t>𝑢</m:t>
                          </m:r>
                        </m:sub>
                      </m:sSub>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d>
                        <m:dPr>
                          <m:begChr m:val="{"/>
                          <m:endChr m:val=""/>
                          <m:ctrlPr>
                            <a:rPr lang="en-US" altLang="en-US" sz="2400" i="1" dirty="0" smtClean="0">
                              <a:solidFill>
                                <a:srgbClr val="000000"/>
                              </a:solidFill>
                              <a:latin typeface="Cambria Math" panose="02040503050406030204" pitchFamily="18" charset="0"/>
                              <a:ea typeface="Times New Roman"/>
                              <a:cs typeface="Times New Roman"/>
                            </a:rPr>
                          </m:ctrlPr>
                        </m:dPr>
                        <m:e>
                          <m:m>
                            <m:mPr>
                              <m:plcHide m:val="on"/>
                              <m:mcs>
                                <m:mc>
                                  <m:mcPr>
                                    <m:count m:val="2"/>
                                    <m:mcJc m:val="center"/>
                                  </m:mcPr>
                                </m:mc>
                              </m:mcs>
                              <m:ctrlPr>
                                <a:rPr lang="en-US" altLang="en-US" sz="2400" i="1" dirty="0" smtClean="0">
                                  <a:solidFill>
                                    <a:srgbClr val="000000"/>
                                  </a:solidFill>
                                  <a:latin typeface="Cambria Math" panose="02040503050406030204" pitchFamily="18" charset="0"/>
                                  <a:ea typeface="Times New Roman"/>
                                  <a:cs typeface="Times New Roman"/>
                                </a:rPr>
                              </m:ctrlPr>
                            </m:mPr>
                            <m:mr>
                              <m:e>
                                <m:r>
                                  <a:rPr lang="en-US" altLang="en-US" sz="2400" i="0" dirty="0" smtClean="0">
                                    <a:solidFill>
                                      <a:srgbClr val="000000"/>
                                    </a:solidFill>
                                    <a:latin typeface="Cambria Math" panose="02040503050406030204" pitchFamily="18" charset="0"/>
                                    <a:ea typeface="Times New Roman"/>
                                    <a:cs typeface="Times New Roman"/>
                                  </a:rPr>
                                  <m:t>0,</m:t>
                                </m:r>
                              </m:e>
                              <m:e>
                                <m:r>
                                  <a:rPr lang="en-US" altLang="en-US" sz="2400" i="0" dirty="0" smtClean="0">
                                    <a:solidFill>
                                      <a:srgbClr val="000000"/>
                                    </a:solidFill>
                                    <a:latin typeface="Cambria Math" panose="02040503050406030204" pitchFamily="18" charset="0"/>
                                    <a:ea typeface="Times New Roman"/>
                                    <a:cs typeface="Times New Roman"/>
                                  </a:rPr>
                                  <m:t>(</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𝜌</m:t>
                                    </m:r>
                                  </m:e>
                                  <m:sub>
                                    <m:r>
                                      <a:rPr lang="en-US" altLang="en-US" sz="2400" i="1" dirty="0" smtClean="0">
                                        <a:solidFill>
                                          <a:srgbClr val="000000"/>
                                        </a:solidFill>
                                        <a:latin typeface="Cambria Math" panose="02040503050406030204" pitchFamily="18" charset="0"/>
                                        <a:ea typeface="Times New Roman"/>
                                        <a:cs typeface="Times New Roman"/>
                                      </a:rPr>
                                      <m:t>𝑢</m:t>
                                    </m:r>
                                  </m:sub>
                                </m:sSub>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𝛿</m:t>
                                    </m:r>
                                  </m:e>
                                  <m:sub>
                                    <m:r>
                                      <a:rPr lang="en-US" altLang="en-US" sz="2400" i="1" dirty="0" smtClean="0">
                                        <a:solidFill>
                                          <a:srgbClr val="000000"/>
                                        </a:solidFill>
                                        <a:latin typeface="Cambria Math" panose="02040503050406030204" pitchFamily="18" charset="0"/>
                                        <a:ea typeface="Times New Roman"/>
                                        <a:cs typeface="Times New Roman"/>
                                      </a:rPr>
                                      <m:t>𝑢</m:t>
                                    </m:r>
                                  </m:sub>
                                </m:sSub>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𝜌</m:t>
                                    </m:r>
                                  </m:e>
                                  <m:sub>
                                    <m:r>
                                      <a:rPr lang="en-US" altLang="en-US" sz="2400" i="1" dirty="0" smtClean="0">
                                        <a:solidFill>
                                          <a:srgbClr val="000000"/>
                                        </a:solidFill>
                                        <a:latin typeface="Cambria Math" panose="02040503050406030204" pitchFamily="18" charset="0"/>
                                        <a:ea typeface="Times New Roman"/>
                                        <a:cs typeface="Times New Roman"/>
                                      </a:rPr>
                                      <m:t>𝑢</m:t>
                                    </m:r>
                                  </m:sub>
                                </m:sSub>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−1),</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𝛿</m:t>
                                    </m:r>
                                  </m:e>
                                  <m:sub>
                                    <m:r>
                                      <a:rPr lang="en-US" altLang="en-US" sz="2400" i="1" dirty="0" smtClean="0">
                                        <a:solidFill>
                                          <a:srgbClr val="000000"/>
                                        </a:solidFill>
                                        <a:latin typeface="Cambria Math" panose="02040503050406030204" pitchFamily="18" charset="0"/>
                                        <a:ea typeface="Times New Roman"/>
                                        <a:cs typeface="Times New Roman"/>
                                      </a:rPr>
                                      <m:t>𝑢</m:t>
                                    </m:r>
                                  </m:sub>
                                </m:sSub>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−1)),</m:t>
                                </m:r>
                              </m:e>
                            </m:mr>
                            <m:mr>
                              <m:e>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𝜑</m:t>
                                    </m:r>
                                  </m:e>
                                  <m:sub>
                                    <m:r>
                                      <a:rPr lang="en-US" altLang="en-US" sz="2400" i="0" dirty="0" smtClean="0">
                                        <a:solidFill>
                                          <a:srgbClr val="000000"/>
                                        </a:solidFill>
                                        <a:latin typeface="Cambria Math" panose="02040503050406030204" pitchFamily="18" charset="0"/>
                                        <a:ea typeface="Times New Roman"/>
                                        <a:cs typeface="Times New Roman"/>
                                      </a:rPr>
                                      <m:t>1</m:t>
                                    </m:r>
                                  </m:sub>
                                </m:sSub>
                                <m:r>
                                  <a:rPr lang="en-US" altLang="en-US" sz="2400" i="0" dirty="0" smtClean="0">
                                    <a:solidFill>
                                      <a:srgbClr val="000000"/>
                                    </a:solidFill>
                                    <a:latin typeface="Cambria Math" panose="02040503050406030204" pitchFamily="18" charset="0"/>
                                    <a:ea typeface="Times New Roman"/>
                                    <a:cs typeface="Times New Roman"/>
                                  </a:rPr>
                                  <m:t>,</m:t>
                                </m:r>
                              </m:e>
                              <m:e>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𝜌</m:t>
                                    </m:r>
                                  </m:e>
                                  <m:sub>
                                    <m:r>
                                      <a:rPr lang="en-US" altLang="en-US" sz="2400" i="1" dirty="0" smtClean="0">
                                        <a:solidFill>
                                          <a:srgbClr val="000000"/>
                                        </a:solidFill>
                                        <a:latin typeface="Cambria Math" panose="02040503050406030204" pitchFamily="18" charset="0"/>
                                        <a:ea typeface="Times New Roman"/>
                                        <a:cs typeface="Times New Roman"/>
                                      </a:rPr>
                                      <m:t>𝑢</m:t>
                                    </m:r>
                                  </m:sub>
                                </m:sSub>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𝜌</m:t>
                                    </m:r>
                                  </m:e>
                                  <m:sub>
                                    <m:r>
                                      <a:rPr lang="en-US" altLang="en-US" sz="2400" i="1" dirty="0" smtClean="0">
                                        <a:solidFill>
                                          <a:srgbClr val="000000"/>
                                        </a:solidFill>
                                        <a:latin typeface="Cambria Math" panose="02040503050406030204" pitchFamily="18" charset="0"/>
                                        <a:ea typeface="Times New Roman"/>
                                        <a:cs typeface="Times New Roman"/>
                                      </a:rPr>
                                      <m:t>𝑢</m:t>
                                    </m:r>
                                  </m:sub>
                                </m:sSub>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−1),</m:t>
                                </m:r>
                                <m:r>
                                  <a:rPr lang="en-US" altLang="en-US" sz="2400" i="1" dirty="0" smtClean="0">
                                    <a:solidFill>
                                      <a:srgbClr val="000000"/>
                                    </a:solidFill>
                                    <a:latin typeface="Cambria Math" panose="02040503050406030204" pitchFamily="18" charset="0"/>
                                    <a:ea typeface="Times New Roman"/>
                                    <a:cs typeface="Times New Roman"/>
                                  </a:rPr>
                                  <m:t> </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𝛿</m:t>
                                    </m:r>
                                  </m:e>
                                  <m:sub>
                                    <m:r>
                                      <a:rPr lang="en-US" altLang="en-US" sz="2400" i="1" dirty="0" smtClean="0">
                                        <a:solidFill>
                                          <a:srgbClr val="000000"/>
                                        </a:solidFill>
                                        <a:latin typeface="Cambria Math" panose="02040503050406030204" pitchFamily="18" charset="0"/>
                                        <a:ea typeface="Times New Roman"/>
                                        <a:cs typeface="Times New Roman"/>
                                      </a:rPr>
                                      <m:t>𝑢</m:t>
                                    </m:r>
                                  </m:sub>
                                </m:sSub>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𝛿</m:t>
                                    </m:r>
                                  </m:e>
                                  <m:sub>
                                    <m:r>
                                      <a:rPr lang="en-US" altLang="en-US" sz="2400" i="1" dirty="0" smtClean="0">
                                        <a:solidFill>
                                          <a:srgbClr val="000000"/>
                                        </a:solidFill>
                                        <a:latin typeface="Cambria Math" panose="02040503050406030204" pitchFamily="18" charset="0"/>
                                        <a:ea typeface="Times New Roman"/>
                                        <a:cs typeface="Times New Roman"/>
                                      </a:rPr>
                                      <m:t>𝑢</m:t>
                                    </m:r>
                                  </m:sub>
                                </m:sSub>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−1),</m:t>
                                </m:r>
                              </m:e>
                            </m:mr>
                            <m:mr>
                              <m:e>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𝜑</m:t>
                                    </m:r>
                                  </m:e>
                                  <m:sub>
                                    <m:r>
                                      <a:rPr lang="en-US" altLang="en-US" sz="2400" i="0" dirty="0" smtClean="0">
                                        <a:solidFill>
                                          <a:srgbClr val="000000"/>
                                        </a:solidFill>
                                        <a:latin typeface="Cambria Math" panose="02040503050406030204" pitchFamily="18" charset="0"/>
                                        <a:ea typeface="Times New Roman"/>
                                        <a:cs typeface="Times New Roman"/>
                                      </a:rPr>
                                      <m:t>2</m:t>
                                    </m:r>
                                  </m:sub>
                                </m:sSub>
                                <m:r>
                                  <a:rPr lang="en-US" altLang="en-US" sz="2400" i="0" dirty="0" smtClean="0">
                                    <a:solidFill>
                                      <a:srgbClr val="000000"/>
                                    </a:solidFill>
                                    <a:latin typeface="Cambria Math" panose="02040503050406030204" pitchFamily="18" charset="0"/>
                                    <a:ea typeface="Times New Roman"/>
                                    <a:cs typeface="Times New Roman"/>
                                  </a:rPr>
                                  <m:t>,</m:t>
                                </m:r>
                              </m:e>
                              <m:e>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𝜌</m:t>
                                    </m:r>
                                  </m:e>
                                  <m:sub>
                                    <m:r>
                                      <a:rPr lang="en-US" altLang="en-US" sz="2400" i="1" dirty="0" smtClean="0">
                                        <a:solidFill>
                                          <a:srgbClr val="000000"/>
                                        </a:solidFill>
                                        <a:latin typeface="Cambria Math" panose="02040503050406030204" pitchFamily="18" charset="0"/>
                                        <a:ea typeface="Times New Roman"/>
                                        <a:cs typeface="Times New Roman"/>
                                      </a:rPr>
                                      <m:t>𝑢</m:t>
                                    </m:r>
                                  </m:sub>
                                </m:sSub>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𝜌</m:t>
                                    </m:r>
                                  </m:e>
                                  <m:sub>
                                    <m:r>
                                      <a:rPr lang="en-US" altLang="en-US" sz="2400" i="1" dirty="0" smtClean="0">
                                        <a:solidFill>
                                          <a:srgbClr val="000000"/>
                                        </a:solidFill>
                                        <a:latin typeface="Cambria Math" panose="02040503050406030204" pitchFamily="18" charset="0"/>
                                        <a:ea typeface="Times New Roman"/>
                                        <a:cs typeface="Times New Roman"/>
                                      </a:rPr>
                                      <m:t>𝑢</m:t>
                                    </m:r>
                                  </m:sub>
                                </m:sSub>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−1)</m:t>
                                </m:r>
                              </m:e>
                            </m:mr>
                          </m:m>
                        </m:e>
                      </m:d>
                    </m:oMath>
                  </m:oMathPara>
                </a14:m>
                <a:endParaRPr lang="en-US" altLang="en-US" sz="2400" dirty="0">
                  <a:solidFill>
                    <a:srgbClr val="000000"/>
                  </a:solidFill>
                  <a:latin typeface="Times New Roman"/>
                  <a:ea typeface="Times New Roman"/>
                  <a:cs typeface="Times New Roman"/>
                </a:endParaRPr>
              </a:p>
            </p:txBody>
          </p:sp>
        </mc:Choice>
        <mc:Fallback xmlns="">
          <p:sp>
            <p:nvSpPr>
              <p:cNvPr id="6" name="edu:formula-omml" descr="Native Office Math: a16_handover"/>
              <p:cNvSpPr txBox="1">
                <a:spLocks noRot="1" noChangeAspect="1" noMove="1" noResize="1" noEditPoints="1" noAdjustHandles="1" noChangeArrowheads="1" noChangeShapeType="1" noTextEdit="1"/>
              </p:cNvSpPr>
              <p:nvPr/>
            </p:nvSpPr>
            <p:spPr>
              <a:xfrm>
                <a:off x="1719986" y="1835200"/>
                <a:ext cx="8755380" cy="1472184"/>
              </a:xfrm>
              <a:prstGeom prst="rect">
                <a:avLst/>
              </a:prstGeom>
              <a:blipFill>
                <a:blip r:embed="rId3"/>
                <a:stretch>
                  <a:fillRect l="-7382" r="-6476"/>
                </a:stretch>
              </a:blipFill>
              <a:effectLst/>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edu:notation"/>
              <p:cNvSpPr txBox="1"/>
              <p:nvPr/>
            </p:nvSpPr>
            <p:spPr>
              <a:xfrm>
                <a:off x="565190" y="4055847"/>
                <a:ext cx="11064240" cy="1740103"/>
              </a:xfrm>
              <a:prstGeom prst="rect">
                <a:avLst/>
              </a:prstGeom>
              <a:noFill/>
              <a:effectLst/>
            </p:spPr>
            <p:txBody>
              <a:bodyPr wrap="square" lIns="0" tIns="0" rIns="0" bIns="0" anchor="t">
                <a:noAutofit/>
              </a:bodyPr>
              <a:lstStyle/>
              <a:p>
                <a:pPr algn="l">
                  <a:lnSpc>
                    <a:spcPct val="100000"/>
                  </a:lnSpc>
                  <a:spcAft>
                    <a:spcPts val="200"/>
                  </a:spcAft>
                </a:pPr>
                <a:r>
                  <a:rPr lang="en-US" altLang="en-US" sz="2400" b="1" i="0" noProof="1">
                    <a:solidFill>
                      <a:srgbClr val="000000"/>
                    </a:solidFill>
                    <a:latin typeface="Times New Roman"/>
                    <a:ea typeface="標楷體"/>
                    <a:cs typeface="Times New Roman"/>
                  </a:rPr>
                  <a:t>Notation</a:t>
                </a:r>
              </a:p>
              <a:p>
                <a:pPr algn="l">
                  <a:lnSpc>
                    <a:spcPct val="100000"/>
                  </a:lnSpc>
                  <a:spcAft>
                    <a:spcPts val="200"/>
                  </a:spcAft>
                </a:pPr>
                <a14:m>
                  <m:oMath xmlns:m="http://schemas.openxmlformats.org/officeDocument/2006/math">
                    <m:r>
                      <a:rPr lang="en-US" altLang="en-US" sz="2400" i="0" dirty="0" smtClean="0">
                        <a:solidFill>
                          <a:srgbClr val="000000"/>
                        </a:solidFill>
                        <a:latin typeface="Cambria Math" panose="02040503050406030204" pitchFamily="18" charset="0"/>
                        <a:ea typeface="Times New Roman"/>
                        <a:cs typeface="Times New Roman"/>
                      </a:rPr>
                      <m:t>(</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𝜌</m:t>
                        </m:r>
                      </m:e>
                      <m:sub>
                        <m:r>
                          <a:rPr lang="en-US" altLang="en-US" sz="2400" i="1" dirty="0" smtClean="0">
                            <a:solidFill>
                              <a:srgbClr val="000000"/>
                            </a:solidFill>
                            <a:latin typeface="Cambria Math" panose="02040503050406030204" pitchFamily="18" charset="0"/>
                            <a:ea typeface="Times New Roman"/>
                            <a:cs typeface="Times New Roman"/>
                          </a:rPr>
                          <m:t>𝑢</m:t>
                        </m:r>
                      </m:sub>
                    </m:sSub>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𝛿</m:t>
                        </m:r>
                      </m:e>
                      <m:sub>
                        <m:r>
                          <a:rPr lang="en-US" altLang="en-US" sz="2400" i="1" dirty="0" smtClean="0">
                            <a:solidFill>
                              <a:srgbClr val="000000"/>
                            </a:solidFill>
                            <a:latin typeface="Cambria Math" panose="02040503050406030204" pitchFamily="18" charset="0"/>
                            <a:ea typeface="Times New Roman"/>
                            <a:cs typeface="Times New Roman"/>
                          </a:rPr>
                          <m:t>𝑢</m:t>
                        </m:r>
                      </m:sub>
                    </m:sSub>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oMath>
                </a14:m>
                <a:r>
                  <a:rPr lang="en-US" altLang="en-US" sz="2400" b="0" i="0" noProof="1">
                    <a:solidFill>
                      <a:srgbClr val="000000"/>
                    </a:solidFill>
                    <a:latin typeface="Times New Roman"/>
                    <a:ea typeface="標楷體"/>
                    <a:cs typeface="Times New Roman"/>
                  </a:rPr>
                  <a:t>: satellite and beam that actually served user </a:t>
                </a:r>
                <a:r>
                  <a:rPr lang="en-US" altLang="en-US" sz="2400" b="0" i="1" noProof="1">
                    <a:solidFill>
                      <a:srgbClr val="000000"/>
                    </a:solidFill>
                    <a:latin typeface="Times New Roman"/>
                    <a:ea typeface="標楷體"/>
                    <a:cs typeface="Times New Roman"/>
                  </a:rPr>
                  <a:t>u</a:t>
                </a:r>
                <a:r>
                  <a:rPr lang="en-US" altLang="en-US" sz="2400" b="0" i="0" noProof="1">
                    <a:solidFill>
                      <a:srgbClr val="000000"/>
                    </a:solidFill>
                    <a:latin typeface="Times New Roman"/>
                    <a:ea typeface="標楷體"/>
                    <a:cs typeface="Times New Roman"/>
                  </a:rPr>
                  <a:t> at step </a:t>
                </a:r>
                <a:r>
                  <a:rPr lang="en-US" altLang="en-US" sz="2400" b="0" i="1" noProof="1">
                    <a:solidFill>
                      <a:srgbClr val="000000"/>
                    </a:solidFill>
                    <a:latin typeface="Times New Roman"/>
                    <a:ea typeface="標楷體"/>
                    <a:cs typeface="Times New Roman"/>
                  </a:rPr>
                  <a:t>t</a:t>
                </a:r>
                <a:endParaRPr lang="en-US" altLang="en-US" sz="2400" dirty="0">
                  <a:solidFill>
                    <a:srgbClr val="000000"/>
                  </a:solidFill>
                  <a:latin typeface="Times New Roman"/>
                  <a:ea typeface="Times New Roman"/>
                  <a:cs typeface="Times New Roman"/>
                </a:endParaRPr>
              </a:p>
              <a:p>
                <a:pPr algn="l">
                  <a:lnSpc>
                    <a:spcPct val="100000"/>
                  </a:lnSpc>
                  <a:spcAft>
                    <a:spcPts val="200"/>
                  </a:spcAft>
                </a:pPr>
                <a14:m>
                  <m:oMath xmlns:m="http://schemas.openxmlformats.org/officeDocument/2006/math">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𝛹</m:t>
                        </m:r>
                      </m:e>
                      <m:sub>
                        <m:r>
                          <a:rPr lang="en-US" altLang="en-US" sz="2400" i="1" dirty="0" smtClean="0">
                            <a:solidFill>
                              <a:srgbClr val="000000"/>
                            </a:solidFill>
                            <a:latin typeface="Cambria Math" panose="02040503050406030204" pitchFamily="18" charset="0"/>
                            <a:ea typeface="Times New Roman"/>
                            <a:cs typeface="Times New Roman"/>
                          </a:rPr>
                          <m:t>𝑢</m:t>
                        </m:r>
                      </m:sub>
                    </m:sSub>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oMath>
                </a14:m>
                <a:r>
                  <a:rPr lang="en-US" altLang="en-US" sz="2400" b="0" i="0" noProof="1">
                    <a:solidFill>
                      <a:srgbClr val="000000"/>
                    </a:solidFill>
                    <a:latin typeface="Times New Roman"/>
                    <a:ea typeface="標楷體"/>
                    <a:cs typeface="Times New Roman"/>
                  </a:rPr>
                  <a:t>: handover cost charged to user </a:t>
                </a:r>
                <a:r>
                  <a:rPr lang="en-US" altLang="en-US" sz="2400" b="0" i="1" noProof="1">
                    <a:solidFill>
                      <a:srgbClr val="000000"/>
                    </a:solidFill>
                    <a:latin typeface="Times New Roman"/>
                    <a:ea typeface="標楷體"/>
                    <a:cs typeface="Times New Roman"/>
                  </a:rPr>
                  <a:t>u</a:t>
                </a:r>
                <a:r>
                  <a:rPr lang="en-US" altLang="en-US" sz="2400" b="0" i="0" noProof="1">
                    <a:solidFill>
                      <a:srgbClr val="000000"/>
                    </a:solidFill>
                    <a:latin typeface="Times New Roman"/>
                    <a:ea typeface="標楷體"/>
                    <a:cs typeface="Times New Roman"/>
                  </a:rPr>
                  <a:t> at step </a:t>
                </a:r>
                <a:r>
                  <a:rPr lang="en-US" altLang="en-US" sz="2400" b="0" i="1" noProof="1">
                    <a:solidFill>
                      <a:srgbClr val="000000"/>
                    </a:solidFill>
                    <a:latin typeface="Times New Roman"/>
                    <a:ea typeface="標楷體"/>
                    <a:cs typeface="Times New Roman"/>
                  </a:rPr>
                  <a:t>t</a:t>
                </a:r>
                <a:endParaRPr lang="en-US" altLang="en-US" sz="2400" dirty="0">
                  <a:solidFill>
                    <a:srgbClr val="000000"/>
                  </a:solidFill>
                  <a:latin typeface="Times New Roman"/>
                  <a:ea typeface="Times New Roman"/>
                  <a:cs typeface="Times New Roman"/>
                </a:endParaRPr>
              </a:p>
              <a:p>
                <a:pPr algn="l">
                  <a:lnSpc>
                    <a:spcPct val="100000"/>
                  </a:lnSpc>
                  <a:spcAft>
                    <a:spcPts val="200"/>
                  </a:spcAft>
                </a:pPr>
                <a14:m>
                  <m:oMath xmlns:m="http://schemas.openxmlformats.org/officeDocument/2006/math">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𝜑</m:t>
                        </m:r>
                      </m:e>
                      <m:sub>
                        <m:r>
                          <a:rPr lang="en-US" altLang="en-US" sz="2400" i="0" dirty="0" smtClean="0">
                            <a:solidFill>
                              <a:srgbClr val="000000"/>
                            </a:solidFill>
                            <a:latin typeface="Cambria Math" panose="02040503050406030204" pitchFamily="18" charset="0"/>
                            <a:ea typeface="Times New Roman"/>
                            <a:cs typeface="Times New Roman"/>
                          </a:rPr>
                          <m:t>1</m:t>
                        </m:r>
                      </m:sub>
                    </m:sSub>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 </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𝜑</m:t>
                        </m:r>
                      </m:e>
                      <m:sub>
                        <m:r>
                          <a:rPr lang="en-US" altLang="en-US" sz="2400" i="0" dirty="0" smtClean="0">
                            <a:solidFill>
                              <a:srgbClr val="000000"/>
                            </a:solidFill>
                            <a:latin typeface="Cambria Math" panose="02040503050406030204" pitchFamily="18" charset="0"/>
                            <a:ea typeface="Times New Roman"/>
                            <a:cs typeface="Times New Roman"/>
                          </a:rPr>
                          <m:t>2</m:t>
                        </m:r>
                      </m:sub>
                    </m:sSub>
                  </m:oMath>
                </a14:m>
                <a:r>
                  <a:rPr lang="en-US" altLang="en-US" sz="2400" b="0" i="0" noProof="1">
                    <a:solidFill>
                      <a:srgbClr val="000000"/>
                    </a:solidFill>
                    <a:latin typeface="Times New Roman"/>
                    <a:ea typeface="標楷體"/>
                    <a:cs typeface="Times New Roman"/>
                  </a:rPr>
                  <a:t>: cost of a beam switch and of a satellite switch, the first smaller than the second</a:t>
                </a:r>
                <a:endParaRPr lang="en-US" altLang="en-US" sz="2400" dirty="0">
                  <a:solidFill>
                    <a:srgbClr val="000000"/>
                  </a:solidFill>
                  <a:latin typeface="Times New Roman"/>
                  <a:ea typeface="Times New Roman"/>
                  <a:cs typeface="Times New Roman"/>
                </a:endParaRPr>
              </a:p>
              <a:p>
                <a:pPr algn="l">
                  <a:lnSpc>
                    <a:spcPct val="100000"/>
                  </a:lnSpc>
                  <a:spcAft>
                    <a:spcPts val="200"/>
                  </a:spcAft>
                </a:pPr>
                <a14:m>
                  <m:oMath xmlns:m="http://schemas.openxmlformats.org/officeDocument/2006/math">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𝑟</m:t>
                        </m:r>
                      </m:e>
                      <m:sub>
                        <m:r>
                          <a:rPr lang="en-US" altLang="en-US" sz="2400" i="0" dirty="0" smtClean="0">
                            <a:solidFill>
                              <a:srgbClr val="000000"/>
                            </a:solidFill>
                            <a:latin typeface="Cambria Math" panose="02040503050406030204" pitchFamily="18" charset="0"/>
                            <a:ea typeface="Times New Roman"/>
                            <a:cs typeface="Times New Roman"/>
                          </a:rPr>
                          <m:t>2,</m:t>
                        </m:r>
                        <m:r>
                          <a:rPr lang="en-US" altLang="en-US" sz="2400" i="1" dirty="0" smtClean="0">
                            <a:solidFill>
                              <a:srgbClr val="000000"/>
                            </a:solidFill>
                            <a:latin typeface="Cambria Math" panose="02040503050406030204" pitchFamily="18" charset="0"/>
                            <a:ea typeface="Times New Roman"/>
                            <a:cs typeface="Times New Roman"/>
                          </a:rPr>
                          <m:t>𝑢</m:t>
                        </m:r>
                      </m:sub>
                    </m:sSub>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oMath>
                </a14:m>
                <a:r>
                  <a:rPr lang="en-US" altLang="en-US" sz="2400" b="0" i="0" noProof="1">
                    <a:solidFill>
                      <a:srgbClr val="000000"/>
                    </a:solidFill>
                    <a:latin typeface="Times New Roman"/>
                    <a:ea typeface="標楷體"/>
                    <a:cs typeface="Times New Roman"/>
                  </a:rPr>
                  <a:t>: second reward of user </a:t>
                </a:r>
                <a:r>
                  <a:rPr lang="en-US" altLang="en-US" sz="2400" b="0" i="1" noProof="1">
                    <a:solidFill>
                      <a:srgbClr val="000000"/>
                    </a:solidFill>
                    <a:latin typeface="Times New Roman"/>
                    <a:ea typeface="標楷體"/>
                    <a:cs typeface="Times New Roman"/>
                  </a:rPr>
                  <a:t>u</a:t>
                </a:r>
                <a:r>
                  <a:rPr lang="en-US" altLang="en-US" sz="2400" b="0" i="0" noProof="1">
                    <a:solidFill>
                      <a:srgbClr val="000000"/>
                    </a:solidFill>
                    <a:latin typeface="Times New Roman"/>
                    <a:ea typeface="標楷體"/>
                    <a:cs typeface="Times New Roman"/>
                  </a:rPr>
                  <a:t>: the negative handover cost</a:t>
                </a:r>
                <a:endParaRPr lang="en-US" altLang="en-US" sz="2400" dirty="0">
                  <a:solidFill>
                    <a:srgbClr val="000000"/>
                  </a:solidFill>
                  <a:latin typeface="Times New Roman"/>
                  <a:ea typeface="Times New Roman"/>
                  <a:cs typeface="Times New Roman"/>
                </a:endParaRPr>
              </a:p>
            </p:txBody>
          </p:sp>
        </mc:Choice>
        <mc:Fallback xmlns="">
          <p:sp>
            <p:nvSpPr>
              <p:cNvPr id="7" name="edu:notation"/>
              <p:cNvSpPr txBox="1">
                <a:spLocks noRot="1" noChangeAspect="1" noMove="1" noResize="1" noEditPoints="1" noAdjustHandles="1" noChangeArrowheads="1" noChangeShapeType="1" noTextEdit="1"/>
              </p:cNvSpPr>
              <p:nvPr/>
            </p:nvSpPr>
            <p:spPr>
              <a:xfrm>
                <a:off x="565190" y="4055847"/>
                <a:ext cx="11064240" cy="1740103"/>
              </a:xfrm>
              <a:prstGeom prst="rect">
                <a:avLst/>
              </a:prstGeom>
              <a:blipFill>
                <a:blip r:embed="rId4"/>
                <a:stretch>
                  <a:fillRect l="-1708" t="-5245" b="-21329"/>
                </a:stretch>
              </a:blipFill>
              <a:effectLst/>
            </p:spPr>
            <p:txBody>
              <a:bodyPr/>
              <a:lstStyle/>
              <a:p>
                <a:r>
                  <a:rPr lang="zh-TW" altLang="en-US">
                    <a:noFill/>
                  </a:rPr>
                  <a:t> </a:t>
                </a:r>
              </a:p>
            </p:txBody>
          </p:sp>
        </mc:Fallback>
      </mc:AlternateContent>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du:title"/>
          <p:cNvSpPr txBox="1"/>
          <p:nvPr/>
        </p:nvSpPr>
        <p:spPr>
          <a:xfrm>
            <a:off x="565190" y="141274"/>
            <a:ext cx="11417289" cy="571500"/>
          </a:xfrm>
          <a:prstGeom prst="rect">
            <a:avLst/>
          </a:prstGeom>
          <a:noFill/>
        </p:spPr>
        <p:txBody>
          <a:bodyPr wrap="square" lIns="0" tIns="0" rIns="0" bIns="0" anchor="b">
            <a:spAutoFit/>
          </a:bodyPr>
          <a:lstStyle/>
          <a:p>
            <a:pPr algn="l"/>
            <a:r>
              <a:rPr lang="en-US" altLang="en-US" sz="2800" b="1" i="0" noProof="1">
                <a:solidFill>
                  <a:srgbClr val="1B365D"/>
                </a:solidFill>
                <a:latin typeface="Times New Roman"/>
                <a:ea typeface="標楷體"/>
                <a:cs typeface="Times New Roman"/>
              </a:rPr>
              <a:t>P3: Beam Throughput Fairness</a:t>
            </a:r>
          </a:p>
        </p:txBody>
      </p:sp>
      <p:sp>
        <p:nvSpPr>
          <p:cNvPr id="3" name="edu:citation"/>
          <p:cNvSpPr txBox="1"/>
          <p:nvPr/>
        </p:nvSpPr>
        <p:spPr>
          <a:xfrm>
            <a:off x="495330" y="6316675"/>
            <a:ext cx="11018520" cy="505663"/>
          </a:xfrm>
          <a:prstGeom prst="rect">
            <a:avLst/>
          </a:prstGeom>
          <a:noFill/>
        </p:spPr>
        <p:txBody>
          <a:bodyPr wrap="square" lIns="0" tIns="0" rIns="0" bIns="0" anchor="t">
            <a:spAutoFit/>
          </a:bodyPr>
          <a:lstStyle/>
          <a:p>
            <a:pPr algn="l">
              <a:lnSpc>
                <a:spcPct val="105000"/>
              </a:lnSpc>
            </a:pPr>
            <a:r>
              <a:rPr lang="en-US" altLang="en-US" sz="1400" b="0" i="0" noProof="1">
                <a:solidFill>
                  <a:srgbClr val="000000"/>
                </a:solidFill>
                <a:latin typeface="Times New Roman"/>
                <a:ea typeface="標楷體"/>
                <a:cs typeface="Times New Roman"/>
              </a:rPr>
              <a:t>Y. Sun et al., “Handover for Multi-Beam LEO Satellite Networks: A Multi-Objective Reinforcement Learning Method,” IEEE Communications Letters, Dec. 2024.</a:t>
            </a:r>
          </a:p>
        </p:txBody>
      </p:sp>
      <p:sp>
        <p:nvSpPr>
          <p:cNvPr id="4" name="edu:page-number"/>
          <p:cNvSpPr txBox="1"/>
          <p:nvPr/>
        </p:nvSpPr>
        <p:spPr>
          <a:xfrm>
            <a:off x="11521440" y="6382512"/>
            <a:ext cx="457200" cy="320040"/>
          </a:xfrm>
          <a:prstGeom prst="rect">
            <a:avLst/>
          </a:prstGeom>
          <a:noFill/>
        </p:spPr>
        <p:txBody>
          <a:bodyPr wrap="none" lIns="0" tIns="0" rIns="0" bIns="0">
            <a:spAutoFit/>
          </a:bodyPr>
          <a:lstStyle/>
          <a:p>
            <a:pPr algn="r"/>
            <a:r>
              <a:rPr lang="en-US" altLang="en-US" sz="1400" b="0" i="0" noProof="1">
                <a:solidFill>
                  <a:srgbClr val="000000"/>
                </a:solidFill>
                <a:latin typeface="Times New Roman"/>
                <a:ea typeface="標楷體"/>
                <a:cs typeface="Times New Roman"/>
              </a:rPr>
              <a:t>20</a:t>
            </a:r>
          </a:p>
        </p:txBody>
      </p:sp>
      <p:sp>
        <p:nvSpPr>
          <p:cNvPr id="5" name="edu:body"/>
          <p:cNvSpPr txBox="1"/>
          <p:nvPr/>
        </p:nvSpPr>
        <p:spPr>
          <a:xfrm>
            <a:off x="565190" y="896112"/>
            <a:ext cx="11064240" cy="774496"/>
          </a:xfrm>
          <a:prstGeom prst="rect">
            <a:avLst/>
          </a:prstGeom>
          <a:noFill/>
        </p:spPr>
        <p:txBody>
          <a:bodyPr wrap="square" lIns="0" tIns="0" rIns="0" bIns="0" anchor="t">
            <a:spAutoFit/>
          </a:bodyPr>
          <a:lstStyle/>
          <a:p>
            <a:pPr algn="l">
              <a:lnSpc>
                <a:spcPct val="112000"/>
              </a:lnSpc>
              <a:spcAft>
                <a:spcPts val="0"/>
              </a:spcAft>
            </a:pPr>
            <a:r>
              <a:rPr lang="en-US" altLang="en-US" sz="2400" b="0" i="0" noProof="1">
                <a:solidFill>
                  <a:srgbClr val="000000"/>
                </a:solidFill>
                <a:latin typeface="Times New Roman"/>
                <a:ea typeface="標楷體"/>
                <a:cs typeface="Times New Roman"/>
              </a:rPr>
              <a:t>At each step, add the throughput delivered by users on each beam, then compare the largest beam total with the smallest:</a:t>
            </a:r>
          </a:p>
        </p:txBody>
      </p:sp>
      <mc:AlternateContent xmlns:mc="http://schemas.openxmlformats.org/markup-compatibility/2006" xmlns:a14="http://schemas.microsoft.com/office/drawing/2010/main">
        <mc:Choice Requires="a14">
          <p:sp>
            <p:nvSpPr>
              <p:cNvPr id="6" name="edu:formula-omml" descr="Native Office Math: a18_p3_reward"/>
              <p:cNvSpPr txBox="1"/>
              <p:nvPr/>
            </p:nvSpPr>
            <p:spPr>
              <a:xfrm>
                <a:off x="1358798" y="1835200"/>
                <a:ext cx="9477756" cy="1096365"/>
              </a:xfrm>
              <a:prstGeom prst="rect">
                <a:avLst/>
              </a:prstGeom>
              <a:noFill/>
              <a:effectLst/>
            </p:spPr>
            <p:txBody>
              <a:bodyPr wrap="none" lIns="0" tIns="0" rIns="0" bIns="0" anchor="ctr">
                <a:noAutofit/>
              </a:bodyPr>
              <a:lstStyle/>
              <a:p>
                <a:pPr algn="ctr"/>
                <a14:m>
                  <m:oMathPara xmlns:m="http://schemas.openxmlformats.org/officeDocument/2006/math">
                    <m:oMath>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𝑟</m:t>
                          </m:r>
                        </m:e>
                        <m:sub>
                          <m:r>
                            <a:rPr lang="en-US" altLang="en-US" sz="2400" i="0" dirty="0" smtClean="0">
                              <a:solidFill>
                                <a:srgbClr val="000000"/>
                              </a:solidFill>
                              <a:latin typeface="Cambria Math" panose="02040503050406030204" pitchFamily="18" charset="0"/>
                              <a:ea typeface="Times New Roman"/>
                              <a:cs typeface="Times New Roman"/>
                            </a:rPr>
                            <m:t>3,</m:t>
                          </m:r>
                          <m:r>
                            <a:rPr lang="en-US" altLang="en-US" sz="2400" i="1" dirty="0" smtClean="0">
                              <a:solidFill>
                                <a:srgbClr val="000000"/>
                              </a:solidFill>
                              <a:latin typeface="Cambria Math" panose="02040503050406030204" pitchFamily="18" charset="0"/>
                              <a:ea typeface="Times New Roman"/>
                              <a:cs typeface="Times New Roman"/>
                            </a:rPr>
                            <m:t>𝑢</m:t>
                          </m:r>
                        </m:sub>
                      </m:sSub>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f>
                        <m:fPr>
                          <m:ctrlPr>
                            <a:rPr lang="en-US" altLang="en-US" sz="2400" i="0" dirty="0" smtClean="0">
                              <a:solidFill>
                                <a:srgbClr val="000000"/>
                              </a:solidFill>
                              <a:latin typeface="Cambria Math" panose="02040503050406030204" pitchFamily="18" charset="0"/>
                              <a:ea typeface="Times New Roman"/>
                              <a:cs typeface="Times New Roman"/>
                            </a:rPr>
                          </m:ctrlPr>
                        </m:fPr>
                        <m:num>
                          <m:r>
                            <a:rPr lang="en-US" altLang="en-US" sz="2400" i="0" dirty="0" smtClean="0">
                              <a:solidFill>
                                <a:srgbClr val="000000"/>
                              </a:solidFill>
                              <a:latin typeface="Cambria Math" panose="02040503050406030204" pitchFamily="18" charset="0"/>
                              <a:ea typeface="Times New Roman"/>
                              <a:cs typeface="Times New Roman"/>
                            </a:rPr>
                            <m:t>1</m:t>
                          </m:r>
                        </m:num>
                        <m:den>
                          <m:r>
                            <a:rPr lang="en-US" altLang="en-US" sz="2400" b="0" i="1" dirty="0" smtClean="0">
                              <a:solidFill>
                                <a:srgbClr val="000000"/>
                              </a:solidFill>
                              <a:latin typeface="Cambria Math" panose="02040503050406030204" pitchFamily="18" charset="0"/>
                              <a:ea typeface="Times New Roman"/>
                              <a:cs typeface="Times New Roman"/>
                            </a:rPr>
                            <m:t>𝑈</m:t>
                          </m:r>
                        </m:den>
                      </m:f>
                      <m:d>
                        <m:dPr>
                          <m:ctrlPr>
                            <a:rPr lang="en-US" altLang="en-US" sz="2400" i="1" dirty="0" smtClean="0">
                              <a:solidFill>
                                <a:srgbClr val="000000"/>
                              </a:solidFill>
                              <a:latin typeface="Cambria Math" panose="02040503050406030204" pitchFamily="18" charset="0"/>
                              <a:ea typeface="Times New Roman"/>
                              <a:cs typeface="Times New Roman"/>
                            </a:rPr>
                          </m:ctrlPr>
                        </m:dPr>
                        <m:e>
                          <m:limLow>
                            <m:limLowPr>
                              <m:ctrlPr>
                                <a:rPr lang="en-US" altLang="en-US" sz="2400" i="0" dirty="0" smtClean="0">
                                  <a:solidFill>
                                    <a:srgbClr val="000000"/>
                                  </a:solidFill>
                                  <a:latin typeface="Times New Roman"/>
                                  <a:ea typeface="Times New Roman"/>
                                  <a:cs typeface="Times New Roman"/>
                                </a:rPr>
                              </m:ctrlPr>
                            </m:limLowPr>
                            <m:e>
                              <m:r>
                                <m:rPr>
                                  <m:nor/>
                                </m:rPr>
                                <a:rPr lang="en-US" altLang="en-US" sz="2400" i="0" dirty="0" smtClean="0">
                                  <a:solidFill>
                                    <a:srgbClr val="000000"/>
                                  </a:solidFill>
                                  <a:latin typeface="Times New Roman"/>
                                  <a:ea typeface="Times New Roman"/>
                                  <a:cs typeface="Times New Roman"/>
                                </a:rPr>
                                <m:t>max</m:t>
                              </m:r>
                            </m:e>
                            <m:lim>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𝒦</m:t>
                              </m:r>
                            </m:lim>
                          </m:limLow>
                          <m:nary>
                            <m:naryPr>
                              <m:chr m:val="∑"/>
                              <m:limLoc m:val="undOvr"/>
                              <m:ctrlPr>
                                <a:rPr lang="en-US" altLang="en-US" sz="2400" b="0" i="1" dirty="0" smtClean="0">
                                  <a:solidFill>
                                    <a:srgbClr val="000000"/>
                                  </a:solidFill>
                                  <a:latin typeface="Cambria Math" panose="02040503050406030204" pitchFamily="18" charset="0"/>
                                  <a:ea typeface="Times New Roman"/>
                                  <a:cs typeface="Times New Roman"/>
                                </a:rPr>
                              </m:ctrlPr>
                            </m:naryPr>
                            <m:sub>
                              <m:r>
                                <m:rPr>
                                  <m:brk/>
                                </m:rPr>
                                <a:rPr lang="en-US" altLang="en-US" sz="2400" b="0" i="1" dirty="0" smtClean="0">
                                  <a:solidFill>
                                    <a:srgbClr val="000000"/>
                                  </a:solidFill>
                                  <a:latin typeface="Cambria Math" panose="02040503050406030204" pitchFamily="18" charset="0"/>
                                  <a:ea typeface="Times New Roman"/>
                                  <a:cs typeface="Times New Roman"/>
                                </a:rPr>
                                <m:t>𝑢</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𝒰</m:t>
                              </m:r>
                            </m:sub>
                            <m:sup>
                              <m:r>
                                <a:rPr lang="en-US" altLang="en-US" sz="2400" i="1" dirty="0" smtClean="0">
                                  <a:solidFill>
                                    <a:srgbClr val="000000"/>
                                  </a:solidFill>
                                  <a:latin typeface="Cambria Math" panose="02040503050406030204" pitchFamily="18" charset="0"/>
                                  <a:ea typeface="Times New Roman"/>
                                  <a:cs typeface="Times New Roman"/>
                                </a:rPr>
                                <m:t>​</m:t>
                              </m:r>
                            </m:sup>
                            <m:e>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𝑥</m:t>
                                  </m:r>
                                </m:e>
                                <m:sub>
                                  <m:r>
                                    <m:rPr>
                                      <m:brk/>
                                    </m:rPr>
                                    <a:rPr lang="en-US" altLang="en-US" sz="2400" i="1" dirty="0">
                                      <a:solidFill>
                                        <a:srgbClr val="000000"/>
                                      </a:solidFill>
                                      <a:latin typeface="Cambria Math" panose="02040503050406030204" pitchFamily="18" charset="0"/>
                                      <a:ea typeface="Times New Roman"/>
                                      <a:cs typeface="Times New Roman"/>
                                    </a:rPr>
                                    <m:t>𝑢</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Sub>
                            </m:e>
                          </m:nary>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𝑅</m:t>
                              </m:r>
                            </m:e>
                            <m:sub>
                              <m:r>
                                <m:rPr>
                                  <m:brk/>
                                </m:rPr>
                                <a:rPr lang="en-US" altLang="en-US" sz="2400" i="1" dirty="0">
                                  <a:solidFill>
                                    <a:srgbClr val="000000"/>
                                  </a:solidFill>
                                  <a:latin typeface="Cambria Math" panose="02040503050406030204" pitchFamily="18" charset="0"/>
                                  <a:ea typeface="Times New Roman"/>
                                  <a:cs typeface="Times New Roman"/>
                                </a:rPr>
                                <m:t>𝑢</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Sub>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limLow>
                            <m:limLowPr>
                              <m:ctrlPr>
                                <a:rPr lang="en-US" altLang="en-US" sz="2400" i="0" dirty="0" smtClean="0">
                                  <a:solidFill>
                                    <a:srgbClr val="000000"/>
                                  </a:solidFill>
                                  <a:latin typeface="Times New Roman"/>
                                  <a:ea typeface="Times New Roman"/>
                                  <a:cs typeface="Times New Roman"/>
                                </a:rPr>
                              </m:ctrlPr>
                            </m:limLowPr>
                            <m:e>
                              <m:r>
                                <m:rPr>
                                  <m:nor/>
                                </m:rPr>
                                <a:rPr lang="en-US" altLang="en-US" sz="2400" i="0" dirty="0" smtClean="0">
                                  <a:solidFill>
                                    <a:srgbClr val="000000"/>
                                  </a:solidFill>
                                  <a:latin typeface="Times New Roman"/>
                                  <a:ea typeface="Times New Roman"/>
                                  <a:cs typeface="Times New Roman"/>
                                </a:rPr>
                                <m:t>min</m:t>
                              </m:r>
                            </m:e>
                            <m:lim>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𝒦</m:t>
                              </m:r>
                            </m:lim>
                          </m:limLow>
                          <m:nary>
                            <m:naryPr>
                              <m:chr m:val="∑"/>
                              <m:limLoc m:val="undOvr"/>
                              <m:ctrlPr>
                                <a:rPr lang="en-US" altLang="en-US" sz="2400" i="1" dirty="0" smtClean="0">
                                  <a:solidFill>
                                    <a:srgbClr val="000000"/>
                                  </a:solidFill>
                                  <a:latin typeface="Cambria Math" panose="02040503050406030204" pitchFamily="18" charset="0"/>
                                  <a:ea typeface="Times New Roman"/>
                                  <a:cs typeface="Times New Roman"/>
                                </a:rPr>
                              </m:ctrlPr>
                            </m:naryPr>
                            <m:sub>
                              <m:sSup>
                                <m:sSupPr>
                                  <m:ctrlPr>
                                    <a:rPr lang="en-US" altLang="en-US" sz="2400" i="1" dirty="0" smtClean="0">
                                      <a:solidFill>
                                        <a:srgbClr val="000000"/>
                                      </a:solidFill>
                                      <a:latin typeface="Cambria Math" panose="02040503050406030204" pitchFamily="18" charset="0"/>
                                      <a:ea typeface="Times New Roman"/>
                                      <a:cs typeface="Times New Roman"/>
                                    </a:rPr>
                                  </m:ctrlPr>
                                </m:sSupPr>
                                <m:e>
                                  <m:r>
                                    <a:rPr lang="en-US" altLang="en-US" sz="2400" i="1" dirty="0" smtClean="0">
                                      <a:solidFill>
                                        <a:srgbClr val="000000"/>
                                      </a:solidFill>
                                      <a:latin typeface="Cambria Math" panose="02040503050406030204" pitchFamily="18" charset="0"/>
                                      <a:ea typeface="Times New Roman"/>
                                      <a:cs typeface="Times New Roman"/>
                                    </a:rPr>
                                    <m:t>𝑢</m:t>
                                  </m:r>
                                </m:e>
                                <m:sup>
                                  <m:r>
                                    <a:rPr lang="en-US" altLang="en-US" sz="2400" i="0" dirty="0" smtClean="0">
                                      <a:solidFill>
                                        <a:srgbClr val="000000"/>
                                      </a:solidFill>
                                      <a:latin typeface="Cambria Math" panose="02040503050406030204" pitchFamily="18" charset="0"/>
                                      <a:ea typeface="Times New Roman"/>
                                      <a:cs typeface="Times New Roman"/>
                                    </a:rPr>
                                    <m:t>′</m:t>
                                  </m:r>
                                </m:sup>
                              </m:sSup>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𝒰</m:t>
                              </m:r>
                            </m:sub>
                            <m:sup>
                              <m:r>
                                <a:rPr lang="en-US" altLang="en-US" sz="2400" i="1" dirty="0" smtClean="0">
                                  <a:solidFill>
                                    <a:srgbClr val="000000"/>
                                  </a:solidFill>
                                  <a:latin typeface="Cambria Math" panose="02040503050406030204" pitchFamily="18" charset="0"/>
                                  <a:ea typeface="Times New Roman"/>
                                  <a:cs typeface="Times New Roman"/>
                                </a:rPr>
                                <m:t>​</m:t>
                              </m:r>
                            </m:sup>
                            <m:e>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𝑥</m:t>
                                  </m:r>
                                </m:e>
                                <m:sub>
                                  <m:r>
                                    <m:rPr>
                                      <m:brk/>
                                    </m:rPr>
                                    <a:rPr lang="en-US" altLang="en-US" sz="2400" i="1" dirty="0">
                                      <a:solidFill>
                                        <a:srgbClr val="000000"/>
                                      </a:solidFill>
                                      <a:latin typeface="Cambria Math" panose="02040503050406030204" pitchFamily="18" charset="0"/>
                                      <a:ea typeface="Times New Roman"/>
                                      <a:cs typeface="Times New Roman"/>
                                    </a:rPr>
                                    <m:t>𝑢</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Sub>
                            </m:e>
                          </m:nary>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𝑅</m:t>
                              </m:r>
                            </m:e>
                            <m:sub>
                              <m:r>
                                <m:rPr>
                                  <m:brk/>
                                </m:rPr>
                                <a:rPr lang="en-US" altLang="en-US" sz="2400" i="1" dirty="0">
                                  <a:solidFill>
                                    <a:srgbClr val="000000"/>
                                  </a:solidFill>
                                  <a:latin typeface="Cambria Math" panose="02040503050406030204" pitchFamily="18" charset="0"/>
                                  <a:ea typeface="Times New Roman"/>
                                  <a:cs typeface="Times New Roman"/>
                                </a:rPr>
                                <m:t>𝑢</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Sub>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e>
                      </m:d>
                    </m:oMath>
                  </m:oMathPara>
                </a14:m>
                <a:endParaRPr lang="en-US" altLang="en-US" sz="2400" dirty="0">
                  <a:solidFill>
                    <a:srgbClr val="000000"/>
                  </a:solidFill>
                  <a:latin typeface="Times New Roman"/>
                  <a:ea typeface="Times New Roman"/>
                  <a:cs typeface="Times New Roman"/>
                </a:endParaRPr>
              </a:p>
            </p:txBody>
          </p:sp>
        </mc:Choice>
        <mc:Fallback xmlns="">
          <p:sp>
            <p:nvSpPr>
              <p:cNvPr id="6" name="edu:formula-omml" descr="Native Office Math: a18_p3_reward"/>
              <p:cNvSpPr txBox="1">
                <a:spLocks noRot="1" noChangeAspect="1" noMove="1" noResize="1" noEditPoints="1" noAdjustHandles="1" noChangeArrowheads="1" noChangeShapeType="1" noTextEdit="1"/>
              </p:cNvSpPr>
              <p:nvPr/>
            </p:nvSpPr>
            <p:spPr>
              <a:xfrm>
                <a:off x="1358798" y="1835200"/>
                <a:ext cx="9477756" cy="1096365"/>
              </a:xfrm>
              <a:prstGeom prst="rect">
                <a:avLst/>
              </a:prstGeom>
              <a:blipFill>
                <a:blip r:embed="rId3"/>
                <a:stretch>
                  <a:fillRect l="-1608" r="-579" b="-3889"/>
                </a:stretch>
              </a:blipFill>
              <a:effectLst/>
            </p:spPr>
            <p:txBody>
              <a:bodyPr/>
              <a:lstStyle/>
              <a:p>
                <a:r>
                  <a:rPr lang="zh-TW" altLang="en-US">
                    <a:noFill/>
                  </a:rPr>
                  <a:t> </a:t>
                </a:r>
              </a:p>
            </p:txBody>
          </p:sp>
        </mc:Fallback>
      </mc:AlternateContent>
      <p:sp>
        <p:nvSpPr>
          <p:cNvPr id="7" name="edu:body"/>
          <p:cNvSpPr txBox="1"/>
          <p:nvPr/>
        </p:nvSpPr>
        <p:spPr>
          <a:xfrm>
            <a:off x="563880" y="3222059"/>
            <a:ext cx="11064240" cy="738664"/>
          </a:xfrm>
          <a:prstGeom prst="rect">
            <a:avLst/>
          </a:prstGeom>
          <a:noFill/>
        </p:spPr>
        <p:txBody>
          <a:bodyPr wrap="square" lIns="0" tIns="0" rIns="0" bIns="0" anchor="t">
            <a:spAutoFit/>
          </a:bodyPr>
          <a:lstStyle/>
          <a:p>
            <a:pPr algn="l">
              <a:lnSpc>
                <a:spcPct val="100000"/>
              </a:lnSpc>
              <a:spcAft>
                <a:spcPts val="0"/>
              </a:spcAft>
            </a:pPr>
            <a:r>
              <a:rPr lang="en-US" altLang="en-US" sz="2400" b="0" i="0" noProof="1">
                <a:solidFill>
                  <a:srgbClr val="000000"/>
                </a:solidFill>
                <a:latin typeface="Times New Roman"/>
                <a:ea typeface="標楷體"/>
                <a:cs typeface="Times New Roman"/>
              </a:rPr>
              <a:t>The same normalized fairness penalty is returned to each user agent; a larger beam-throughput gap produces a smaller third reward.</a:t>
            </a:r>
          </a:p>
        </p:txBody>
      </p:sp>
      <mc:AlternateContent xmlns:mc="http://schemas.openxmlformats.org/markup-compatibility/2006" xmlns:a14="http://schemas.microsoft.com/office/drawing/2010/main">
        <mc:Choice Requires="a14">
          <p:sp>
            <p:nvSpPr>
              <p:cNvPr id="8" name="edu:notation"/>
              <p:cNvSpPr txBox="1"/>
              <p:nvPr/>
            </p:nvSpPr>
            <p:spPr>
              <a:xfrm>
                <a:off x="565190" y="4420275"/>
                <a:ext cx="11064240" cy="1391716"/>
              </a:xfrm>
              <a:prstGeom prst="rect">
                <a:avLst/>
              </a:prstGeom>
              <a:noFill/>
              <a:effectLst/>
            </p:spPr>
            <p:txBody>
              <a:bodyPr wrap="square" lIns="0" tIns="0" rIns="0" bIns="0" anchor="t">
                <a:noAutofit/>
              </a:bodyPr>
              <a:lstStyle/>
              <a:p>
                <a:pPr algn="l">
                  <a:lnSpc>
                    <a:spcPct val="100000"/>
                  </a:lnSpc>
                  <a:spcAft>
                    <a:spcPts val="200"/>
                  </a:spcAft>
                </a:pPr>
                <a:r>
                  <a:rPr lang="en-US" altLang="en-US" sz="2400" b="1" i="0" noProof="1">
                    <a:solidFill>
                      <a:srgbClr val="000000"/>
                    </a:solidFill>
                    <a:latin typeface="Times New Roman"/>
                    <a:ea typeface="標楷體"/>
                    <a:cs typeface="Times New Roman"/>
                  </a:rPr>
                  <a:t>Notation</a:t>
                </a:r>
              </a:p>
              <a:p>
                <a:pPr algn="l">
                  <a:lnSpc>
                    <a:spcPct val="100000"/>
                  </a:lnSpc>
                  <a:spcAft>
                    <a:spcPts val="200"/>
                  </a:spcAft>
                </a:pPr>
                <a14:m>
                  <m:oMath xmlns:m="http://schemas.openxmlformats.org/officeDocument/2006/math">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𝑅</m:t>
                        </m:r>
                      </m:e>
                      <m:sub>
                        <m:r>
                          <a:rPr lang="en-US" altLang="en-US" sz="2400" i="1" dirty="0" smtClean="0">
                            <a:solidFill>
                              <a:srgbClr val="000000"/>
                            </a:solidFill>
                            <a:latin typeface="Cambria Math" panose="02040503050406030204" pitchFamily="18" charset="0"/>
                            <a:ea typeface="Times New Roman"/>
                            <a:cs typeface="Times New Roman"/>
                          </a:rPr>
                          <m:t>𝑢</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𝑠</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𝑣</m:t>
                        </m:r>
                      </m:sub>
                    </m:sSub>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oMath>
                </a14:m>
                <a:r>
                  <a:rPr lang="en-US" altLang="en-US" sz="2400" b="0" i="0" noProof="1">
                    <a:solidFill>
                      <a:srgbClr val="000000"/>
                    </a:solidFill>
                    <a:latin typeface="Times New Roman"/>
                    <a:ea typeface="標楷體"/>
                    <a:cs typeface="Times New Roman"/>
                  </a:rPr>
                  <a:t>: throughput delivered on link (u, s, v) at step t</a:t>
                </a:r>
                <a:endParaRPr lang="en-US" altLang="en-US" sz="2400" dirty="0">
                  <a:solidFill>
                    <a:srgbClr val="000000"/>
                  </a:solidFill>
                  <a:latin typeface="Times New Roman"/>
                  <a:ea typeface="Times New Roman"/>
                  <a:cs typeface="Times New Roman"/>
                </a:endParaRPr>
              </a:p>
              <a:p>
                <a:pPr algn="l">
                  <a:lnSpc>
                    <a:spcPct val="100000"/>
                  </a:lnSpc>
                  <a:spcAft>
                    <a:spcPts val="200"/>
                  </a:spcAft>
                </a:pPr>
                <a14:m>
                  <m:oMath xmlns:m="http://schemas.openxmlformats.org/officeDocument/2006/math">
                    <m:r>
                      <a:rPr lang="en-US" altLang="en-US" sz="2400" i="1" dirty="0" smtClean="0">
                        <a:solidFill>
                          <a:srgbClr val="000000"/>
                        </a:solidFill>
                        <a:latin typeface="Cambria Math" panose="02040503050406030204" pitchFamily="18" charset="0"/>
                        <a:ea typeface="Times New Roman"/>
                        <a:cs typeface="Times New Roman"/>
                      </a:rPr>
                      <m:t>𝒦</m:t>
                    </m:r>
                  </m:oMath>
                </a14:m>
                <a:r>
                  <a:rPr lang="en-US" altLang="en-US" sz="2400" b="0" i="0" noProof="1">
                    <a:solidFill>
                      <a:srgbClr val="000000"/>
                    </a:solidFill>
                    <a:latin typeface="Times New Roman"/>
                    <a:ea typeface="標楷體"/>
                    <a:cs typeface="Times New Roman"/>
                  </a:rPr>
                  <a:t>: all satellite--beam pairs compared by the fairness objective</a:t>
                </a:r>
                <a:endParaRPr lang="en-US" altLang="en-US" sz="2400" dirty="0">
                  <a:solidFill>
                    <a:srgbClr val="000000"/>
                  </a:solidFill>
                  <a:latin typeface="Times New Roman"/>
                  <a:ea typeface="Times New Roman"/>
                  <a:cs typeface="Times New Roman"/>
                </a:endParaRPr>
              </a:p>
              <a:p>
                <a:pPr algn="l">
                  <a:lnSpc>
                    <a:spcPct val="100000"/>
                  </a:lnSpc>
                  <a:spcAft>
                    <a:spcPts val="200"/>
                  </a:spcAft>
                </a:pPr>
                <a14:m>
                  <m:oMath xmlns:m="http://schemas.openxmlformats.org/officeDocument/2006/math">
                    <m:r>
                      <a:rPr lang="en-US" altLang="en-US" sz="2400" b="0" i="1" dirty="0" smtClean="0">
                        <a:solidFill>
                          <a:srgbClr val="000000"/>
                        </a:solidFill>
                        <a:latin typeface="Cambria Math" panose="02040503050406030204" pitchFamily="18" charset="0"/>
                        <a:ea typeface="Times New Roman"/>
                        <a:cs typeface="Times New Roman"/>
                      </a:rPr>
                      <m:t>𝑈</m:t>
                    </m:r>
                  </m:oMath>
                </a14:m>
                <a:r>
                  <a:rPr lang="en-US" altLang="en-US" sz="2400" b="0" i="0" noProof="1">
                    <a:solidFill>
                      <a:srgbClr val="000000"/>
                    </a:solidFill>
                    <a:latin typeface="Times New Roman"/>
                    <a:ea typeface="標楷體"/>
                    <a:cs typeface="Times New Roman"/>
                  </a:rPr>
                  <a:t>: number of users used for the fairness normalization</a:t>
                </a:r>
                <a:endParaRPr lang="en-US" altLang="en-US" sz="2400" dirty="0">
                  <a:solidFill>
                    <a:srgbClr val="000000"/>
                  </a:solidFill>
                  <a:latin typeface="Times New Roman"/>
                  <a:ea typeface="Times New Roman"/>
                  <a:cs typeface="Times New Roman"/>
                </a:endParaRPr>
              </a:p>
            </p:txBody>
          </p:sp>
        </mc:Choice>
        <mc:Fallback xmlns="">
          <p:sp>
            <p:nvSpPr>
              <p:cNvPr id="8" name="edu:notation"/>
              <p:cNvSpPr txBox="1">
                <a:spLocks noRot="1" noChangeAspect="1" noMove="1" noResize="1" noEditPoints="1" noAdjustHandles="1" noChangeArrowheads="1" noChangeShapeType="1" noTextEdit="1"/>
              </p:cNvSpPr>
              <p:nvPr/>
            </p:nvSpPr>
            <p:spPr>
              <a:xfrm>
                <a:off x="565190" y="4420275"/>
                <a:ext cx="11064240" cy="1391716"/>
              </a:xfrm>
              <a:prstGeom prst="rect">
                <a:avLst/>
              </a:prstGeom>
              <a:blipFill>
                <a:blip r:embed="rId4"/>
                <a:stretch>
                  <a:fillRect l="-1708" t="-6579" b="-25439"/>
                </a:stretch>
              </a:blipFill>
              <a:effectLst/>
            </p:spPr>
            <p:txBody>
              <a:bodyPr/>
              <a:lstStyle/>
              <a:p>
                <a:r>
                  <a:rPr lang="zh-TW" altLang="en-US">
                    <a:noFill/>
                  </a:rPr>
                  <a:t> </a:t>
                </a:r>
              </a:p>
            </p:txBody>
          </p:sp>
        </mc:Fallback>
      </mc:AlternateContent>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du:title"/>
          <p:cNvSpPr txBox="1"/>
          <p:nvPr/>
        </p:nvSpPr>
        <p:spPr>
          <a:xfrm>
            <a:off x="565190" y="141274"/>
            <a:ext cx="11417289" cy="571500"/>
          </a:xfrm>
          <a:prstGeom prst="rect">
            <a:avLst/>
          </a:prstGeom>
          <a:noFill/>
        </p:spPr>
        <p:txBody>
          <a:bodyPr wrap="square" lIns="0" tIns="0" rIns="0" bIns="0" anchor="b">
            <a:spAutoFit/>
          </a:bodyPr>
          <a:lstStyle/>
          <a:p>
            <a:pPr algn="l"/>
            <a:r>
              <a:rPr lang="en-US" altLang="en-US" sz="2800" b="1" i="0" noProof="1">
                <a:solidFill>
                  <a:srgbClr val="1B365D"/>
                </a:solidFill>
                <a:latin typeface="Times New Roman"/>
                <a:ea typeface="標楷體"/>
                <a:cs typeface="Times New Roman"/>
              </a:rPr>
              <a:t>The Reward Vector</a:t>
            </a:r>
          </a:p>
        </p:txBody>
      </p:sp>
      <p:sp>
        <p:nvSpPr>
          <p:cNvPr id="3" name="edu:citation"/>
          <p:cNvSpPr txBox="1"/>
          <p:nvPr/>
        </p:nvSpPr>
        <p:spPr>
          <a:xfrm>
            <a:off x="495330" y="6316675"/>
            <a:ext cx="11018520" cy="505663"/>
          </a:xfrm>
          <a:prstGeom prst="rect">
            <a:avLst/>
          </a:prstGeom>
          <a:noFill/>
        </p:spPr>
        <p:txBody>
          <a:bodyPr wrap="square" lIns="0" tIns="0" rIns="0" bIns="0" anchor="t">
            <a:spAutoFit/>
          </a:bodyPr>
          <a:lstStyle/>
          <a:p>
            <a:pPr algn="l">
              <a:lnSpc>
                <a:spcPct val="105000"/>
              </a:lnSpc>
            </a:pPr>
            <a:r>
              <a:rPr lang="en-US" altLang="en-US" sz="1400" b="0" i="0" noProof="1">
                <a:solidFill>
                  <a:srgbClr val="000000"/>
                </a:solidFill>
                <a:latin typeface="Times New Roman"/>
                <a:ea typeface="標楷體"/>
                <a:cs typeface="Times New Roman"/>
              </a:rPr>
              <a:t>Y. Sun et al., “Handover for Multi-Beam LEO Satellite Networks: A Multi-Objective Reinforcement Learning Method,” IEEE Communications Letters, Dec. 2024.</a:t>
            </a:r>
          </a:p>
        </p:txBody>
      </p:sp>
      <p:sp>
        <p:nvSpPr>
          <p:cNvPr id="5" name="edu:body"/>
          <p:cNvSpPr txBox="1"/>
          <p:nvPr/>
        </p:nvSpPr>
        <p:spPr>
          <a:xfrm>
            <a:off x="565190" y="896112"/>
            <a:ext cx="11064240" cy="386791"/>
          </a:xfrm>
          <a:prstGeom prst="rect">
            <a:avLst/>
          </a:prstGeom>
          <a:noFill/>
        </p:spPr>
        <p:txBody>
          <a:bodyPr wrap="square" lIns="0" tIns="0" rIns="0" bIns="0" anchor="t">
            <a:spAutoFit/>
          </a:bodyPr>
          <a:lstStyle/>
          <a:p>
            <a:pPr algn="l">
              <a:lnSpc>
                <a:spcPct val="112000"/>
              </a:lnSpc>
              <a:spcAft>
                <a:spcPts val="0"/>
              </a:spcAft>
            </a:pPr>
            <a:r>
              <a:rPr lang="en-US" altLang="en-US" sz="2400" b="0" i="0" noProof="1">
                <a:solidFill>
                  <a:srgbClr val="000000"/>
                </a:solidFill>
                <a:latin typeface="Times New Roman"/>
                <a:ea typeface="標楷體"/>
                <a:cs typeface="Times New Roman"/>
              </a:rPr>
              <a:t>The environment returns three separate numbers per decision, not one score:</a:t>
            </a:r>
          </a:p>
        </p:txBody>
      </p:sp>
      <mc:AlternateContent xmlns:mc="http://schemas.openxmlformats.org/markup-compatibility/2006" xmlns:a14="http://schemas.microsoft.com/office/drawing/2010/main">
        <mc:Choice Requires="a14">
          <p:sp>
            <p:nvSpPr>
              <p:cNvPr id="6" name="edu:formula-omml" descr="Native Office Math: a21_vector"/>
              <p:cNvSpPr txBox="1"/>
              <p:nvPr/>
            </p:nvSpPr>
            <p:spPr>
              <a:xfrm>
                <a:off x="3205886" y="1447495"/>
                <a:ext cx="5782665" cy="587959"/>
              </a:xfrm>
              <a:prstGeom prst="rect">
                <a:avLst/>
              </a:prstGeom>
              <a:noFill/>
              <a:effectLst/>
            </p:spPr>
            <p:txBody>
              <a:bodyPr wrap="none" lIns="0" tIns="0" rIns="0" bIns="0" anchor="ctr">
                <a:noAutofit/>
              </a:bodyPr>
              <a:lstStyle/>
              <a:p>
                <a:pPr algn="ctr"/>
                <a14:m>
                  <m:oMathPara xmlns:m="http://schemas.openxmlformats.org/officeDocument/2006/math">
                    <m:oMath>
                      <m:sSub>
                        <m:sSubPr>
                          <m:ctrlPr>
                            <a:rPr lang="en-US" altLang="en-US" sz="2400" i="1" dirty="0" smtClean="0">
                              <a:solidFill>
                                <a:srgbClr val="000000"/>
                              </a:solidFill>
                              <a:latin typeface="Cambria Math" panose="02040503050406030204" pitchFamily="18" charset="0"/>
                              <a:ea typeface="Times New Roman"/>
                              <a:cs typeface="Times New Roman"/>
                            </a:rPr>
                          </m:ctrlPr>
                        </m:sSubPr>
                        <m:e>
                          <m:acc>
                            <m:accPr>
                              <m:chr m:val="⃗"/>
                              <m:ctrlPr>
                                <a:rPr lang="en-US" altLang="en-US" sz="2400" i="1" dirty="0" smtClean="0">
                                  <a:solidFill>
                                    <a:srgbClr val="000000"/>
                                  </a:solidFill>
                                  <a:latin typeface="Cambria Math" panose="02040503050406030204" pitchFamily="18" charset="0"/>
                                  <a:ea typeface="Times New Roman"/>
                                  <a:cs typeface="Times New Roman"/>
                                </a:rPr>
                              </m:ctrlPr>
                            </m:accPr>
                            <m:e>
                              <m:r>
                                <a:rPr lang="en-US" altLang="en-US" sz="2400" i="1" dirty="0" smtClean="0">
                                  <a:solidFill>
                                    <a:srgbClr val="000000"/>
                                  </a:solidFill>
                                  <a:latin typeface="Cambria Math" panose="02040503050406030204" pitchFamily="18" charset="0"/>
                                  <a:ea typeface="Times New Roman"/>
                                  <a:cs typeface="Times New Roman"/>
                                </a:rPr>
                                <m:t>𝑅</m:t>
                              </m:r>
                            </m:e>
                          </m:acc>
                        </m:e>
                        <m:sub>
                          <m:r>
                            <a:rPr lang="en-US" altLang="en-US" sz="2400" i="1" dirty="0" smtClean="0">
                              <a:solidFill>
                                <a:srgbClr val="000000"/>
                              </a:solidFill>
                              <a:latin typeface="Cambria Math" panose="02040503050406030204" pitchFamily="18" charset="0"/>
                              <a:ea typeface="Times New Roman"/>
                              <a:cs typeface="Times New Roman"/>
                            </a:rPr>
                            <m:t>𝑢</m:t>
                          </m:r>
                        </m:sub>
                      </m:sSub>
                      <m:r>
                        <a:rPr lang="en-US" altLang="en-US" sz="2400" i="1" dirty="0" smtClean="0">
                          <a:solidFill>
                            <a:srgbClr val="000000"/>
                          </a:solidFill>
                          <a:latin typeface="Cambria Math" panose="02040503050406030204" pitchFamily="18" charset="0"/>
                          <a:ea typeface="Times New Roman"/>
                          <a:cs typeface="Times New Roman"/>
                        </a:rPr>
                        <m:t>​</m:t>
                      </m:r>
                      <m:d>
                        <m:dPr>
                          <m:ctrlPr>
                            <a:rPr lang="en-US" altLang="en-US" sz="2400" i="1" dirty="0" smtClean="0">
                              <a:solidFill>
                                <a:srgbClr val="000000"/>
                              </a:solidFill>
                              <a:latin typeface="Cambria Math" panose="02040503050406030204" pitchFamily="18" charset="0"/>
                              <a:ea typeface="Times New Roman"/>
                              <a:cs typeface="Times New Roman"/>
                            </a:rPr>
                          </m:ctrlPr>
                        </m:dPr>
                        <m:e>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sSub>
                            <m:sSubPr>
                              <m:ctrlPr>
                                <a:rPr lang="en-US" altLang="en-US" sz="2400" i="1" dirty="0">
                                  <a:solidFill>
                                    <a:srgbClr val="000000"/>
                                  </a:solidFill>
                                  <a:latin typeface="Cambria Math" panose="02040503050406030204" pitchFamily="18" charset="0"/>
                                  <a:ea typeface="Times New Roman"/>
                                  <a:cs typeface="Times New Roman"/>
                                </a:rPr>
                              </m:ctrlPr>
                            </m:sSubPr>
                            <m:e>
                              <m:r>
                                <a:rPr lang="en-US" altLang="en-US" sz="2400" i="1" dirty="0">
                                  <a:solidFill>
                                    <a:srgbClr val="000000"/>
                                  </a:solidFill>
                                  <a:latin typeface="Cambria Math" panose="02040503050406030204" pitchFamily="18" charset="0"/>
                                  <a:ea typeface="Times New Roman"/>
                                  <a:cs typeface="Times New Roman"/>
                                </a:rPr>
                                <m:t>𝜃</m:t>
                              </m:r>
                            </m:e>
                            <m:sub>
                              <m:r>
                                <a:rPr lang="en-US" altLang="en-US" sz="2400" i="1" dirty="0">
                                  <a:solidFill>
                                    <a:srgbClr val="000000"/>
                                  </a:solidFill>
                                  <a:latin typeface="Cambria Math" panose="02040503050406030204" pitchFamily="18" charset="0"/>
                                  <a:ea typeface="Times New Roman"/>
                                  <a:cs typeface="Times New Roman"/>
                                </a:rPr>
                                <m:t>𝑢</m:t>
                              </m:r>
                              <m:r>
                                <a:rPr lang="en-US" altLang="en-US" sz="2400" dirty="0">
                                  <a:solidFill>
                                    <a:srgbClr val="000000"/>
                                  </a:solidFill>
                                  <a:latin typeface="Cambria Math" panose="02040503050406030204" pitchFamily="18" charset="0"/>
                                  <a:ea typeface="Times New Roman"/>
                                  <a:cs typeface="Times New Roman"/>
                                </a:rPr>
                                <m:t>,</m:t>
                              </m:r>
                              <m:r>
                                <a:rPr lang="en-US" altLang="en-US" sz="2400" i="1" dirty="0">
                                  <a:solidFill>
                                    <a:srgbClr val="000000"/>
                                  </a:solidFill>
                                  <a:latin typeface="Cambria Math" panose="02040503050406030204" pitchFamily="18" charset="0"/>
                                  <a:ea typeface="Times New Roman"/>
                                  <a:cs typeface="Times New Roman"/>
                                </a:rPr>
                                <m:t>𝑠</m:t>
                              </m:r>
                              <m:r>
                                <a:rPr lang="en-US" altLang="en-US" sz="2400" dirty="0">
                                  <a:solidFill>
                                    <a:srgbClr val="000000"/>
                                  </a:solidFill>
                                  <a:latin typeface="Cambria Math" panose="02040503050406030204" pitchFamily="18" charset="0"/>
                                  <a:ea typeface="Times New Roman"/>
                                  <a:cs typeface="Times New Roman"/>
                                </a:rPr>
                                <m:t>,</m:t>
                              </m:r>
                              <m:r>
                                <a:rPr lang="en-US" altLang="en-US" sz="2400" i="1" dirty="0">
                                  <a:solidFill>
                                    <a:srgbClr val="000000"/>
                                  </a:solidFill>
                                  <a:latin typeface="Cambria Math" panose="02040503050406030204" pitchFamily="18" charset="0"/>
                                  <a:ea typeface="Times New Roman"/>
                                  <a:cs typeface="Times New Roman"/>
                                </a:rPr>
                                <m:t>𝑣</m:t>
                              </m:r>
                            </m:sub>
                          </m:sSub>
                          <m:r>
                            <a:rPr lang="en-US" altLang="en-US" sz="2400" i="0" dirty="0" smtClean="0">
                              <a:solidFill>
                                <a:srgbClr val="000000"/>
                              </a:solidFill>
                              <a:latin typeface="Cambria Math" panose="02040503050406030204" pitchFamily="18" charset="0"/>
                              <a:ea typeface="Times New Roman"/>
                              <a:cs typeface="Times New Roman"/>
                            </a:rPr>
                            <m:t>,</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𝜃</m:t>
                              </m:r>
                            </m:e>
                            <m:sub>
                              <m:r>
                                <a:rPr lang="en-US" altLang="en-US" sz="2400" i="0" dirty="0" smtClean="0">
                                  <a:solidFill>
                                    <a:srgbClr val="000000"/>
                                  </a:solidFill>
                                  <a:latin typeface="Cambria Math" panose="02040503050406030204" pitchFamily="18" charset="0"/>
                                  <a:ea typeface="Times New Roman"/>
                                  <a:cs typeface="Times New Roman"/>
                                </a:rPr>
                                <m:t>3</m:t>
                              </m:r>
                              <m:r>
                                <m:rPr>
                                  <m:nor/>
                                </m:rPr>
                                <a:rPr lang="en-US" altLang="en-US" sz="2400" i="0" dirty="0" smtClean="0">
                                  <a:solidFill>
                                    <a:srgbClr val="000000"/>
                                  </a:solidFill>
                                  <a:latin typeface="Times New Roman"/>
                                  <a:ea typeface="Times New Roman"/>
                                  <a:cs typeface="Times New Roman"/>
                                </a:rPr>
                                <m:t>dB</m:t>
                              </m:r>
                            </m:sub>
                          </m:sSub>
                        </m:e>
                      </m:d>
                      <m:r>
                        <a:rPr lang="en-US" altLang="en-US" sz="2400" i="0" dirty="0" smtClean="0">
                          <a:solidFill>
                            <a:srgbClr val="000000"/>
                          </a:solidFill>
                          <a:latin typeface="Cambria Math" panose="02040503050406030204" pitchFamily="18" charset="0"/>
                          <a:ea typeface="Times New Roman"/>
                          <a:cs typeface="Times New Roman"/>
                        </a:rPr>
                        <m:t>=</m:t>
                      </m:r>
                      <m:d>
                        <m:dPr>
                          <m:begChr m:val="["/>
                          <m:endChr m:val="]"/>
                          <m:ctrlPr>
                            <a:rPr lang="en-US" altLang="en-US" sz="2400" i="1" dirty="0" smtClean="0">
                              <a:solidFill>
                                <a:srgbClr val="000000"/>
                              </a:solidFill>
                              <a:latin typeface="Cambria Math" panose="02040503050406030204" pitchFamily="18" charset="0"/>
                              <a:ea typeface="Times New Roman"/>
                              <a:cs typeface="Times New Roman"/>
                            </a:rPr>
                          </m:ctrlPr>
                        </m:dPr>
                        <m:e>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𝑟</m:t>
                              </m:r>
                            </m:e>
                            <m:sub>
                              <m:r>
                                <a:rPr lang="en-US" altLang="en-US" sz="2400" i="0" dirty="0" smtClean="0">
                                  <a:solidFill>
                                    <a:srgbClr val="000000"/>
                                  </a:solidFill>
                                  <a:latin typeface="Cambria Math" panose="02040503050406030204" pitchFamily="18" charset="0"/>
                                  <a:ea typeface="Times New Roman"/>
                                  <a:cs typeface="Times New Roman"/>
                                </a:rPr>
                                <m:t>1,</m:t>
                              </m:r>
                              <m:r>
                                <a:rPr lang="en-US" altLang="en-US" sz="2400" i="1" dirty="0" smtClean="0">
                                  <a:solidFill>
                                    <a:srgbClr val="000000"/>
                                  </a:solidFill>
                                  <a:latin typeface="Cambria Math" panose="02040503050406030204" pitchFamily="18" charset="0"/>
                                  <a:ea typeface="Times New Roman"/>
                                  <a:cs typeface="Times New Roman"/>
                                </a:rPr>
                                <m:t>𝑢</m:t>
                              </m:r>
                            </m:sub>
                          </m:sSub>
                          <m:r>
                            <a:rPr lang="en-US" altLang="en-US" sz="2400" i="1" dirty="0" smtClean="0">
                              <a:solidFill>
                                <a:srgbClr val="000000"/>
                              </a:solidFill>
                              <a:latin typeface="Cambria Math" panose="02040503050406030204" pitchFamily="18" charset="0"/>
                              <a:ea typeface="Times New Roman"/>
                              <a:cs typeface="Times New Roman"/>
                            </a:rPr>
                            <m:t>​</m:t>
                          </m:r>
                          <m:d>
                            <m:dPr>
                              <m:ctrlPr>
                                <a:rPr lang="en-US" altLang="en-US" sz="2400" i="1" dirty="0" smtClean="0">
                                  <a:solidFill>
                                    <a:srgbClr val="000000"/>
                                  </a:solidFill>
                                  <a:latin typeface="Cambria Math" panose="02040503050406030204" pitchFamily="18" charset="0"/>
                                  <a:ea typeface="Times New Roman"/>
                                  <a:cs typeface="Times New Roman"/>
                                </a:rPr>
                              </m:ctrlPr>
                            </m:dPr>
                            <m:e>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sSub>
                                <m:sSubPr>
                                  <m:ctrlPr>
                                    <a:rPr lang="en-US" altLang="en-US" sz="2400" i="1" dirty="0">
                                      <a:solidFill>
                                        <a:srgbClr val="000000"/>
                                      </a:solidFill>
                                      <a:latin typeface="Cambria Math" panose="02040503050406030204" pitchFamily="18" charset="0"/>
                                      <a:ea typeface="Times New Roman"/>
                                      <a:cs typeface="Times New Roman"/>
                                    </a:rPr>
                                  </m:ctrlPr>
                                </m:sSubPr>
                                <m:e>
                                  <m:r>
                                    <a:rPr lang="en-US" altLang="en-US" sz="2400" i="1" dirty="0">
                                      <a:solidFill>
                                        <a:srgbClr val="000000"/>
                                      </a:solidFill>
                                      <a:latin typeface="Cambria Math" panose="02040503050406030204" pitchFamily="18" charset="0"/>
                                      <a:ea typeface="Times New Roman"/>
                                      <a:cs typeface="Times New Roman"/>
                                    </a:rPr>
                                    <m:t>𝜃</m:t>
                                  </m:r>
                                </m:e>
                                <m:sub>
                                  <m:r>
                                    <a:rPr lang="en-US" altLang="en-US" sz="2400" i="1" dirty="0">
                                      <a:solidFill>
                                        <a:srgbClr val="000000"/>
                                      </a:solidFill>
                                      <a:latin typeface="Cambria Math" panose="02040503050406030204" pitchFamily="18" charset="0"/>
                                      <a:ea typeface="Times New Roman"/>
                                      <a:cs typeface="Times New Roman"/>
                                    </a:rPr>
                                    <m:t>𝑢</m:t>
                                  </m:r>
                                  <m:r>
                                    <a:rPr lang="en-US" altLang="en-US" sz="2400" dirty="0">
                                      <a:solidFill>
                                        <a:srgbClr val="000000"/>
                                      </a:solidFill>
                                      <a:latin typeface="Cambria Math" panose="02040503050406030204" pitchFamily="18" charset="0"/>
                                      <a:ea typeface="Times New Roman"/>
                                      <a:cs typeface="Times New Roman"/>
                                    </a:rPr>
                                    <m:t>,</m:t>
                                  </m:r>
                                  <m:r>
                                    <a:rPr lang="en-US" altLang="en-US" sz="2400" i="1" dirty="0">
                                      <a:solidFill>
                                        <a:srgbClr val="000000"/>
                                      </a:solidFill>
                                      <a:latin typeface="Cambria Math" panose="02040503050406030204" pitchFamily="18" charset="0"/>
                                      <a:ea typeface="Times New Roman"/>
                                      <a:cs typeface="Times New Roman"/>
                                    </a:rPr>
                                    <m:t>𝑠</m:t>
                                  </m:r>
                                  <m:r>
                                    <a:rPr lang="en-US" altLang="en-US" sz="2400" dirty="0">
                                      <a:solidFill>
                                        <a:srgbClr val="000000"/>
                                      </a:solidFill>
                                      <a:latin typeface="Cambria Math" panose="02040503050406030204" pitchFamily="18" charset="0"/>
                                      <a:ea typeface="Times New Roman"/>
                                      <a:cs typeface="Times New Roman"/>
                                    </a:rPr>
                                    <m:t>,</m:t>
                                  </m:r>
                                  <m:r>
                                    <a:rPr lang="en-US" altLang="en-US" sz="2400" i="1" dirty="0">
                                      <a:solidFill>
                                        <a:srgbClr val="000000"/>
                                      </a:solidFill>
                                      <a:latin typeface="Cambria Math" panose="02040503050406030204" pitchFamily="18" charset="0"/>
                                      <a:ea typeface="Times New Roman"/>
                                      <a:cs typeface="Times New Roman"/>
                                    </a:rPr>
                                    <m:t>𝑣</m:t>
                                  </m:r>
                                </m:sub>
                              </m:sSub>
                              <m:r>
                                <a:rPr lang="en-US" altLang="en-US" sz="2400" i="0" dirty="0" smtClean="0">
                                  <a:solidFill>
                                    <a:srgbClr val="000000"/>
                                  </a:solidFill>
                                  <a:latin typeface="Cambria Math" panose="02040503050406030204" pitchFamily="18" charset="0"/>
                                  <a:ea typeface="Times New Roman"/>
                                  <a:cs typeface="Times New Roman"/>
                                </a:rPr>
                                <m:t>,</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𝜃</m:t>
                                  </m:r>
                                </m:e>
                                <m:sub>
                                  <m:r>
                                    <a:rPr lang="en-US" altLang="en-US" sz="2400" i="0" dirty="0" smtClean="0">
                                      <a:solidFill>
                                        <a:srgbClr val="000000"/>
                                      </a:solidFill>
                                      <a:latin typeface="Cambria Math" panose="02040503050406030204" pitchFamily="18" charset="0"/>
                                      <a:ea typeface="Times New Roman"/>
                                      <a:cs typeface="Times New Roman"/>
                                    </a:rPr>
                                    <m:t>3</m:t>
                                  </m:r>
                                  <m:r>
                                    <m:rPr>
                                      <m:nor/>
                                    </m:rPr>
                                    <a:rPr lang="en-US" altLang="en-US" sz="2400" i="0" dirty="0" smtClean="0">
                                      <a:solidFill>
                                        <a:srgbClr val="000000"/>
                                      </a:solidFill>
                                      <a:latin typeface="Times New Roman"/>
                                      <a:ea typeface="Times New Roman"/>
                                      <a:cs typeface="Times New Roman"/>
                                    </a:rPr>
                                    <m:t>dB</m:t>
                                  </m:r>
                                </m:sub>
                              </m:sSub>
                            </m:e>
                          </m:d>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 </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𝑟</m:t>
                              </m:r>
                            </m:e>
                            <m:sub>
                              <m:r>
                                <a:rPr lang="en-US" altLang="en-US" sz="2400" i="0" dirty="0" smtClean="0">
                                  <a:solidFill>
                                    <a:srgbClr val="000000"/>
                                  </a:solidFill>
                                  <a:latin typeface="Cambria Math" panose="02040503050406030204" pitchFamily="18" charset="0"/>
                                  <a:ea typeface="Times New Roman"/>
                                  <a:cs typeface="Times New Roman"/>
                                </a:rPr>
                                <m:t>2,</m:t>
                              </m:r>
                              <m:r>
                                <a:rPr lang="en-US" altLang="en-US" sz="2400" i="1" dirty="0" smtClean="0">
                                  <a:solidFill>
                                    <a:srgbClr val="000000"/>
                                  </a:solidFill>
                                  <a:latin typeface="Cambria Math" panose="02040503050406030204" pitchFamily="18" charset="0"/>
                                  <a:ea typeface="Times New Roman"/>
                                  <a:cs typeface="Times New Roman"/>
                                </a:rPr>
                                <m:t>𝑢</m:t>
                              </m:r>
                            </m:sub>
                          </m:sSub>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 </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𝑟</m:t>
                              </m:r>
                            </m:e>
                            <m:sub>
                              <m:r>
                                <a:rPr lang="en-US" altLang="en-US" sz="2400" i="0" dirty="0" smtClean="0">
                                  <a:solidFill>
                                    <a:srgbClr val="000000"/>
                                  </a:solidFill>
                                  <a:latin typeface="Cambria Math" panose="02040503050406030204" pitchFamily="18" charset="0"/>
                                  <a:ea typeface="Times New Roman"/>
                                  <a:cs typeface="Times New Roman"/>
                                </a:rPr>
                                <m:t>3,</m:t>
                              </m:r>
                              <m:r>
                                <a:rPr lang="en-US" altLang="en-US" sz="2400" i="1" dirty="0" smtClean="0">
                                  <a:solidFill>
                                    <a:srgbClr val="000000"/>
                                  </a:solidFill>
                                  <a:latin typeface="Cambria Math" panose="02040503050406030204" pitchFamily="18" charset="0"/>
                                  <a:ea typeface="Times New Roman"/>
                                  <a:cs typeface="Times New Roman"/>
                                </a:rPr>
                                <m:t>𝑢</m:t>
                              </m:r>
                            </m:sub>
                          </m:sSub>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e>
                      </m:d>
                    </m:oMath>
                  </m:oMathPara>
                </a14:m>
                <a:endParaRPr lang="en-US" altLang="en-US" sz="2400" dirty="0">
                  <a:solidFill>
                    <a:srgbClr val="000000"/>
                  </a:solidFill>
                  <a:latin typeface="Times New Roman"/>
                  <a:ea typeface="Times New Roman"/>
                  <a:cs typeface="Times New Roman"/>
                </a:endParaRPr>
              </a:p>
            </p:txBody>
          </p:sp>
        </mc:Choice>
        <mc:Fallback xmlns="">
          <p:sp>
            <p:nvSpPr>
              <p:cNvPr id="6" name="edu:formula-omml" descr="Native Office Math: a21_vector"/>
              <p:cNvSpPr txBox="1">
                <a:spLocks noRot="1" noChangeAspect="1" noMove="1" noResize="1" noEditPoints="1" noAdjustHandles="1" noChangeArrowheads="1" noChangeShapeType="1" noTextEdit="1"/>
              </p:cNvSpPr>
              <p:nvPr/>
            </p:nvSpPr>
            <p:spPr>
              <a:xfrm>
                <a:off x="3205886" y="1447495"/>
                <a:ext cx="5782665" cy="587959"/>
              </a:xfrm>
              <a:prstGeom prst="rect">
                <a:avLst/>
              </a:prstGeom>
              <a:blipFill>
                <a:blip r:embed="rId3"/>
                <a:stretch>
                  <a:fillRect l="-13924" r="-12342"/>
                </a:stretch>
              </a:blipFill>
              <a:effectLst/>
            </p:spPr>
            <p:txBody>
              <a:bodyPr/>
              <a:lstStyle/>
              <a:p>
                <a:r>
                  <a:rPr lang="zh-TW" altLang="en-US">
                    <a:noFill/>
                  </a:rPr>
                  <a:t> </a:t>
                </a:r>
              </a:p>
            </p:txBody>
          </p:sp>
        </mc:Fallback>
      </mc:AlternateContent>
      <p:sp>
        <p:nvSpPr>
          <p:cNvPr id="7" name="edu:flow-node"/>
          <p:cNvSpPr/>
          <p:nvPr/>
        </p:nvSpPr>
        <p:spPr>
          <a:xfrm>
            <a:off x="565190" y="2200046"/>
            <a:ext cx="3432048" cy="960120"/>
          </a:xfrm>
          <a:prstGeom prst="roundRect">
            <a:avLst/>
          </a:prstGeom>
          <a:solidFill>
            <a:srgbClr val="F6F8FA"/>
          </a:solidFill>
          <a:ln w="11430">
            <a:solidFill>
              <a:srgbClr val="9AA5B1"/>
            </a:solidFill>
          </a:ln>
          <a:effectLst/>
        </p:spPr>
        <p:txBody>
          <a:bodyPr wrap="square" tIns="0" bIns="0" rtlCol="0" anchor="ctr"/>
          <a:lstStyle/>
          <a:p>
            <a:pPr algn="ctr">
              <a:lnSpc>
                <a:spcPct val="105000"/>
              </a:lnSpc>
            </a:pPr>
            <a:r>
              <a:rPr lang="en-US" altLang="en-US" sz="2000" b="1" i="0" noProof="1">
                <a:solidFill>
                  <a:srgbClr val="000000"/>
                </a:solidFill>
                <a:latin typeface="Times New Roman"/>
                <a:ea typeface="標楷體"/>
                <a:cs typeface="Times New Roman"/>
              </a:rPr>
              <a:t>Energy efficiency</a:t>
            </a:r>
          </a:p>
          <a:p>
            <a:pPr algn="ctr">
              <a:lnSpc>
                <a:spcPct val="105000"/>
              </a:lnSpc>
              <a:spcBef>
                <a:spcPts val="200"/>
              </a:spcBef>
            </a:pPr>
            <a:r>
              <a:rPr lang="en-US" altLang="en-US" sz="2000" b="0" i="0" noProof="1">
                <a:solidFill>
                  <a:srgbClr val="000000"/>
                </a:solidFill>
                <a:latin typeface="Times New Roman"/>
                <a:ea typeface="標楷體"/>
                <a:cs typeface="Times New Roman"/>
              </a:rPr>
              <a:t>bit per joule</a:t>
            </a:r>
          </a:p>
        </p:txBody>
      </p:sp>
      <p:sp>
        <p:nvSpPr>
          <p:cNvPr id="8" name="edu:flow-node"/>
          <p:cNvSpPr/>
          <p:nvPr/>
        </p:nvSpPr>
        <p:spPr>
          <a:xfrm>
            <a:off x="4381286" y="2200046"/>
            <a:ext cx="3432048" cy="960120"/>
          </a:xfrm>
          <a:prstGeom prst="roundRect">
            <a:avLst/>
          </a:prstGeom>
          <a:solidFill>
            <a:srgbClr val="F6F8FA"/>
          </a:solidFill>
          <a:ln w="11430">
            <a:solidFill>
              <a:srgbClr val="9AA5B1"/>
            </a:solidFill>
          </a:ln>
          <a:effectLst/>
        </p:spPr>
        <p:txBody>
          <a:bodyPr wrap="square" tIns="0" bIns="0" rtlCol="0" anchor="ctr"/>
          <a:lstStyle/>
          <a:p>
            <a:pPr algn="ctr">
              <a:lnSpc>
                <a:spcPct val="105000"/>
              </a:lnSpc>
            </a:pPr>
            <a:r>
              <a:rPr lang="en-US" altLang="en-US" sz="2000" b="1" i="0" noProof="1">
                <a:solidFill>
                  <a:srgbClr val="000000"/>
                </a:solidFill>
                <a:latin typeface="Times New Roman"/>
                <a:ea typeface="標楷體"/>
                <a:cs typeface="Times New Roman"/>
              </a:rPr>
              <a:t>Handover cost</a:t>
            </a:r>
          </a:p>
          <a:p>
            <a:pPr algn="ctr">
              <a:lnSpc>
                <a:spcPct val="105000"/>
              </a:lnSpc>
              <a:spcBef>
                <a:spcPts val="200"/>
              </a:spcBef>
            </a:pPr>
            <a:r>
              <a:rPr lang="en-US" altLang="en-US" sz="2000" b="0" i="0" noProof="1">
                <a:solidFill>
                  <a:srgbClr val="000000"/>
                </a:solidFill>
                <a:latin typeface="Times New Roman"/>
                <a:ea typeface="標楷體"/>
                <a:cs typeface="Times New Roman"/>
              </a:rPr>
              <a:t>cost units</a:t>
            </a:r>
          </a:p>
        </p:txBody>
      </p:sp>
      <p:cxnSp>
        <p:nvCxnSpPr>
          <p:cNvPr id="9" name="edu:arrow"/>
          <p:cNvCxnSpPr/>
          <p:nvPr/>
        </p:nvCxnSpPr>
        <p:spPr>
          <a:xfrm>
            <a:off x="3997238" y="2680106"/>
            <a:ext cx="384048" cy="0"/>
          </a:xfrm>
          <a:prstGeom prst="line">
            <a:avLst/>
          </a:prstGeom>
          <a:ln w="13970">
            <a:solidFill>
              <a:srgbClr val="6B7683"/>
            </a:solidFill>
            <a:tailEnd type="triangle" w="sm" len="sm"/>
          </a:ln>
        </p:spPr>
        <p:style>
          <a:lnRef idx="2">
            <a:schemeClr val="accent1"/>
          </a:lnRef>
          <a:fillRef idx="0">
            <a:schemeClr val="accent1"/>
          </a:fillRef>
          <a:effectRef idx="1">
            <a:schemeClr val="accent1"/>
          </a:effectRef>
          <a:fontRef idx="minor">
            <a:schemeClr val="tx1"/>
          </a:fontRef>
        </p:style>
      </p:cxnSp>
      <p:sp>
        <p:nvSpPr>
          <p:cNvPr id="10" name="edu:flow-node"/>
          <p:cNvSpPr/>
          <p:nvPr/>
        </p:nvSpPr>
        <p:spPr>
          <a:xfrm>
            <a:off x="8197382" y="2200046"/>
            <a:ext cx="3432048" cy="960120"/>
          </a:xfrm>
          <a:prstGeom prst="roundRect">
            <a:avLst/>
          </a:prstGeom>
          <a:solidFill>
            <a:srgbClr val="F6F8FA"/>
          </a:solidFill>
          <a:ln w="11430">
            <a:solidFill>
              <a:srgbClr val="9AA5B1"/>
            </a:solidFill>
          </a:ln>
          <a:effectLst/>
        </p:spPr>
        <p:txBody>
          <a:bodyPr wrap="square" tIns="0" bIns="0" rtlCol="0" anchor="ctr"/>
          <a:lstStyle/>
          <a:p>
            <a:pPr algn="ctr">
              <a:lnSpc>
                <a:spcPct val="105000"/>
              </a:lnSpc>
            </a:pPr>
            <a:r>
              <a:rPr lang="en-US" altLang="en-US" sz="2000" b="1" i="0" noProof="1">
                <a:solidFill>
                  <a:srgbClr val="000000"/>
                </a:solidFill>
                <a:latin typeface="Times New Roman"/>
                <a:ea typeface="標楷體"/>
                <a:cs typeface="Times New Roman"/>
              </a:rPr>
              <a:t>Load balance</a:t>
            </a:r>
          </a:p>
          <a:p>
            <a:pPr algn="ctr">
              <a:lnSpc>
                <a:spcPct val="105000"/>
              </a:lnSpc>
              <a:spcBef>
                <a:spcPts val="200"/>
              </a:spcBef>
            </a:pPr>
            <a:r>
              <a:rPr lang="en-US" altLang="en-US" sz="2000" b="0" i="0" noProof="1">
                <a:solidFill>
                  <a:srgbClr val="000000"/>
                </a:solidFill>
                <a:latin typeface="Times New Roman"/>
                <a:ea typeface="標楷體"/>
                <a:cs typeface="Times New Roman"/>
              </a:rPr>
              <a:t>baseline objective</a:t>
            </a:r>
          </a:p>
        </p:txBody>
      </p:sp>
      <p:cxnSp>
        <p:nvCxnSpPr>
          <p:cNvPr id="11" name="edu:arrow"/>
          <p:cNvCxnSpPr/>
          <p:nvPr/>
        </p:nvCxnSpPr>
        <p:spPr>
          <a:xfrm>
            <a:off x="7813334" y="2680106"/>
            <a:ext cx="384048" cy="0"/>
          </a:xfrm>
          <a:prstGeom prst="line">
            <a:avLst/>
          </a:prstGeom>
          <a:ln w="13970">
            <a:solidFill>
              <a:srgbClr val="6B7683"/>
            </a:solidFill>
            <a:tailEnd type="triangle" w="sm" len="sm"/>
          </a:ln>
        </p:spPr>
        <p:style>
          <a:lnRef idx="2">
            <a:schemeClr val="accent1"/>
          </a:lnRef>
          <a:fillRef idx="0">
            <a:schemeClr val="accent1"/>
          </a:fillRef>
          <a:effectRef idx="1">
            <a:schemeClr val="accent1"/>
          </a:effectRef>
          <a:fontRef idx="minor">
            <a:schemeClr val="tx1"/>
          </a:fontRef>
        </p:style>
      </p:cxnSp>
      <p:sp>
        <p:nvSpPr>
          <p:cNvPr id="12" name="edu:body"/>
          <p:cNvSpPr txBox="1"/>
          <p:nvPr/>
        </p:nvSpPr>
        <p:spPr>
          <a:xfrm>
            <a:off x="565190" y="3324758"/>
            <a:ext cx="11064240" cy="796052"/>
          </a:xfrm>
          <a:prstGeom prst="rect">
            <a:avLst/>
          </a:prstGeom>
          <a:noFill/>
        </p:spPr>
        <p:txBody>
          <a:bodyPr wrap="square" lIns="0" tIns="0" rIns="0" bIns="0" anchor="t">
            <a:spAutoFit/>
          </a:bodyPr>
          <a:lstStyle/>
          <a:p>
            <a:pPr>
              <a:lnSpc>
                <a:spcPct val="112000"/>
              </a:lnSpc>
            </a:pPr>
            <a:r>
              <a:rPr lang="en-US" altLang="en-US" sz="2400" noProof="1">
                <a:solidFill>
                  <a:srgbClr val="000000"/>
                </a:solidFill>
                <a:cs typeface="Times New Roman"/>
              </a:rPr>
              <a:t>MODQN keeps the three rewards separate during learning. Each objective has its own Q-value, and the preference weights are applied only when the action is selected.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du:title"/>
          <p:cNvSpPr txBox="1"/>
          <p:nvPr/>
        </p:nvSpPr>
        <p:spPr>
          <a:xfrm>
            <a:off x="565190" y="141274"/>
            <a:ext cx="11417289" cy="571500"/>
          </a:xfrm>
          <a:prstGeom prst="rect">
            <a:avLst/>
          </a:prstGeom>
          <a:noFill/>
        </p:spPr>
        <p:txBody>
          <a:bodyPr wrap="square" lIns="0" tIns="0" rIns="0" bIns="0" anchor="b">
            <a:spAutoFit/>
          </a:bodyPr>
          <a:lstStyle/>
          <a:p>
            <a:pPr algn="l"/>
            <a:r>
              <a:rPr lang="en-US" altLang="en-US" sz="2800" b="1" i="0" noProof="1">
                <a:solidFill>
                  <a:srgbClr val="1B365D"/>
                </a:solidFill>
                <a:latin typeface="Times New Roman"/>
                <a:ea typeface="標楷體"/>
                <a:cs typeface="Times New Roman"/>
              </a:rPr>
              <a:t>Markov Decision Process Formulation</a:t>
            </a:r>
          </a:p>
        </p:txBody>
      </p:sp>
      <p:sp>
        <p:nvSpPr>
          <p:cNvPr id="4" name="edu:body"/>
          <p:cNvSpPr txBox="1"/>
          <p:nvPr/>
        </p:nvSpPr>
        <p:spPr>
          <a:xfrm>
            <a:off x="565190" y="896112"/>
            <a:ext cx="11064240" cy="796052"/>
          </a:xfrm>
          <a:prstGeom prst="rect">
            <a:avLst/>
          </a:prstGeom>
          <a:noFill/>
        </p:spPr>
        <p:txBody>
          <a:bodyPr wrap="square" lIns="0" tIns="0" rIns="0" bIns="0" anchor="t">
            <a:spAutoFit/>
          </a:bodyPr>
          <a:lstStyle/>
          <a:p>
            <a:pPr>
              <a:lnSpc>
                <a:spcPct val="112000"/>
              </a:lnSpc>
            </a:pPr>
            <a:r>
              <a:rPr lang="en-US" altLang="en-US" sz="2400" noProof="1">
                <a:solidFill>
                  <a:srgbClr val="000000"/>
                </a:solidFill>
                <a:cs typeface="Times New Roman"/>
              </a:rPr>
              <a:t>The environment returns three objective values rather than one scalar score, so the problem is formulated as a multi-objective Markov decision process:</a:t>
            </a:r>
          </a:p>
        </p:txBody>
      </p:sp>
      <p:sp>
        <p:nvSpPr>
          <p:cNvPr id="5" name="edu:body"/>
          <p:cNvSpPr txBox="1"/>
          <p:nvPr/>
        </p:nvSpPr>
        <p:spPr>
          <a:xfrm>
            <a:off x="565190" y="1835200"/>
            <a:ext cx="11064240" cy="2291486"/>
          </a:xfrm>
          <a:prstGeom prst="rect">
            <a:avLst/>
          </a:prstGeom>
          <a:noFill/>
        </p:spPr>
        <p:txBody>
          <a:bodyPr wrap="square" lIns="0" tIns="0" rIns="0" bIns="0" anchor="t">
            <a:spAutoFit/>
          </a:bodyPr>
          <a:lstStyle/>
          <a:p>
            <a:pPr marL="285750" indent="-285750" algn="l">
              <a:lnSpc>
                <a:spcPct val="112000"/>
              </a:lnSpc>
              <a:spcAft>
                <a:spcPts val="700"/>
              </a:spcAft>
              <a:buSzPts val="2800"/>
              <a:buFont typeface="Arial"/>
              <a:buChar char="•"/>
            </a:pPr>
            <a:r>
              <a:rPr lang="en-US" altLang="en-US" sz="2400" b="1" i="0" noProof="1">
                <a:solidFill>
                  <a:srgbClr val="000000"/>
                </a:solidFill>
                <a:latin typeface="Times New Roman"/>
                <a:ea typeface="標楷體"/>
                <a:cs typeface="Times New Roman"/>
              </a:rPr>
              <a:t>State: </a:t>
            </a:r>
            <a:r>
              <a:rPr lang="en-US" altLang="en-US" sz="2400" b="0" i="0" noProof="1">
                <a:solidFill>
                  <a:srgbClr val="000000"/>
                </a:solidFill>
                <a:latin typeface="Times New Roman"/>
                <a:ea typeface="標楷體"/>
                <a:cs typeface="Times New Roman"/>
              </a:rPr>
              <a:t>what the user knows before choosing.</a:t>
            </a:r>
          </a:p>
          <a:p>
            <a:pPr marL="285750" indent="-285750" algn="l">
              <a:lnSpc>
                <a:spcPct val="112000"/>
              </a:lnSpc>
              <a:spcAft>
                <a:spcPts val="700"/>
              </a:spcAft>
              <a:buSzPts val="2800"/>
              <a:buFont typeface="Arial"/>
              <a:buChar char="•"/>
            </a:pPr>
            <a:r>
              <a:rPr lang="en-US" altLang="en-US" sz="2400" b="1" i="0" noProof="1">
                <a:solidFill>
                  <a:srgbClr val="000000"/>
                </a:solidFill>
                <a:latin typeface="Times New Roman"/>
                <a:ea typeface="標楷體"/>
                <a:cs typeface="Times New Roman"/>
              </a:rPr>
              <a:t>Action: </a:t>
            </a:r>
            <a:r>
              <a:rPr lang="en-US" altLang="en-US" sz="2400" b="0" i="0" noProof="1">
                <a:solidFill>
                  <a:srgbClr val="000000"/>
                </a:solidFill>
                <a:latin typeface="Times New Roman"/>
                <a:ea typeface="標楷體"/>
                <a:cs typeface="Times New Roman"/>
              </a:rPr>
              <a:t>the action selected from the baseline action space.</a:t>
            </a:r>
          </a:p>
          <a:p>
            <a:pPr marL="285750" indent="-285750" algn="l">
              <a:lnSpc>
                <a:spcPct val="112000"/>
              </a:lnSpc>
              <a:spcAft>
                <a:spcPts val="700"/>
              </a:spcAft>
              <a:buSzPts val="2800"/>
              <a:buFont typeface="Arial"/>
              <a:buChar char="•"/>
            </a:pPr>
            <a:r>
              <a:rPr lang="en-US" altLang="en-US" sz="2400" b="1" i="0" noProof="1">
                <a:solidFill>
                  <a:srgbClr val="000000"/>
                </a:solidFill>
                <a:latin typeface="Times New Roman"/>
                <a:ea typeface="標楷體"/>
                <a:cs typeface="Times New Roman"/>
              </a:rPr>
              <a:t>Reward: </a:t>
            </a:r>
            <a:r>
              <a:rPr lang="en-US" altLang="en-US" sz="2400" b="0" i="0" noProof="1">
                <a:solidFill>
                  <a:srgbClr val="000000"/>
                </a:solidFill>
                <a:latin typeface="Times New Roman"/>
                <a:ea typeface="標楷體"/>
                <a:cs typeface="Times New Roman"/>
              </a:rPr>
              <a:t>the three numbers the environment returns.</a:t>
            </a:r>
          </a:p>
          <a:p>
            <a:pPr marL="285750" indent="-285750" algn="l">
              <a:lnSpc>
                <a:spcPct val="112000"/>
              </a:lnSpc>
              <a:spcAft>
                <a:spcPts val="700"/>
              </a:spcAft>
              <a:buSzPts val="2800"/>
              <a:buFont typeface="Arial"/>
              <a:buChar char="•"/>
            </a:pPr>
            <a:r>
              <a:rPr lang="en-US" altLang="en-US" sz="2400" b="1" i="0" noProof="1">
                <a:solidFill>
                  <a:srgbClr val="000000"/>
                </a:solidFill>
                <a:latin typeface="Times New Roman"/>
                <a:ea typeface="標楷體"/>
                <a:cs typeface="Times New Roman"/>
              </a:rPr>
              <a:t>Transition: </a:t>
            </a:r>
            <a:r>
              <a:rPr lang="en-US" altLang="en-US" sz="2400" b="0" i="0" noProof="1">
                <a:solidFill>
                  <a:srgbClr val="000000"/>
                </a:solidFill>
                <a:latin typeface="Times New Roman"/>
                <a:ea typeface="標楷體"/>
                <a:cs typeface="Times New Roman"/>
              </a:rPr>
              <a:t>how satellites, beams, and loads evolve to the next step.</a:t>
            </a:r>
          </a:p>
          <a:p>
            <a:pPr marL="285750" indent="-285750" algn="l">
              <a:lnSpc>
                <a:spcPct val="112000"/>
              </a:lnSpc>
              <a:spcAft>
                <a:spcPts val="0"/>
              </a:spcAft>
              <a:buSzPts val="2800"/>
              <a:buFont typeface="Arial"/>
              <a:buChar char="•"/>
            </a:pPr>
            <a:r>
              <a:rPr lang="en-US" altLang="en-US" sz="2400" b="1" i="0" noProof="1">
                <a:solidFill>
                  <a:srgbClr val="000000"/>
                </a:solidFill>
                <a:latin typeface="Times New Roman"/>
                <a:ea typeface="標楷體"/>
                <a:cs typeface="Times New Roman"/>
              </a:rPr>
              <a:t>Discount factor: </a:t>
            </a:r>
            <a:r>
              <a:rPr lang="en-US" altLang="en-US" sz="2400" b="0" i="0" noProof="1">
                <a:solidFill>
                  <a:srgbClr val="000000"/>
                </a:solidFill>
                <a:latin typeface="Times New Roman"/>
                <a:ea typeface="標楷體"/>
                <a:cs typeface="Times New Roman"/>
              </a:rPr>
              <a:t>how much a future reward counts relative to an immediate one.</a:t>
            </a:r>
          </a:p>
        </p:txBody>
      </p:sp>
      <p:sp>
        <p:nvSpPr>
          <p:cNvPr id="6" name="edu:body"/>
          <p:cNvSpPr txBox="1"/>
          <p:nvPr/>
        </p:nvSpPr>
        <p:spPr>
          <a:xfrm>
            <a:off x="565190" y="4291279"/>
            <a:ext cx="11064240" cy="796052"/>
          </a:xfrm>
          <a:prstGeom prst="rect">
            <a:avLst/>
          </a:prstGeom>
          <a:noFill/>
        </p:spPr>
        <p:txBody>
          <a:bodyPr wrap="square" lIns="0" tIns="0" rIns="0" bIns="0" anchor="t">
            <a:spAutoFit/>
          </a:bodyPr>
          <a:lstStyle/>
          <a:p>
            <a:pPr>
              <a:lnSpc>
                <a:spcPct val="112000"/>
              </a:lnSpc>
            </a:pPr>
            <a:r>
              <a:rPr lang="en-US" altLang="en-US" sz="2400" noProof="1">
                <a:solidFill>
                  <a:srgbClr val="000000"/>
                </a:solidFill>
                <a:cs typeface="Times New Roman"/>
              </a:rPr>
              <a:t>Each objective keeps its own value estimate; the weighted action choice is the point where the three objectives are compared.</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du:title"/>
          <p:cNvSpPr txBox="1"/>
          <p:nvPr/>
        </p:nvSpPr>
        <p:spPr>
          <a:xfrm>
            <a:off x="565190" y="141274"/>
            <a:ext cx="11417289" cy="571500"/>
          </a:xfrm>
          <a:prstGeom prst="rect">
            <a:avLst/>
          </a:prstGeom>
          <a:noFill/>
        </p:spPr>
        <p:txBody>
          <a:bodyPr wrap="square" lIns="0" tIns="0" rIns="0" bIns="0" anchor="b">
            <a:spAutoFit/>
          </a:bodyPr>
          <a:lstStyle/>
          <a:p>
            <a:pPr algn="l"/>
            <a:r>
              <a:rPr lang="en-US" altLang="en-US" sz="2800" b="1" i="0" noProof="1">
                <a:solidFill>
                  <a:srgbClr val="1B365D"/>
                </a:solidFill>
                <a:latin typeface="Times New Roman"/>
                <a:ea typeface="標楷體"/>
                <a:cs typeface="Times New Roman"/>
              </a:rPr>
              <a:t>MODQN: Three Networks, One Action</a:t>
            </a:r>
          </a:p>
        </p:txBody>
      </p:sp>
      <p:sp>
        <p:nvSpPr>
          <p:cNvPr id="3" name="edu:citation"/>
          <p:cNvSpPr txBox="1"/>
          <p:nvPr/>
        </p:nvSpPr>
        <p:spPr>
          <a:xfrm>
            <a:off x="495330" y="6316675"/>
            <a:ext cx="11018520" cy="505663"/>
          </a:xfrm>
          <a:prstGeom prst="rect">
            <a:avLst/>
          </a:prstGeom>
          <a:noFill/>
        </p:spPr>
        <p:txBody>
          <a:bodyPr wrap="square" lIns="0" tIns="0" rIns="0" bIns="0" anchor="t">
            <a:spAutoFit/>
          </a:bodyPr>
          <a:lstStyle/>
          <a:p>
            <a:pPr algn="l">
              <a:lnSpc>
                <a:spcPct val="105000"/>
              </a:lnSpc>
            </a:pPr>
            <a:r>
              <a:rPr lang="en-US" altLang="en-US" sz="1400" b="0" i="0" noProof="1">
                <a:solidFill>
                  <a:srgbClr val="000000"/>
                </a:solidFill>
                <a:latin typeface="Times New Roman"/>
                <a:ea typeface="標楷體"/>
                <a:cs typeface="Times New Roman"/>
              </a:rPr>
              <a:t>Y. Sun et al., “Handover for Multi-Beam LEO Satellite Networks: A Multi-Objective Reinforcement Learning Method,” IEEE Communications Letters, Dec. 2024.</a:t>
            </a:r>
          </a:p>
        </p:txBody>
      </p:sp>
      <p:sp>
        <p:nvSpPr>
          <p:cNvPr id="4" name="edu:page-number"/>
          <p:cNvSpPr txBox="1"/>
          <p:nvPr/>
        </p:nvSpPr>
        <p:spPr>
          <a:xfrm>
            <a:off x="11521440" y="6382512"/>
            <a:ext cx="457200" cy="320040"/>
          </a:xfrm>
          <a:prstGeom prst="rect">
            <a:avLst/>
          </a:prstGeom>
          <a:noFill/>
        </p:spPr>
        <p:txBody>
          <a:bodyPr wrap="none" lIns="0" tIns="0" rIns="0" bIns="0">
            <a:spAutoFit/>
          </a:bodyPr>
          <a:lstStyle/>
          <a:p>
            <a:pPr algn="r"/>
            <a:r>
              <a:rPr lang="en-US" altLang="en-US" sz="1400" b="0" i="0" noProof="1">
                <a:solidFill>
                  <a:srgbClr val="000000"/>
                </a:solidFill>
                <a:latin typeface="Times New Roman"/>
                <a:ea typeface="標楷體"/>
                <a:cs typeface="Times New Roman"/>
              </a:rPr>
              <a:t>24</a:t>
            </a:r>
          </a:p>
        </p:txBody>
      </p:sp>
      <mc:AlternateContent xmlns:mc="http://schemas.openxmlformats.org/markup-compatibility/2006" xmlns:a14="http://schemas.microsoft.com/office/drawing/2010/main">
        <mc:Choice Requires="a14">
          <p:sp>
            <p:nvSpPr>
              <p:cNvPr id="5" name="edu:body"/>
              <p:cNvSpPr txBox="1"/>
              <p:nvPr/>
            </p:nvSpPr>
            <p:spPr>
              <a:xfrm>
                <a:off x="565190" y="896112"/>
                <a:ext cx="11064240" cy="1161288"/>
              </a:xfrm>
              <a:prstGeom prst="rect">
                <a:avLst/>
              </a:prstGeom>
              <a:noFill/>
              <a:effectLst/>
            </p:spPr>
            <p:txBody>
              <a:bodyPr wrap="square" lIns="0" tIns="0" rIns="0" bIns="0" anchor="t">
                <a:noAutofit/>
              </a:bodyPr>
              <a:lstStyle/>
              <a:p>
                <a:pPr algn="l">
                  <a:lnSpc>
                    <a:spcPct val="112000"/>
                  </a:lnSpc>
                  <a:spcAft>
                    <a:spcPts val="0"/>
                  </a:spcAft>
                </a:pPr>
                <a:r>
                  <a:rPr lang="en-US" altLang="en-US" sz="2400" b="0" i="0" noProof="1">
                    <a:solidFill>
                      <a:srgbClr val="000000"/>
                    </a:solidFill>
                    <a:latin typeface="Times New Roman"/>
                    <a:ea typeface="標楷體"/>
                    <a:cs typeface="Times New Roman"/>
                  </a:rPr>
                  <a:t>Each objective is estimated by its own network, all reading the same state </a:t>
                </a:r>
                <a14:m>
                  <m:oMath xmlns:m="http://schemas.openxmlformats.org/officeDocument/2006/math">
                    <m:sSubSup>
                      <m:sSubSupPr>
                        <m:ctrlPr>
                          <a:rPr lang="en-US" altLang="en-US" sz="2400" i="1" dirty="0" smtClean="0">
                            <a:solidFill>
                              <a:srgbClr val="000000"/>
                            </a:solidFill>
                            <a:latin typeface="Cambria Math" panose="02040503050406030204" pitchFamily="18" charset="0"/>
                            <a:ea typeface="Times New Roman"/>
                            <a:cs typeface="Times New Roman"/>
                          </a:rPr>
                        </m:ctrlPr>
                      </m:sSubSupPr>
                      <m:e>
                        <m:r>
                          <a:rPr lang="en-US" altLang="en-US" sz="2400" i="1" dirty="0" smtClean="0">
                            <a:solidFill>
                              <a:srgbClr val="000000"/>
                            </a:solidFill>
                            <a:latin typeface="Cambria Math" panose="02040503050406030204" pitchFamily="18" charset="0"/>
                            <a:ea typeface="Times New Roman"/>
                            <a:cs typeface="Times New Roman"/>
                          </a:rPr>
                          <m:t>𝑠</m:t>
                        </m:r>
                      </m:e>
                      <m:sub>
                        <m:r>
                          <a:rPr lang="en-US" altLang="en-US" sz="2400" i="1" dirty="0" smtClean="0">
                            <a:solidFill>
                              <a:srgbClr val="000000"/>
                            </a:solidFill>
                            <a:latin typeface="Cambria Math" panose="02040503050406030204" pitchFamily="18" charset="0"/>
                            <a:ea typeface="Times New Roman"/>
                            <a:cs typeface="Times New Roman"/>
                          </a:rPr>
                          <m:t>𝑡</m:t>
                        </m:r>
                      </m:sub>
                      <m:sup>
                        <m:r>
                          <a:rPr lang="en-US" altLang="en-US" sz="2400" b="0" i="1" dirty="0" smtClean="0">
                            <a:solidFill>
                              <a:srgbClr val="000000"/>
                            </a:solidFill>
                            <a:latin typeface="Cambria Math" panose="02040503050406030204" pitchFamily="18" charset="0"/>
                            <a:ea typeface="Times New Roman"/>
                            <a:cs typeface="Times New Roman"/>
                          </a:rPr>
                          <m:t>𝑢</m:t>
                        </m:r>
                      </m:sup>
                    </m:sSubSup>
                  </m:oMath>
                </a14:m>
                <a:r>
                  <a:rPr lang="en-US" altLang="en-US" sz="2400" b="0" i="0" noProof="1">
                    <a:solidFill>
                      <a:srgbClr val="000000"/>
                    </a:solidFill>
                    <a:latin typeface="Times New Roman"/>
                    <a:ea typeface="標楷體"/>
                    <a:cs typeface="Times New Roman"/>
                  </a:rPr>
                  <a:t>. A user's action as an access vector over all satellite--beam pairs in </a:t>
                </a:r>
                <a14:m>
                  <m:oMath xmlns:m="http://schemas.openxmlformats.org/officeDocument/2006/math">
                    <m:r>
                      <m:rPr>
                        <m:nor/>
                      </m:rPr>
                      <a:rPr lang="en-US" altLang="en-US" sz="2400" i="0" dirty="0" smtClean="0">
                        <a:solidFill>
                          <a:srgbClr val="000000"/>
                        </a:solidFill>
                        <a:latin typeface="Times New Roman"/>
                        <a:ea typeface="Times New Roman"/>
                        <a:cs typeface="Times New Roman"/>
                      </a:rPr>
                      <m:t>K</m:t>
                    </m:r>
                  </m:oMath>
                </a14:m>
                <a:r>
                  <a:rPr lang="en-US" altLang="en-US" sz="2400" b="0" i="0" noProof="1">
                    <a:solidFill>
                      <a:srgbClr val="000000"/>
                    </a:solidFill>
                    <a:latin typeface="Times New Roman"/>
                    <a:ea typeface="標楷體"/>
                    <a:cs typeface="Times New Roman"/>
                  </a:rPr>
                  <a:t>.</a:t>
                </a:r>
                <a:endParaRPr lang="en-US" altLang="en-US" dirty="0">
                  <a:solidFill>
                    <a:srgbClr val="000000"/>
                  </a:solidFill>
                  <a:latin typeface="Times New Roman"/>
                  <a:ea typeface="Times New Roman"/>
                  <a:cs typeface="Times New Roman"/>
                </a:endParaRPr>
              </a:p>
            </p:txBody>
          </p:sp>
        </mc:Choice>
        <mc:Fallback xmlns="">
          <p:sp>
            <p:nvSpPr>
              <p:cNvPr id="5" name="edu:body"/>
              <p:cNvSpPr txBox="1">
                <a:spLocks noRot="1" noChangeAspect="1" noMove="1" noResize="1" noEditPoints="1" noAdjustHandles="1" noChangeArrowheads="1" noChangeShapeType="1" noTextEdit="1"/>
              </p:cNvSpPr>
              <p:nvPr/>
            </p:nvSpPr>
            <p:spPr>
              <a:xfrm>
                <a:off x="565190" y="896112"/>
                <a:ext cx="11064240" cy="1161288"/>
              </a:xfrm>
              <a:prstGeom prst="rect">
                <a:avLst/>
              </a:prstGeom>
              <a:blipFill>
                <a:blip r:embed="rId3"/>
                <a:stretch>
                  <a:fillRect l="-1708" t="-6806"/>
                </a:stretch>
              </a:blipFill>
              <a:effectLst/>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edu:formula-omml" descr="Native Office Math: a23_value"/>
              <p:cNvSpPr txBox="1"/>
              <p:nvPr/>
            </p:nvSpPr>
            <p:spPr>
              <a:xfrm>
                <a:off x="671792" y="2064714"/>
                <a:ext cx="10178715" cy="1136599"/>
              </a:xfrm>
              <a:prstGeom prst="rect">
                <a:avLst/>
              </a:prstGeom>
              <a:noFill/>
              <a:effectLst/>
            </p:spPr>
            <p:txBody>
              <a:bodyPr wrap="none" lIns="0" tIns="0" rIns="0" bIns="0" anchor="ctr">
                <a:noAutofit/>
              </a:bodyPr>
              <a:lstStyle/>
              <a:p>
                <a:pPr algn="ctr"/>
                <a14:m>
                  <m:oMathPara xmlns:m="http://schemas.openxmlformats.org/officeDocument/2006/math">
                    <m:oMath>
                      <m:r>
                        <a:rPr lang="en-US" altLang="en-US" sz="2400" i="1" dirty="0">
                          <a:solidFill>
                            <a:srgbClr val="000000"/>
                          </a:solidFill>
                          <a:latin typeface="Cambria Math" panose="02040503050406030204" pitchFamily="18" charset="0"/>
                          <a:ea typeface="Times New Roman"/>
                          <a:cs typeface="Times New Roman"/>
                        </a:rPr>
                        <m:t>𝜁</m:t>
                      </m:r>
                      <m:r>
                        <a:rPr lang="en-US" altLang="en-US" sz="2400" i="1" dirty="0">
                          <a:solidFill>
                            <a:srgbClr val="000000"/>
                          </a:solidFill>
                          <a:latin typeface="Cambria Math" panose="02040503050406030204" pitchFamily="18" charset="0"/>
                          <a:ea typeface="Times New Roman"/>
                          <a:cs typeface="Times New Roman"/>
                        </a:rPr>
                        <m:t>​</m:t>
                      </m:r>
                      <m:d>
                        <m:dPr>
                          <m:ctrlPr>
                            <a:rPr lang="en-US" altLang="en-US" sz="2400" i="1" dirty="0">
                              <a:solidFill>
                                <a:srgbClr val="000000"/>
                              </a:solidFill>
                              <a:latin typeface="Cambria Math" panose="02040503050406030204" pitchFamily="18" charset="0"/>
                              <a:ea typeface="Times New Roman"/>
                              <a:cs typeface="Times New Roman"/>
                            </a:rPr>
                          </m:ctrlPr>
                        </m:dPr>
                        <m:e>
                          <m:sSub>
                            <m:sSubPr>
                              <m:ctrlPr>
                                <a:rPr lang="en-US" altLang="en-US" sz="2400" i="1" dirty="0">
                                  <a:solidFill>
                                    <a:srgbClr val="000000"/>
                                  </a:solidFill>
                                  <a:latin typeface="Cambria Math" panose="02040503050406030204" pitchFamily="18" charset="0"/>
                                  <a:ea typeface="Times New Roman"/>
                                  <a:cs typeface="Times New Roman"/>
                                </a:rPr>
                              </m:ctrlPr>
                            </m:sSubPr>
                            <m:e>
                              <m:r>
                                <a:rPr lang="en-US" altLang="en-US" sz="2400" i="1" dirty="0">
                                  <a:solidFill>
                                    <a:srgbClr val="000000"/>
                                  </a:solidFill>
                                  <a:latin typeface="Cambria Math" panose="02040503050406030204" pitchFamily="18" charset="0"/>
                                  <a:ea typeface="Times New Roman"/>
                                  <a:cs typeface="Times New Roman"/>
                                </a:rPr>
                                <m:t>𝑠</m:t>
                              </m:r>
                            </m:e>
                            <m:sub>
                              <m:r>
                                <a:rPr lang="en-US" altLang="en-US" sz="2400" i="1" dirty="0">
                                  <a:solidFill>
                                    <a:srgbClr val="000000"/>
                                  </a:solidFill>
                                  <a:latin typeface="Cambria Math" panose="02040503050406030204" pitchFamily="18" charset="0"/>
                                  <a:ea typeface="Times New Roman"/>
                                  <a:cs typeface="Times New Roman"/>
                                </a:rPr>
                                <m:t>𝑢</m:t>
                              </m:r>
                            </m:sub>
                          </m:sSub>
                          <m:r>
                            <a:rPr lang="en-US" altLang="en-US" sz="2400" dirty="0">
                              <a:solidFill>
                                <a:srgbClr val="000000"/>
                              </a:solidFill>
                              <a:latin typeface="Cambria Math" panose="02040503050406030204" pitchFamily="18" charset="0"/>
                              <a:ea typeface="Times New Roman"/>
                              <a:cs typeface="Times New Roman"/>
                            </a:rPr>
                            <m:t>(</m:t>
                          </m:r>
                          <m:r>
                            <a:rPr lang="en-US" altLang="en-US" sz="2400" i="1" dirty="0">
                              <a:solidFill>
                                <a:srgbClr val="000000"/>
                              </a:solidFill>
                              <a:latin typeface="Cambria Math" panose="02040503050406030204" pitchFamily="18" charset="0"/>
                              <a:ea typeface="Times New Roman"/>
                              <a:cs typeface="Times New Roman"/>
                            </a:rPr>
                            <m:t>𝑡</m:t>
                          </m:r>
                          <m:r>
                            <a:rPr lang="en-US" altLang="en-US" sz="2400" dirty="0">
                              <a:solidFill>
                                <a:srgbClr val="000000"/>
                              </a:solidFill>
                              <a:latin typeface="Cambria Math" panose="02040503050406030204" pitchFamily="18" charset="0"/>
                              <a:ea typeface="Times New Roman"/>
                              <a:cs typeface="Times New Roman"/>
                            </a:rPr>
                            <m:t>),</m:t>
                          </m:r>
                          <m:sSub>
                            <m:sSubPr>
                              <m:ctrlPr>
                                <a:rPr lang="en-US" altLang="en-US" sz="2400" i="1" dirty="0">
                                  <a:solidFill>
                                    <a:srgbClr val="000000"/>
                                  </a:solidFill>
                                  <a:latin typeface="Cambria Math" panose="02040503050406030204" pitchFamily="18" charset="0"/>
                                  <a:ea typeface="Times New Roman"/>
                                  <a:cs typeface="Times New Roman"/>
                                </a:rPr>
                              </m:ctrlPr>
                            </m:sSubPr>
                            <m:e>
                              <m:r>
                                <a:rPr lang="en-US" altLang="en-US" sz="2400" i="1" dirty="0">
                                  <a:solidFill>
                                    <a:srgbClr val="000000"/>
                                  </a:solidFill>
                                  <a:latin typeface="Cambria Math" panose="02040503050406030204" pitchFamily="18" charset="0"/>
                                  <a:ea typeface="Times New Roman"/>
                                  <a:cs typeface="Times New Roman"/>
                                </a:rPr>
                                <m:t>𝑎</m:t>
                              </m:r>
                            </m:e>
                            <m:sub>
                              <m:r>
                                <a:rPr lang="en-US" altLang="en-US" sz="2400" i="1" dirty="0">
                                  <a:solidFill>
                                    <a:srgbClr val="000000"/>
                                  </a:solidFill>
                                  <a:latin typeface="Cambria Math" panose="02040503050406030204" pitchFamily="18" charset="0"/>
                                  <a:ea typeface="Times New Roman"/>
                                  <a:cs typeface="Times New Roman"/>
                                </a:rPr>
                                <m:t>𝑢</m:t>
                              </m:r>
                            </m:sub>
                          </m:sSub>
                          <m:r>
                            <a:rPr lang="en-US" altLang="en-US" sz="2400" dirty="0">
                              <a:solidFill>
                                <a:srgbClr val="000000"/>
                              </a:solidFill>
                              <a:latin typeface="Cambria Math" panose="02040503050406030204" pitchFamily="18" charset="0"/>
                              <a:ea typeface="Times New Roman"/>
                              <a:cs typeface="Times New Roman"/>
                            </a:rPr>
                            <m:t>(</m:t>
                          </m:r>
                          <m:r>
                            <a:rPr lang="en-US" altLang="en-US" sz="2400" i="1" dirty="0">
                              <a:solidFill>
                                <a:srgbClr val="000000"/>
                              </a:solidFill>
                              <a:latin typeface="Cambria Math" panose="02040503050406030204" pitchFamily="18" charset="0"/>
                              <a:ea typeface="Times New Roman"/>
                              <a:cs typeface="Times New Roman"/>
                            </a:rPr>
                            <m:t>𝑡</m:t>
                          </m:r>
                          <m:r>
                            <a:rPr lang="en-US" altLang="en-US" sz="2400" dirty="0">
                              <a:solidFill>
                                <a:srgbClr val="000000"/>
                              </a:solidFill>
                              <a:latin typeface="Cambria Math" panose="02040503050406030204" pitchFamily="18" charset="0"/>
                              <a:ea typeface="Times New Roman"/>
                              <a:cs typeface="Times New Roman"/>
                            </a:rPr>
                            <m:t>)</m:t>
                          </m:r>
                        </m:e>
                      </m:d>
                      <m:r>
                        <a:rPr lang="en-US" altLang="en-US" sz="2400" dirty="0">
                          <a:solidFill>
                            <a:srgbClr val="000000"/>
                          </a:solidFill>
                          <a:latin typeface="Cambria Math" panose="02040503050406030204" pitchFamily="18" charset="0"/>
                          <a:ea typeface="Times New Roman"/>
                          <a:cs typeface="Times New Roman"/>
                        </a:rPr>
                        <m:t>=</m:t>
                      </m:r>
                      <m:nary>
                        <m:naryPr>
                          <m:chr m:val="∑"/>
                          <m:limLoc m:val="undOvr"/>
                          <m:ctrlPr>
                            <a:rPr lang="en-US" altLang="en-US" sz="2400" i="1" dirty="0">
                              <a:solidFill>
                                <a:srgbClr val="000000"/>
                              </a:solidFill>
                              <a:latin typeface="Cambria Math" panose="02040503050406030204" pitchFamily="18" charset="0"/>
                              <a:ea typeface="Times New Roman"/>
                              <a:cs typeface="Times New Roman"/>
                            </a:rPr>
                          </m:ctrlPr>
                        </m:naryPr>
                        <m:sub>
                          <m:r>
                            <a:rPr lang="en-US" altLang="en-US" sz="2400" i="1" dirty="0">
                              <a:solidFill>
                                <a:srgbClr val="000000"/>
                              </a:solidFill>
                              <a:latin typeface="Cambria Math" panose="02040503050406030204" pitchFamily="18" charset="0"/>
                              <a:ea typeface="Times New Roman"/>
                              <a:cs typeface="Times New Roman"/>
                            </a:rPr>
                            <m:t>𝑗</m:t>
                          </m:r>
                          <m:r>
                            <a:rPr lang="en-US" altLang="en-US" sz="2400" dirty="0">
                              <a:solidFill>
                                <a:srgbClr val="000000"/>
                              </a:solidFill>
                              <a:latin typeface="Cambria Math" panose="02040503050406030204" pitchFamily="18" charset="0"/>
                              <a:ea typeface="Times New Roman"/>
                              <a:cs typeface="Times New Roman"/>
                            </a:rPr>
                            <m:t>=1</m:t>
                          </m:r>
                        </m:sub>
                        <m:sup>
                          <m:r>
                            <a:rPr lang="en-US" altLang="en-US" sz="2400" dirty="0">
                              <a:solidFill>
                                <a:srgbClr val="000000"/>
                              </a:solidFill>
                              <a:latin typeface="Cambria Math" panose="02040503050406030204" pitchFamily="18" charset="0"/>
                              <a:ea typeface="Times New Roman"/>
                              <a:cs typeface="Times New Roman"/>
                            </a:rPr>
                            <m:t>3</m:t>
                          </m:r>
                        </m:sup>
                        <m:e>
                          <m:sSub>
                            <m:sSubPr>
                              <m:ctrlPr>
                                <a:rPr lang="en-US" altLang="en-US" sz="2400" i="1" dirty="0">
                                  <a:solidFill>
                                    <a:srgbClr val="000000"/>
                                  </a:solidFill>
                                  <a:latin typeface="Cambria Math" panose="02040503050406030204" pitchFamily="18" charset="0"/>
                                  <a:ea typeface="Times New Roman"/>
                                  <a:cs typeface="Times New Roman"/>
                                </a:rPr>
                              </m:ctrlPr>
                            </m:sSubPr>
                            <m:e>
                              <m:r>
                                <a:rPr lang="en-US" altLang="en-US" sz="2400" i="1" dirty="0">
                                  <a:solidFill>
                                    <a:srgbClr val="000000"/>
                                  </a:solidFill>
                                  <a:latin typeface="Cambria Math" panose="02040503050406030204" pitchFamily="18" charset="0"/>
                                  <a:ea typeface="Times New Roman"/>
                                  <a:cs typeface="Times New Roman"/>
                                </a:rPr>
                                <m:t>𝜔</m:t>
                              </m:r>
                            </m:e>
                            <m:sub>
                              <m:r>
                                <a:rPr lang="en-US" altLang="en-US" sz="2400" i="1" dirty="0">
                                  <a:solidFill>
                                    <a:srgbClr val="000000"/>
                                  </a:solidFill>
                                  <a:latin typeface="Cambria Math" panose="02040503050406030204" pitchFamily="18" charset="0"/>
                                  <a:ea typeface="Times New Roman"/>
                                  <a:cs typeface="Times New Roman"/>
                                </a:rPr>
                                <m:t>𝑗</m:t>
                              </m:r>
                            </m:sub>
                          </m:sSub>
                        </m:e>
                      </m:nary>
                      <m:r>
                        <a:rPr lang="en-US" altLang="en-US" sz="2400" i="1" dirty="0">
                          <a:solidFill>
                            <a:srgbClr val="000000"/>
                          </a:solidFill>
                          <a:latin typeface="Cambria Math" panose="02040503050406030204" pitchFamily="18" charset="0"/>
                          <a:ea typeface="Times New Roman"/>
                          <a:cs typeface="Times New Roman"/>
                        </a:rPr>
                        <m:t> </m:t>
                      </m:r>
                      <m:sSub>
                        <m:sSubPr>
                          <m:ctrlPr>
                            <a:rPr lang="en-US" altLang="en-US" sz="2400" i="1" dirty="0">
                              <a:solidFill>
                                <a:srgbClr val="000000"/>
                              </a:solidFill>
                              <a:latin typeface="Cambria Math" panose="02040503050406030204" pitchFamily="18" charset="0"/>
                              <a:ea typeface="Times New Roman"/>
                              <a:cs typeface="Times New Roman"/>
                            </a:rPr>
                          </m:ctrlPr>
                        </m:sSubPr>
                        <m:e>
                          <m:r>
                            <a:rPr lang="en-US" altLang="en-US" sz="2400" i="1" dirty="0">
                              <a:solidFill>
                                <a:srgbClr val="000000"/>
                              </a:solidFill>
                              <a:latin typeface="Cambria Math" panose="02040503050406030204" pitchFamily="18" charset="0"/>
                              <a:ea typeface="Times New Roman"/>
                              <a:cs typeface="Times New Roman"/>
                            </a:rPr>
                            <m:t>𝑄</m:t>
                          </m:r>
                        </m:e>
                        <m:sub>
                          <m:r>
                            <a:rPr lang="en-US" altLang="en-US" sz="2400" i="1" dirty="0">
                              <a:solidFill>
                                <a:srgbClr val="000000"/>
                              </a:solidFill>
                              <a:latin typeface="Cambria Math" panose="02040503050406030204" pitchFamily="18" charset="0"/>
                              <a:ea typeface="Times New Roman"/>
                              <a:cs typeface="Times New Roman"/>
                            </a:rPr>
                            <m:t>𝑗</m:t>
                          </m:r>
                        </m:sub>
                      </m:sSub>
                      <m:r>
                        <a:rPr lang="en-US" altLang="en-US" sz="2400" i="1" dirty="0">
                          <a:solidFill>
                            <a:srgbClr val="000000"/>
                          </a:solidFill>
                          <a:latin typeface="Cambria Math" panose="02040503050406030204" pitchFamily="18" charset="0"/>
                          <a:ea typeface="Times New Roman"/>
                          <a:cs typeface="Times New Roman"/>
                        </a:rPr>
                        <m:t>​</m:t>
                      </m:r>
                      <m:d>
                        <m:dPr>
                          <m:ctrlPr>
                            <a:rPr lang="en-US" altLang="en-US" sz="2400" i="1" dirty="0">
                              <a:solidFill>
                                <a:srgbClr val="000000"/>
                              </a:solidFill>
                              <a:latin typeface="Cambria Math" panose="02040503050406030204" pitchFamily="18" charset="0"/>
                              <a:ea typeface="Times New Roman"/>
                              <a:cs typeface="Times New Roman"/>
                            </a:rPr>
                          </m:ctrlPr>
                        </m:dPr>
                        <m:e>
                          <m:sSub>
                            <m:sSubPr>
                              <m:ctrlPr>
                                <a:rPr lang="en-US" altLang="en-US" sz="2400" i="1" dirty="0">
                                  <a:solidFill>
                                    <a:srgbClr val="000000"/>
                                  </a:solidFill>
                                  <a:latin typeface="Cambria Math" panose="02040503050406030204" pitchFamily="18" charset="0"/>
                                  <a:ea typeface="Times New Roman"/>
                                  <a:cs typeface="Times New Roman"/>
                                </a:rPr>
                              </m:ctrlPr>
                            </m:sSubPr>
                            <m:e>
                              <m:r>
                                <a:rPr lang="en-US" altLang="en-US" sz="2400" i="1" dirty="0">
                                  <a:solidFill>
                                    <a:srgbClr val="000000"/>
                                  </a:solidFill>
                                  <a:latin typeface="Cambria Math" panose="02040503050406030204" pitchFamily="18" charset="0"/>
                                  <a:ea typeface="Times New Roman"/>
                                  <a:cs typeface="Times New Roman"/>
                                </a:rPr>
                                <m:t>𝑠</m:t>
                              </m:r>
                            </m:e>
                            <m:sub>
                              <m:r>
                                <a:rPr lang="en-US" altLang="en-US" sz="2400" i="1" dirty="0">
                                  <a:solidFill>
                                    <a:srgbClr val="000000"/>
                                  </a:solidFill>
                                  <a:latin typeface="Cambria Math" panose="02040503050406030204" pitchFamily="18" charset="0"/>
                                  <a:ea typeface="Times New Roman"/>
                                  <a:cs typeface="Times New Roman"/>
                                </a:rPr>
                                <m:t>𝑢</m:t>
                              </m:r>
                            </m:sub>
                          </m:sSub>
                          <m:r>
                            <a:rPr lang="en-US" altLang="en-US" sz="2400" dirty="0">
                              <a:solidFill>
                                <a:srgbClr val="000000"/>
                              </a:solidFill>
                              <a:latin typeface="Cambria Math" panose="02040503050406030204" pitchFamily="18" charset="0"/>
                              <a:ea typeface="Times New Roman"/>
                              <a:cs typeface="Times New Roman"/>
                            </a:rPr>
                            <m:t>(</m:t>
                          </m:r>
                          <m:r>
                            <a:rPr lang="en-US" altLang="en-US" sz="2400" i="1" dirty="0">
                              <a:solidFill>
                                <a:srgbClr val="000000"/>
                              </a:solidFill>
                              <a:latin typeface="Cambria Math" panose="02040503050406030204" pitchFamily="18" charset="0"/>
                              <a:ea typeface="Times New Roman"/>
                              <a:cs typeface="Times New Roman"/>
                            </a:rPr>
                            <m:t>𝑡</m:t>
                          </m:r>
                          <m:r>
                            <a:rPr lang="en-US" altLang="en-US" sz="2400" dirty="0">
                              <a:solidFill>
                                <a:srgbClr val="000000"/>
                              </a:solidFill>
                              <a:latin typeface="Cambria Math" panose="02040503050406030204" pitchFamily="18" charset="0"/>
                              <a:ea typeface="Times New Roman"/>
                              <a:cs typeface="Times New Roman"/>
                            </a:rPr>
                            <m:t>),</m:t>
                          </m:r>
                          <m:sSub>
                            <m:sSubPr>
                              <m:ctrlPr>
                                <a:rPr lang="en-US" altLang="en-US" sz="2400" i="1" dirty="0">
                                  <a:solidFill>
                                    <a:srgbClr val="000000"/>
                                  </a:solidFill>
                                  <a:latin typeface="Cambria Math" panose="02040503050406030204" pitchFamily="18" charset="0"/>
                                  <a:ea typeface="Times New Roman"/>
                                  <a:cs typeface="Times New Roman"/>
                                </a:rPr>
                              </m:ctrlPr>
                            </m:sSubPr>
                            <m:e>
                              <m:r>
                                <a:rPr lang="en-US" altLang="en-US" sz="2400" i="1" dirty="0">
                                  <a:solidFill>
                                    <a:srgbClr val="000000"/>
                                  </a:solidFill>
                                  <a:latin typeface="Cambria Math" panose="02040503050406030204" pitchFamily="18" charset="0"/>
                                  <a:ea typeface="Times New Roman"/>
                                  <a:cs typeface="Times New Roman"/>
                                </a:rPr>
                                <m:t>𝑎</m:t>
                              </m:r>
                            </m:e>
                            <m:sub>
                              <m:r>
                                <a:rPr lang="en-US" altLang="en-US" sz="2400" i="1" dirty="0">
                                  <a:solidFill>
                                    <a:srgbClr val="000000"/>
                                  </a:solidFill>
                                  <a:latin typeface="Cambria Math" panose="02040503050406030204" pitchFamily="18" charset="0"/>
                                  <a:ea typeface="Times New Roman"/>
                                  <a:cs typeface="Times New Roman"/>
                                </a:rPr>
                                <m:t>𝑢</m:t>
                              </m:r>
                            </m:sub>
                          </m:sSub>
                          <m:r>
                            <a:rPr lang="en-US" altLang="en-US" sz="2400" dirty="0">
                              <a:solidFill>
                                <a:srgbClr val="000000"/>
                              </a:solidFill>
                              <a:latin typeface="Cambria Math" panose="02040503050406030204" pitchFamily="18" charset="0"/>
                              <a:ea typeface="Times New Roman"/>
                              <a:cs typeface="Times New Roman"/>
                            </a:rPr>
                            <m:t>(</m:t>
                          </m:r>
                          <m:r>
                            <a:rPr lang="en-US" altLang="en-US" sz="2400" i="1" dirty="0">
                              <a:solidFill>
                                <a:srgbClr val="000000"/>
                              </a:solidFill>
                              <a:latin typeface="Cambria Math" panose="02040503050406030204" pitchFamily="18" charset="0"/>
                              <a:ea typeface="Times New Roman"/>
                              <a:cs typeface="Times New Roman"/>
                            </a:rPr>
                            <m:t>𝑡</m:t>
                          </m:r>
                          <m:r>
                            <a:rPr lang="en-US" altLang="en-US" sz="2400" dirty="0">
                              <a:solidFill>
                                <a:srgbClr val="000000"/>
                              </a:solidFill>
                              <a:latin typeface="Cambria Math" panose="02040503050406030204" pitchFamily="18" charset="0"/>
                              <a:ea typeface="Times New Roman"/>
                              <a:cs typeface="Times New Roman"/>
                            </a:rPr>
                            <m:t>)</m:t>
                          </m:r>
                        </m:e>
                      </m:d>
                      <m:r>
                        <a:rPr lang="en-US" altLang="en-US" sz="2400" dirty="0">
                          <a:solidFill>
                            <a:srgbClr val="000000"/>
                          </a:solidFill>
                          <a:latin typeface="Cambria Math" panose="02040503050406030204" pitchFamily="18" charset="0"/>
                          <a:ea typeface="Times New Roman"/>
                          <a:cs typeface="Times New Roman"/>
                        </a:rPr>
                        <m:t>,</m:t>
                      </m:r>
                      <m:r>
                        <a:rPr lang="en-US" altLang="en-US" sz="2400" i="1" dirty="0">
                          <a:solidFill>
                            <a:srgbClr val="000000"/>
                          </a:solidFill>
                          <a:latin typeface="Cambria Math" panose="02040503050406030204" pitchFamily="18" charset="0"/>
                          <a:ea typeface="Times New Roman"/>
                          <a:cs typeface="Times New Roman"/>
                        </a:rPr>
                        <m:t>  </m:t>
                      </m:r>
                      <m:sSub>
                        <m:sSubPr>
                          <m:ctrlPr>
                            <a:rPr lang="en-US" altLang="en-US" sz="2400" i="1" dirty="0">
                              <a:solidFill>
                                <a:srgbClr val="000000"/>
                              </a:solidFill>
                              <a:latin typeface="Cambria Math" panose="02040503050406030204" pitchFamily="18" charset="0"/>
                              <a:ea typeface="Times New Roman"/>
                              <a:cs typeface="Times New Roman"/>
                            </a:rPr>
                          </m:ctrlPr>
                        </m:sSubPr>
                        <m:e>
                          <m:r>
                            <a:rPr lang="en-US" altLang="en-US" sz="2400" i="1" dirty="0">
                              <a:solidFill>
                                <a:srgbClr val="000000"/>
                              </a:solidFill>
                              <a:latin typeface="Cambria Math" panose="02040503050406030204" pitchFamily="18" charset="0"/>
                              <a:ea typeface="Times New Roman"/>
                              <a:cs typeface="Times New Roman"/>
                            </a:rPr>
                            <m:t>𝑎</m:t>
                          </m:r>
                        </m:e>
                        <m:sub>
                          <m:r>
                            <a:rPr lang="en-US" altLang="en-US" sz="2400" i="1" dirty="0">
                              <a:solidFill>
                                <a:srgbClr val="000000"/>
                              </a:solidFill>
                              <a:latin typeface="Cambria Math" panose="02040503050406030204" pitchFamily="18" charset="0"/>
                              <a:ea typeface="Times New Roman"/>
                              <a:cs typeface="Times New Roman"/>
                            </a:rPr>
                            <m:t>𝑢</m:t>
                          </m:r>
                        </m:sub>
                      </m:sSub>
                      <m:r>
                        <a:rPr lang="en-US" altLang="en-US" sz="2400" dirty="0">
                          <a:solidFill>
                            <a:srgbClr val="000000"/>
                          </a:solidFill>
                          <a:latin typeface="Cambria Math" panose="02040503050406030204" pitchFamily="18" charset="0"/>
                          <a:ea typeface="Times New Roman"/>
                          <a:cs typeface="Times New Roman"/>
                        </a:rPr>
                        <m:t>(</m:t>
                      </m:r>
                      <m:r>
                        <a:rPr lang="en-US" altLang="en-US" sz="2400" i="1" dirty="0">
                          <a:solidFill>
                            <a:srgbClr val="000000"/>
                          </a:solidFill>
                          <a:latin typeface="Cambria Math" panose="02040503050406030204" pitchFamily="18" charset="0"/>
                          <a:ea typeface="Times New Roman"/>
                          <a:cs typeface="Times New Roman"/>
                        </a:rPr>
                        <m:t>𝑡</m:t>
                      </m:r>
                      <m:r>
                        <a:rPr lang="en-US" altLang="en-US" sz="2400" dirty="0">
                          <a:solidFill>
                            <a:srgbClr val="000000"/>
                          </a:solidFill>
                          <a:latin typeface="Cambria Math" panose="02040503050406030204" pitchFamily="18" charset="0"/>
                          <a:ea typeface="Times New Roman"/>
                          <a:cs typeface="Times New Roman"/>
                        </a:rPr>
                        <m:t>)=</m:t>
                      </m:r>
                      <m:limLow>
                        <m:limLowPr>
                          <m:ctrlPr>
                            <a:rPr lang="en-US" altLang="en-US" sz="2400" i="0" dirty="0">
                              <a:solidFill>
                                <a:srgbClr val="000000"/>
                              </a:solidFill>
                              <a:ea typeface="Times New Roman"/>
                              <a:cs typeface="Times New Roman"/>
                            </a:rPr>
                          </m:ctrlPr>
                        </m:limLowPr>
                        <m:e>
                          <m:r>
                            <m:rPr>
                              <m:nor/>
                            </m:rPr>
                            <a:rPr lang="en-US" altLang="en-US" sz="2400" i="0" dirty="0">
                              <a:solidFill>
                                <a:srgbClr val="000000"/>
                              </a:solidFill>
                              <a:ea typeface="Times New Roman"/>
                              <a:cs typeface="Times New Roman"/>
                            </a:rPr>
                            <m:t>argmax</m:t>
                          </m:r>
                        </m:e>
                        <m:lim>
                          <m:sSub>
                            <m:sSubPr>
                              <m:ctrlPr>
                                <a:rPr lang="en-US" altLang="en-US" sz="2400" i="1" dirty="0">
                                  <a:solidFill>
                                    <a:srgbClr val="000000"/>
                                  </a:solidFill>
                                  <a:latin typeface="Cambria Math" panose="02040503050406030204" pitchFamily="18" charset="0"/>
                                  <a:ea typeface="Times New Roman"/>
                                  <a:cs typeface="Times New Roman"/>
                                </a:rPr>
                              </m:ctrlPr>
                            </m:sSubPr>
                            <m:e>
                              <m:r>
                                <a:rPr lang="en-US" altLang="en-US" sz="2400" i="1" dirty="0">
                                  <a:solidFill>
                                    <a:srgbClr val="000000"/>
                                  </a:solidFill>
                                  <a:latin typeface="Cambria Math" panose="02040503050406030204" pitchFamily="18" charset="0"/>
                                  <a:ea typeface="Times New Roman"/>
                                  <a:cs typeface="Times New Roman"/>
                                </a:rPr>
                                <m:t>𝑎</m:t>
                              </m:r>
                            </m:e>
                            <m:sub>
                              <m:r>
                                <a:rPr lang="en-US" altLang="en-US" sz="2400" i="1" dirty="0">
                                  <a:solidFill>
                                    <a:srgbClr val="000000"/>
                                  </a:solidFill>
                                  <a:latin typeface="Cambria Math" panose="02040503050406030204" pitchFamily="18" charset="0"/>
                                  <a:ea typeface="Times New Roman"/>
                                  <a:cs typeface="Times New Roman"/>
                                </a:rPr>
                                <m:t>𝑢</m:t>
                              </m:r>
                            </m:sub>
                          </m:sSub>
                          <m:r>
                            <a:rPr lang="en-US" altLang="en-US" sz="2400" dirty="0">
                              <a:solidFill>
                                <a:srgbClr val="000000"/>
                              </a:solidFill>
                              <a:latin typeface="Cambria Math" panose="02040503050406030204" pitchFamily="18" charset="0"/>
                              <a:ea typeface="Times New Roman"/>
                              <a:cs typeface="Times New Roman"/>
                            </a:rPr>
                            <m:t>(</m:t>
                          </m:r>
                          <m:r>
                            <a:rPr lang="en-US" altLang="en-US" sz="2400" i="1" dirty="0">
                              <a:solidFill>
                                <a:srgbClr val="000000"/>
                              </a:solidFill>
                              <a:latin typeface="Cambria Math" panose="02040503050406030204" pitchFamily="18" charset="0"/>
                              <a:ea typeface="Times New Roman"/>
                              <a:cs typeface="Times New Roman"/>
                            </a:rPr>
                            <m:t>𝑡</m:t>
                          </m:r>
                          <m:r>
                            <a:rPr lang="en-US" altLang="en-US" sz="2400" dirty="0">
                              <a:solidFill>
                                <a:srgbClr val="000000"/>
                              </a:solidFill>
                              <a:latin typeface="Cambria Math" panose="02040503050406030204" pitchFamily="18" charset="0"/>
                              <a:ea typeface="Times New Roman"/>
                              <a:cs typeface="Times New Roman"/>
                            </a:rPr>
                            <m:t>)∈</m:t>
                          </m:r>
                          <m:r>
                            <m:rPr>
                              <m:nor/>
                            </m:rPr>
                            <a:rPr lang="en-US" altLang="en-US" sz="2400" i="0" dirty="0">
                              <a:solidFill>
                                <a:srgbClr val="000000"/>
                              </a:solidFill>
                              <a:ea typeface="Times New Roman"/>
                              <a:cs typeface="Times New Roman"/>
                            </a:rPr>
                            <m:t>A</m:t>
                          </m:r>
                        </m:lim>
                      </m:limLow>
                      <m:r>
                        <a:rPr lang="en-US" altLang="en-US" sz="2400" i="1" dirty="0">
                          <a:solidFill>
                            <a:srgbClr val="000000"/>
                          </a:solidFill>
                          <a:latin typeface="Cambria Math" panose="02040503050406030204" pitchFamily="18" charset="0"/>
                          <a:ea typeface="Times New Roman"/>
                          <a:cs typeface="Times New Roman"/>
                        </a:rPr>
                        <m:t>𝜁</m:t>
                      </m:r>
                      <m:r>
                        <a:rPr lang="en-US" altLang="en-US" sz="2400" i="1" dirty="0">
                          <a:solidFill>
                            <a:srgbClr val="000000"/>
                          </a:solidFill>
                          <a:latin typeface="Cambria Math" panose="02040503050406030204" pitchFamily="18" charset="0"/>
                          <a:ea typeface="Times New Roman"/>
                          <a:cs typeface="Times New Roman"/>
                        </a:rPr>
                        <m:t>​</m:t>
                      </m:r>
                      <m:d>
                        <m:dPr>
                          <m:ctrlPr>
                            <a:rPr lang="en-US" altLang="en-US" sz="2400" i="1" dirty="0">
                              <a:solidFill>
                                <a:srgbClr val="000000"/>
                              </a:solidFill>
                              <a:latin typeface="Cambria Math" panose="02040503050406030204" pitchFamily="18" charset="0"/>
                              <a:ea typeface="Times New Roman"/>
                              <a:cs typeface="Times New Roman"/>
                            </a:rPr>
                          </m:ctrlPr>
                        </m:dPr>
                        <m:e>
                          <m:sSub>
                            <m:sSubPr>
                              <m:ctrlPr>
                                <a:rPr lang="en-US" altLang="en-US" sz="2400" i="1" dirty="0">
                                  <a:solidFill>
                                    <a:srgbClr val="000000"/>
                                  </a:solidFill>
                                  <a:latin typeface="Cambria Math" panose="02040503050406030204" pitchFamily="18" charset="0"/>
                                  <a:ea typeface="Times New Roman"/>
                                  <a:cs typeface="Times New Roman"/>
                                </a:rPr>
                              </m:ctrlPr>
                            </m:sSubPr>
                            <m:e>
                              <m:r>
                                <a:rPr lang="en-US" altLang="en-US" sz="2400" i="1" dirty="0">
                                  <a:solidFill>
                                    <a:srgbClr val="000000"/>
                                  </a:solidFill>
                                  <a:latin typeface="Cambria Math" panose="02040503050406030204" pitchFamily="18" charset="0"/>
                                  <a:ea typeface="Times New Roman"/>
                                  <a:cs typeface="Times New Roman"/>
                                </a:rPr>
                                <m:t>𝑠</m:t>
                              </m:r>
                            </m:e>
                            <m:sub>
                              <m:r>
                                <a:rPr lang="en-US" altLang="en-US" sz="2400" i="1" dirty="0">
                                  <a:solidFill>
                                    <a:srgbClr val="000000"/>
                                  </a:solidFill>
                                  <a:latin typeface="Cambria Math" panose="02040503050406030204" pitchFamily="18" charset="0"/>
                                  <a:ea typeface="Times New Roman"/>
                                  <a:cs typeface="Times New Roman"/>
                                </a:rPr>
                                <m:t>𝑢</m:t>
                              </m:r>
                            </m:sub>
                          </m:sSub>
                          <m:r>
                            <a:rPr lang="en-US" altLang="en-US" sz="2400" dirty="0">
                              <a:solidFill>
                                <a:srgbClr val="000000"/>
                              </a:solidFill>
                              <a:latin typeface="Cambria Math" panose="02040503050406030204" pitchFamily="18" charset="0"/>
                              <a:ea typeface="Times New Roman"/>
                              <a:cs typeface="Times New Roman"/>
                            </a:rPr>
                            <m:t>(</m:t>
                          </m:r>
                          <m:r>
                            <a:rPr lang="en-US" altLang="en-US" sz="2400" i="1" dirty="0">
                              <a:solidFill>
                                <a:srgbClr val="000000"/>
                              </a:solidFill>
                              <a:latin typeface="Cambria Math" panose="02040503050406030204" pitchFamily="18" charset="0"/>
                              <a:ea typeface="Times New Roman"/>
                              <a:cs typeface="Times New Roman"/>
                            </a:rPr>
                            <m:t>𝑡</m:t>
                          </m:r>
                          <m:r>
                            <a:rPr lang="en-US" altLang="en-US" sz="2400" dirty="0">
                              <a:solidFill>
                                <a:srgbClr val="000000"/>
                              </a:solidFill>
                              <a:latin typeface="Cambria Math" panose="02040503050406030204" pitchFamily="18" charset="0"/>
                              <a:ea typeface="Times New Roman"/>
                              <a:cs typeface="Times New Roman"/>
                            </a:rPr>
                            <m:t>),</m:t>
                          </m:r>
                          <m:sSub>
                            <m:sSubPr>
                              <m:ctrlPr>
                                <a:rPr lang="en-US" altLang="en-US" sz="2400" i="1" dirty="0">
                                  <a:solidFill>
                                    <a:srgbClr val="000000"/>
                                  </a:solidFill>
                                  <a:latin typeface="Cambria Math" panose="02040503050406030204" pitchFamily="18" charset="0"/>
                                  <a:ea typeface="Times New Roman"/>
                                  <a:cs typeface="Times New Roman"/>
                                </a:rPr>
                              </m:ctrlPr>
                            </m:sSubPr>
                            <m:e>
                              <m:r>
                                <a:rPr lang="en-US" altLang="en-US" sz="2400" i="1" dirty="0">
                                  <a:solidFill>
                                    <a:srgbClr val="000000"/>
                                  </a:solidFill>
                                  <a:latin typeface="Cambria Math" panose="02040503050406030204" pitchFamily="18" charset="0"/>
                                  <a:ea typeface="Times New Roman"/>
                                  <a:cs typeface="Times New Roman"/>
                                </a:rPr>
                                <m:t>𝑎</m:t>
                              </m:r>
                            </m:e>
                            <m:sub>
                              <m:r>
                                <a:rPr lang="en-US" altLang="en-US" sz="2400" i="1" dirty="0">
                                  <a:solidFill>
                                    <a:srgbClr val="000000"/>
                                  </a:solidFill>
                                  <a:latin typeface="Cambria Math" panose="02040503050406030204" pitchFamily="18" charset="0"/>
                                  <a:ea typeface="Times New Roman"/>
                                  <a:cs typeface="Times New Roman"/>
                                </a:rPr>
                                <m:t>𝑢</m:t>
                              </m:r>
                            </m:sub>
                          </m:sSub>
                          <m:r>
                            <a:rPr lang="en-US" altLang="en-US" sz="2400" dirty="0">
                              <a:solidFill>
                                <a:srgbClr val="000000"/>
                              </a:solidFill>
                              <a:latin typeface="Cambria Math" panose="02040503050406030204" pitchFamily="18" charset="0"/>
                              <a:ea typeface="Times New Roman"/>
                              <a:cs typeface="Times New Roman"/>
                            </a:rPr>
                            <m:t>(</m:t>
                          </m:r>
                          <m:r>
                            <a:rPr lang="en-US" altLang="en-US" sz="2400" i="1" dirty="0">
                              <a:solidFill>
                                <a:srgbClr val="000000"/>
                              </a:solidFill>
                              <a:latin typeface="Cambria Math" panose="02040503050406030204" pitchFamily="18" charset="0"/>
                              <a:ea typeface="Times New Roman"/>
                              <a:cs typeface="Times New Roman"/>
                            </a:rPr>
                            <m:t>𝑡</m:t>
                          </m:r>
                          <m:r>
                            <a:rPr lang="en-US" altLang="en-US" sz="2400" dirty="0">
                              <a:solidFill>
                                <a:srgbClr val="000000"/>
                              </a:solidFill>
                              <a:latin typeface="Cambria Math" panose="02040503050406030204" pitchFamily="18" charset="0"/>
                              <a:ea typeface="Times New Roman"/>
                              <a:cs typeface="Times New Roman"/>
                            </a:rPr>
                            <m:t>)</m:t>
                          </m:r>
                        </m:e>
                      </m:d>
                    </m:oMath>
                  </m:oMathPara>
                </a14:m>
                <a:endParaRPr lang="en-US" altLang="en-US" sz="2400" dirty="0">
                  <a:solidFill>
                    <a:srgbClr val="000000"/>
                  </a:solidFill>
                  <a:ea typeface="Times New Roman"/>
                  <a:cs typeface="Times New Roman"/>
                </a:endParaRPr>
              </a:p>
            </p:txBody>
          </p:sp>
        </mc:Choice>
        <mc:Fallback xmlns="">
          <p:sp>
            <p:nvSpPr>
              <p:cNvPr id="6" name="edu:formula-omml" descr="Native Office Math: a23_value"/>
              <p:cNvSpPr txBox="1">
                <a:spLocks noRot="1" noChangeAspect="1" noMove="1" noResize="1" noEditPoints="1" noAdjustHandles="1" noChangeArrowheads="1" noChangeShapeType="1" noTextEdit="1"/>
              </p:cNvSpPr>
              <p:nvPr/>
            </p:nvSpPr>
            <p:spPr>
              <a:xfrm>
                <a:off x="671792" y="2064714"/>
                <a:ext cx="10178715" cy="1136599"/>
              </a:xfrm>
              <a:prstGeom prst="rect">
                <a:avLst/>
              </a:prstGeom>
              <a:blipFill>
                <a:blip r:embed="rId4"/>
                <a:stretch>
                  <a:fillRect/>
                </a:stretch>
              </a:blipFill>
              <a:effectLst/>
            </p:spPr>
            <p:txBody>
              <a:bodyPr/>
              <a:lstStyle/>
              <a:p>
                <a:r>
                  <a:rPr lang="zh-TW" altLang="en-US">
                    <a:noFill/>
                  </a:rPr>
                  <a:t> </a:t>
                </a:r>
              </a:p>
            </p:txBody>
          </p:sp>
        </mc:Fallback>
      </mc:AlternateContent>
      <p:sp>
        <p:nvSpPr>
          <p:cNvPr id="7" name="edu:body"/>
          <p:cNvSpPr txBox="1"/>
          <p:nvPr/>
        </p:nvSpPr>
        <p:spPr>
          <a:xfrm>
            <a:off x="565190" y="3523183"/>
            <a:ext cx="11064240" cy="386791"/>
          </a:xfrm>
          <a:prstGeom prst="rect">
            <a:avLst/>
          </a:prstGeom>
          <a:noFill/>
        </p:spPr>
        <p:txBody>
          <a:bodyPr wrap="square" lIns="0" tIns="0" rIns="0" bIns="0" anchor="t">
            <a:spAutoFit/>
          </a:bodyPr>
          <a:lstStyle/>
          <a:p>
            <a:pPr algn="l">
              <a:lnSpc>
                <a:spcPct val="112000"/>
              </a:lnSpc>
              <a:spcAft>
                <a:spcPts val="0"/>
              </a:spcAft>
            </a:pPr>
            <a:r>
              <a:rPr lang="en-US" altLang="en-US" sz="2400" b="0" i="0" noProof="1">
                <a:solidFill>
                  <a:srgbClr val="000000"/>
                </a:solidFill>
                <a:latin typeface="Times New Roman"/>
                <a:ea typeface="標楷體"/>
                <a:cs typeface="Times New Roman"/>
              </a:rPr>
              <a:t>Each objective keeps its own value estimate, the weights combine them at decision time.</a:t>
            </a:r>
          </a:p>
        </p:txBody>
      </p:sp>
      <mc:AlternateContent xmlns:mc="http://schemas.openxmlformats.org/markup-compatibility/2006" xmlns:a14="http://schemas.microsoft.com/office/drawing/2010/main">
        <mc:Choice Requires="a14">
          <p:sp>
            <p:nvSpPr>
              <p:cNvPr id="8" name="edu:notation"/>
              <p:cNvSpPr txBox="1"/>
              <p:nvPr/>
            </p:nvSpPr>
            <p:spPr>
              <a:xfrm>
                <a:off x="565190" y="3997756"/>
                <a:ext cx="11064240" cy="2062886"/>
              </a:xfrm>
              <a:prstGeom prst="rect">
                <a:avLst/>
              </a:prstGeom>
              <a:noFill/>
              <a:effectLst/>
            </p:spPr>
            <p:txBody>
              <a:bodyPr wrap="square" lIns="0" tIns="0" rIns="0" bIns="0" anchor="t">
                <a:noAutofit/>
              </a:bodyPr>
              <a:lstStyle/>
              <a:p>
                <a:pPr algn="l">
                  <a:lnSpc>
                    <a:spcPct val="100000"/>
                  </a:lnSpc>
                  <a:spcAft>
                    <a:spcPts val="200"/>
                  </a:spcAft>
                </a:pPr>
                <a:r>
                  <a:rPr lang="en-US" altLang="en-US" sz="2400" b="1" i="0" noProof="1">
                    <a:solidFill>
                      <a:srgbClr val="000000"/>
                    </a:solidFill>
                    <a:latin typeface="Times New Roman"/>
                    <a:ea typeface="標楷體"/>
                    <a:cs typeface="Times New Roman"/>
                  </a:rPr>
                  <a:t>Notation</a:t>
                </a:r>
              </a:p>
              <a:p>
                <a:pPr>
                  <a:spcAft>
                    <a:spcPts val="200"/>
                  </a:spcAft>
                </a:pPr>
                <a14:m>
                  <m:oMath xmlns:m="http://schemas.openxmlformats.org/officeDocument/2006/math">
                    <m:sSub>
                      <m:sSubPr>
                        <m:ctrlPr>
                          <a:rPr lang="en-US" altLang="en-US" sz="2400" i="1" dirty="0">
                            <a:solidFill>
                              <a:srgbClr val="000000"/>
                            </a:solidFill>
                            <a:latin typeface="Cambria Math" panose="02040503050406030204" pitchFamily="18" charset="0"/>
                            <a:ea typeface="Times New Roman"/>
                            <a:cs typeface="Times New Roman"/>
                          </a:rPr>
                        </m:ctrlPr>
                      </m:sSubPr>
                      <m:e>
                        <m:r>
                          <a:rPr lang="en-US" altLang="en-US" sz="2400" i="1" dirty="0">
                            <a:solidFill>
                              <a:srgbClr val="000000"/>
                            </a:solidFill>
                            <a:latin typeface="Cambria Math" panose="02040503050406030204" pitchFamily="18" charset="0"/>
                            <a:ea typeface="Times New Roman"/>
                            <a:cs typeface="Times New Roman"/>
                          </a:rPr>
                          <m:t>𝑠</m:t>
                        </m:r>
                      </m:e>
                      <m:sub>
                        <m:r>
                          <a:rPr lang="en-US" altLang="en-US" sz="2400" i="1" dirty="0">
                            <a:solidFill>
                              <a:srgbClr val="000000"/>
                            </a:solidFill>
                            <a:latin typeface="Cambria Math" panose="02040503050406030204" pitchFamily="18" charset="0"/>
                            <a:ea typeface="Times New Roman"/>
                            <a:cs typeface="Times New Roman"/>
                          </a:rPr>
                          <m:t>𝑢</m:t>
                        </m:r>
                      </m:sub>
                    </m:sSub>
                    <m:r>
                      <a:rPr lang="en-US" altLang="en-US" sz="2400" dirty="0">
                        <a:solidFill>
                          <a:srgbClr val="000000"/>
                        </a:solidFill>
                        <a:latin typeface="Cambria Math" panose="02040503050406030204" pitchFamily="18" charset="0"/>
                        <a:ea typeface="Times New Roman"/>
                        <a:cs typeface="Times New Roman"/>
                      </a:rPr>
                      <m:t>(</m:t>
                    </m:r>
                    <m:r>
                      <a:rPr lang="en-US" altLang="en-US" sz="2400" i="1" dirty="0">
                        <a:solidFill>
                          <a:srgbClr val="000000"/>
                        </a:solidFill>
                        <a:latin typeface="Cambria Math" panose="02040503050406030204" pitchFamily="18" charset="0"/>
                        <a:ea typeface="Times New Roman"/>
                        <a:cs typeface="Times New Roman"/>
                      </a:rPr>
                      <m:t>𝑡</m:t>
                    </m:r>
                    <m:r>
                      <a:rPr lang="en-US" altLang="en-US" sz="2400" dirty="0">
                        <a:solidFill>
                          <a:srgbClr val="000000"/>
                        </a:solidFill>
                        <a:latin typeface="Cambria Math" panose="02040503050406030204" pitchFamily="18" charset="0"/>
                        <a:ea typeface="Times New Roman"/>
                        <a:cs typeface="Times New Roman"/>
                      </a:rPr>
                      <m:t>)</m:t>
                    </m:r>
                  </m:oMath>
                </a14:m>
                <a:r>
                  <a:rPr lang="en-US" altLang="en-US" sz="2400" noProof="1">
                    <a:solidFill>
                      <a:srgbClr val="000000"/>
                    </a:solidFill>
                    <a:cs typeface="Times New Roman"/>
                  </a:rPr>
                  <a:t>: </a:t>
                </a:r>
                <a:r>
                  <a:rPr lang="en-US" altLang="en-US" sz="2400" b="0" i="0" noProof="1">
                    <a:solidFill>
                      <a:srgbClr val="000000"/>
                    </a:solidFill>
                    <a:latin typeface="Times New Roman"/>
                    <a:ea typeface="標楷體"/>
                    <a:cs typeface="Times New Roman"/>
                  </a:rPr>
                  <a:t>state observed by user </a:t>
                </a:r>
                <a:r>
                  <a:rPr lang="en-US" altLang="en-US" sz="2400" b="0" i="1" noProof="1">
                    <a:solidFill>
                      <a:srgbClr val="000000"/>
                    </a:solidFill>
                    <a:latin typeface="Times New Roman"/>
                    <a:ea typeface="標楷體"/>
                    <a:cs typeface="Times New Roman"/>
                  </a:rPr>
                  <a:t>u</a:t>
                </a:r>
                <a:r>
                  <a:rPr lang="en-US" altLang="en-US" sz="2400" b="0" i="0" noProof="1">
                    <a:solidFill>
                      <a:srgbClr val="000000"/>
                    </a:solidFill>
                    <a:latin typeface="Times New Roman"/>
                    <a:ea typeface="標楷體"/>
                    <a:cs typeface="Times New Roman"/>
                  </a:rPr>
                  <a:t> at time slot </a:t>
                </a:r>
                <a:r>
                  <a:rPr lang="en-US" altLang="en-US" sz="2400" b="0" i="1" noProof="1">
                    <a:solidFill>
                      <a:srgbClr val="000000"/>
                    </a:solidFill>
                    <a:latin typeface="Times New Roman"/>
                    <a:ea typeface="標楷體"/>
                    <a:cs typeface="Times New Roman"/>
                  </a:rPr>
                  <a:t>t</a:t>
                </a:r>
                <a:endParaRPr lang="en-US" altLang="en-US" i="1" dirty="0">
                  <a:solidFill>
                    <a:srgbClr val="000000"/>
                  </a:solidFill>
                  <a:latin typeface="Times New Roman"/>
                  <a:ea typeface="Times New Roman"/>
                  <a:cs typeface="Times New Roman"/>
                </a:endParaRPr>
              </a:p>
              <a:p>
                <a:pPr algn="l">
                  <a:lnSpc>
                    <a:spcPct val="100000"/>
                  </a:lnSpc>
                  <a:spcAft>
                    <a:spcPts val="200"/>
                  </a:spcAft>
                </a:pPr>
                <a14:m>
                  <m:oMath xmlns:m="http://schemas.openxmlformats.org/officeDocument/2006/math">
                    <m:r>
                      <m:rPr>
                        <m:nor/>
                      </m:rPr>
                      <a:rPr lang="en-US" altLang="en-US" sz="2400" i="0" dirty="0" smtClean="0">
                        <a:solidFill>
                          <a:srgbClr val="000000"/>
                        </a:solidFill>
                        <a:latin typeface="Times New Roman"/>
                        <a:ea typeface="Times New Roman"/>
                        <a:cs typeface="Times New Roman"/>
                      </a:rPr>
                      <m:t>A</m:t>
                    </m:r>
                  </m:oMath>
                </a14:m>
                <a:r>
                  <a:rPr lang="en-US" altLang="en-US" sz="2400" b="0" i="0" noProof="1">
                    <a:solidFill>
                      <a:srgbClr val="000000"/>
                    </a:solidFill>
                    <a:latin typeface="Times New Roman"/>
                    <a:ea typeface="標楷體"/>
                    <a:cs typeface="Times New Roman"/>
                  </a:rPr>
                  <a:t>: access-vector action space in the original paper</a:t>
                </a:r>
                <a:endParaRPr lang="en-US" altLang="en-US" dirty="0">
                  <a:solidFill>
                    <a:srgbClr val="000000"/>
                  </a:solidFill>
                  <a:latin typeface="Times New Roman"/>
                  <a:ea typeface="Times New Roman"/>
                  <a:cs typeface="Times New Roman"/>
                </a:endParaRPr>
              </a:p>
              <a:p>
                <a:pPr>
                  <a:spcAft>
                    <a:spcPts val="200"/>
                  </a:spcAft>
                </a:pPr>
                <a14:m>
                  <m:oMath xmlns:m="http://schemas.openxmlformats.org/officeDocument/2006/math">
                    <m:sSub>
                      <m:sSubPr>
                        <m:ctrlPr>
                          <a:rPr lang="en-US" altLang="en-US" sz="2400" i="1" dirty="0">
                            <a:solidFill>
                              <a:srgbClr val="000000"/>
                            </a:solidFill>
                            <a:latin typeface="Cambria Math" panose="02040503050406030204" pitchFamily="18" charset="0"/>
                            <a:ea typeface="Times New Roman"/>
                            <a:cs typeface="Times New Roman"/>
                          </a:rPr>
                        </m:ctrlPr>
                      </m:sSubPr>
                      <m:e>
                        <m:r>
                          <a:rPr lang="en-US" altLang="en-US" sz="2400" i="1" dirty="0">
                            <a:solidFill>
                              <a:srgbClr val="000000"/>
                            </a:solidFill>
                            <a:latin typeface="Cambria Math" panose="02040503050406030204" pitchFamily="18" charset="0"/>
                            <a:ea typeface="Times New Roman"/>
                            <a:cs typeface="Times New Roman"/>
                          </a:rPr>
                          <m:t>𝑎</m:t>
                        </m:r>
                      </m:e>
                      <m:sub>
                        <m:r>
                          <a:rPr lang="en-US" altLang="en-US" sz="2400" i="1" dirty="0">
                            <a:solidFill>
                              <a:srgbClr val="000000"/>
                            </a:solidFill>
                            <a:latin typeface="Cambria Math" panose="02040503050406030204" pitchFamily="18" charset="0"/>
                            <a:ea typeface="Times New Roman"/>
                            <a:cs typeface="Times New Roman"/>
                          </a:rPr>
                          <m:t>𝑢</m:t>
                        </m:r>
                      </m:sub>
                    </m:sSub>
                    <m:r>
                      <a:rPr lang="en-US" altLang="en-US" sz="2400" dirty="0">
                        <a:solidFill>
                          <a:srgbClr val="000000"/>
                        </a:solidFill>
                        <a:latin typeface="Cambria Math" panose="02040503050406030204" pitchFamily="18" charset="0"/>
                        <a:ea typeface="Times New Roman"/>
                        <a:cs typeface="Times New Roman"/>
                      </a:rPr>
                      <m:t>(</m:t>
                    </m:r>
                    <m:r>
                      <a:rPr lang="en-US" altLang="en-US" sz="2400" i="1" dirty="0">
                        <a:solidFill>
                          <a:srgbClr val="000000"/>
                        </a:solidFill>
                        <a:latin typeface="Cambria Math" panose="02040503050406030204" pitchFamily="18" charset="0"/>
                        <a:ea typeface="Times New Roman"/>
                        <a:cs typeface="Times New Roman"/>
                      </a:rPr>
                      <m:t>𝑡</m:t>
                    </m:r>
                    <m:r>
                      <a:rPr lang="en-US" altLang="en-US" sz="2400" dirty="0">
                        <a:solidFill>
                          <a:srgbClr val="000000"/>
                        </a:solidFill>
                        <a:latin typeface="Cambria Math" panose="02040503050406030204" pitchFamily="18" charset="0"/>
                        <a:ea typeface="Times New Roman"/>
                        <a:cs typeface="Times New Roman"/>
                      </a:rPr>
                      <m:t>)</m:t>
                    </m:r>
                  </m:oMath>
                </a14:m>
                <a:r>
                  <a:rPr lang="en-US" altLang="en-US" sz="2400" noProof="1">
                    <a:solidFill>
                      <a:srgbClr val="000000"/>
                    </a:solidFill>
                    <a:cs typeface="Times New Roman"/>
                  </a:rPr>
                  <a:t>: </a:t>
                </a:r>
                <a:r>
                  <a:rPr lang="en-US" altLang="en-US" sz="2400" b="0" i="0" noProof="1">
                    <a:solidFill>
                      <a:srgbClr val="000000"/>
                    </a:solidFill>
                    <a:latin typeface="Times New Roman"/>
                    <a:ea typeface="標楷體"/>
                    <a:cs typeface="Times New Roman"/>
                  </a:rPr>
                  <a:t>access vector selected by user </a:t>
                </a:r>
                <a:r>
                  <a:rPr lang="en-US" altLang="en-US" sz="2400" b="0" i="1" noProof="1">
                    <a:solidFill>
                      <a:srgbClr val="000000"/>
                    </a:solidFill>
                    <a:latin typeface="Times New Roman"/>
                    <a:ea typeface="標楷體"/>
                    <a:cs typeface="Times New Roman"/>
                  </a:rPr>
                  <a:t>u</a:t>
                </a:r>
                <a:endParaRPr lang="en-US" altLang="en-US" i="1" dirty="0">
                  <a:solidFill>
                    <a:srgbClr val="000000"/>
                  </a:solidFill>
                  <a:latin typeface="Times New Roman"/>
                  <a:ea typeface="Times New Roman"/>
                  <a:cs typeface="Times New Roman"/>
                </a:endParaRPr>
              </a:p>
              <a:p>
                <a:pPr>
                  <a:spcAft>
                    <a:spcPts val="200"/>
                  </a:spcAft>
                </a:pPr>
                <a14:m>
                  <m:oMath xmlns:m="http://schemas.openxmlformats.org/officeDocument/2006/math">
                    <m:r>
                      <a:rPr lang="en-US" altLang="en-US" sz="2400" i="1" dirty="0">
                        <a:solidFill>
                          <a:srgbClr val="000000"/>
                        </a:solidFill>
                        <a:latin typeface="Cambria Math" panose="02040503050406030204" pitchFamily="18" charset="0"/>
                        <a:ea typeface="Times New Roman"/>
                        <a:cs typeface="Times New Roman"/>
                      </a:rPr>
                      <m:t>𝜁</m:t>
                    </m:r>
                    <m:r>
                      <a:rPr lang="en-US" altLang="en-US" sz="2400" dirty="0">
                        <a:solidFill>
                          <a:srgbClr val="000000"/>
                        </a:solidFill>
                        <a:latin typeface="Cambria Math" panose="02040503050406030204" pitchFamily="18" charset="0"/>
                        <a:ea typeface="Times New Roman"/>
                        <a:cs typeface="Times New Roman"/>
                      </a:rPr>
                      <m:t>(</m:t>
                    </m:r>
                    <m:sSub>
                      <m:sSubPr>
                        <m:ctrlPr>
                          <a:rPr lang="en-US" altLang="en-US" sz="2400" i="1" dirty="0">
                            <a:solidFill>
                              <a:srgbClr val="000000"/>
                            </a:solidFill>
                            <a:latin typeface="Cambria Math" panose="02040503050406030204" pitchFamily="18" charset="0"/>
                            <a:ea typeface="Times New Roman"/>
                            <a:cs typeface="Times New Roman"/>
                          </a:rPr>
                        </m:ctrlPr>
                      </m:sSubPr>
                      <m:e>
                        <m:r>
                          <a:rPr lang="en-US" altLang="en-US" sz="2400" i="1" dirty="0">
                            <a:solidFill>
                              <a:srgbClr val="000000"/>
                            </a:solidFill>
                            <a:latin typeface="Cambria Math" panose="02040503050406030204" pitchFamily="18" charset="0"/>
                            <a:ea typeface="Times New Roman"/>
                            <a:cs typeface="Times New Roman"/>
                          </a:rPr>
                          <m:t>𝑠</m:t>
                        </m:r>
                      </m:e>
                      <m:sub>
                        <m:r>
                          <a:rPr lang="en-US" altLang="en-US" sz="2400" i="1" dirty="0">
                            <a:solidFill>
                              <a:srgbClr val="000000"/>
                            </a:solidFill>
                            <a:latin typeface="Cambria Math" panose="02040503050406030204" pitchFamily="18" charset="0"/>
                            <a:ea typeface="Times New Roman"/>
                            <a:cs typeface="Times New Roman"/>
                          </a:rPr>
                          <m:t>𝑢</m:t>
                        </m:r>
                      </m:sub>
                    </m:sSub>
                    <m:r>
                      <a:rPr lang="en-US" altLang="en-US" sz="2400" dirty="0">
                        <a:solidFill>
                          <a:srgbClr val="000000"/>
                        </a:solidFill>
                        <a:latin typeface="Cambria Math" panose="02040503050406030204" pitchFamily="18" charset="0"/>
                        <a:ea typeface="Times New Roman"/>
                        <a:cs typeface="Times New Roman"/>
                      </a:rPr>
                      <m:t>(</m:t>
                    </m:r>
                    <m:r>
                      <a:rPr lang="en-US" altLang="en-US" sz="2400" i="1" dirty="0">
                        <a:solidFill>
                          <a:srgbClr val="000000"/>
                        </a:solidFill>
                        <a:latin typeface="Cambria Math" panose="02040503050406030204" pitchFamily="18" charset="0"/>
                        <a:ea typeface="Times New Roman"/>
                        <a:cs typeface="Times New Roman"/>
                      </a:rPr>
                      <m:t>𝑡</m:t>
                    </m:r>
                    <m:r>
                      <a:rPr lang="en-US" altLang="en-US" sz="2400" dirty="0">
                        <a:solidFill>
                          <a:srgbClr val="000000"/>
                        </a:solidFill>
                        <a:latin typeface="Cambria Math" panose="02040503050406030204" pitchFamily="18" charset="0"/>
                        <a:ea typeface="Times New Roman"/>
                        <a:cs typeface="Times New Roman"/>
                      </a:rPr>
                      <m:t>),</m:t>
                    </m:r>
                    <m:sSub>
                      <m:sSubPr>
                        <m:ctrlPr>
                          <a:rPr lang="en-US" altLang="en-US" sz="2400" i="1" dirty="0">
                            <a:solidFill>
                              <a:srgbClr val="000000"/>
                            </a:solidFill>
                            <a:latin typeface="Cambria Math" panose="02040503050406030204" pitchFamily="18" charset="0"/>
                            <a:ea typeface="Times New Roman"/>
                            <a:cs typeface="Times New Roman"/>
                          </a:rPr>
                        </m:ctrlPr>
                      </m:sSubPr>
                      <m:e>
                        <m:r>
                          <a:rPr lang="en-US" altLang="en-US" sz="2400" i="1" dirty="0">
                            <a:solidFill>
                              <a:srgbClr val="000000"/>
                            </a:solidFill>
                            <a:latin typeface="Cambria Math" panose="02040503050406030204" pitchFamily="18" charset="0"/>
                            <a:ea typeface="Times New Roman"/>
                            <a:cs typeface="Times New Roman"/>
                          </a:rPr>
                          <m:t>𝑎</m:t>
                        </m:r>
                      </m:e>
                      <m:sub>
                        <m:r>
                          <a:rPr lang="en-US" altLang="en-US" sz="2400" i="1" dirty="0">
                            <a:solidFill>
                              <a:srgbClr val="000000"/>
                            </a:solidFill>
                            <a:latin typeface="Cambria Math" panose="02040503050406030204" pitchFamily="18" charset="0"/>
                            <a:ea typeface="Times New Roman"/>
                            <a:cs typeface="Times New Roman"/>
                          </a:rPr>
                          <m:t>𝑢</m:t>
                        </m:r>
                      </m:sub>
                    </m:sSub>
                    <m:r>
                      <a:rPr lang="en-US" altLang="en-US" sz="2400" dirty="0">
                        <a:solidFill>
                          <a:srgbClr val="000000"/>
                        </a:solidFill>
                        <a:latin typeface="Cambria Math" panose="02040503050406030204" pitchFamily="18" charset="0"/>
                        <a:ea typeface="Times New Roman"/>
                        <a:cs typeface="Times New Roman"/>
                      </a:rPr>
                      <m:t>(</m:t>
                    </m:r>
                    <m:r>
                      <a:rPr lang="en-US" altLang="en-US" sz="2400" i="1" dirty="0">
                        <a:solidFill>
                          <a:srgbClr val="000000"/>
                        </a:solidFill>
                        <a:latin typeface="Cambria Math" panose="02040503050406030204" pitchFamily="18" charset="0"/>
                        <a:ea typeface="Times New Roman"/>
                        <a:cs typeface="Times New Roman"/>
                      </a:rPr>
                      <m:t>𝑡</m:t>
                    </m:r>
                    <m:r>
                      <a:rPr lang="en-US" altLang="en-US" sz="2400" dirty="0">
                        <a:solidFill>
                          <a:srgbClr val="000000"/>
                        </a:solidFill>
                        <a:latin typeface="Cambria Math" panose="02040503050406030204" pitchFamily="18" charset="0"/>
                        <a:ea typeface="Times New Roman"/>
                        <a:cs typeface="Times New Roman"/>
                      </a:rPr>
                      <m:t>)),</m:t>
                    </m:r>
                    <m:r>
                      <a:rPr lang="en-US" altLang="en-US" sz="2400" i="1" dirty="0">
                        <a:solidFill>
                          <a:srgbClr val="000000"/>
                        </a:solidFill>
                        <a:latin typeface="Cambria Math" panose="02040503050406030204" pitchFamily="18" charset="0"/>
                        <a:ea typeface="Times New Roman"/>
                        <a:cs typeface="Times New Roman"/>
                      </a:rPr>
                      <m:t> </m:t>
                    </m:r>
                    <m:r>
                      <a:rPr lang="en-US" altLang="en-US" sz="2400" i="1" dirty="0">
                        <a:solidFill>
                          <a:srgbClr val="000000"/>
                        </a:solidFill>
                        <a:latin typeface="Cambria Math" panose="02040503050406030204" pitchFamily="18" charset="0"/>
                        <a:ea typeface="Times New Roman"/>
                        <a:cs typeface="Times New Roman"/>
                      </a:rPr>
                      <m:t>𝜔</m:t>
                    </m:r>
                    <m:r>
                      <a:rPr lang="en-US" altLang="en-US" sz="2400" i="0" dirty="0" smtClean="0">
                        <a:solidFill>
                          <a:srgbClr val="000000"/>
                        </a:solidFill>
                        <a:latin typeface="Cambria Math" panose="02040503050406030204" pitchFamily="18" charset="0"/>
                        <a:ea typeface="Times New Roman"/>
                        <a:cs typeface="Times New Roman"/>
                      </a:rPr>
                      <m:t>=[</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𝜔</m:t>
                        </m:r>
                      </m:e>
                      <m:sub>
                        <m:r>
                          <a:rPr lang="en-US" altLang="en-US" sz="2400" i="0" dirty="0" smtClean="0">
                            <a:solidFill>
                              <a:srgbClr val="000000"/>
                            </a:solidFill>
                            <a:latin typeface="Cambria Math" panose="02040503050406030204" pitchFamily="18" charset="0"/>
                            <a:ea typeface="Times New Roman"/>
                            <a:cs typeface="Times New Roman"/>
                          </a:rPr>
                          <m:t>1</m:t>
                        </m:r>
                      </m:sub>
                    </m:sSub>
                    <m:r>
                      <a:rPr lang="en-US" altLang="en-US" sz="2400" i="0" dirty="0" smtClean="0">
                        <a:solidFill>
                          <a:srgbClr val="000000"/>
                        </a:solidFill>
                        <a:latin typeface="Cambria Math" panose="02040503050406030204" pitchFamily="18" charset="0"/>
                        <a:ea typeface="Times New Roman"/>
                        <a:cs typeface="Times New Roman"/>
                      </a:rPr>
                      <m:t>,</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𝜔</m:t>
                        </m:r>
                      </m:e>
                      <m:sub>
                        <m:r>
                          <a:rPr lang="en-US" altLang="en-US" sz="2400" i="0" dirty="0" smtClean="0">
                            <a:solidFill>
                              <a:srgbClr val="000000"/>
                            </a:solidFill>
                            <a:latin typeface="Cambria Math" panose="02040503050406030204" pitchFamily="18" charset="0"/>
                            <a:ea typeface="Times New Roman"/>
                            <a:cs typeface="Times New Roman"/>
                          </a:rPr>
                          <m:t>2</m:t>
                        </m:r>
                      </m:sub>
                    </m:sSub>
                    <m:r>
                      <a:rPr lang="en-US" altLang="en-US" sz="2400" i="0" dirty="0" smtClean="0">
                        <a:solidFill>
                          <a:srgbClr val="000000"/>
                        </a:solidFill>
                        <a:latin typeface="Cambria Math" panose="02040503050406030204" pitchFamily="18" charset="0"/>
                        <a:ea typeface="Times New Roman"/>
                        <a:cs typeface="Times New Roman"/>
                      </a:rPr>
                      <m:t>,</m:t>
                    </m:r>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𝜔</m:t>
                        </m:r>
                      </m:e>
                      <m:sub>
                        <m:r>
                          <a:rPr lang="en-US" altLang="en-US" sz="2400" i="0" dirty="0" smtClean="0">
                            <a:solidFill>
                              <a:srgbClr val="000000"/>
                            </a:solidFill>
                            <a:latin typeface="Cambria Math" panose="02040503050406030204" pitchFamily="18" charset="0"/>
                            <a:ea typeface="Times New Roman"/>
                            <a:cs typeface="Times New Roman"/>
                          </a:rPr>
                          <m:t>3</m:t>
                        </m:r>
                      </m:sub>
                    </m:sSub>
                    <m:r>
                      <a:rPr lang="en-US" altLang="en-US" sz="2400" i="0" dirty="0" smtClean="0">
                        <a:solidFill>
                          <a:srgbClr val="000000"/>
                        </a:solidFill>
                        <a:latin typeface="Cambria Math" panose="02040503050406030204" pitchFamily="18" charset="0"/>
                        <a:ea typeface="Times New Roman"/>
                        <a:cs typeface="Times New Roman"/>
                      </a:rPr>
                      <m:t>]</m:t>
                    </m:r>
                  </m:oMath>
                </a14:m>
                <a:r>
                  <a:rPr lang="en-US" altLang="en-US" sz="2400" b="0" i="0" noProof="1">
                    <a:solidFill>
                      <a:srgbClr val="000000"/>
                    </a:solidFill>
                    <a:latin typeface="Times New Roman"/>
                    <a:ea typeface="標楷體"/>
                    <a:cs typeface="Times New Roman"/>
                  </a:rPr>
                  <a:t>: scalarized action value and objective-weight vector</a:t>
                </a:r>
                <a:endParaRPr lang="en-US" altLang="en-US" dirty="0">
                  <a:solidFill>
                    <a:srgbClr val="000000"/>
                  </a:solidFill>
                  <a:latin typeface="Times New Roman"/>
                  <a:ea typeface="Times New Roman"/>
                  <a:cs typeface="Times New Roman"/>
                </a:endParaRPr>
              </a:p>
            </p:txBody>
          </p:sp>
        </mc:Choice>
        <mc:Fallback xmlns="">
          <p:sp>
            <p:nvSpPr>
              <p:cNvPr id="8" name="edu:notation"/>
              <p:cNvSpPr txBox="1">
                <a:spLocks noRot="1" noChangeAspect="1" noMove="1" noResize="1" noEditPoints="1" noAdjustHandles="1" noChangeArrowheads="1" noChangeShapeType="1" noTextEdit="1"/>
              </p:cNvSpPr>
              <p:nvPr/>
            </p:nvSpPr>
            <p:spPr>
              <a:xfrm>
                <a:off x="565190" y="3997756"/>
                <a:ext cx="11064240" cy="2062886"/>
              </a:xfrm>
              <a:prstGeom prst="rect">
                <a:avLst/>
              </a:prstGeom>
              <a:blipFill>
                <a:blip r:embed="rId5"/>
                <a:stretch>
                  <a:fillRect l="-1708" t="-4734" b="-2663"/>
                </a:stretch>
              </a:blipFill>
              <a:effectLst/>
            </p:spPr>
            <p:txBody>
              <a:bodyPr/>
              <a:lstStyle/>
              <a:p>
                <a:r>
                  <a:rPr lang="zh-TW" altLang="en-US">
                    <a:noFill/>
                  </a:rPr>
                  <a:t> </a:t>
                </a:r>
              </a:p>
            </p:txBody>
          </p:sp>
        </mc:Fallback>
      </mc:AlternateContent>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du:title"/>
          <p:cNvSpPr txBox="1"/>
          <p:nvPr/>
        </p:nvSpPr>
        <p:spPr>
          <a:xfrm>
            <a:off x="565190" y="141274"/>
            <a:ext cx="11417289" cy="571500"/>
          </a:xfrm>
          <a:prstGeom prst="rect">
            <a:avLst/>
          </a:prstGeom>
          <a:noFill/>
        </p:spPr>
        <p:txBody>
          <a:bodyPr wrap="square" lIns="0" tIns="0" rIns="0" bIns="0" anchor="b">
            <a:spAutoFit/>
          </a:bodyPr>
          <a:lstStyle/>
          <a:p>
            <a:pPr algn="l"/>
            <a:r>
              <a:rPr lang="en-US" altLang="en-US" sz="2800" b="1" i="0" noProof="1">
                <a:solidFill>
                  <a:srgbClr val="1B365D"/>
                </a:solidFill>
                <a:latin typeface="Times New Roman"/>
                <a:ea typeface="標楷體"/>
                <a:cs typeface="Times New Roman"/>
              </a:rPr>
              <a:t>MODQN Architecture</a:t>
            </a:r>
          </a:p>
        </p:txBody>
      </p:sp>
      <p:sp>
        <p:nvSpPr>
          <p:cNvPr id="3" name="edu:citation"/>
          <p:cNvSpPr txBox="1"/>
          <p:nvPr/>
        </p:nvSpPr>
        <p:spPr>
          <a:xfrm>
            <a:off x="495330" y="6316675"/>
            <a:ext cx="11018520" cy="505663"/>
          </a:xfrm>
          <a:prstGeom prst="rect">
            <a:avLst/>
          </a:prstGeom>
          <a:noFill/>
        </p:spPr>
        <p:txBody>
          <a:bodyPr wrap="square" lIns="0" tIns="0" rIns="0" bIns="0" anchor="t">
            <a:spAutoFit/>
          </a:bodyPr>
          <a:lstStyle/>
          <a:p>
            <a:pPr algn="l">
              <a:lnSpc>
                <a:spcPct val="105000"/>
              </a:lnSpc>
            </a:pPr>
            <a:r>
              <a:rPr lang="en-US" altLang="en-US" sz="1400" b="0" i="0" noProof="1">
                <a:solidFill>
                  <a:srgbClr val="000000"/>
                </a:solidFill>
                <a:latin typeface="Times New Roman"/>
                <a:ea typeface="標楷體"/>
                <a:cs typeface="Times New Roman"/>
              </a:rPr>
              <a:t>Y. Sun et al., “Handover for Multi-Beam LEO Satellite Networks: A Multi-Objective Reinforcement Learning Method,” IEEE Communications Letters, Dec. 2024.</a:t>
            </a:r>
          </a:p>
        </p:txBody>
      </p:sp>
      <p:sp>
        <p:nvSpPr>
          <p:cNvPr id="5" name="edu:body"/>
          <p:cNvSpPr txBox="1"/>
          <p:nvPr/>
        </p:nvSpPr>
        <p:spPr>
          <a:xfrm>
            <a:off x="565190" y="896112"/>
            <a:ext cx="11064240" cy="386791"/>
          </a:xfrm>
          <a:prstGeom prst="rect">
            <a:avLst/>
          </a:prstGeom>
          <a:noFill/>
        </p:spPr>
        <p:txBody>
          <a:bodyPr wrap="square" lIns="0" tIns="0" rIns="0" bIns="0" anchor="t">
            <a:spAutoFit/>
          </a:bodyPr>
          <a:lstStyle/>
          <a:p>
            <a:pPr algn="l">
              <a:lnSpc>
                <a:spcPct val="112000"/>
              </a:lnSpc>
              <a:spcAft>
                <a:spcPts val="0"/>
              </a:spcAft>
            </a:pPr>
            <a:r>
              <a:rPr lang="en-US" altLang="en-US" sz="2400" b="0" i="0" noProof="1">
                <a:solidFill>
                  <a:srgbClr val="000000"/>
                </a:solidFill>
                <a:latin typeface="Times New Roman"/>
                <a:ea typeface="標楷體"/>
                <a:cs typeface="Times New Roman"/>
              </a:rPr>
              <a:t>State and environment feed three Q-networks into one weighted action:</a:t>
            </a:r>
          </a:p>
        </p:txBody>
      </p:sp>
      <p:pic>
        <p:nvPicPr>
          <p:cNvPr id="6" name="edu:source-figure-modqn" descr="2.png"/>
          <p:cNvPicPr>
            <a:picLocks noChangeAspect="1"/>
          </p:cNvPicPr>
          <p:nvPr/>
        </p:nvPicPr>
        <p:blipFill>
          <a:blip r:embed="rId3"/>
          <a:srcRect/>
          <a:stretch>
            <a:fillRect/>
          </a:stretch>
        </p:blipFill>
        <p:spPr>
          <a:xfrm>
            <a:off x="2456078" y="1447495"/>
            <a:ext cx="7283196" cy="3749039"/>
          </a:xfrm>
          <a:prstGeom prst="rect">
            <a:avLst/>
          </a:prstGeom>
        </p:spPr>
      </p:pic>
      <p:sp>
        <p:nvSpPr>
          <p:cNvPr id="7" name="edu:body"/>
          <p:cNvSpPr txBox="1"/>
          <p:nvPr/>
        </p:nvSpPr>
        <p:spPr>
          <a:xfrm>
            <a:off x="565190" y="5361127"/>
            <a:ext cx="11064240" cy="386791"/>
          </a:xfrm>
          <a:prstGeom prst="rect">
            <a:avLst/>
          </a:prstGeom>
          <a:noFill/>
        </p:spPr>
        <p:txBody>
          <a:bodyPr wrap="square" lIns="0" tIns="0" rIns="0" bIns="0" anchor="t">
            <a:spAutoFit/>
          </a:bodyPr>
          <a:lstStyle/>
          <a:p>
            <a:pPr algn="l">
              <a:lnSpc>
                <a:spcPct val="112000"/>
              </a:lnSpc>
              <a:spcAft>
                <a:spcPts val="0"/>
              </a:spcAft>
            </a:pPr>
            <a:r>
              <a:rPr lang="en-US" altLang="en-US" sz="2400" b="0" i="0" noProof="1">
                <a:solidFill>
                  <a:srgbClr val="000000"/>
                </a:solidFill>
                <a:latin typeface="Times New Roman"/>
                <a:ea typeface="標楷體"/>
                <a:cs typeface="Times New Roman"/>
              </a:rPr>
              <a:t>The three networks share one state, meeting only at the weighted action choice.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du:title"/>
          <p:cNvSpPr txBox="1"/>
          <p:nvPr/>
        </p:nvSpPr>
        <p:spPr>
          <a:xfrm>
            <a:off x="565190" y="141274"/>
            <a:ext cx="11417289" cy="571500"/>
          </a:xfrm>
          <a:prstGeom prst="rect">
            <a:avLst/>
          </a:prstGeom>
          <a:noFill/>
        </p:spPr>
        <p:txBody>
          <a:bodyPr wrap="square" lIns="0" tIns="0" rIns="0" bIns="0" anchor="b">
            <a:spAutoFit/>
          </a:bodyPr>
          <a:lstStyle/>
          <a:p>
            <a:pPr algn="l"/>
            <a:r>
              <a:rPr lang="en-US" altLang="en-US" sz="2800" b="1" i="0" noProof="1">
                <a:solidFill>
                  <a:srgbClr val="1B365D"/>
                </a:solidFill>
                <a:latin typeface="Times New Roman"/>
                <a:ea typeface="標楷體"/>
                <a:cs typeface="Times New Roman"/>
              </a:rPr>
              <a:t>Temporal-Difference Target</a:t>
            </a:r>
          </a:p>
        </p:txBody>
      </p:sp>
      <p:sp>
        <p:nvSpPr>
          <p:cNvPr id="3" name="edu:citation"/>
          <p:cNvSpPr txBox="1"/>
          <p:nvPr/>
        </p:nvSpPr>
        <p:spPr>
          <a:xfrm>
            <a:off x="495330" y="6316675"/>
            <a:ext cx="11018520" cy="505663"/>
          </a:xfrm>
          <a:prstGeom prst="rect">
            <a:avLst/>
          </a:prstGeom>
          <a:noFill/>
        </p:spPr>
        <p:txBody>
          <a:bodyPr wrap="square" lIns="0" tIns="0" rIns="0" bIns="0" anchor="t">
            <a:spAutoFit/>
          </a:bodyPr>
          <a:lstStyle/>
          <a:p>
            <a:pPr algn="l">
              <a:lnSpc>
                <a:spcPct val="105000"/>
              </a:lnSpc>
            </a:pPr>
            <a:r>
              <a:rPr lang="en-US" altLang="en-US" sz="1400" b="0" i="0" noProof="1">
                <a:solidFill>
                  <a:srgbClr val="000000"/>
                </a:solidFill>
                <a:latin typeface="Times New Roman"/>
                <a:ea typeface="標楷體"/>
                <a:cs typeface="Times New Roman"/>
              </a:rPr>
              <a:t>Y. Sun et al., “Handover for Multi-Beam LEO Satellite Networks: A Multi-Objective Reinforcement Learning Method,” IEEE Communications Letters, Dec. 2024.</a:t>
            </a:r>
          </a:p>
        </p:txBody>
      </p:sp>
      <p:sp>
        <p:nvSpPr>
          <p:cNvPr id="5" name="edu:body"/>
          <p:cNvSpPr txBox="1"/>
          <p:nvPr/>
        </p:nvSpPr>
        <p:spPr>
          <a:xfrm>
            <a:off x="565190" y="896112"/>
            <a:ext cx="11064240" cy="774496"/>
          </a:xfrm>
          <a:prstGeom prst="rect">
            <a:avLst/>
          </a:prstGeom>
          <a:noFill/>
        </p:spPr>
        <p:txBody>
          <a:bodyPr wrap="square" lIns="0" tIns="0" rIns="0" bIns="0" anchor="t">
            <a:spAutoFit/>
          </a:bodyPr>
          <a:lstStyle/>
          <a:p>
            <a:pPr algn="l">
              <a:lnSpc>
                <a:spcPct val="112000"/>
              </a:lnSpc>
              <a:spcAft>
                <a:spcPts val="0"/>
              </a:spcAft>
            </a:pPr>
            <a:r>
              <a:rPr lang="en-US" altLang="en-US" sz="2400" b="0" i="0" noProof="1">
                <a:solidFill>
                  <a:srgbClr val="000000"/>
                </a:solidFill>
                <a:latin typeface="Times New Roman"/>
                <a:ea typeface="標楷體"/>
                <a:cs typeface="Times New Roman"/>
              </a:rPr>
              <a:t>Each network trains toward a target built from the reward just received plus the expected future value:</a:t>
            </a:r>
          </a:p>
        </p:txBody>
      </p:sp>
      <mc:AlternateContent xmlns:mc="http://schemas.openxmlformats.org/markup-compatibility/2006" xmlns:a14="http://schemas.microsoft.com/office/drawing/2010/main">
        <mc:Choice Requires="a14">
          <p:sp>
            <p:nvSpPr>
              <p:cNvPr id="6" name="edu:formula-omml" descr="Native Office Math: a30_target"/>
              <p:cNvSpPr txBox="1"/>
              <p:nvPr/>
            </p:nvSpPr>
            <p:spPr>
              <a:xfrm>
                <a:off x="1289414" y="1853946"/>
                <a:ext cx="9179936" cy="1303934"/>
              </a:xfrm>
              <a:prstGeom prst="rect">
                <a:avLst/>
              </a:prstGeom>
              <a:noFill/>
              <a:effectLst/>
            </p:spPr>
            <p:txBody>
              <a:bodyPr wrap="none" lIns="0" tIns="0" rIns="0" bIns="0" anchor="ctr">
                <a:noAutofit/>
              </a:bodyPr>
              <a:lstStyle/>
              <a:p>
                <a:pPr algn="ctr"/>
                <a14:m>
                  <m:oMathPara xmlns:m="http://schemas.openxmlformats.org/officeDocument/2006/math">
                    <m:oMath>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𝑦</m:t>
                          </m:r>
                        </m:e>
                        <m:sub>
                          <m:r>
                            <a:rPr lang="en-US" altLang="en-US" sz="2400" i="1" dirty="0" smtClean="0">
                              <a:solidFill>
                                <a:srgbClr val="000000"/>
                              </a:solidFill>
                              <a:latin typeface="Cambria Math" panose="02040503050406030204" pitchFamily="18" charset="0"/>
                              <a:ea typeface="Times New Roman"/>
                              <a:cs typeface="Times New Roman"/>
                            </a:rPr>
                            <m:t>𝑗</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𝑢</m:t>
                          </m:r>
                        </m:sub>
                      </m:sSub>
                      <m:r>
                        <a:rPr lang="en-US" altLang="en-US" sz="2400" b="0" i="1" dirty="0" smtClean="0">
                          <a:solidFill>
                            <a:srgbClr val="000000"/>
                          </a:solidFill>
                          <a:latin typeface="Cambria Math" panose="02040503050406030204" pitchFamily="18" charset="0"/>
                          <a:ea typeface="Times New Roman"/>
                          <a:cs typeface="Times New Roman"/>
                        </a:rPr>
                        <m:t>(</m:t>
                      </m:r>
                      <m:r>
                        <a:rPr lang="en-US" altLang="en-US" sz="2400" b="0" i="1" dirty="0" smtClean="0">
                          <a:solidFill>
                            <a:srgbClr val="000000"/>
                          </a:solidFill>
                          <a:latin typeface="Cambria Math" panose="02040503050406030204" pitchFamily="18" charset="0"/>
                          <a:ea typeface="Times New Roman"/>
                          <a:cs typeface="Times New Roman"/>
                        </a:rPr>
                        <m:t>𝑡</m:t>
                      </m:r>
                      <m:r>
                        <a:rPr lang="en-US" altLang="en-US" sz="2400" b="0" i="1" dirty="0" smtClean="0">
                          <a:solidFill>
                            <a:srgbClr val="000000"/>
                          </a:solidFill>
                          <a:latin typeface="Cambria Math" panose="02040503050406030204" pitchFamily="18" charset="0"/>
                          <a:ea typeface="Times New Roman"/>
                          <a:cs typeface="Times New Roman"/>
                        </a:rPr>
                        <m:t>)=</m:t>
                      </m:r>
                      <m:d>
                        <m:dPr>
                          <m:begChr m:val="{"/>
                          <m:endChr m:val=""/>
                          <m:ctrlPr>
                            <a:rPr lang="en-US" altLang="en-US" sz="2400" i="1" dirty="0" smtClean="0">
                              <a:solidFill>
                                <a:srgbClr val="000000"/>
                              </a:solidFill>
                              <a:latin typeface="Cambria Math" panose="02040503050406030204" pitchFamily="18" charset="0"/>
                              <a:ea typeface="Times New Roman"/>
                              <a:cs typeface="Times New Roman"/>
                            </a:rPr>
                          </m:ctrlPr>
                        </m:dPr>
                        <m:e>
                          <m:m>
                            <m:mPr>
                              <m:plcHide m:val="on"/>
                              <m:mcs>
                                <m:mc>
                                  <m:mcPr>
                                    <m:count m:val="2"/>
                                    <m:mcJc m:val="center"/>
                                  </m:mcPr>
                                </m:mc>
                              </m:mcs>
                              <m:ctrlPr>
                                <a:rPr lang="en-US" altLang="en-US" sz="2400" i="1" dirty="0" smtClean="0">
                                  <a:solidFill>
                                    <a:srgbClr val="000000"/>
                                  </a:solidFill>
                                  <a:latin typeface="Cambria Math" panose="02040503050406030204" pitchFamily="18" charset="0"/>
                                  <a:ea typeface="Times New Roman"/>
                                  <a:cs typeface="Times New Roman"/>
                                </a:rPr>
                              </m:ctrlPr>
                            </m:mPr>
                            <m:mr>
                              <m:e>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𝑟</m:t>
                                    </m:r>
                                  </m:e>
                                  <m:sub>
                                    <m:r>
                                      <a:rPr lang="en-US" altLang="en-US" sz="2400" i="1" dirty="0" smtClean="0">
                                        <a:solidFill>
                                          <a:srgbClr val="000000"/>
                                        </a:solidFill>
                                        <a:latin typeface="Cambria Math" panose="02040503050406030204" pitchFamily="18" charset="0"/>
                                        <a:ea typeface="Times New Roman"/>
                                        <a:cs typeface="Times New Roman"/>
                                      </a:rPr>
                                      <m:t>𝑗</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𝑢</m:t>
                                    </m:r>
                                  </m:sub>
                                </m:sSub>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e>
                              <m:e>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𝑠</m:t>
                                    </m:r>
                                  </m:e>
                                  <m:sub>
                                    <m:r>
                                      <a:rPr lang="en-US" altLang="en-US" sz="2400" i="1" dirty="0" smtClean="0">
                                        <a:solidFill>
                                          <a:srgbClr val="000000"/>
                                        </a:solidFill>
                                        <a:latin typeface="Cambria Math" panose="02040503050406030204" pitchFamily="18" charset="0"/>
                                        <a:ea typeface="Times New Roman"/>
                                        <a:cs typeface="Times New Roman"/>
                                      </a:rPr>
                                      <m:t>𝑢</m:t>
                                    </m:r>
                                  </m:sub>
                                </m:sSub>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+1)</m:t>
                                </m:r>
                                <m:r>
                                  <a:rPr lang="en-US" altLang="en-US" sz="2400" i="1" dirty="0" smtClean="0">
                                    <a:solidFill>
                                      <a:srgbClr val="000000"/>
                                    </a:solidFill>
                                    <a:latin typeface="Cambria Math" panose="02040503050406030204" pitchFamily="18" charset="0"/>
                                    <a:ea typeface="Times New Roman"/>
                                    <a:cs typeface="Times New Roman"/>
                                  </a:rPr>
                                  <m:t> </m:t>
                                </m:r>
                                <m:r>
                                  <m:rPr>
                                    <m:nor/>
                                  </m:rPr>
                                  <a:rPr lang="en-US" altLang="en-US" sz="2400" i="0" dirty="0" smtClean="0">
                                    <a:solidFill>
                                      <a:srgbClr val="000000"/>
                                    </a:solidFill>
                                    <a:latin typeface="Times New Roman"/>
                                    <a:ea typeface="Times New Roman"/>
                                    <a:cs typeface="Times New Roman"/>
                                  </a:rPr>
                                  <m:t>terminal</m:t>
                                </m:r>
                                <m:r>
                                  <a:rPr lang="en-US" altLang="en-US" sz="2400" i="0" dirty="0" smtClean="0">
                                    <a:solidFill>
                                      <a:srgbClr val="000000"/>
                                    </a:solidFill>
                                    <a:latin typeface="Cambria Math" panose="02040503050406030204" pitchFamily="18" charset="0"/>
                                    <a:ea typeface="Times New Roman"/>
                                    <a:cs typeface="Times New Roman"/>
                                  </a:rPr>
                                  <m:t>,</m:t>
                                </m:r>
                              </m:e>
                            </m:mr>
                            <m:mr>
                              <m:e>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𝑟</m:t>
                                    </m:r>
                                  </m:e>
                                  <m:sub>
                                    <m:r>
                                      <a:rPr lang="en-US" altLang="en-US" sz="2400" i="1" dirty="0" smtClean="0">
                                        <a:solidFill>
                                          <a:srgbClr val="000000"/>
                                        </a:solidFill>
                                        <a:latin typeface="Cambria Math" panose="02040503050406030204" pitchFamily="18" charset="0"/>
                                        <a:ea typeface="Times New Roman"/>
                                        <a:cs typeface="Times New Roman"/>
                                      </a:rPr>
                                      <m:t>𝑗</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𝑢</m:t>
                                    </m:r>
                                  </m:sub>
                                </m:sSub>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𝛽</m:t>
                                </m:r>
                                <m:r>
                                  <a:rPr lang="en-US" altLang="en-US" sz="2400" i="1" dirty="0" smtClean="0">
                                    <a:solidFill>
                                      <a:srgbClr val="000000"/>
                                    </a:solidFill>
                                    <a:latin typeface="Cambria Math" panose="02040503050406030204" pitchFamily="18" charset="0"/>
                                    <a:ea typeface="Times New Roman"/>
                                    <a:cs typeface="Times New Roman"/>
                                  </a:rPr>
                                  <m:t> </m:t>
                                </m:r>
                                <m:limLow>
                                  <m:limLowPr>
                                    <m:ctrlPr>
                                      <a:rPr lang="en-US" altLang="en-US" sz="2400" i="0" dirty="0" smtClean="0">
                                        <a:solidFill>
                                          <a:srgbClr val="000000"/>
                                        </a:solidFill>
                                        <a:latin typeface="Times New Roman"/>
                                        <a:ea typeface="Times New Roman"/>
                                        <a:cs typeface="Times New Roman"/>
                                      </a:rPr>
                                    </m:ctrlPr>
                                  </m:limLowPr>
                                  <m:e>
                                    <m:r>
                                      <m:rPr>
                                        <m:nor/>
                                      </m:rPr>
                                      <a:rPr lang="en-US" altLang="en-US" sz="2400" i="0" dirty="0" smtClean="0">
                                        <a:solidFill>
                                          <a:srgbClr val="000000"/>
                                        </a:solidFill>
                                        <a:latin typeface="Times New Roman"/>
                                        <a:ea typeface="Times New Roman"/>
                                        <a:cs typeface="Times New Roman"/>
                                      </a:rPr>
                                      <m:t>max</m:t>
                                    </m:r>
                                  </m:e>
                                  <m:lim>
                                    <m:sSub>
                                      <m:sSubPr>
                                        <m:ctrlPr>
                                          <a:rPr lang="en-US" altLang="en-US" sz="2400" i="1" dirty="0">
                                            <a:solidFill>
                                              <a:srgbClr val="000000"/>
                                            </a:solidFill>
                                            <a:latin typeface="Cambria Math" panose="02040503050406030204" pitchFamily="18" charset="0"/>
                                            <a:ea typeface="Times New Roman"/>
                                            <a:cs typeface="Times New Roman"/>
                                          </a:rPr>
                                        </m:ctrlPr>
                                      </m:sSubPr>
                                      <m:e>
                                        <m:r>
                                          <a:rPr lang="en-US" altLang="en-US" sz="2400" i="1" dirty="0">
                                            <a:solidFill>
                                              <a:srgbClr val="000000"/>
                                            </a:solidFill>
                                            <a:latin typeface="Cambria Math" panose="02040503050406030204" pitchFamily="18" charset="0"/>
                                            <a:ea typeface="Times New Roman"/>
                                            <a:cs typeface="Times New Roman"/>
                                          </a:rPr>
                                          <m:t>𝑎</m:t>
                                        </m:r>
                                      </m:e>
                                      <m:sub>
                                        <m:r>
                                          <a:rPr lang="en-US" altLang="en-US" sz="2400" b="0" i="1" dirty="0" smtClean="0">
                                            <a:solidFill>
                                              <a:srgbClr val="000000"/>
                                            </a:solidFill>
                                            <a:latin typeface="Cambria Math" panose="02040503050406030204" pitchFamily="18" charset="0"/>
                                            <a:ea typeface="Times New Roman"/>
                                            <a:cs typeface="Times New Roman"/>
                                          </a:rPr>
                                          <m:t>𝑢</m:t>
                                        </m:r>
                                      </m:sub>
                                    </m:sSub>
                                    <m:r>
                                      <a:rPr lang="en-US" altLang="en-US" sz="2400" b="0" i="0" dirty="0" smtClean="0">
                                        <a:solidFill>
                                          <a:srgbClr val="000000"/>
                                        </a:solidFill>
                                        <a:latin typeface="Cambria Math" panose="02040503050406030204" pitchFamily="18" charset="0"/>
                                        <a:ea typeface="Times New Roman"/>
                                        <a:cs typeface="Times New Roman"/>
                                      </a:rPr>
                                      <m:t>(</m:t>
                                    </m:r>
                                    <m:r>
                                      <m:rPr>
                                        <m:sty m:val="p"/>
                                      </m:rPr>
                                      <a:rPr lang="en-US" altLang="en-US" sz="2400" b="0" i="0" dirty="0" smtClean="0">
                                        <a:solidFill>
                                          <a:srgbClr val="000000"/>
                                        </a:solidFill>
                                        <a:latin typeface="Cambria Math" panose="02040503050406030204" pitchFamily="18" charset="0"/>
                                        <a:ea typeface="Times New Roman"/>
                                        <a:cs typeface="Times New Roman"/>
                                      </a:rPr>
                                      <m:t>t</m:t>
                                    </m:r>
                                    <m:r>
                                      <a:rPr lang="en-US" altLang="en-US" sz="2400" b="0" i="0" dirty="0" smtClean="0">
                                        <a:solidFill>
                                          <a:srgbClr val="000000"/>
                                        </a:solidFill>
                                        <a:latin typeface="Cambria Math" panose="02040503050406030204" pitchFamily="18" charset="0"/>
                                        <a:ea typeface="Times New Roman"/>
                                        <a:cs typeface="Times New Roman"/>
                                      </a:rPr>
                                      <m:t>+1)∈</m:t>
                                    </m:r>
                                    <m:r>
                                      <a:rPr lang="en-US" altLang="en-US" sz="2400" i="1" dirty="0" smtClean="0">
                                        <a:solidFill>
                                          <a:srgbClr val="000000"/>
                                        </a:solidFill>
                                        <a:latin typeface="Cambria Math" panose="02040503050406030204" pitchFamily="18" charset="0"/>
                                        <a:ea typeface="Times New Roman"/>
                                        <a:cs typeface="Times New Roman"/>
                                      </a:rPr>
                                      <m:t>𝐴</m:t>
                                    </m:r>
                                  </m:lim>
                                </m:limLow>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𝑄</m:t>
                                    </m:r>
                                  </m:e>
                                  <m:sub>
                                    <m:r>
                                      <a:rPr lang="en-US" altLang="en-US" sz="2400" i="1" dirty="0" smtClean="0">
                                        <a:solidFill>
                                          <a:srgbClr val="000000"/>
                                        </a:solidFill>
                                        <a:latin typeface="Cambria Math" panose="02040503050406030204" pitchFamily="18" charset="0"/>
                                        <a:ea typeface="Times New Roman"/>
                                        <a:cs typeface="Times New Roman"/>
                                      </a:rPr>
                                      <m:t>𝑗</m:t>
                                    </m:r>
                                  </m:sub>
                                </m:sSub>
                                <m:r>
                                  <a:rPr lang="en-US" altLang="en-US" sz="2400" i="1" dirty="0" smtClean="0">
                                    <a:solidFill>
                                      <a:srgbClr val="000000"/>
                                    </a:solidFill>
                                    <a:latin typeface="Cambria Math" panose="02040503050406030204" pitchFamily="18" charset="0"/>
                                    <a:ea typeface="Times New Roman"/>
                                    <a:cs typeface="Times New Roman"/>
                                  </a:rPr>
                                  <m:t>​</m:t>
                                </m:r>
                                <m:d>
                                  <m:dPr>
                                    <m:ctrlPr>
                                      <a:rPr lang="en-US" altLang="en-US" sz="2400" i="1" dirty="0" smtClean="0">
                                        <a:solidFill>
                                          <a:srgbClr val="000000"/>
                                        </a:solidFill>
                                        <a:latin typeface="Cambria Math" panose="02040503050406030204" pitchFamily="18" charset="0"/>
                                        <a:ea typeface="Times New Roman"/>
                                        <a:cs typeface="Times New Roman"/>
                                      </a:rPr>
                                    </m:ctrlPr>
                                  </m:dPr>
                                  <m:e>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𝑠</m:t>
                                        </m:r>
                                      </m:e>
                                      <m:sub>
                                        <m:r>
                                          <a:rPr lang="en-US" altLang="en-US" sz="2400" i="1" dirty="0" smtClean="0">
                                            <a:solidFill>
                                              <a:srgbClr val="000000"/>
                                            </a:solidFill>
                                            <a:latin typeface="Cambria Math" panose="02040503050406030204" pitchFamily="18" charset="0"/>
                                            <a:ea typeface="Times New Roman"/>
                                            <a:cs typeface="Times New Roman"/>
                                          </a:rPr>
                                          <m:t>𝑢</m:t>
                                        </m:r>
                                      </m:sub>
                                    </m:sSub>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𝑡</m:t>
                                    </m:r>
                                    <m:r>
                                      <a:rPr lang="en-US" altLang="en-US" sz="2400" i="0" dirty="0" smtClean="0">
                                        <a:solidFill>
                                          <a:srgbClr val="000000"/>
                                        </a:solidFill>
                                        <a:latin typeface="Cambria Math" panose="02040503050406030204" pitchFamily="18" charset="0"/>
                                        <a:ea typeface="Times New Roman"/>
                                        <a:cs typeface="Times New Roman"/>
                                      </a:rPr>
                                      <m:t>+1),</m:t>
                                    </m:r>
                                    <m:r>
                                      <a:rPr lang="en-US" altLang="en-US" sz="2400" i="1" dirty="0">
                                        <a:solidFill>
                                          <a:srgbClr val="000000"/>
                                        </a:solidFill>
                                        <a:latin typeface="Cambria Math" panose="02040503050406030204" pitchFamily="18" charset="0"/>
                                        <a:ea typeface="Times New Roman"/>
                                        <a:cs typeface="Times New Roman"/>
                                      </a:rPr>
                                      <m:t>𝑎</m:t>
                                    </m:r>
                                    <m:r>
                                      <a:rPr lang="en-US" altLang="en-US" sz="2400" b="0" i="0" dirty="0" smtClean="0">
                                        <a:solidFill>
                                          <a:srgbClr val="000000"/>
                                        </a:solidFill>
                                        <a:latin typeface="Cambria Math" panose="02040503050406030204" pitchFamily="18" charset="0"/>
                                        <a:ea typeface="Times New Roman"/>
                                        <a:cs typeface="Times New Roman"/>
                                      </a:rPr>
                                      <m:t>(</m:t>
                                    </m:r>
                                    <m:r>
                                      <m:rPr>
                                        <m:sty m:val="p"/>
                                      </m:rPr>
                                      <a:rPr lang="en-US" altLang="en-US" sz="2400" b="0" i="0" dirty="0" smtClean="0">
                                        <a:solidFill>
                                          <a:srgbClr val="000000"/>
                                        </a:solidFill>
                                        <a:latin typeface="Cambria Math" panose="02040503050406030204" pitchFamily="18" charset="0"/>
                                        <a:ea typeface="Times New Roman"/>
                                        <a:cs typeface="Times New Roman"/>
                                      </a:rPr>
                                      <m:t>t</m:t>
                                    </m:r>
                                    <m:r>
                                      <a:rPr lang="en-US" altLang="en-US" sz="2400" b="0" i="0" dirty="0" smtClean="0">
                                        <a:solidFill>
                                          <a:srgbClr val="000000"/>
                                        </a:solidFill>
                                        <a:latin typeface="Cambria Math" panose="02040503050406030204" pitchFamily="18" charset="0"/>
                                        <a:ea typeface="Times New Roman"/>
                                        <a:cs typeface="Times New Roman"/>
                                      </a:rPr>
                                      <m:t>+1),</m:t>
                                    </m:r>
                                    <m:sSubSup>
                                      <m:sSubSupPr>
                                        <m:ctrlPr>
                                          <a:rPr lang="en-US" altLang="en-US" sz="2400" i="1" dirty="0" smtClean="0">
                                            <a:solidFill>
                                              <a:srgbClr val="000000"/>
                                            </a:solidFill>
                                            <a:latin typeface="Cambria Math" panose="02040503050406030204" pitchFamily="18" charset="0"/>
                                            <a:ea typeface="Times New Roman"/>
                                            <a:cs typeface="Times New Roman"/>
                                          </a:rPr>
                                        </m:ctrlPr>
                                      </m:sSubSupPr>
                                      <m:e>
                                        <m:r>
                                          <a:rPr lang="en-US" altLang="en-US" sz="2400" i="1" dirty="0" smtClean="0">
                                            <a:solidFill>
                                              <a:srgbClr val="000000"/>
                                            </a:solidFill>
                                            <a:latin typeface="Cambria Math" panose="02040503050406030204" pitchFamily="18" charset="0"/>
                                            <a:ea typeface="Times New Roman"/>
                                            <a:cs typeface="Times New Roman"/>
                                          </a:rPr>
                                          <m:t>𝜃</m:t>
                                        </m:r>
                                      </m:e>
                                      <m:sub>
                                        <m:r>
                                          <a:rPr lang="en-US" altLang="en-US" sz="2400" i="1" dirty="0" smtClean="0">
                                            <a:solidFill>
                                              <a:srgbClr val="000000"/>
                                            </a:solidFill>
                                            <a:latin typeface="Cambria Math" panose="02040503050406030204" pitchFamily="18" charset="0"/>
                                            <a:ea typeface="Times New Roman"/>
                                            <a:cs typeface="Times New Roman"/>
                                          </a:rPr>
                                          <m:t>𝑗</m:t>
                                        </m:r>
                                      </m:sub>
                                      <m:sup>
                                        <m:r>
                                          <a:rPr lang="en-US" altLang="en-US" sz="2400" i="0" dirty="0" smtClean="0">
                                            <a:solidFill>
                                              <a:srgbClr val="000000"/>
                                            </a:solidFill>
                                            <a:latin typeface="Cambria Math" panose="02040503050406030204" pitchFamily="18" charset="0"/>
                                            <a:ea typeface="Times New Roman"/>
                                            <a:cs typeface="Times New Roman"/>
                                          </a:rPr>
                                          <m:t>−</m:t>
                                        </m:r>
                                      </m:sup>
                                    </m:sSubSup>
                                  </m:e>
                                </m:d>
                                <m:r>
                                  <a:rPr lang="en-US" altLang="en-US" sz="2400" i="0" dirty="0" smtClean="0">
                                    <a:solidFill>
                                      <a:srgbClr val="000000"/>
                                    </a:solidFill>
                                    <a:latin typeface="Cambria Math" panose="02040503050406030204" pitchFamily="18" charset="0"/>
                                    <a:ea typeface="Times New Roman"/>
                                    <a:cs typeface="Times New Roman"/>
                                  </a:rPr>
                                  <m:t>,</m:t>
                                </m:r>
                              </m:e>
                              <m:e>
                                <m:r>
                                  <m:rPr>
                                    <m:nor/>
                                  </m:rPr>
                                  <a:rPr lang="en-US" altLang="en-US" sz="2400" i="0" dirty="0" smtClean="0">
                                    <a:solidFill>
                                      <a:srgbClr val="000000"/>
                                    </a:solidFill>
                                    <a:latin typeface="Times New Roman"/>
                                    <a:ea typeface="Times New Roman"/>
                                    <a:cs typeface="Times New Roman"/>
                                  </a:rPr>
                                  <m:t>otherwise</m:t>
                                </m:r>
                              </m:e>
                            </m:mr>
                          </m:m>
                        </m:e>
                      </m:d>
                    </m:oMath>
                  </m:oMathPara>
                </a14:m>
                <a:endParaRPr lang="en-US" altLang="en-US" sz="2400" dirty="0">
                  <a:solidFill>
                    <a:srgbClr val="000000"/>
                  </a:solidFill>
                  <a:latin typeface="Times New Roman"/>
                  <a:ea typeface="Times New Roman"/>
                  <a:cs typeface="Times New Roman"/>
                </a:endParaRPr>
              </a:p>
            </p:txBody>
          </p:sp>
        </mc:Choice>
        <mc:Fallback xmlns="">
          <p:sp>
            <p:nvSpPr>
              <p:cNvPr id="6" name="edu:formula-omml" descr="Native Office Math: a30_target"/>
              <p:cNvSpPr txBox="1">
                <a:spLocks noRot="1" noChangeAspect="1" noMove="1" noResize="1" noEditPoints="1" noAdjustHandles="1" noChangeArrowheads="1" noChangeShapeType="1" noTextEdit="1"/>
              </p:cNvSpPr>
              <p:nvPr/>
            </p:nvSpPr>
            <p:spPr>
              <a:xfrm>
                <a:off x="1289414" y="1853946"/>
                <a:ext cx="9179936" cy="1303934"/>
              </a:xfrm>
              <a:prstGeom prst="rect">
                <a:avLst/>
              </a:prstGeom>
              <a:blipFill>
                <a:blip r:embed="rId3"/>
                <a:stretch>
                  <a:fillRect l="-5515" r="-4518"/>
                </a:stretch>
              </a:blipFill>
              <a:effectLst/>
            </p:spPr>
            <p:txBody>
              <a:bodyPr/>
              <a:lstStyle/>
              <a:p>
                <a:r>
                  <a:rPr lang="zh-TW" altLang="en-US">
                    <a:noFill/>
                  </a:rPr>
                  <a:t> </a:t>
                </a:r>
              </a:p>
            </p:txBody>
          </p:sp>
        </mc:Fallback>
      </mc:AlternateContent>
      <p:sp>
        <p:nvSpPr>
          <p:cNvPr id="7" name="edu:body"/>
          <p:cNvSpPr txBox="1"/>
          <p:nvPr/>
        </p:nvSpPr>
        <p:spPr>
          <a:xfrm>
            <a:off x="565190" y="3303727"/>
            <a:ext cx="11064240" cy="774496"/>
          </a:xfrm>
          <a:prstGeom prst="rect">
            <a:avLst/>
          </a:prstGeom>
          <a:noFill/>
        </p:spPr>
        <p:txBody>
          <a:bodyPr wrap="square" lIns="0" tIns="0" rIns="0" bIns="0" anchor="t">
            <a:spAutoFit/>
          </a:bodyPr>
          <a:lstStyle/>
          <a:p>
            <a:pPr algn="l">
              <a:lnSpc>
                <a:spcPct val="112000"/>
              </a:lnSpc>
              <a:spcAft>
                <a:spcPts val="0"/>
              </a:spcAft>
            </a:pPr>
            <a:r>
              <a:rPr lang="en-US" altLang="en-US" sz="2400" b="0" i="0" noProof="1">
                <a:solidFill>
                  <a:srgbClr val="000000"/>
                </a:solidFill>
                <a:latin typeface="Times New Roman"/>
                <a:ea typeface="標楷體"/>
                <a:cs typeface="Times New Roman"/>
              </a:rPr>
              <a:t>Each objective maximises over its own target network, the three heads never share one next action.</a:t>
            </a:r>
          </a:p>
        </p:txBody>
      </p:sp>
      <mc:AlternateContent xmlns:mc="http://schemas.openxmlformats.org/markup-compatibility/2006" xmlns:a14="http://schemas.microsoft.com/office/drawing/2010/main">
        <mc:Choice Requires="a14">
          <p:sp>
            <p:nvSpPr>
              <p:cNvPr id="8" name="edu:notation"/>
              <p:cNvSpPr txBox="1"/>
              <p:nvPr/>
            </p:nvSpPr>
            <p:spPr>
              <a:xfrm>
                <a:off x="565190" y="4380170"/>
                <a:ext cx="11064240" cy="1391716"/>
              </a:xfrm>
              <a:prstGeom prst="rect">
                <a:avLst/>
              </a:prstGeom>
              <a:noFill/>
              <a:effectLst/>
            </p:spPr>
            <p:txBody>
              <a:bodyPr wrap="square" lIns="0" tIns="0" rIns="0" bIns="0" anchor="t">
                <a:noAutofit/>
              </a:bodyPr>
              <a:lstStyle/>
              <a:p>
                <a:pPr algn="l">
                  <a:lnSpc>
                    <a:spcPct val="100000"/>
                  </a:lnSpc>
                  <a:spcAft>
                    <a:spcPts val="200"/>
                  </a:spcAft>
                </a:pPr>
                <a:r>
                  <a:rPr lang="en-US" altLang="en-US" sz="2400" b="1" i="0" noProof="1">
                    <a:solidFill>
                      <a:srgbClr val="000000"/>
                    </a:solidFill>
                    <a:latin typeface="Times New Roman"/>
                    <a:ea typeface="標楷體"/>
                    <a:cs typeface="Times New Roman"/>
                  </a:rPr>
                  <a:t>Notation</a:t>
                </a:r>
              </a:p>
              <a:p>
                <a:pPr algn="l">
                  <a:lnSpc>
                    <a:spcPct val="100000"/>
                  </a:lnSpc>
                  <a:spcAft>
                    <a:spcPts val="200"/>
                  </a:spcAft>
                </a:pPr>
                <a14:m>
                  <m:oMath xmlns:m="http://schemas.openxmlformats.org/officeDocument/2006/math">
                    <m:r>
                      <a:rPr lang="en-US" altLang="en-US" sz="2400" i="1" dirty="0" smtClean="0">
                        <a:solidFill>
                          <a:srgbClr val="000000"/>
                        </a:solidFill>
                        <a:latin typeface="Cambria Math" panose="02040503050406030204" pitchFamily="18" charset="0"/>
                        <a:ea typeface="Times New Roman"/>
                        <a:cs typeface="Times New Roman"/>
                      </a:rPr>
                      <m:t>𝛽</m:t>
                    </m:r>
                  </m:oMath>
                </a14:m>
                <a:r>
                  <a:rPr lang="en-US" altLang="en-US" sz="2400" b="0" i="0" noProof="1">
                    <a:solidFill>
                      <a:srgbClr val="000000"/>
                    </a:solidFill>
                    <a:latin typeface="Times New Roman"/>
                    <a:ea typeface="標楷體"/>
                    <a:cs typeface="Times New Roman"/>
                  </a:rPr>
                  <a:t>: discount factor: how much a future reward still counts</a:t>
                </a:r>
                <a:endParaRPr lang="en-US" altLang="en-US" sz="2400" dirty="0">
                  <a:solidFill>
                    <a:srgbClr val="000000"/>
                  </a:solidFill>
                  <a:latin typeface="Times New Roman"/>
                  <a:ea typeface="Times New Roman"/>
                  <a:cs typeface="Times New Roman"/>
                </a:endParaRPr>
              </a:p>
              <a:p>
                <a:pPr algn="l">
                  <a:lnSpc>
                    <a:spcPct val="100000"/>
                  </a:lnSpc>
                  <a:spcAft>
                    <a:spcPts val="200"/>
                  </a:spcAft>
                </a:pPr>
                <a14:m>
                  <m:oMath xmlns:m="http://schemas.openxmlformats.org/officeDocument/2006/math">
                    <m:sSubSup>
                      <m:sSubSupPr>
                        <m:ctrlPr>
                          <a:rPr lang="en-US" altLang="en-US" sz="2400" i="1" dirty="0" smtClean="0">
                            <a:solidFill>
                              <a:srgbClr val="000000"/>
                            </a:solidFill>
                            <a:latin typeface="Cambria Math" panose="02040503050406030204" pitchFamily="18" charset="0"/>
                            <a:ea typeface="Times New Roman"/>
                            <a:cs typeface="Times New Roman"/>
                          </a:rPr>
                        </m:ctrlPr>
                      </m:sSubSupPr>
                      <m:e>
                        <m:r>
                          <a:rPr lang="en-US" altLang="en-US" sz="2400" i="1" dirty="0" smtClean="0">
                            <a:solidFill>
                              <a:srgbClr val="000000"/>
                            </a:solidFill>
                            <a:latin typeface="Cambria Math" panose="02040503050406030204" pitchFamily="18" charset="0"/>
                            <a:ea typeface="Times New Roman"/>
                            <a:cs typeface="Times New Roman"/>
                          </a:rPr>
                          <m:t>𝜃</m:t>
                        </m:r>
                      </m:e>
                      <m:sub>
                        <m:r>
                          <a:rPr lang="en-US" altLang="en-US" sz="2400" i="1" dirty="0" smtClean="0">
                            <a:solidFill>
                              <a:srgbClr val="000000"/>
                            </a:solidFill>
                            <a:latin typeface="Cambria Math" panose="02040503050406030204" pitchFamily="18" charset="0"/>
                            <a:ea typeface="Times New Roman"/>
                            <a:cs typeface="Times New Roman"/>
                          </a:rPr>
                          <m:t>𝑗</m:t>
                        </m:r>
                      </m:sub>
                      <m:sup>
                        <m:r>
                          <a:rPr lang="en-US" altLang="en-US" sz="2400" i="0" dirty="0" smtClean="0">
                            <a:solidFill>
                              <a:srgbClr val="000000"/>
                            </a:solidFill>
                            <a:latin typeface="Cambria Math" panose="02040503050406030204" pitchFamily="18" charset="0"/>
                            <a:ea typeface="Times New Roman"/>
                            <a:cs typeface="Times New Roman"/>
                          </a:rPr>
                          <m:t>−</m:t>
                        </m:r>
                      </m:sup>
                    </m:sSubSup>
                  </m:oMath>
                </a14:m>
                <a:r>
                  <a:rPr lang="en-US" altLang="en-US" sz="2400" b="0" i="0" noProof="1">
                    <a:solidFill>
                      <a:srgbClr val="000000"/>
                    </a:solidFill>
                    <a:latin typeface="Times New Roman"/>
                    <a:ea typeface="標楷體"/>
                    <a:cs typeface="Times New Roman"/>
                  </a:rPr>
                  <a:t>: parameters of the slowly updated target copy of objective </a:t>
                </a:r>
                <a:r>
                  <a:rPr lang="en-US" altLang="en-US" sz="2400" b="0" i="1" noProof="1">
                    <a:solidFill>
                      <a:srgbClr val="000000"/>
                    </a:solidFill>
                    <a:latin typeface="Times New Roman"/>
                    <a:ea typeface="標楷體"/>
                    <a:cs typeface="Times New Roman"/>
                  </a:rPr>
                  <a:t>j</a:t>
                </a:r>
                <a:r>
                  <a:rPr lang="en-US" altLang="en-US" sz="2400" b="0" i="0" noProof="1">
                    <a:solidFill>
                      <a:srgbClr val="000000"/>
                    </a:solidFill>
                    <a:latin typeface="Times New Roman"/>
                    <a:ea typeface="標楷體"/>
                    <a:cs typeface="Times New Roman"/>
                  </a:rPr>
                  <a:t>'s network</a:t>
                </a:r>
                <a:endParaRPr lang="en-US" altLang="en-US" sz="2400" dirty="0">
                  <a:solidFill>
                    <a:srgbClr val="000000"/>
                  </a:solidFill>
                  <a:latin typeface="Times New Roman"/>
                  <a:ea typeface="Times New Roman"/>
                  <a:cs typeface="Times New Roman"/>
                </a:endParaRPr>
              </a:p>
              <a:p>
                <a:pPr algn="l">
                  <a:lnSpc>
                    <a:spcPct val="100000"/>
                  </a:lnSpc>
                  <a:spcAft>
                    <a:spcPts val="200"/>
                  </a:spcAft>
                </a:pPr>
                <a14:m>
                  <m:oMath xmlns:m="http://schemas.openxmlformats.org/officeDocument/2006/math">
                    <m:sSub>
                      <m:sSubPr>
                        <m:ctrlPr>
                          <a:rPr lang="en-US" altLang="en-US" sz="2400" i="1" dirty="0" smtClean="0">
                            <a:solidFill>
                              <a:srgbClr val="000000"/>
                            </a:solidFill>
                            <a:latin typeface="Cambria Math" panose="02040503050406030204" pitchFamily="18" charset="0"/>
                            <a:ea typeface="Times New Roman"/>
                            <a:cs typeface="Times New Roman"/>
                          </a:rPr>
                        </m:ctrlPr>
                      </m:sSubPr>
                      <m:e>
                        <m:r>
                          <a:rPr lang="en-US" altLang="en-US" sz="2400" i="1" dirty="0" smtClean="0">
                            <a:solidFill>
                              <a:srgbClr val="000000"/>
                            </a:solidFill>
                            <a:latin typeface="Cambria Math" panose="02040503050406030204" pitchFamily="18" charset="0"/>
                            <a:ea typeface="Times New Roman"/>
                            <a:cs typeface="Times New Roman"/>
                          </a:rPr>
                          <m:t>𝑦</m:t>
                        </m:r>
                      </m:e>
                      <m:sub>
                        <m:r>
                          <a:rPr lang="en-US" altLang="en-US" sz="2400" i="1" dirty="0" smtClean="0">
                            <a:solidFill>
                              <a:srgbClr val="000000"/>
                            </a:solidFill>
                            <a:latin typeface="Cambria Math" panose="02040503050406030204" pitchFamily="18" charset="0"/>
                            <a:ea typeface="Times New Roman"/>
                            <a:cs typeface="Times New Roman"/>
                          </a:rPr>
                          <m:t>𝑗</m:t>
                        </m:r>
                        <m:r>
                          <a:rPr lang="en-US" altLang="en-US" sz="2400" i="0" dirty="0" smtClean="0">
                            <a:solidFill>
                              <a:srgbClr val="000000"/>
                            </a:solidFill>
                            <a:latin typeface="Cambria Math" panose="02040503050406030204" pitchFamily="18" charset="0"/>
                            <a:ea typeface="Times New Roman"/>
                            <a:cs typeface="Times New Roman"/>
                          </a:rPr>
                          <m:t>,</m:t>
                        </m:r>
                        <m:r>
                          <a:rPr lang="en-US" altLang="en-US" sz="2400" i="1" dirty="0" smtClean="0">
                            <a:solidFill>
                              <a:srgbClr val="000000"/>
                            </a:solidFill>
                            <a:latin typeface="Cambria Math" panose="02040503050406030204" pitchFamily="18" charset="0"/>
                            <a:ea typeface="Times New Roman"/>
                            <a:cs typeface="Times New Roman"/>
                          </a:rPr>
                          <m:t>𝑢</m:t>
                        </m:r>
                      </m:sub>
                    </m:sSub>
                    <m:r>
                      <a:rPr lang="en-US" altLang="en-US" sz="2400" b="0" i="1" dirty="0" smtClean="0">
                        <a:solidFill>
                          <a:srgbClr val="000000"/>
                        </a:solidFill>
                        <a:latin typeface="Cambria Math" panose="02040503050406030204" pitchFamily="18" charset="0"/>
                        <a:ea typeface="Times New Roman"/>
                        <a:cs typeface="Times New Roman"/>
                      </a:rPr>
                      <m:t>(</m:t>
                    </m:r>
                    <m:r>
                      <a:rPr lang="en-US" altLang="en-US" sz="2400" b="0" i="1" dirty="0" smtClean="0">
                        <a:solidFill>
                          <a:srgbClr val="000000"/>
                        </a:solidFill>
                        <a:latin typeface="Cambria Math" panose="02040503050406030204" pitchFamily="18" charset="0"/>
                        <a:ea typeface="Times New Roman"/>
                        <a:cs typeface="Times New Roman"/>
                      </a:rPr>
                      <m:t>𝑡</m:t>
                    </m:r>
                    <m:r>
                      <a:rPr lang="en-US" altLang="en-US" sz="2400" b="0" i="1" dirty="0" smtClean="0">
                        <a:solidFill>
                          <a:srgbClr val="000000"/>
                        </a:solidFill>
                        <a:latin typeface="Cambria Math" panose="02040503050406030204" pitchFamily="18" charset="0"/>
                        <a:ea typeface="Times New Roman"/>
                        <a:cs typeface="Times New Roman"/>
                      </a:rPr>
                      <m:t>)</m:t>
                    </m:r>
                  </m:oMath>
                </a14:m>
                <a:r>
                  <a:rPr lang="en-US" altLang="en-US" sz="2400" b="0" i="0" noProof="1">
                    <a:solidFill>
                      <a:srgbClr val="000000"/>
                    </a:solidFill>
                    <a:latin typeface="Times New Roman"/>
                    <a:ea typeface="標楷體"/>
                    <a:cs typeface="Times New Roman"/>
                  </a:rPr>
                  <a:t>: training target for objective </a:t>
                </a:r>
                <a:r>
                  <a:rPr lang="en-US" altLang="en-US" sz="2400" b="0" i="1" noProof="1">
                    <a:solidFill>
                      <a:srgbClr val="000000"/>
                    </a:solidFill>
                    <a:latin typeface="Times New Roman"/>
                    <a:ea typeface="標楷體"/>
                    <a:cs typeface="Times New Roman"/>
                  </a:rPr>
                  <a:t>j</a:t>
                </a:r>
                <a:endParaRPr lang="en-US" altLang="en-US" sz="2400" dirty="0">
                  <a:solidFill>
                    <a:srgbClr val="000000"/>
                  </a:solidFill>
                  <a:latin typeface="Times New Roman"/>
                  <a:ea typeface="Times New Roman"/>
                  <a:cs typeface="Times New Roman"/>
                </a:endParaRPr>
              </a:p>
            </p:txBody>
          </p:sp>
        </mc:Choice>
        <mc:Fallback xmlns="">
          <p:sp>
            <p:nvSpPr>
              <p:cNvPr id="8" name="edu:notation"/>
              <p:cNvSpPr txBox="1">
                <a:spLocks noRot="1" noChangeAspect="1" noMove="1" noResize="1" noEditPoints="1" noAdjustHandles="1" noChangeArrowheads="1" noChangeShapeType="1" noTextEdit="1"/>
              </p:cNvSpPr>
              <p:nvPr/>
            </p:nvSpPr>
            <p:spPr>
              <a:xfrm>
                <a:off x="565190" y="4380170"/>
                <a:ext cx="11064240" cy="1391716"/>
              </a:xfrm>
              <a:prstGeom prst="rect">
                <a:avLst/>
              </a:prstGeom>
              <a:blipFill>
                <a:blip r:embed="rId4"/>
                <a:stretch>
                  <a:fillRect l="-1708" t="-7018" b="-26754"/>
                </a:stretch>
              </a:blipFill>
              <a:effectLst/>
            </p:spPr>
            <p:txBody>
              <a:bodyPr/>
              <a:lstStyle/>
              <a:p>
                <a:r>
                  <a:rPr lang="zh-TW" altLang="en-US">
                    <a:noFill/>
                  </a:rPr>
                  <a:t> </a:t>
                </a:r>
              </a:p>
            </p:txBody>
          </p:sp>
        </mc:Fallback>
      </mc:AlternateContent>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du:title"/>
          <p:cNvSpPr txBox="1"/>
          <p:nvPr/>
        </p:nvSpPr>
        <p:spPr>
          <a:xfrm>
            <a:off x="565190" y="141274"/>
            <a:ext cx="11417289" cy="571500"/>
          </a:xfrm>
          <a:prstGeom prst="rect">
            <a:avLst/>
          </a:prstGeom>
          <a:noFill/>
        </p:spPr>
        <p:txBody>
          <a:bodyPr wrap="square" lIns="0" tIns="0" rIns="0" bIns="0" anchor="b">
            <a:spAutoFit/>
          </a:bodyPr>
          <a:lstStyle/>
          <a:p>
            <a:pPr algn="l"/>
            <a:r>
              <a:rPr lang="en-US" altLang="en-US" sz="2800" b="1" i="0" noProof="1">
                <a:solidFill>
                  <a:srgbClr val="1B365D"/>
                </a:solidFill>
                <a:latin typeface="Times New Roman"/>
                <a:ea typeface="標楷體"/>
                <a:cs typeface="Times New Roman"/>
              </a:rPr>
              <a:t>Training Procedure</a:t>
            </a:r>
          </a:p>
        </p:txBody>
      </p:sp>
      <p:sp>
        <p:nvSpPr>
          <p:cNvPr id="3" name="edu:citation"/>
          <p:cNvSpPr txBox="1"/>
          <p:nvPr/>
        </p:nvSpPr>
        <p:spPr>
          <a:xfrm>
            <a:off x="495330" y="6316675"/>
            <a:ext cx="11018520" cy="505663"/>
          </a:xfrm>
          <a:prstGeom prst="rect">
            <a:avLst/>
          </a:prstGeom>
          <a:noFill/>
        </p:spPr>
        <p:txBody>
          <a:bodyPr wrap="square" lIns="0" tIns="0" rIns="0" bIns="0" anchor="t">
            <a:spAutoFit/>
          </a:bodyPr>
          <a:lstStyle/>
          <a:p>
            <a:pPr algn="l">
              <a:lnSpc>
                <a:spcPct val="105000"/>
              </a:lnSpc>
            </a:pPr>
            <a:r>
              <a:rPr lang="en-US" altLang="en-US" sz="1400" b="0" i="0" noProof="1">
                <a:solidFill>
                  <a:srgbClr val="000000"/>
                </a:solidFill>
                <a:latin typeface="Times New Roman"/>
                <a:ea typeface="標楷體"/>
                <a:cs typeface="Times New Roman"/>
              </a:rPr>
              <a:t>Y. Sun et al., “Handover for Multi-Beam LEO Satellite Networks: A Multi-Objective Reinforcement Learning Method,” IEEE Communications Letters, Dec. 2024.</a:t>
            </a:r>
          </a:p>
        </p:txBody>
      </p:sp>
      <p:sp>
        <p:nvSpPr>
          <p:cNvPr id="5" name="edu:body"/>
          <p:cNvSpPr txBox="1"/>
          <p:nvPr/>
        </p:nvSpPr>
        <p:spPr>
          <a:xfrm>
            <a:off x="565190" y="896112"/>
            <a:ext cx="11064240" cy="386791"/>
          </a:xfrm>
          <a:prstGeom prst="rect">
            <a:avLst/>
          </a:prstGeom>
          <a:noFill/>
        </p:spPr>
        <p:txBody>
          <a:bodyPr wrap="square" lIns="0" tIns="0" rIns="0" bIns="0" anchor="t">
            <a:spAutoFit/>
          </a:bodyPr>
          <a:lstStyle/>
          <a:p>
            <a:pPr algn="l">
              <a:lnSpc>
                <a:spcPct val="112000"/>
              </a:lnSpc>
              <a:spcAft>
                <a:spcPts val="0"/>
              </a:spcAft>
            </a:pPr>
            <a:r>
              <a:rPr lang="en-US" altLang="en-US" sz="2400" b="0" i="0" noProof="1">
                <a:solidFill>
                  <a:srgbClr val="000000"/>
                </a:solidFill>
                <a:latin typeface="Times New Roman"/>
                <a:ea typeface="標楷體"/>
                <a:cs typeface="Times New Roman"/>
              </a:rPr>
              <a:t>Every training step follows the same cycle:</a:t>
            </a:r>
          </a:p>
        </p:txBody>
      </p:sp>
      <p:sp>
        <p:nvSpPr>
          <p:cNvPr id="6" name="edu:flow-node"/>
          <p:cNvSpPr/>
          <p:nvPr/>
        </p:nvSpPr>
        <p:spPr>
          <a:xfrm>
            <a:off x="565190" y="1447495"/>
            <a:ext cx="2478024" cy="1143000"/>
          </a:xfrm>
          <a:prstGeom prst="roundRect">
            <a:avLst/>
          </a:prstGeom>
          <a:solidFill>
            <a:srgbClr val="F6F8FA"/>
          </a:solidFill>
          <a:ln w="11430">
            <a:solidFill>
              <a:srgbClr val="9AA5B1"/>
            </a:solidFill>
          </a:ln>
          <a:effectLst/>
        </p:spPr>
        <p:txBody>
          <a:bodyPr wrap="square" tIns="0" bIns="0" rtlCol="0" anchor="ctr"/>
          <a:lstStyle/>
          <a:p>
            <a:pPr algn="ctr">
              <a:lnSpc>
                <a:spcPct val="105000"/>
              </a:lnSpc>
            </a:pPr>
            <a:r>
              <a:rPr lang="en-US" altLang="en-US" sz="2000" b="1" i="0" noProof="1">
                <a:solidFill>
                  <a:srgbClr val="000000"/>
                </a:solidFill>
                <a:latin typeface="Times New Roman"/>
                <a:ea typeface="標楷體"/>
                <a:cs typeface="Times New Roman"/>
              </a:rPr>
              <a:t>Build the state</a:t>
            </a:r>
          </a:p>
          <a:p>
            <a:pPr algn="ctr">
              <a:lnSpc>
                <a:spcPct val="105000"/>
              </a:lnSpc>
              <a:spcBef>
                <a:spcPts val="200"/>
              </a:spcBef>
            </a:pPr>
            <a:r>
              <a:rPr lang="en-US" altLang="en-US" sz="2000" b="0" i="0" noProof="1">
                <a:solidFill>
                  <a:srgbClr val="000000"/>
                </a:solidFill>
                <a:latin typeface="Times New Roman"/>
                <a:ea typeface="標楷體"/>
                <a:cs typeface="Times New Roman"/>
              </a:rPr>
              <a:t>current user state</a:t>
            </a:r>
          </a:p>
        </p:txBody>
      </p:sp>
      <p:sp>
        <p:nvSpPr>
          <p:cNvPr id="7" name="edu:flow-node"/>
          <p:cNvSpPr/>
          <p:nvPr/>
        </p:nvSpPr>
        <p:spPr>
          <a:xfrm>
            <a:off x="3427262" y="1447495"/>
            <a:ext cx="2478024" cy="1143000"/>
          </a:xfrm>
          <a:prstGeom prst="roundRect">
            <a:avLst/>
          </a:prstGeom>
          <a:solidFill>
            <a:srgbClr val="F6F8FA"/>
          </a:solidFill>
          <a:ln w="11430">
            <a:solidFill>
              <a:srgbClr val="9AA5B1"/>
            </a:solidFill>
          </a:ln>
          <a:effectLst/>
        </p:spPr>
        <p:txBody>
          <a:bodyPr wrap="square" tIns="0" bIns="0" rtlCol="0" anchor="ctr"/>
          <a:lstStyle/>
          <a:p>
            <a:pPr algn="ctr">
              <a:lnSpc>
                <a:spcPct val="105000"/>
              </a:lnSpc>
            </a:pPr>
            <a:r>
              <a:rPr lang="en-US" altLang="en-US" sz="2000" b="1" i="0" noProof="1">
                <a:solidFill>
                  <a:srgbClr val="000000"/>
                </a:solidFill>
                <a:latin typeface="Times New Roman"/>
                <a:ea typeface="標楷體"/>
                <a:cs typeface="Times New Roman"/>
              </a:rPr>
              <a:t>Select an action</a:t>
            </a:r>
          </a:p>
          <a:p>
            <a:pPr algn="ctr">
              <a:lnSpc>
                <a:spcPct val="105000"/>
              </a:lnSpc>
              <a:spcBef>
                <a:spcPts val="200"/>
              </a:spcBef>
            </a:pPr>
            <a:r>
              <a:rPr lang="en-US" altLang="en-US" sz="2000" b="0" i="0" noProof="1">
                <a:solidFill>
                  <a:srgbClr val="000000"/>
                </a:solidFill>
                <a:latin typeface="Times New Roman"/>
                <a:ea typeface="標楷體"/>
                <a:cs typeface="Times New Roman"/>
              </a:rPr>
              <a:t>weighted values</a:t>
            </a:r>
          </a:p>
        </p:txBody>
      </p:sp>
      <p:cxnSp>
        <p:nvCxnSpPr>
          <p:cNvPr id="8" name="edu:arrow"/>
          <p:cNvCxnSpPr/>
          <p:nvPr/>
        </p:nvCxnSpPr>
        <p:spPr>
          <a:xfrm>
            <a:off x="3043214" y="2018995"/>
            <a:ext cx="384048" cy="0"/>
          </a:xfrm>
          <a:prstGeom prst="line">
            <a:avLst/>
          </a:prstGeom>
          <a:ln w="13970">
            <a:solidFill>
              <a:srgbClr val="6B7683"/>
            </a:solidFill>
            <a:tailEnd type="triangle" w="sm" len="sm"/>
          </a:ln>
        </p:spPr>
        <p:style>
          <a:lnRef idx="2">
            <a:schemeClr val="accent1"/>
          </a:lnRef>
          <a:fillRef idx="0">
            <a:schemeClr val="accent1"/>
          </a:fillRef>
          <a:effectRef idx="1">
            <a:schemeClr val="accent1"/>
          </a:effectRef>
          <a:fontRef idx="minor">
            <a:schemeClr val="tx1"/>
          </a:fontRef>
        </p:style>
      </p:cxnSp>
      <p:sp>
        <p:nvSpPr>
          <p:cNvPr id="9" name="edu:flow-node"/>
          <p:cNvSpPr/>
          <p:nvPr/>
        </p:nvSpPr>
        <p:spPr>
          <a:xfrm>
            <a:off x="6289333" y="1447495"/>
            <a:ext cx="2557887" cy="1143000"/>
          </a:xfrm>
          <a:prstGeom prst="roundRect">
            <a:avLst/>
          </a:prstGeom>
          <a:solidFill>
            <a:srgbClr val="F6F8FA"/>
          </a:solidFill>
          <a:ln w="11430">
            <a:solidFill>
              <a:srgbClr val="9AA5B1"/>
            </a:solidFill>
          </a:ln>
          <a:effectLst/>
        </p:spPr>
        <p:txBody>
          <a:bodyPr wrap="square" tIns="0" bIns="0" rtlCol="0" anchor="ctr"/>
          <a:lstStyle/>
          <a:p>
            <a:pPr algn="ctr">
              <a:lnSpc>
                <a:spcPct val="105000"/>
              </a:lnSpc>
            </a:pPr>
            <a:r>
              <a:rPr lang="en-US" altLang="en-US" sz="2000" b="1" i="0" noProof="1">
                <a:solidFill>
                  <a:srgbClr val="000000"/>
                </a:solidFill>
                <a:latin typeface="Times New Roman"/>
                <a:ea typeface="標楷體"/>
                <a:cs typeface="Times New Roman"/>
              </a:rPr>
              <a:t>Environment responds</a:t>
            </a:r>
          </a:p>
          <a:p>
            <a:pPr algn="ctr">
              <a:lnSpc>
                <a:spcPct val="105000"/>
              </a:lnSpc>
              <a:spcBef>
                <a:spcPts val="200"/>
              </a:spcBef>
            </a:pPr>
            <a:r>
              <a:rPr lang="en-US" altLang="en-US" sz="2000" b="0" i="0" noProof="1">
                <a:solidFill>
                  <a:srgbClr val="000000"/>
                </a:solidFill>
                <a:latin typeface="Times New Roman"/>
                <a:ea typeface="標楷體"/>
                <a:cs typeface="Times New Roman"/>
              </a:rPr>
              <a:t>next state and rewards</a:t>
            </a:r>
          </a:p>
        </p:txBody>
      </p:sp>
      <p:cxnSp>
        <p:nvCxnSpPr>
          <p:cNvPr id="10" name="edu:arrow"/>
          <p:cNvCxnSpPr/>
          <p:nvPr/>
        </p:nvCxnSpPr>
        <p:spPr>
          <a:xfrm>
            <a:off x="5905286" y="2018995"/>
            <a:ext cx="384048" cy="0"/>
          </a:xfrm>
          <a:prstGeom prst="line">
            <a:avLst/>
          </a:prstGeom>
          <a:ln w="13970">
            <a:solidFill>
              <a:srgbClr val="6B7683"/>
            </a:solidFill>
            <a:tailEnd type="triangle" w="sm" len="sm"/>
          </a:ln>
        </p:spPr>
        <p:style>
          <a:lnRef idx="2">
            <a:schemeClr val="accent1"/>
          </a:lnRef>
          <a:fillRef idx="0">
            <a:schemeClr val="accent1"/>
          </a:fillRef>
          <a:effectRef idx="1">
            <a:schemeClr val="accent1"/>
          </a:effectRef>
          <a:fontRef idx="minor">
            <a:schemeClr val="tx1"/>
          </a:fontRef>
        </p:style>
      </p:cxnSp>
      <p:sp>
        <p:nvSpPr>
          <p:cNvPr id="11" name="edu:flow-node"/>
          <p:cNvSpPr/>
          <p:nvPr/>
        </p:nvSpPr>
        <p:spPr>
          <a:xfrm>
            <a:off x="9223595" y="1447495"/>
            <a:ext cx="2478024" cy="1143000"/>
          </a:xfrm>
          <a:prstGeom prst="roundRect">
            <a:avLst/>
          </a:prstGeom>
          <a:solidFill>
            <a:srgbClr val="F6F8FA"/>
          </a:solidFill>
          <a:ln w="11430">
            <a:solidFill>
              <a:srgbClr val="9AA5B1"/>
            </a:solidFill>
          </a:ln>
          <a:effectLst/>
        </p:spPr>
        <p:txBody>
          <a:bodyPr wrap="square" tIns="0" bIns="0" rtlCol="0" anchor="ctr"/>
          <a:lstStyle/>
          <a:p>
            <a:pPr algn="ctr">
              <a:lnSpc>
                <a:spcPct val="105000"/>
              </a:lnSpc>
            </a:pPr>
            <a:r>
              <a:rPr lang="en-US" altLang="en-US" sz="2000" b="1" i="0" noProof="1">
                <a:solidFill>
                  <a:srgbClr val="000000"/>
                </a:solidFill>
                <a:latin typeface="Times New Roman"/>
                <a:ea typeface="標楷體"/>
                <a:cs typeface="Times New Roman"/>
              </a:rPr>
              <a:t>Store the transition</a:t>
            </a:r>
          </a:p>
          <a:p>
            <a:pPr algn="ctr">
              <a:lnSpc>
                <a:spcPct val="105000"/>
              </a:lnSpc>
              <a:spcBef>
                <a:spcPts val="200"/>
              </a:spcBef>
            </a:pPr>
            <a:r>
              <a:rPr lang="en-US" altLang="en-US" sz="2000" b="0" i="0" noProof="1">
                <a:solidFill>
                  <a:srgbClr val="000000"/>
                </a:solidFill>
                <a:latin typeface="Times New Roman"/>
                <a:ea typeface="標楷體"/>
                <a:cs typeface="Times New Roman"/>
              </a:rPr>
              <a:t>replay buffer</a:t>
            </a:r>
          </a:p>
        </p:txBody>
      </p:sp>
      <p:cxnSp>
        <p:nvCxnSpPr>
          <p:cNvPr id="12" name="edu:arrow"/>
          <p:cNvCxnSpPr/>
          <p:nvPr/>
        </p:nvCxnSpPr>
        <p:spPr>
          <a:xfrm>
            <a:off x="8847568" y="2018995"/>
            <a:ext cx="384048" cy="0"/>
          </a:xfrm>
          <a:prstGeom prst="line">
            <a:avLst/>
          </a:prstGeom>
          <a:ln w="13970">
            <a:solidFill>
              <a:srgbClr val="6B7683"/>
            </a:solidFill>
            <a:tailEnd type="triangle" w="sm" len="sm"/>
          </a:ln>
        </p:spPr>
        <p:style>
          <a:lnRef idx="2">
            <a:schemeClr val="accent1"/>
          </a:lnRef>
          <a:fillRef idx="0">
            <a:schemeClr val="accent1"/>
          </a:fillRef>
          <a:effectRef idx="1">
            <a:schemeClr val="accent1"/>
          </a:effectRef>
          <a:fontRef idx="minor">
            <a:schemeClr val="tx1"/>
          </a:fontRef>
        </p:style>
      </p:cxnSp>
      <p:sp>
        <p:nvSpPr>
          <p:cNvPr id="13" name="edu:flow-node"/>
          <p:cNvSpPr/>
          <p:nvPr/>
        </p:nvSpPr>
        <p:spPr>
          <a:xfrm>
            <a:off x="565190" y="2755087"/>
            <a:ext cx="2478024" cy="1143000"/>
          </a:xfrm>
          <a:prstGeom prst="roundRect">
            <a:avLst/>
          </a:prstGeom>
          <a:solidFill>
            <a:srgbClr val="F6F8FA"/>
          </a:solidFill>
          <a:ln w="11430">
            <a:solidFill>
              <a:srgbClr val="9AA5B1"/>
            </a:solidFill>
          </a:ln>
          <a:effectLst/>
        </p:spPr>
        <p:txBody>
          <a:bodyPr wrap="square" tIns="0" bIns="0" rtlCol="0" anchor="ctr"/>
          <a:lstStyle/>
          <a:p>
            <a:pPr algn="ctr">
              <a:lnSpc>
                <a:spcPct val="105000"/>
              </a:lnSpc>
            </a:pPr>
            <a:r>
              <a:rPr lang="en-US" altLang="en-US" sz="2000" b="1" i="0" noProof="1">
                <a:solidFill>
                  <a:srgbClr val="000000"/>
                </a:solidFill>
                <a:latin typeface="Times New Roman"/>
                <a:ea typeface="標楷體"/>
                <a:cs typeface="Times New Roman"/>
              </a:rPr>
              <a:t>Sample a mini-batch</a:t>
            </a:r>
          </a:p>
          <a:p>
            <a:pPr algn="ctr">
              <a:lnSpc>
                <a:spcPct val="105000"/>
              </a:lnSpc>
              <a:spcBef>
                <a:spcPts val="200"/>
              </a:spcBef>
            </a:pPr>
            <a:r>
              <a:rPr lang="en-US" altLang="en-US" sz="2000" b="0" i="0" noProof="1">
                <a:solidFill>
                  <a:srgbClr val="000000"/>
                </a:solidFill>
                <a:latin typeface="Times New Roman"/>
                <a:ea typeface="標楷體"/>
                <a:cs typeface="Times New Roman"/>
              </a:rPr>
              <a:t>from the buffer</a:t>
            </a:r>
          </a:p>
        </p:txBody>
      </p:sp>
      <p:sp>
        <p:nvSpPr>
          <p:cNvPr id="14" name="edu:flow-node"/>
          <p:cNvSpPr/>
          <p:nvPr/>
        </p:nvSpPr>
        <p:spPr>
          <a:xfrm>
            <a:off x="3427262" y="2755087"/>
            <a:ext cx="2478024" cy="1143000"/>
          </a:xfrm>
          <a:prstGeom prst="roundRect">
            <a:avLst/>
          </a:prstGeom>
          <a:solidFill>
            <a:srgbClr val="F6F8FA"/>
          </a:solidFill>
          <a:ln w="11430">
            <a:solidFill>
              <a:srgbClr val="9AA5B1"/>
            </a:solidFill>
          </a:ln>
          <a:effectLst/>
        </p:spPr>
        <p:txBody>
          <a:bodyPr wrap="square" tIns="0" bIns="0" rtlCol="0" anchor="ctr"/>
          <a:lstStyle/>
          <a:p>
            <a:pPr algn="ctr">
              <a:lnSpc>
                <a:spcPct val="105000"/>
              </a:lnSpc>
            </a:pPr>
            <a:r>
              <a:rPr lang="en-US" altLang="en-US" sz="2000" b="1" i="0" noProof="1">
                <a:solidFill>
                  <a:srgbClr val="000000"/>
                </a:solidFill>
                <a:latin typeface="Times New Roman"/>
                <a:ea typeface="標楷體"/>
                <a:cs typeface="Times New Roman"/>
              </a:rPr>
              <a:t>Build the targets</a:t>
            </a:r>
          </a:p>
          <a:p>
            <a:pPr algn="ctr">
              <a:lnSpc>
                <a:spcPct val="105000"/>
              </a:lnSpc>
              <a:spcBef>
                <a:spcPts val="200"/>
              </a:spcBef>
            </a:pPr>
            <a:r>
              <a:rPr lang="en-US" altLang="en-US" sz="2000" b="0" i="0" noProof="1">
                <a:solidFill>
                  <a:srgbClr val="000000"/>
                </a:solidFill>
                <a:latin typeface="Times New Roman"/>
                <a:ea typeface="標楷體"/>
                <a:cs typeface="Times New Roman"/>
              </a:rPr>
              <a:t>reward plus discounted value</a:t>
            </a:r>
          </a:p>
        </p:txBody>
      </p:sp>
      <p:cxnSp>
        <p:nvCxnSpPr>
          <p:cNvPr id="15" name="edu:arrow"/>
          <p:cNvCxnSpPr/>
          <p:nvPr/>
        </p:nvCxnSpPr>
        <p:spPr>
          <a:xfrm>
            <a:off x="3043214" y="3326587"/>
            <a:ext cx="384048" cy="0"/>
          </a:xfrm>
          <a:prstGeom prst="line">
            <a:avLst/>
          </a:prstGeom>
          <a:ln w="13970">
            <a:solidFill>
              <a:srgbClr val="6B7683"/>
            </a:solidFill>
            <a:tailEnd type="triangle" w="sm" len="sm"/>
          </a:ln>
        </p:spPr>
        <p:style>
          <a:lnRef idx="2">
            <a:schemeClr val="accent1"/>
          </a:lnRef>
          <a:fillRef idx="0">
            <a:schemeClr val="accent1"/>
          </a:fillRef>
          <a:effectRef idx="1">
            <a:schemeClr val="accent1"/>
          </a:effectRef>
          <a:fontRef idx="minor">
            <a:schemeClr val="tx1"/>
          </a:fontRef>
        </p:style>
      </p:cxnSp>
      <p:sp>
        <p:nvSpPr>
          <p:cNvPr id="16" name="edu:flow-node"/>
          <p:cNvSpPr/>
          <p:nvPr/>
        </p:nvSpPr>
        <p:spPr>
          <a:xfrm>
            <a:off x="6289333" y="2755087"/>
            <a:ext cx="2550213" cy="1143000"/>
          </a:xfrm>
          <a:prstGeom prst="roundRect">
            <a:avLst/>
          </a:prstGeom>
          <a:solidFill>
            <a:srgbClr val="F6F8FA"/>
          </a:solidFill>
          <a:ln w="11430">
            <a:solidFill>
              <a:srgbClr val="9AA5B1"/>
            </a:solidFill>
          </a:ln>
          <a:effectLst/>
        </p:spPr>
        <p:txBody>
          <a:bodyPr wrap="square" tIns="0" bIns="0" rtlCol="0" anchor="ctr"/>
          <a:lstStyle/>
          <a:p>
            <a:pPr algn="ctr">
              <a:lnSpc>
                <a:spcPct val="105000"/>
              </a:lnSpc>
            </a:pPr>
            <a:r>
              <a:rPr lang="en-US" altLang="en-US" sz="2000" b="1" i="0" noProof="1">
                <a:solidFill>
                  <a:srgbClr val="000000"/>
                </a:solidFill>
                <a:latin typeface="Times New Roman"/>
                <a:ea typeface="標楷體"/>
                <a:cs typeface="Times New Roman"/>
              </a:rPr>
              <a:t>Update the networks</a:t>
            </a:r>
          </a:p>
          <a:p>
            <a:pPr algn="ctr">
              <a:lnSpc>
                <a:spcPct val="105000"/>
              </a:lnSpc>
              <a:spcBef>
                <a:spcPts val="200"/>
              </a:spcBef>
            </a:pPr>
            <a:r>
              <a:rPr lang="en-US" altLang="en-US" sz="2000" b="0" i="0" noProof="1">
                <a:solidFill>
                  <a:srgbClr val="000000"/>
                </a:solidFill>
                <a:latin typeface="Times New Roman"/>
                <a:ea typeface="標楷體"/>
                <a:cs typeface="Times New Roman"/>
              </a:rPr>
              <a:t>one per objective</a:t>
            </a:r>
          </a:p>
        </p:txBody>
      </p:sp>
      <p:cxnSp>
        <p:nvCxnSpPr>
          <p:cNvPr id="17" name="edu:arrow"/>
          <p:cNvCxnSpPr/>
          <p:nvPr/>
        </p:nvCxnSpPr>
        <p:spPr>
          <a:xfrm>
            <a:off x="5905286" y="3326587"/>
            <a:ext cx="384048" cy="0"/>
          </a:xfrm>
          <a:prstGeom prst="line">
            <a:avLst/>
          </a:prstGeom>
          <a:ln w="13970">
            <a:solidFill>
              <a:srgbClr val="6B7683"/>
            </a:solidFill>
            <a:tailEnd type="triangle" w="sm" len="sm"/>
          </a:ln>
        </p:spPr>
        <p:style>
          <a:lnRef idx="2">
            <a:schemeClr val="accent1"/>
          </a:lnRef>
          <a:fillRef idx="0">
            <a:schemeClr val="accent1"/>
          </a:fillRef>
          <a:effectRef idx="1">
            <a:schemeClr val="accent1"/>
          </a:effectRef>
          <a:fontRef idx="minor">
            <a:schemeClr val="tx1"/>
          </a:fontRef>
        </p:style>
      </p:cxnSp>
      <p:sp>
        <p:nvSpPr>
          <p:cNvPr id="18" name="edu:flow-node"/>
          <p:cNvSpPr/>
          <p:nvPr/>
        </p:nvSpPr>
        <p:spPr>
          <a:xfrm>
            <a:off x="9239637" y="2755087"/>
            <a:ext cx="2478024" cy="1143000"/>
          </a:xfrm>
          <a:prstGeom prst="roundRect">
            <a:avLst/>
          </a:prstGeom>
          <a:solidFill>
            <a:srgbClr val="F6F8FA"/>
          </a:solidFill>
          <a:ln w="11430">
            <a:solidFill>
              <a:srgbClr val="9AA5B1"/>
            </a:solidFill>
          </a:ln>
          <a:effectLst/>
        </p:spPr>
        <p:txBody>
          <a:bodyPr wrap="square" tIns="0" bIns="0" rtlCol="0" anchor="ctr"/>
          <a:lstStyle/>
          <a:p>
            <a:pPr algn="ctr">
              <a:lnSpc>
                <a:spcPct val="105000"/>
              </a:lnSpc>
            </a:pPr>
            <a:r>
              <a:rPr lang="en-US" altLang="en-US" sz="2000" b="1" i="0" noProof="1">
                <a:solidFill>
                  <a:srgbClr val="000000"/>
                </a:solidFill>
                <a:latin typeface="Times New Roman"/>
                <a:ea typeface="標楷體"/>
                <a:cs typeface="Times New Roman"/>
              </a:rPr>
              <a:t>Refresh the target copies</a:t>
            </a:r>
          </a:p>
          <a:p>
            <a:pPr algn="ctr">
              <a:lnSpc>
                <a:spcPct val="105000"/>
              </a:lnSpc>
              <a:spcBef>
                <a:spcPts val="200"/>
              </a:spcBef>
            </a:pPr>
            <a:r>
              <a:rPr lang="en-US" altLang="en-US" sz="2000" b="0" i="0" noProof="1">
                <a:solidFill>
                  <a:srgbClr val="000000"/>
                </a:solidFill>
                <a:latin typeface="Times New Roman"/>
                <a:ea typeface="標楷體"/>
                <a:cs typeface="Times New Roman"/>
              </a:rPr>
              <a:t>every fixed period</a:t>
            </a:r>
          </a:p>
        </p:txBody>
      </p:sp>
      <p:cxnSp>
        <p:nvCxnSpPr>
          <p:cNvPr id="19" name="edu:arrow"/>
          <p:cNvCxnSpPr/>
          <p:nvPr/>
        </p:nvCxnSpPr>
        <p:spPr>
          <a:xfrm>
            <a:off x="8855589" y="3326587"/>
            <a:ext cx="384048" cy="0"/>
          </a:xfrm>
          <a:prstGeom prst="line">
            <a:avLst/>
          </a:prstGeom>
          <a:ln w="13970">
            <a:solidFill>
              <a:srgbClr val="6B7683"/>
            </a:solidFill>
            <a:tailEnd type="triangle" w="sm" len="sm"/>
          </a:ln>
        </p:spPr>
        <p:style>
          <a:lnRef idx="2">
            <a:schemeClr val="accent1"/>
          </a:lnRef>
          <a:fillRef idx="0">
            <a:schemeClr val="accent1"/>
          </a:fillRef>
          <a:effectRef idx="1">
            <a:schemeClr val="accent1"/>
          </a:effectRef>
          <a:fontRef idx="minor">
            <a:schemeClr val="tx1"/>
          </a:fontRef>
        </p:style>
      </p:cxnSp>
      <p:sp>
        <p:nvSpPr>
          <p:cNvPr id="20" name="edu:body"/>
          <p:cNvSpPr txBox="1"/>
          <p:nvPr/>
        </p:nvSpPr>
        <p:spPr>
          <a:xfrm>
            <a:off x="565190" y="4062679"/>
            <a:ext cx="11064240" cy="1161288"/>
          </a:xfrm>
          <a:prstGeom prst="rect">
            <a:avLst/>
          </a:prstGeom>
          <a:noFill/>
        </p:spPr>
        <p:txBody>
          <a:bodyPr wrap="square" lIns="0" tIns="0" rIns="0" bIns="0" anchor="t">
            <a:spAutoFit/>
          </a:bodyPr>
          <a:lstStyle/>
          <a:p>
            <a:pPr algn="l">
              <a:lnSpc>
                <a:spcPct val="112000"/>
              </a:lnSpc>
              <a:spcAft>
                <a:spcPts val="0"/>
              </a:spcAft>
            </a:pPr>
            <a:r>
              <a:rPr lang="en-US" altLang="en-US" sz="2400" b="0" i="0" noProof="1">
                <a:solidFill>
                  <a:srgbClr val="000000"/>
                </a:solidFill>
                <a:latin typeface="Times New Roman"/>
                <a:ea typeface="標楷體"/>
                <a:cs typeface="Times New Roman"/>
              </a:rPr>
              <a:t>The training data is produced by the agent's own choices, the experience distribution shifts as the policy improves. The buffer breaks the correlation between consecutive steps and lets one experience be reused many times.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du:title"/>
          <p:cNvSpPr txBox="1"/>
          <p:nvPr/>
        </p:nvSpPr>
        <p:spPr>
          <a:xfrm>
            <a:off x="565190" y="141274"/>
            <a:ext cx="11417289" cy="571500"/>
          </a:xfrm>
          <a:prstGeom prst="rect">
            <a:avLst/>
          </a:prstGeom>
          <a:noFill/>
        </p:spPr>
        <p:txBody>
          <a:bodyPr wrap="square" lIns="0" tIns="0" rIns="0" bIns="0" anchor="b">
            <a:spAutoFit/>
          </a:bodyPr>
          <a:lstStyle/>
          <a:p>
            <a:pPr algn="l"/>
            <a:r>
              <a:rPr lang="en-US" altLang="en-US" sz="2800" b="1" i="0" noProof="1">
                <a:solidFill>
                  <a:srgbClr val="1B365D"/>
                </a:solidFill>
                <a:latin typeface="Times New Roman"/>
                <a:ea typeface="標楷體"/>
                <a:cs typeface="Times New Roman"/>
              </a:rPr>
              <a:t>Chain Summary</a:t>
            </a:r>
          </a:p>
        </p:txBody>
      </p:sp>
      <p:sp>
        <p:nvSpPr>
          <p:cNvPr id="4" name="edu:body"/>
          <p:cNvSpPr txBox="1"/>
          <p:nvPr/>
        </p:nvSpPr>
        <p:spPr>
          <a:xfrm>
            <a:off x="565190" y="896112"/>
            <a:ext cx="11064240" cy="386791"/>
          </a:xfrm>
          <a:prstGeom prst="rect">
            <a:avLst/>
          </a:prstGeom>
          <a:noFill/>
        </p:spPr>
        <p:txBody>
          <a:bodyPr wrap="square" lIns="0" tIns="0" rIns="0" bIns="0" anchor="t">
            <a:spAutoFit/>
          </a:bodyPr>
          <a:lstStyle/>
          <a:p>
            <a:pPr algn="l">
              <a:lnSpc>
                <a:spcPct val="112000"/>
              </a:lnSpc>
              <a:spcAft>
                <a:spcPts val="0"/>
              </a:spcAft>
            </a:pPr>
            <a:r>
              <a:rPr lang="en-US" altLang="en-US" sz="2400" b="0" i="0" noProof="1">
                <a:solidFill>
                  <a:srgbClr val="000000"/>
                </a:solidFill>
                <a:latin typeface="Times New Roman"/>
                <a:ea typeface="標楷體"/>
                <a:cs typeface="Times New Roman"/>
              </a:rPr>
              <a:t>One chain, from beam geometry to the learned policy:</a:t>
            </a:r>
          </a:p>
        </p:txBody>
      </p:sp>
      <p:sp>
        <p:nvSpPr>
          <p:cNvPr id="5" name="edu:flow-node"/>
          <p:cNvSpPr/>
          <p:nvPr/>
        </p:nvSpPr>
        <p:spPr>
          <a:xfrm>
            <a:off x="565190" y="1447495"/>
            <a:ext cx="1905609" cy="1051560"/>
          </a:xfrm>
          <a:prstGeom prst="roundRect">
            <a:avLst/>
          </a:prstGeom>
          <a:solidFill>
            <a:srgbClr val="F6F8FA"/>
          </a:solidFill>
          <a:ln w="11430">
            <a:solidFill>
              <a:srgbClr val="9AA5B1"/>
            </a:solidFill>
          </a:ln>
          <a:effectLst/>
        </p:spPr>
        <p:txBody>
          <a:bodyPr wrap="square" tIns="0" bIns="0" rtlCol="0" anchor="ctr"/>
          <a:lstStyle/>
          <a:p>
            <a:pPr algn="ctr">
              <a:lnSpc>
                <a:spcPct val="105000"/>
              </a:lnSpc>
            </a:pPr>
            <a:r>
              <a:rPr lang="en-US" altLang="en-US" sz="2000" b="1" i="0" noProof="1">
                <a:solidFill>
                  <a:srgbClr val="000000"/>
                </a:solidFill>
                <a:latin typeface="Times New Roman"/>
                <a:ea typeface="標楷體"/>
                <a:cs typeface="Times New Roman"/>
              </a:rPr>
              <a:t>Off-axis angle</a:t>
            </a:r>
          </a:p>
          <a:p>
            <a:pPr algn="ctr">
              <a:lnSpc>
                <a:spcPct val="105000"/>
              </a:lnSpc>
              <a:spcBef>
                <a:spcPts val="200"/>
              </a:spcBef>
            </a:pPr>
            <a:r>
              <a:rPr lang="en-US" altLang="en-US" sz="2000" b="0" i="0" noProof="1">
                <a:solidFill>
                  <a:srgbClr val="000000"/>
                </a:solidFill>
                <a:latin typeface="Times New Roman"/>
                <a:ea typeface="標楷體"/>
                <a:cs typeface="Times New Roman"/>
              </a:rPr>
              <a:t>geometry</a:t>
            </a:r>
          </a:p>
        </p:txBody>
      </p:sp>
      <p:sp>
        <p:nvSpPr>
          <p:cNvPr id="6" name="edu:flow-node"/>
          <p:cNvSpPr/>
          <p:nvPr/>
        </p:nvSpPr>
        <p:spPr>
          <a:xfrm>
            <a:off x="2854848" y="1447495"/>
            <a:ext cx="1905609" cy="1051560"/>
          </a:xfrm>
          <a:prstGeom prst="roundRect">
            <a:avLst/>
          </a:prstGeom>
          <a:solidFill>
            <a:srgbClr val="F6F8FA"/>
          </a:solidFill>
          <a:ln w="11430">
            <a:solidFill>
              <a:srgbClr val="9AA5B1"/>
            </a:solidFill>
          </a:ln>
          <a:effectLst/>
        </p:spPr>
        <p:txBody>
          <a:bodyPr wrap="square" tIns="0" bIns="0" rtlCol="0" anchor="ctr"/>
          <a:lstStyle/>
          <a:p>
            <a:pPr algn="ctr">
              <a:lnSpc>
                <a:spcPct val="105000"/>
              </a:lnSpc>
            </a:pPr>
            <a:r>
              <a:rPr lang="en-US" altLang="en-US" sz="2000" b="1" i="0" noProof="1">
                <a:solidFill>
                  <a:srgbClr val="000000"/>
                </a:solidFill>
                <a:latin typeface="Times New Roman"/>
                <a:ea typeface="標楷體"/>
                <a:cs typeface="Times New Roman"/>
              </a:rPr>
              <a:t>Transmit gain</a:t>
            </a:r>
          </a:p>
          <a:p>
            <a:pPr algn="ctr">
              <a:lnSpc>
                <a:spcPct val="105000"/>
              </a:lnSpc>
              <a:spcBef>
                <a:spcPts val="200"/>
              </a:spcBef>
            </a:pPr>
            <a:r>
              <a:rPr lang="en-US" altLang="en-US" sz="2000" b="0" i="0" noProof="1">
                <a:solidFill>
                  <a:srgbClr val="000000"/>
                </a:solidFill>
                <a:latin typeface="Times New Roman"/>
                <a:ea typeface="標楷體"/>
                <a:cs typeface="Times New Roman"/>
              </a:rPr>
              <a:t>antenna</a:t>
            </a:r>
          </a:p>
        </p:txBody>
      </p:sp>
      <p:cxnSp>
        <p:nvCxnSpPr>
          <p:cNvPr id="7" name="edu:arrow"/>
          <p:cNvCxnSpPr/>
          <p:nvPr/>
        </p:nvCxnSpPr>
        <p:spPr>
          <a:xfrm>
            <a:off x="2470800" y="1973275"/>
            <a:ext cx="384048" cy="0"/>
          </a:xfrm>
          <a:prstGeom prst="line">
            <a:avLst/>
          </a:prstGeom>
          <a:ln w="13970">
            <a:solidFill>
              <a:srgbClr val="6B7683"/>
            </a:solidFill>
            <a:tailEnd type="triangle" w="sm" len="sm"/>
          </a:ln>
        </p:spPr>
        <p:style>
          <a:lnRef idx="2">
            <a:schemeClr val="accent1"/>
          </a:lnRef>
          <a:fillRef idx="0">
            <a:schemeClr val="accent1"/>
          </a:fillRef>
          <a:effectRef idx="1">
            <a:schemeClr val="accent1"/>
          </a:effectRef>
          <a:fontRef idx="minor">
            <a:schemeClr val="tx1"/>
          </a:fontRef>
        </p:style>
      </p:cxnSp>
      <p:sp>
        <p:nvSpPr>
          <p:cNvPr id="8" name="edu:flow-node"/>
          <p:cNvSpPr/>
          <p:nvPr/>
        </p:nvSpPr>
        <p:spPr>
          <a:xfrm>
            <a:off x="5144505" y="1447495"/>
            <a:ext cx="1905609" cy="1051560"/>
          </a:xfrm>
          <a:prstGeom prst="roundRect">
            <a:avLst/>
          </a:prstGeom>
          <a:solidFill>
            <a:srgbClr val="F6F8FA"/>
          </a:solidFill>
          <a:ln w="11430">
            <a:solidFill>
              <a:srgbClr val="9AA5B1"/>
            </a:solidFill>
          </a:ln>
          <a:effectLst/>
        </p:spPr>
        <p:txBody>
          <a:bodyPr wrap="square" tIns="0" bIns="0" rtlCol="0" anchor="ctr"/>
          <a:lstStyle/>
          <a:p>
            <a:pPr algn="ctr">
              <a:lnSpc>
                <a:spcPct val="105000"/>
              </a:lnSpc>
            </a:pPr>
            <a:r>
              <a:rPr lang="en-US" altLang="en-US" sz="2000" b="1" i="0" noProof="1">
                <a:solidFill>
                  <a:srgbClr val="000000"/>
                </a:solidFill>
                <a:latin typeface="Times New Roman"/>
                <a:ea typeface="標楷體"/>
                <a:cs typeface="Times New Roman"/>
              </a:rPr>
              <a:t>Signal quality</a:t>
            </a:r>
          </a:p>
          <a:p>
            <a:pPr algn="ctr">
              <a:lnSpc>
                <a:spcPct val="105000"/>
              </a:lnSpc>
              <a:spcBef>
                <a:spcPts val="200"/>
              </a:spcBef>
            </a:pPr>
            <a:r>
              <a:rPr lang="en-US" altLang="en-US" sz="2000" b="0" i="0" noProof="1">
                <a:solidFill>
                  <a:srgbClr val="000000"/>
                </a:solidFill>
                <a:latin typeface="Times New Roman"/>
                <a:ea typeface="標楷體"/>
                <a:cs typeface="Times New Roman"/>
              </a:rPr>
              <a:t>SINR</a:t>
            </a:r>
          </a:p>
        </p:txBody>
      </p:sp>
      <p:cxnSp>
        <p:nvCxnSpPr>
          <p:cNvPr id="9" name="edu:arrow"/>
          <p:cNvCxnSpPr/>
          <p:nvPr/>
        </p:nvCxnSpPr>
        <p:spPr>
          <a:xfrm>
            <a:off x="4760457" y="1973275"/>
            <a:ext cx="384048" cy="0"/>
          </a:xfrm>
          <a:prstGeom prst="line">
            <a:avLst/>
          </a:prstGeom>
          <a:ln w="13970">
            <a:solidFill>
              <a:srgbClr val="6B7683"/>
            </a:solidFill>
            <a:tailEnd type="triangle" w="sm" len="sm"/>
          </a:ln>
        </p:spPr>
        <p:style>
          <a:lnRef idx="2">
            <a:schemeClr val="accent1"/>
          </a:lnRef>
          <a:fillRef idx="0">
            <a:schemeClr val="accent1"/>
          </a:fillRef>
          <a:effectRef idx="1">
            <a:schemeClr val="accent1"/>
          </a:effectRef>
          <a:fontRef idx="minor">
            <a:schemeClr val="tx1"/>
          </a:fontRef>
        </p:style>
      </p:cxnSp>
      <p:sp>
        <p:nvSpPr>
          <p:cNvPr id="10" name="edu:flow-node"/>
          <p:cNvSpPr/>
          <p:nvPr/>
        </p:nvSpPr>
        <p:spPr>
          <a:xfrm>
            <a:off x="7434163" y="1447495"/>
            <a:ext cx="1905609" cy="1051560"/>
          </a:xfrm>
          <a:prstGeom prst="roundRect">
            <a:avLst/>
          </a:prstGeom>
          <a:solidFill>
            <a:srgbClr val="F6F8FA"/>
          </a:solidFill>
          <a:ln w="11430">
            <a:solidFill>
              <a:srgbClr val="9AA5B1"/>
            </a:solidFill>
          </a:ln>
          <a:effectLst/>
        </p:spPr>
        <p:txBody>
          <a:bodyPr wrap="square" tIns="0" bIns="0" rtlCol="0" anchor="ctr"/>
          <a:lstStyle/>
          <a:p>
            <a:pPr algn="ctr">
              <a:lnSpc>
                <a:spcPct val="105000"/>
              </a:lnSpc>
            </a:pPr>
            <a:r>
              <a:rPr lang="en-US" altLang="en-US" sz="2000" b="1" i="0" noProof="1">
                <a:solidFill>
                  <a:srgbClr val="000000"/>
                </a:solidFill>
                <a:latin typeface="Times New Roman"/>
                <a:ea typeface="標楷體"/>
                <a:cs typeface="Times New Roman"/>
              </a:rPr>
              <a:t>Service rate</a:t>
            </a:r>
          </a:p>
          <a:p>
            <a:pPr algn="ctr">
              <a:lnSpc>
                <a:spcPct val="105000"/>
              </a:lnSpc>
              <a:spcBef>
                <a:spcPts val="200"/>
              </a:spcBef>
            </a:pPr>
            <a:r>
              <a:rPr lang="en-US" altLang="en-US" sz="2000" b="0" i="0" noProof="1">
                <a:solidFill>
                  <a:srgbClr val="000000"/>
                </a:solidFill>
                <a:latin typeface="Times New Roman"/>
                <a:ea typeface="標楷體"/>
                <a:cs typeface="Times New Roman"/>
              </a:rPr>
              <a:t>throughput</a:t>
            </a:r>
          </a:p>
        </p:txBody>
      </p:sp>
      <p:cxnSp>
        <p:nvCxnSpPr>
          <p:cNvPr id="11" name="edu:arrow"/>
          <p:cNvCxnSpPr/>
          <p:nvPr/>
        </p:nvCxnSpPr>
        <p:spPr>
          <a:xfrm>
            <a:off x="7050115" y="1973275"/>
            <a:ext cx="384048" cy="0"/>
          </a:xfrm>
          <a:prstGeom prst="line">
            <a:avLst/>
          </a:prstGeom>
          <a:ln w="13970">
            <a:solidFill>
              <a:srgbClr val="6B7683"/>
            </a:solidFill>
            <a:tailEnd type="triangle" w="sm" len="sm"/>
          </a:ln>
        </p:spPr>
        <p:style>
          <a:lnRef idx="2">
            <a:schemeClr val="accent1"/>
          </a:lnRef>
          <a:fillRef idx="0">
            <a:schemeClr val="accent1"/>
          </a:fillRef>
          <a:effectRef idx="1">
            <a:schemeClr val="accent1"/>
          </a:effectRef>
          <a:fontRef idx="minor">
            <a:schemeClr val="tx1"/>
          </a:fontRef>
        </p:style>
      </p:cxnSp>
      <p:sp>
        <p:nvSpPr>
          <p:cNvPr id="12" name="edu:flow-node"/>
          <p:cNvSpPr/>
          <p:nvPr/>
        </p:nvSpPr>
        <p:spPr>
          <a:xfrm>
            <a:off x="9723821" y="1447495"/>
            <a:ext cx="1905609" cy="1051560"/>
          </a:xfrm>
          <a:prstGeom prst="roundRect">
            <a:avLst/>
          </a:prstGeom>
          <a:solidFill>
            <a:srgbClr val="F6F8FA"/>
          </a:solidFill>
          <a:ln w="11430">
            <a:solidFill>
              <a:srgbClr val="9AA5B1"/>
            </a:solidFill>
          </a:ln>
          <a:effectLst/>
        </p:spPr>
        <p:txBody>
          <a:bodyPr wrap="square" tIns="0" bIns="0" rtlCol="0" anchor="ctr"/>
          <a:lstStyle/>
          <a:p>
            <a:pPr algn="ctr">
              <a:lnSpc>
                <a:spcPct val="105000"/>
              </a:lnSpc>
            </a:pPr>
            <a:r>
              <a:rPr lang="en-US" altLang="en-US" sz="2000" b="1" i="0" noProof="1">
                <a:solidFill>
                  <a:srgbClr val="000000"/>
                </a:solidFill>
                <a:latin typeface="Times New Roman"/>
                <a:ea typeface="標楷體"/>
                <a:cs typeface="Times New Roman"/>
              </a:rPr>
              <a:t>Three rewards</a:t>
            </a:r>
          </a:p>
          <a:p>
            <a:pPr algn="ctr">
              <a:lnSpc>
                <a:spcPct val="105000"/>
              </a:lnSpc>
              <a:spcBef>
                <a:spcPts val="200"/>
              </a:spcBef>
            </a:pPr>
            <a:r>
              <a:rPr lang="en-US" altLang="en-US" sz="2000" b="0" i="0" noProof="1">
                <a:solidFill>
                  <a:srgbClr val="000000"/>
                </a:solidFill>
                <a:latin typeface="Times New Roman"/>
                <a:ea typeface="標楷體"/>
                <a:cs typeface="Times New Roman"/>
              </a:rPr>
              <a:t>learned policy</a:t>
            </a:r>
          </a:p>
        </p:txBody>
      </p:sp>
      <p:cxnSp>
        <p:nvCxnSpPr>
          <p:cNvPr id="13" name="edu:arrow"/>
          <p:cNvCxnSpPr/>
          <p:nvPr/>
        </p:nvCxnSpPr>
        <p:spPr>
          <a:xfrm>
            <a:off x="9339773" y="1973275"/>
            <a:ext cx="384048" cy="0"/>
          </a:xfrm>
          <a:prstGeom prst="line">
            <a:avLst/>
          </a:prstGeom>
          <a:ln w="13970">
            <a:solidFill>
              <a:srgbClr val="6B7683"/>
            </a:solidFill>
            <a:tailEnd type="triangle" w="sm" len="sm"/>
          </a:ln>
        </p:spPr>
        <p:style>
          <a:lnRef idx="2">
            <a:schemeClr val="accent1"/>
          </a:lnRef>
          <a:fillRef idx="0">
            <a:schemeClr val="accent1"/>
          </a:fillRef>
          <a:effectRef idx="1">
            <a:schemeClr val="accent1"/>
          </a:effectRef>
          <a:fontRef idx="minor">
            <a:schemeClr val="tx1"/>
          </a:fontRef>
        </p:style>
      </p:cxnSp>
      <p:sp>
        <p:nvSpPr>
          <p:cNvPr id="16" name="edu:summary-environment">
            <a:extLst>
              <a:ext uri="{FF2B5EF4-FFF2-40B4-BE49-F238E27FC236}">
                <a16:creationId xmlns:a16="http://schemas.microsoft.com/office/drawing/2014/main" id="{4590328D-D037-6472-5C28-0E804F0654A7}"/>
              </a:ext>
            </a:extLst>
          </p:cNvPr>
          <p:cNvSpPr txBox="1"/>
          <p:nvPr/>
        </p:nvSpPr>
        <p:spPr>
          <a:xfrm>
            <a:off x="565190" y="2828239"/>
            <a:ext cx="11064240" cy="2995692"/>
          </a:xfrm>
          <a:prstGeom prst="rect">
            <a:avLst/>
          </a:prstGeom>
          <a:noFill/>
        </p:spPr>
        <p:txBody>
          <a:bodyPr wrap="square" lIns="0" tIns="0" rIns="0" bIns="0" anchor="t">
            <a:spAutoFit/>
          </a:bodyPr>
          <a:lstStyle/>
          <a:p>
            <a:pPr algn="l">
              <a:lnSpc>
                <a:spcPct val="100000"/>
              </a:lnSpc>
              <a:spcAft>
                <a:spcPts val="800"/>
              </a:spcAft>
            </a:pPr>
            <a:r>
              <a:rPr lang="en-US" altLang="en-US" sz="2400" b="1" noProof="1">
                <a:solidFill>
                  <a:srgbClr val="000000"/>
                </a:solidFill>
                <a:latin typeface="Times New Roman"/>
                <a:ea typeface="標楷體"/>
                <a:cs typeface="Times New Roman"/>
              </a:rPr>
              <a:t>E</a:t>
            </a:r>
            <a:r>
              <a:rPr lang="en-US" altLang="en-US" sz="2400" b="1" i="0" noProof="1">
                <a:solidFill>
                  <a:srgbClr val="000000"/>
                </a:solidFill>
                <a:latin typeface="Times New Roman"/>
                <a:ea typeface="標楷體"/>
                <a:cs typeface="Times New Roman"/>
              </a:rPr>
              <a:t>nvironment evaluates</a:t>
            </a:r>
          </a:p>
          <a:p>
            <a:pPr algn="l">
              <a:lnSpc>
                <a:spcPct val="100000"/>
              </a:lnSpc>
              <a:spcAft>
                <a:spcPts val="800"/>
              </a:spcAft>
            </a:pPr>
            <a:r>
              <a:rPr lang="en-US" altLang="en-US" sz="2400" b="0" i="0" noProof="1">
                <a:solidFill>
                  <a:srgbClr val="000000"/>
                </a:solidFill>
                <a:latin typeface="Times New Roman"/>
                <a:ea typeface="標楷體"/>
                <a:cs typeface="Times New Roman"/>
              </a:rPr>
              <a:t>Each satellite–beam action is judged by energy efficiency, handover cost, and beam-throughput fairness.</a:t>
            </a:r>
          </a:p>
          <a:p>
            <a:pPr algn="l">
              <a:lnSpc>
                <a:spcPct val="100000"/>
              </a:lnSpc>
              <a:spcAft>
                <a:spcPts val="800"/>
              </a:spcAft>
            </a:pPr>
            <a:endParaRPr lang="en-US" altLang="en-US" sz="2400" noProof="1">
              <a:solidFill>
                <a:srgbClr val="000000"/>
              </a:solidFill>
              <a:latin typeface="Times New Roman"/>
              <a:ea typeface="標楷體"/>
              <a:cs typeface="Times New Roman"/>
            </a:endParaRPr>
          </a:p>
          <a:p>
            <a:pPr>
              <a:spcAft>
                <a:spcPts val="800"/>
              </a:spcAft>
            </a:pPr>
            <a:r>
              <a:rPr lang="en-US" altLang="en-US" sz="2400" b="1" noProof="1">
                <a:solidFill>
                  <a:srgbClr val="000000"/>
                </a:solidFill>
                <a:cs typeface="Times New Roman"/>
              </a:rPr>
              <a:t>MODQN learns</a:t>
            </a:r>
          </a:p>
          <a:p>
            <a:pPr>
              <a:spcAft>
                <a:spcPts val="800"/>
              </a:spcAft>
            </a:pPr>
            <a:r>
              <a:rPr lang="en-US" altLang="en-US" sz="2400" noProof="1">
                <a:solidFill>
                  <a:srgbClr val="000000"/>
                </a:solidFill>
                <a:cs typeface="Times New Roman"/>
              </a:rPr>
              <a:t>It keeps one Q-function per objective and combines their values only when selecting a single action.</a:t>
            </a:r>
          </a:p>
        </p:txBody>
      </p:sp>
    </p:spTree>
  </p:cSld>
  <p:clrMapOvr>
    <a:masterClrMapping/>
  </p:clrMapOvr>
</p:sld>
</file>

<file path=ppt/theme/theme1.xml><?xml version="1.0" encoding="utf-8"?>
<a:theme xmlns:a="http://schemas.openxmlformats.org/drawingml/2006/main" name="2_佈景主題1">
  <a:themeElements>
    <a:clrScheme name="自訂 1">
      <a:dk1>
        <a:srgbClr val="35377F"/>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正式文體">
      <a:majorFont>
        <a:latin typeface="Times New Roman"/>
        <a:ea typeface="標楷體"/>
        <a:cs typeface=""/>
      </a:majorFont>
      <a:minorFont>
        <a:latin typeface="Times New Roman"/>
        <a:ea typeface="標楷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rgbClr val="003065"/>
          </a:solidFill>
          <a:prstDash val="solid"/>
          <a:round/>
          <a:headEnd type="none" w="med" len="med"/>
          <a:tailEnd type="triangle" w="med" len="med"/>
        </a:ln>
        <a:effectLst/>
      </a:spPr>
      <a:bodyPr vert="horz" wrap="non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0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rgbClr val="003065"/>
          </a:solidFill>
          <a:prstDash val="solid"/>
          <a:round/>
          <a:headEnd type="none" w="med" len="med"/>
          <a:tailEnd type="triangle" w="med" len="med"/>
        </a:ln>
        <a:effectLst/>
      </a:spPr>
      <a:bodyPr vert="horz" wrap="non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0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hk1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hk1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hk1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hk1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hk1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hk1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hk1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hk1 8">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佈景主題1" id="{929F1AC0-EDE5-4E84-B296-76809860B882}" vid="{D422FDD8-D1F8-4744-A7BD-E0F19A28C553}"/>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佈景主題1</Template>
  <TotalTime>42912</TotalTime>
  <Words>2813</Words>
  <Application>Microsoft Office PowerPoint</Application>
  <PresentationFormat>寬螢幕</PresentationFormat>
  <Paragraphs>257</Paragraphs>
  <Slides>27</Slides>
  <Notes>26</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27</vt:i4>
      </vt:variant>
    </vt:vector>
  </HeadingPairs>
  <TitlesOfParts>
    <vt:vector size="34" baseType="lpstr">
      <vt:lpstr>新細明體</vt:lpstr>
      <vt:lpstr>Arial</vt:lpstr>
      <vt:lpstr>Calibri</vt:lpstr>
      <vt:lpstr>Cambria Math</vt:lpstr>
      <vt:lpstr>Symbol</vt:lpstr>
      <vt:lpstr>Times New Roman</vt:lpstr>
      <vt:lpstr>2_佈景主題1</vt:lpstr>
      <vt:lpstr>Chapter 4: Beam-Centric Mobility and Handover (Multi-Beam Networks)</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Link Quality and the Three-Objective Handover Reward</dc:title>
  <dc:subject>A teaching lecture on multi-beam LEO satellite handover: link geometry, SINR, throughput, the three MODQN objectives, and the MODQN algorithm.</dc:subject>
  <dc:creator>NTPU CSIE / wMNLab</dc:creator>
  <cp:keywords>LEO satellite, multi-beam handover, SINR, throughput, multi-objective reinforcement learning, MODQN</cp:keywords>
  <dc:description>Generated from the source builder retained with this deck.</dc:description>
  <cp:lastModifiedBy>柏宏 吳</cp:lastModifiedBy>
  <cp:revision>1</cp:revision>
  <dcterms:created xsi:type="dcterms:W3CDTF">2019-10-21T01:22:34Z</dcterms:created>
  <dcterms:modified xsi:type="dcterms:W3CDTF">2026-08-26T12:44:52Z</dcterms:modified>
  <cp:category>Teaching presentation</cp:category>
  <dc:identifier/>
  <cp:contentStatus>Draft</cp:contentStatus>
  <dc:language>en-US</dc:language>
</cp:coreProperties>
</file>