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263" r:id="rId4"/>
  </p:sldIdLst>
  <p:sldSz cx="12192000" cy="6858000"/>
  <p:notesSz cx="7104063" cy="10234613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A1A1A1"/>
    <a:srgbClr val="5169CF"/>
    <a:srgbClr val="5F75D3"/>
    <a:srgbClr val="EFA5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中等深淺樣式 4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5DA37D80-6434-44D0-A028-1B22A696006F}" styleName="淺色樣式 3 - 輔色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346" autoAdjust="0"/>
    <p:restoredTop sz="63235" autoAdjust="0"/>
  </p:normalViewPr>
  <p:slideViewPr>
    <p:cSldViewPr snapToGrid="0">
      <p:cViewPr varScale="1">
        <p:scale>
          <a:sx n="120" d="100"/>
          <a:sy n="120" d="100"/>
        </p:scale>
        <p:origin x="96" y="246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suan lin" userId="75d96c0581c73542" providerId="LiveId" clId="{9148F619-F19C-4406-B500-EC4893408186}"/>
    <pc:docChg chg="custSel addSld modSld">
      <pc:chgData name="hsuan lin" userId="75d96c0581c73542" providerId="LiveId" clId="{9148F619-F19C-4406-B500-EC4893408186}" dt="2021-11-04T09:01:06.892" v="216" actId="20577"/>
      <pc:docMkLst>
        <pc:docMk/>
      </pc:docMkLst>
      <pc:sldChg chg="modSp mod">
        <pc:chgData name="hsuan lin" userId="75d96c0581c73542" providerId="LiveId" clId="{9148F619-F19C-4406-B500-EC4893408186}" dt="2021-11-04T09:00:58.512" v="215" actId="20577"/>
        <pc:sldMkLst>
          <pc:docMk/>
          <pc:sldMk cId="3319272975" sldId="257"/>
        </pc:sldMkLst>
        <pc:spChg chg="mod">
          <ac:chgData name="hsuan lin" userId="75d96c0581c73542" providerId="LiveId" clId="{9148F619-F19C-4406-B500-EC4893408186}" dt="2021-11-04T09:00:26.817" v="209" actId="14100"/>
          <ac:spMkLst>
            <pc:docMk/>
            <pc:sldMk cId="3319272975" sldId="257"/>
            <ac:spMk id="2" creationId="{D717A888-3A67-4167-B3A0-985464D8B0A4}"/>
          </ac:spMkLst>
        </pc:spChg>
        <pc:spChg chg="mod">
          <ac:chgData name="hsuan lin" userId="75d96c0581c73542" providerId="LiveId" clId="{9148F619-F19C-4406-B500-EC4893408186}" dt="2021-11-04T09:00:58.512" v="215" actId="20577"/>
          <ac:spMkLst>
            <pc:docMk/>
            <pc:sldMk cId="3319272975" sldId="257"/>
            <ac:spMk id="3" creationId="{42923D2B-85CD-4334-BA04-D855720022E2}"/>
          </ac:spMkLst>
        </pc:spChg>
      </pc:sldChg>
      <pc:sldChg chg="modSp mod modNotesTx">
        <pc:chgData name="hsuan lin" userId="75d96c0581c73542" providerId="LiveId" clId="{9148F619-F19C-4406-B500-EC4893408186}" dt="2021-11-04T08:48:45.440" v="108"/>
        <pc:sldMkLst>
          <pc:docMk/>
          <pc:sldMk cId="1648703993" sldId="258"/>
        </pc:sldMkLst>
        <pc:spChg chg="mod">
          <ac:chgData name="hsuan lin" userId="75d96c0581c73542" providerId="LiveId" clId="{9148F619-F19C-4406-B500-EC4893408186}" dt="2021-11-04T07:26:18.623" v="95" actId="2711"/>
          <ac:spMkLst>
            <pc:docMk/>
            <pc:sldMk cId="1648703993" sldId="258"/>
            <ac:spMk id="3" creationId="{65806503-5C01-4B3E-86E9-D48C4E519BF5}"/>
          </ac:spMkLst>
        </pc:spChg>
      </pc:sldChg>
      <pc:sldChg chg="modSp mod">
        <pc:chgData name="hsuan lin" userId="75d96c0581c73542" providerId="LiveId" clId="{9148F619-F19C-4406-B500-EC4893408186}" dt="2021-11-04T07:03:01.412" v="80" actId="403"/>
        <pc:sldMkLst>
          <pc:docMk/>
          <pc:sldMk cId="2307341328" sldId="259"/>
        </pc:sldMkLst>
        <pc:spChg chg="mod">
          <ac:chgData name="hsuan lin" userId="75d96c0581c73542" providerId="LiveId" clId="{9148F619-F19C-4406-B500-EC4893408186}" dt="2021-11-04T07:03:01.412" v="80" actId="403"/>
          <ac:spMkLst>
            <pc:docMk/>
            <pc:sldMk cId="2307341328" sldId="259"/>
            <ac:spMk id="2" creationId="{BE9F8501-D86B-4B94-9825-ED91F8F5CEDA}"/>
          </ac:spMkLst>
        </pc:spChg>
      </pc:sldChg>
      <pc:sldChg chg="modSp mod">
        <pc:chgData name="hsuan lin" userId="75d96c0581c73542" providerId="LiveId" clId="{9148F619-F19C-4406-B500-EC4893408186}" dt="2021-11-04T06:54:32.653" v="18" actId="255"/>
        <pc:sldMkLst>
          <pc:docMk/>
          <pc:sldMk cId="4084710029" sldId="260"/>
        </pc:sldMkLst>
        <pc:spChg chg="mod">
          <ac:chgData name="hsuan lin" userId="75d96c0581c73542" providerId="LiveId" clId="{9148F619-F19C-4406-B500-EC4893408186}" dt="2021-11-04T06:54:32.653" v="18" actId="255"/>
          <ac:spMkLst>
            <pc:docMk/>
            <pc:sldMk cId="4084710029" sldId="260"/>
            <ac:spMk id="2" creationId="{74B3FBEF-0419-4E49-9342-98A87E502371}"/>
          </ac:spMkLst>
        </pc:spChg>
      </pc:sldChg>
      <pc:sldChg chg="modSp mod">
        <pc:chgData name="hsuan lin" userId="75d96c0581c73542" providerId="LiveId" clId="{9148F619-F19C-4406-B500-EC4893408186}" dt="2021-11-04T08:51:43.745" v="136" actId="20577"/>
        <pc:sldMkLst>
          <pc:docMk/>
          <pc:sldMk cId="4154017034" sldId="261"/>
        </pc:sldMkLst>
        <pc:spChg chg="mod">
          <ac:chgData name="hsuan lin" userId="75d96c0581c73542" providerId="LiveId" clId="{9148F619-F19C-4406-B500-EC4893408186}" dt="2021-11-04T06:54:43.552" v="29" actId="20577"/>
          <ac:spMkLst>
            <pc:docMk/>
            <pc:sldMk cId="4154017034" sldId="261"/>
            <ac:spMk id="2" creationId="{BE4DD4BB-4ED2-4BE3-8164-0A694E54E0B1}"/>
          </ac:spMkLst>
        </pc:spChg>
        <pc:spChg chg="mod">
          <ac:chgData name="hsuan lin" userId="75d96c0581c73542" providerId="LiveId" clId="{9148F619-F19C-4406-B500-EC4893408186}" dt="2021-11-04T08:51:43.745" v="136" actId="20577"/>
          <ac:spMkLst>
            <pc:docMk/>
            <pc:sldMk cId="4154017034" sldId="261"/>
            <ac:spMk id="3" creationId="{1EE41F18-CC6C-4053-8089-19B11BC56C59}"/>
          </ac:spMkLst>
        </pc:spChg>
      </pc:sldChg>
      <pc:sldChg chg="modSp new mod">
        <pc:chgData name="hsuan lin" userId="75d96c0581c73542" providerId="LiveId" clId="{9148F619-F19C-4406-B500-EC4893408186}" dt="2021-11-04T08:59:22.104" v="194" actId="403"/>
        <pc:sldMkLst>
          <pc:docMk/>
          <pc:sldMk cId="1838510390" sldId="262"/>
        </pc:sldMkLst>
        <pc:spChg chg="mod">
          <ac:chgData name="hsuan lin" userId="75d96c0581c73542" providerId="LiveId" clId="{9148F619-F19C-4406-B500-EC4893408186}" dt="2021-11-04T08:59:22.104" v="194" actId="403"/>
          <ac:spMkLst>
            <pc:docMk/>
            <pc:sldMk cId="1838510390" sldId="262"/>
            <ac:spMk id="2" creationId="{86A5D7C6-39BD-4B31-881D-928C71686C8B}"/>
          </ac:spMkLst>
        </pc:spChg>
      </pc:sldChg>
      <pc:sldChg chg="modSp new mod">
        <pc:chgData name="hsuan lin" userId="75d96c0581c73542" providerId="LiveId" clId="{9148F619-F19C-4406-B500-EC4893408186}" dt="2021-11-04T09:00:43.110" v="213" actId="20577"/>
        <pc:sldMkLst>
          <pc:docMk/>
          <pc:sldMk cId="739603479" sldId="263"/>
        </pc:sldMkLst>
        <pc:spChg chg="mod">
          <ac:chgData name="hsuan lin" userId="75d96c0581c73542" providerId="LiveId" clId="{9148F619-F19C-4406-B500-EC4893408186}" dt="2021-11-04T09:00:43.110" v="213" actId="20577"/>
          <ac:spMkLst>
            <pc:docMk/>
            <pc:sldMk cId="739603479" sldId="263"/>
            <ac:spMk id="2" creationId="{1A90561D-D2D3-4419-968D-2E4828D05CA7}"/>
          </ac:spMkLst>
        </pc:spChg>
      </pc:sldChg>
      <pc:sldChg chg="modSp new mod">
        <pc:chgData name="hsuan lin" userId="75d96c0581c73542" providerId="LiveId" clId="{9148F619-F19C-4406-B500-EC4893408186}" dt="2021-11-04T09:01:06.892" v="216" actId="20577"/>
        <pc:sldMkLst>
          <pc:docMk/>
          <pc:sldMk cId="1413169759" sldId="264"/>
        </pc:sldMkLst>
        <pc:spChg chg="mod">
          <ac:chgData name="hsuan lin" userId="75d96c0581c73542" providerId="LiveId" clId="{9148F619-F19C-4406-B500-EC4893408186}" dt="2021-11-04T09:01:06.892" v="216" actId="20577"/>
          <ac:spMkLst>
            <pc:docMk/>
            <pc:sldMk cId="1413169759" sldId="264"/>
            <ac:spMk id="2" creationId="{EC75C8D8-4D3E-4377-8793-F374301D37E4}"/>
          </ac:spMkLst>
        </pc:spChg>
      </pc:sldChg>
      <pc:sldChg chg="new">
        <pc:chgData name="hsuan lin" userId="75d96c0581c73542" providerId="LiveId" clId="{9148F619-F19C-4406-B500-EC4893408186}" dt="2021-11-04T08:51:11.087" v="112" actId="680"/>
        <pc:sldMkLst>
          <pc:docMk/>
          <pc:sldMk cId="271767711" sldId="265"/>
        </pc:sldMkLst>
      </pc:sldChg>
      <pc:sldChg chg="new">
        <pc:chgData name="hsuan lin" userId="75d96c0581c73542" providerId="LiveId" clId="{9148F619-F19C-4406-B500-EC4893408186}" dt="2021-11-04T08:51:13.589" v="113" actId="680"/>
        <pc:sldMkLst>
          <pc:docMk/>
          <pc:sldMk cId="2483118633" sldId="266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r">
              <a:defRPr sz="1200"/>
            </a:lvl1pPr>
          </a:lstStyle>
          <a:p>
            <a:fld id="{6E184DA3-7456-445E-B789-C4A3C11A868B}" type="datetimeFigureOut">
              <a:rPr lang="zh-TW" altLang="en-US" smtClean="0"/>
              <a:t>2026/6/12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8863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87" tIns="47393" rIns="94787" bIns="47393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710407" y="4925408"/>
            <a:ext cx="5683250" cy="4029879"/>
          </a:xfrm>
          <a:prstGeom prst="rect">
            <a:avLst/>
          </a:prstGeom>
        </p:spPr>
        <p:txBody>
          <a:bodyPr vert="horz" lIns="94787" tIns="47393" rIns="94787" bIns="47393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4023993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r">
              <a:defRPr sz="1200"/>
            </a:lvl1pPr>
          </a:lstStyle>
          <a:p>
            <a:fld id="{E0BAEFB6-4136-4525-B476-790D9DDC512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0600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投影片圖像版面配置區 1">
            <a:extLst>
              <a:ext uri="{FF2B5EF4-FFF2-40B4-BE49-F238E27FC236}">
                <a16:creationId xmlns:a16="http://schemas.microsoft.com/office/drawing/2014/main" id="{52DD6A24-A98E-4DBF-988F-7B761AB2582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71" name="備忘稿版面配置區 2">
            <a:extLst>
              <a:ext uri="{FF2B5EF4-FFF2-40B4-BE49-F238E27FC236}">
                <a16:creationId xmlns:a16="http://schemas.microsoft.com/office/drawing/2014/main" id="{6BD11D22-EE79-47CD-83AD-EA030A689C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defTabSz="947867"/>
            <a:endParaRPr lang="zh-TW" altLang="en-US" b="1" dirty="0"/>
          </a:p>
          <a:p>
            <a:endParaRPr lang="en-US" altLang="zh-TW" dirty="0"/>
          </a:p>
        </p:txBody>
      </p:sp>
      <p:sp>
        <p:nvSpPr>
          <p:cNvPr id="7172" name="投影片編號版面配置區 3">
            <a:extLst>
              <a:ext uri="{FF2B5EF4-FFF2-40B4-BE49-F238E27FC236}">
                <a16:creationId xmlns:a16="http://schemas.microsoft.com/office/drawing/2014/main" id="{00DB4106-20CC-492E-9678-35BDA6FFA4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70142" indent="-29620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84834" indent="-236967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58767" indent="-236967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32701" indent="-236967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06634" indent="-236967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0568" indent="-236967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54501" indent="-236967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28435" indent="-236967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BCEEE4D-7D97-4912-9E8F-A3A237C6348D}" type="slidenum">
              <a:rPr kumimoji="0" lang="de-DE" altLang="zh-TW" smtClean="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1</a:t>
            </a:fld>
            <a:endParaRPr kumimoji="0" lang="de-DE" altLang="zh-TW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67802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BAEFB6-4136-4525-B476-790D9DDC5129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125191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BAEFB6-4136-4525-B476-790D9DDC5129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6435158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://www.csie.ntpu.edu.tw/" TargetMode="External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http://www.csie.ntpu.edu.tw/" TargetMode="External"/><Relationship Id="rId5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805DCD4E-0403-46F3-858B-5BF02EA5CC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Line 12">
            <a:extLst>
              <a:ext uri="{FF2B5EF4-FFF2-40B4-BE49-F238E27FC236}">
                <a16:creationId xmlns:a16="http://schemas.microsoft.com/office/drawing/2014/main" id="{C41B0D54-DF44-4127-9A39-B15ADA472D5D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1184" y="2312353"/>
            <a:ext cx="0" cy="76200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5" name="Line 13">
            <a:extLst>
              <a:ext uri="{FF2B5EF4-FFF2-40B4-BE49-F238E27FC236}">
                <a16:creationId xmlns:a16="http://schemas.microsoft.com/office/drawing/2014/main" id="{B2658828-45E5-4D11-9E76-B8625DD6F827}"/>
              </a:ext>
            </a:extLst>
          </p:cNvPr>
          <p:cNvSpPr>
            <a:spLocks noChangeShapeType="1"/>
          </p:cNvSpPr>
          <p:nvPr/>
        </p:nvSpPr>
        <p:spPr bwMode="auto">
          <a:xfrm>
            <a:off x="683685" y="2844165"/>
            <a:ext cx="10943167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pic>
        <p:nvPicPr>
          <p:cNvPr id="7" name="Picture 2" descr="http://www.csie.ntpu.edu.tw/../images/com_logo.png">
            <a:hlinkClick r:id="rId3"/>
            <a:extLst>
              <a:ext uri="{FF2B5EF4-FFF2-40B4-BE49-F238E27FC236}">
                <a16:creationId xmlns:a16="http://schemas.microsoft.com/office/drawing/2014/main" id="{D0820140-DB07-4D07-B368-B3793CA83A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684" y="473075"/>
            <a:ext cx="4707824" cy="496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950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132417" y="1581209"/>
            <a:ext cx="10363200" cy="1143000"/>
          </a:xfrm>
        </p:spPr>
        <p:txBody>
          <a:bodyPr/>
          <a:lstStyle>
            <a:lvl1pPr>
              <a:defRPr sz="3200" b="0" baseline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按一下以編輯母片標題樣式</a:t>
            </a:r>
            <a:endParaRPr lang="de-DE"/>
          </a:p>
        </p:txBody>
      </p:sp>
      <p:sp>
        <p:nvSpPr>
          <p:cNvPr id="149509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780117" y="2935777"/>
            <a:ext cx="8534400" cy="1438103"/>
          </a:xfrm>
        </p:spPr>
        <p:txBody>
          <a:bodyPr/>
          <a:lstStyle>
            <a:lvl1pPr marL="0" indent="0" algn="ctr">
              <a:buFont typeface="Symbol" pitchFamily="18" charset="2"/>
              <a:buNone/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按一下以編輯母片副標題樣式</a:t>
            </a:r>
            <a:endParaRPr lang="de-DE" dirty="0"/>
          </a:p>
        </p:txBody>
      </p:sp>
      <p:pic>
        <p:nvPicPr>
          <p:cNvPr id="8" name="Picture 13">
            <a:extLst>
              <a:ext uri="{FF2B5EF4-FFF2-40B4-BE49-F238E27FC236}">
                <a16:creationId xmlns:a16="http://schemas.microsoft.com/office/drawing/2014/main" id="{FC584363-FC33-4D49-8A59-4FE845139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90501" y="6347507"/>
            <a:ext cx="1621367" cy="3940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28">
            <a:extLst>
              <a:ext uri="{FF2B5EF4-FFF2-40B4-BE49-F238E27FC236}">
                <a16:creationId xmlns:a16="http://schemas.microsoft.com/office/drawing/2014/main" id="{8B435778-36B6-470A-939D-7E55FA1407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defRPr/>
            </a:pPr>
            <a:fld id="{69B0E891-B98C-44D2-AD8F-C733BD4A6D71}" type="slidenum">
              <a:rPr lang="zh-TW" altLang="en-US" sz="1400" baseline="0" smtClean="0">
                <a:latin typeface="Times New Roman" panose="02020603050405020304" pitchFamily="18" charset="0"/>
                <a:ea typeface="標楷體" panose="03000509000000000000" pitchFamily="65" charset="-120"/>
              </a:rPr>
              <a:pPr>
                <a:defRPr/>
              </a:pPr>
              <a:t>‹#›</a:t>
            </a:fld>
            <a:endParaRPr lang="en-US" altLang="zh-TW" sz="1400" baseline="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135595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8">
            <a:extLst>
              <a:ext uri="{FF2B5EF4-FFF2-40B4-BE49-F238E27FC236}">
                <a16:creationId xmlns:a16="http://schemas.microsoft.com/office/drawing/2014/main" id="{46B19FCD-9041-49CE-B2A7-94FA63606C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defRPr/>
            </a:pPr>
            <a:fld id="{69B0E891-B98C-44D2-AD8F-C733BD4A6D71}" type="slidenum">
              <a:rPr lang="zh-TW" altLang="en-US" sz="1400" baseline="0" smtClean="0">
                <a:latin typeface="Times New Roman" panose="02020603050405020304" pitchFamily="18" charset="0"/>
                <a:ea typeface="標楷體" panose="03000509000000000000" pitchFamily="65" charset="-120"/>
              </a:rPr>
              <a:pPr>
                <a:defRPr/>
              </a:pPr>
              <a:t>‹#›</a:t>
            </a:fld>
            <a:endParaRPr lang="en-US" altLang="zh-TW" sz="1400" baseline="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>
              <a:defRPr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>
              <a:defRPr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>
              <a:defRPr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272325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DA6B2D65-7BAF-43C7-B91E-A39E5D3D33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493407"/>
          </a:xfrm>
        </p:spPr>
        <p:txBody>
          <a:bodyPr anchor="t"/>
          <a:lstStyle>
            <a:lvl1pPr algn="l">
              <a:defRPr sz="2600" b="1" cap="all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83684" y="2906713"/>
            <a:ext cx="10395475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1EDF3CA7-0D5E-4815-9A06-C63810AA43C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5" name="Line 12">
            <a:extLst>
              <a:ext uri="{FF2B5EF4-FFF2-40B4-BE49-F238E27FC236}">
                <a16:creationId xmlns:a16="http://schemas.microsoft.com/office/drawing/2014/main" id="{36761D3C-A27C-42D7-BF5A-4B09483B2316}"/>
              </a:ext>
            </a:extLst>
          </p:cNvPr>
          <p:cNvSpPr>
            <a:spLocks noChangeShapeType="1"/>
          </p:cNvSpPr>
          <p:nvPr/>
        </p:nvSpPr>
        <p:spPr bwMode="auto">
          <a:xfrm>
            <a:off x="11079159" y="4406900"/>
            <a:ext cx="0" cy="76200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/>
          </a:p>
        </p:txBody>
      </p:sp>
      <p:sp>
        <p:nvSpPr>
          <p:cNvPr id="6" name="Line 13">
            <a:extLst>
              <a:ext uri="{FF2B5EF4-FFF2-40B4-BE49-F238E27FC236}">
                <a16:creationId xmlns:a16="http://schemas.microsoft.com/office/drawing/2014/main" id="{214F02BF-83A2-4F84-B9F8-6E492AF23311}"/>
              </a:ext>
            </a:extLst>
          </p:cNvPr>
          <p:cNvSpPr>
            <a:spLocks noChangeShapeType="1"/>
          </p:cNvSpPr>
          <p:nvPr/>
        </p:nvSpPr>
        <p:spPr bwMode="auto">
          <a:xfrm>
            <a:off x="683685" y="4900307"/>
            <a:ext cx="10943167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/>
          </a:p>
        </p:txBody>
      </p:sp>
      <p:pic>
        <p:nvPicPr>
          <p:cNvPr id="7" name="Picture 13">
            <a:extLst>
              <a:ext uri="{FF2B5EF4-FFF2-40B4-BE49-F238E27FC236}">
                <a16:creationId xmlns:a16="http://schemas.microsoft.com/office/drawing/2014/main" id="{E992FE68-6C66-4246-818C-F3747853A3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90501" y="6347507"/>
            <a:ext cx="1621367" cy="3940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2">
            <a:hlinkClick r:id="rId4"/>
            <a:extLst>
              <a:ext uri="{FF2B5EF4-FFF2-40B4-BE49-F238E27FC236}">
                <a16:creationId xmlns:a16="http://schemas.microsoft.com/office/drawing/2014/main" id="{82D95A3C-1537-438F-9A34-CDA2FCD2D4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875140" y="340072"/>
            <a:ext cx="4451144" cy="469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387062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565152" y="914400"/>
            <a:ext cx="5556249" cy="51911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324601" y="914400"/>
            <a:ext cx="5558367" cy="51911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C777D388-01C3-486D-A87C-B924DC57D28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23948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28">
            <a:extLst>
              <a:ext uri="{FF2B5EF4-FFF2-40B4-BE49-F238E27FC236}">
                <a16:creationId xmlns:a16="http://schemas.microsoft.com/office/drawing/2014/main" id="{B243DEEE-11C0-45AB-B44D-DA0457D5804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676934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28">
            <a:extLst>
              <a:ext uri="{FF2B5EF4-FFF2-40B4-BE49-F238E27FC236}">
                <a16:creationId xmlns:a16="http://schemas.microsoft.com/office/drawing/2014/main" id="{C39D7682-F964-461A-AAAE-372642E0A38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529699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8">
            <a:extLst>
              <a:ext uri="{FF2B5EF4-FFF2-40B4-BE49-F238E27FC236}">
                <a16:creationId xmlns:a16="http://schemas.microsoft.com/office/drawing/2014/main" id="{F27029BD-E6AF-407F-ACA5-95E13AE34AC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52943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948267"/>
            <a:ext cx="7199488" cy="517789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948268"/>
            <a:ext cx="4011084" cy="517789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E618970D-DD05-4ECF-8733-3A668C35F98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746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94783" y="135466"/>
            <a:ext cx="11360151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939800"/>
            <a:ext cx="7315200" cy="37877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028672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C45A8477-25E2-4F3E-A2CA-70F6EA99A4A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870965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A425C922-DC02-4EB7-87C5-86932890B28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39364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9139063" y="931333"/>
            <a:ext cx="2842683" cy="5174192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550334" y="931333"/>
            <a:ext cx="8329084" cy="5174192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42F45190-893E-4A4D-AC70-724C5AF4D21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3706586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A9ABF8AB-B0B8-4681-BD44-8CF5E845AA7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26" name="Rectangle 4">
            <a:extLst>
              <a:ext uri="{FF2B5EF4-FFF2-40B4-BE49-F238E27FC236}">
                <a16:creationId xmlns:a16="http://schemas.microsoft.com/office/drawing/2014/main" id="{E37310E9-2521-4BB7-B15D-959B68467A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65151" y="141288"/>
            <a:ext cx="114173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endParaRPr lang="en-US" altLang="zh-TW" dirty="0"/>
          </a:p>
        </p:txBody>
      </p:sp>
      <p:sp>
        <p:nvSpPr>
          <p:cNvPr id="1027" name="Rectangle 5">
            <a:extLst>
              <a:ext uri="{FF2B5EF4-FFF2-40B4-BE49-F238E27FC236}">
                <a16:creationId xmlns:a16="http://schemas.microsoft.com/office/drawing/2014/main" id="{794864E5-9918-4FF7-9866-35661BF262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65151" y="914400"/>
            <a:ext cx="11417300" cy="519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dirty="0" err="1"/>
              <a:t>Klicken</a:t>
            </a:r>
            <a:r>
              <a:rPr lang="en-US" altLang="zh-TW" dirty="0"/>
              <a:t> Sie, um die </a:t>
            </a:r>
            <a:r>
              <a:rPr lang="en-US" altLang="zh-TW" dirty="0" err="1"/>
              <a:t>Formate</a:t>
            </a:r>
            <a:r>
              <a:rPr lang="en-US" altLang="zh-TW" dirty="0"/>
              <a:t> des </a:t>
            </a:r>
            <a:r>
              <a:rPr lang="en-US" altLang="zh-TW" dirty="0" err="1"/>
              <a:t>Vorlagentextes</a:t>
            </a:r>
            <a:r>
              <a:rPr lang="en-US" altLang="zh-TW" dirty="0"/>
              <a:t> </a:t>
            </a:r>
            <a:r>
              <a:rPr lang="en-US" altLang="zh-TW" dirty="0" err="1"/>
              <a:t>zu</a:t>
            </a:r>
            <a:r>
              <a:rPr lang="en-US" altLang="zh-TW" dirty="0"/>
              <a:t> </a:t>
            </a:r>
            <a:r>
              <a:rPr lang="en-US" altLang="zh-TW" dirty="0" err="1"/>
              <a:t>bearbeiten</a:t>
            </a:r>
            <a:endParaRPr lang="en-US" altLang="zh-TW" dirty="0"/>
          </a:p>
          <a:p>
            <a:pPr lvl="1"/>
            <a:r>
              <a:rPr lang="en-US" altLang="zh-TW" dirty="0" err="1"/>
              <a:t>Zweite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2"/>
            <a:r>
              <a:rPr lang="en-US" altLang="zh-TW" dirty="0" err="1"/>
              <a:t>Dritte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3"/>
            <a:r>
              <a:rPr lang="en-US" altLang="zh-TW" dirty="0" err="1"/>
              <a:t>Vierte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4"/>
            <a:r>
              <a:rPr lang="en-US" altLang="zh-TW" dirty="0" err="1"/>
              <a:t>Fünfte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</p:txBody>
      </p:sp>
      <p:sp>
        <p:nvSpPr>
          <p:cNvPr id="1028" name="Line 22">
            <a:extLst>
              <a:ext uri="{FF2B5EF4-FFF2-40B4-BE49-F238E27FC236}">
                <a16:creationId xmlns:a16="http://schemas.microsoft.com/office/drawing/2014/main" id="{AB7F6124-04C7-45E8-AA65-7F9F759D65F9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451" y="252413"/>
            <a:ext cx="0" cy="69215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29" name="Line 24">
            <a:extLst>
              <a:ext uri="{FF2B5EF4-FFF2-40B4-BE49-F238E27FC236}">
                <a16:creationId xmlns:a16="http://schemas.microsoft.com/office/drawing/2014/main" id="{C8074568-B491-4B67-9A93-41BE6E79B626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784225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30" name="Line 25">
            <a:extLst>
              <a:ext uri="{FF2B5EF4-FFF2-40B4-BE49-F238E27FC236}">
                <a16:creationId xmlns:a16="http://schemas.microsoft.com/office/drawing/2014/main" id="{311CE126-5E96-48EA-A8E4-423F29F2B71C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6240463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48508" name="Rectangle 28">
            <a:extLst>
              <a:ext uri="{FF2B5EF4-FFF2-40B4-BE49-F238E27FC236}">
                <a16:creationId xmlns:a16="http://schemas.microsoft.com/office/drawing/2014/main" id="{87C75FDA-A8B1-4916-8A2B-A105EA9C4F4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9" name="Picture 13">
            <a:extLst>
              <a:ext uri="{FF2B5EF4-FFF2-40B4-BE49-F238E27FC236}">
                <a16:creationId xmlns:a16="http://schemas.microsoft.com/office/drawing/2014/main" id="{866DE21F-4EA5-4E05-A2F0-D1DDC61DCD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90501" y="6347507"/>
            <a:ext cx="1621367" cy="3940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65327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9pPr>
    </p:titleStyle>
    <p:bodyStyle>
      <a:lvl1pPr marL="2857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1pPr>
      <a:lvl2pPr marL="76200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0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2pPr>
      <a:lvl3pPr marL="12382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3pPr>
      <a:lvl4pPr marL="1619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4pPr>
      <a:lvl5pPr marL="2000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5pPr>
      <a:lvl6pPr marL="24574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6pPr>
      <a:lvl7pPr marL="29146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7pPr>
      <a:lvl8pPr marL="33718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8pPr>
      <a:lvl9pPr marL="38290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標題 1">
            <a:extLst>
              <a:ext uri="{FF2B5EF4-FFF2-40B4-BE49-F238E27FC236}">
                <a16:creationId xmlns:a16="http://schemas.microsoft.com/office/drawing/2014/main" id="{56255BC9-C893-4296-A997-467D7DAD92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26952" y="1423554"/>
            <a:ext cx="9977021" cy="1373453"/>
          </a:xfrm>
        </p:spPr>
        <p:txBody>
          <a:bodyPr>
            <a:norm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Hierarchical Reinforcement Learning for RIS-Assisted Energy-Efficient RAN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69CCDE54-4770-4C4E-AECD-56FD48A5EA92}"/>
              </a:ext>
            </a:extLst>
          </p:cNvPr>
          <p:cNvSpPr txBox="1"/>
          <p:nvPr/>
        </p:nvSpPr>
        <p:spPr>
          <a:xfrm>
            <a:off x="577434" y="3217012"/>
            <a:ext cx="11037131" cy="16879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it-IT" altLang="zh-TW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Hao Zhou1 , Long Kong1 , Medhat Elsayed2 , Majid Bavand2 , Raimundas Gaigalas3 , Steve Furr2 , and Melike Erol-Kantarci1 , Senior Member, IEEE</a:t>
            </a:r>
          </a:p>
          <a:p>
            <a:pPr algn="ctr">
              <a:lnSpc>
                <a:spcPct val="150000"/>
              </a:lnSpc>
            </a:pP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GLOBECOM 2022 - 2022 IEEE Global Communications Conference</a:t>
            </a:r>
          </a:p>
        </p:txBody>
      </p:sp>
    </p:spTree>
    <p:extLst>
      <p:ext uri="{BB962C8B-B14F-4D97-AF65-F5344CB8AC3E}">
        <p14:creationId xmlns:p14="http://schemas.microsoft.com/office/powerpoint/2010/main" val="14807082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6A09081-3339-92F0-D6B1-05D391593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Outline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DA03481-2081-98BE-1CAD-0250504E51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B1A7554-8924-48F5-9FA5-C44C8E5DDDA0}"/>
              </a:ext>
            </a:extLst>
          </p:cNvPr>
          <p:cNvSpPr txBox="1">
            <a:spLocks/>
          </p:cNvSpPr>
          <p:nvPr/>
        </p:nvSpPr>
        <p:spPr bwMode="auto">
          <a:xfrm>
            <a:off x="565151" y="1021977"/>
            <a:ext cx="11417300" cy="519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857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Symbol" panose="05050102010706020507" pitchFamily="18" charset="2"/>
              <a:buChar char="·"/>
              <a:defRPr sz="2400" baseline="0">
                <a:solidFill>
                  <a:srgbClr val="000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+mn-cs"/>
              </a:defRPr>
            </a:lvl1pPr>
            <a:lvl2pPr marL="76200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Symbol" panose="05050102010706020507" pitchFamily="18" charset="2"/>
              <a:buChar char="·"/>
              <a:defRPr sz="2000" baseline="0">
                <a:solidFill>
                  <a:srgbClr val="000000"/>
                </a:solidFill>
                <a:latin typeface="Calibri" panose="020F0502020204030204" pitchFamily="34" charset="0"/>
                <a:ea typeface="微軟正黑體" panose="020B0604030504040204" pitchFamily="34" charset="-120"/>
              </a:defRPr>
            </a:lvl2pPr>
            <a:lvl3pPr marL="12382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Symbol" panose="05050102010706020507" pitchFamily="18" charset="2"/>
              <a:buChar char="·"/>
              <a:defRPr sz="2400" baseline="0">
                <a:solidFill>
                  <a:srgbClr val="000000"/>
                </a:solidFill>
                <a:latin typeface="Calibri" panose="020F0502020204030204" pitchFamily="34" charset="0"/>
                <a:ea typeface="微軟正黑體" panose="020B0604030504040204" pitchFamily="34" charset="-120"/>
              </a:defRPr>
            </a:lvl3pPr>
            <a:lvl4pPr marL="1619250" indent="-1905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Symbol" panose="05050102010706020507" pitchFamily="18" charset="2"/>
              <a:buChar char="·"/>
              <a:defRPr sz="1600" baseline="0">
                <a:solidFill>
                  <a:srgbClr val="000000"/>
                </a:solidFill>
                <a:latin typeface="Calibri" panose="020F0502020204030204" pitchFamily="34" charset="0"/>
                <a:ea typeface="微軟正黑體" panose="020B0604030504040204" pitchFamily="34" charset="-120"/>
              </a:defRPr>
            </a:lvl4pPr>
            <a:lvl5pPr marL="2000250" indent="-1905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Symbol" panose="05050102010706020507" pitchFamily="18" charset="2"/>
              <a:buChar char="·"/>
              <a:defRPr sz="1600" baseline="0">
                <a:solidFill>
                  <a:srgbClr val="000000"/>
                </a:solidFill>
                <a:latin typeface="Calibri" panose="020F0502020204030204" pitchFamily="34" charset="0"/>
                <a:ea typeface="微軟正黑體" panose="020B0604030504040204" pitchFamily="34" charset="-120"/>
              </a:defRPr>
            </a:lvl5pPr>
            <a:lvl6pPr marL="2457450" indent="-1905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Symbol" pitchFamily="18" charset="2"/>
              <a:buChar char="·"/>
              <a:defRPr sz="1600">
                <a:solidFill>
                  <a:srgbClr val="000000"/>
                </a:solidFill>
                <a:latin typeface="+mn-lt"/>
              </a:defRPr>
            </a:lvl6pPr>
            <a:lvl7pPr marL="2914650" indent="-1905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Symbol" pitchFamily="18" charset="2"/>
              <a:buChar char="·"/>
              <a:defRPr sz="1600">
                <a:solidFill>
                  <a:srgbClr val="000000"/>
                </a:solidFill>
                <a:latin typeface="+mn-lt"/>
              </a:defRPr>
            </a:lvl7pPr>
            <a:lvl8pPr marL="3371850" indent="-1905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Symbol" pitchFamily="18" charset="2"/>
              <a:buChar char="·"/>
              <a:defRPr sz="1600">
                <a:solidFill>
                  <a:srgbClr val="000000"/>
                </a:solidFill>
                <a:latin typeface="+mn-lt"/>
              </a:defRPr>
            </a:lvl8pPr>
            <a:lvl9pPr marL="3829050" indent="-1905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Symbol" pitchFamily="18" charset="2"/>
              <a:buChar char="·"/>
              <a:defRPr sz="1600">
                <a:solidFill>
                  <a:srgbClr val="000000"/>
                </a:solidFill>
                <a:latin typeface="+mn-lt"/>
              </a:defRPr>
            </a:lvl9pPr>
          </a:lstStyle>
          <a:p>
            <a:r>
              <a:rPr lang="en-US" altLang="zh-TW" kern="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Abstract</a:t>
            </a:r>
          </a:p>
          <a:p>
            <a:r>
              <a:rPr lang="en-US" altLang="zh-TW" kern="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Introduction</a:t>
            </a:r>
          </a:p>
          <a:p>
            <a:r>
              <a:rPr lang="en-US" altLang="zh-TW" kern="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Network and system model</a:t>
            </a:r>
          </a:p>
          <a:p>
            <a:r>
              <a:rPr lang="en-US" altLang="zh-TW" kern="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Hierarchical reinforcement learning for energy-efficient Ran</a:t>
            </a:r>
          </a:p>
          <a:p>
            <a:r>
              <a:rPr lang="en-US" altLang="zh-TW" kern="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Performance evaluation</a:t>
            </a:r>
          </a:p>
          <a:p>
            <a:r>
              <a:rPr lang="en-US" altLang="zh-TW" kern="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Conclusion</a:t>
            </a:r>
          </a:p>
          <a:p>
            <a:endParaRPr lang="en-US" altLang="zh-TW" kern="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kern="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98542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ot title"/>
          <p:cNvSpPr txBox="1"/>
          <p:nvPr/>
        </p:nvSpPr>
        <p:spPr>
          <a:xfrm>
            <a:off x="640080" y="118872"/>
            <a:ext cx="8549640" cy="5669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323283"/>
                </a:solidFill>
                <a:latin typeface="Times New Roman"/>
              </a:rPr>
              <a:t>Two-Player LC-SRS Teacher</a:t>
            </a:r>
          </a:p>
        </p:txBody>
      </p:sp>
      <p:sp>
        <p:nvSpPr>
          <p:cNvPr id="3" name="Status badge"/>
          <p:cNvSpPr/>
          <p:nvPr/>
        </p:nvSpPr>
        <p:spPr>
          <a:xfrm>
            <a:off x="8897112" y="164592"/>
            <a:ext cx="2624328" cy="393192"/>
          </a:xfrm>
          <a:prstGeom prst="roundRect">
            <a:avLst/>
          </a:prstGeom>
          <a:solidFill>
            <a:srgbClr val="FFF3CD"/>
          </a:solidFill>
          <a:ln w="12700">
            <a:solidFill>
              <a:srgbClr val="FFEE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856404"/>
                </a:solidFill>
                <a:latin typeface="Times New Roman"/>
              </a:rPr>
              <a:t>C3 GATE — HOLD</a:t>
            </a:r>
          </a:p>
        </p:txBody>
      </p:sp>
      <p:sp>
        <p:nvSpPr>
          <p:cNvPr id="4" name="Pilot subtitle"/>
          <p:cNvSpPr txBox="1"/>
          <p:nvPr/>
        </p:nvSpPr>
        <p:spPr>
          <a:xfrm>
            <a:off x="658368" y="859536"/>
            <a:ext cx="10835640" cy="40233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F2937"/>
                </a:solidFill>
                <a:latin typeface="Times New Roman"/>
              </a:rPr>
              <a:t>Four matched profiles expose joint beam-closing surplus.</a:t>
            </a:r>
          </a:p>
        </p:txBody>
      </p:sp>
      <p:sp>
        <p:nvSpPr>
          <p:cNvPr id="5" name="Matched profile panel"/>
          <p:cNvSpPr/>
          <p:nvPr/>
        </p:nvSpPr>
        <p:spPr>
          <a:xfrm>
            <a:off x="566928" y="1325880"/>
            <a:ext cx="3886200" cy="4709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444752"/>
            <a:ext cx="3474720" cy="38404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3366"/>
                </a:solidFill>
                <a:latin typeface="Times New Roman"/>
              </a:rPr>
              <a:t>Matched physical profiles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901952"/>
            <a:ext cx="1764792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938528"/>
            <a:ext cx="411480" cy="31089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3366"/>
                </a:solidFill>
                <a:latin typeface="Times New Roman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938528"/>
            <a:ext cx="1188720" cy="43891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stay</a:t>
            </a:r>
          </a:p>
        </p:txBody>
      </p:sp>
      <p:sp>
        <p:nvSpPr>
          <p:cNvPr id="10" name="Isosceles Triangle 9"/>
          <p:cNvSpPr/>
          <p:nvPr/>
        </p:nvSpPr>
        <p:spPr>
          <a:xfrm rot="10800000">
            <a:off x="1408176" y="2404872"/>
            <a:ext cx="438912" cy="420624"/>
          </a:xfrm>
          <a:prstGeom prst="triangle">
            <a:avLst/>
          </a:prstGeom>
          <a:solidFill>
            <a:srgbClr val="E0E7FF"/>
          </a:solidFill>
          <a:ln>
            <a:solidFill>
              <a:srgbClr val="3232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78992" y="2697480"/>
            <a:ext cx="256032" cy="256032"/>
          </a:xfrm>
          <a:prstGeom prst="ellipse">
            <a:avLst/>
          </a:prstGeom>
          <a:solidFill>
            <a:srgbClr val="94A3B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975104" y="2697480"/>
            <a:ext cx="256032" cy="256032"/>
          </a:xfrm>
          <a:prstGeom prst="ellipse">
            <a:avLst/>
          </a:prstGeom>
          <a:solidFill>
            <a:srgbClr val="94A3B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596896" y="1901952"/>
            <a:ext cx="1764792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70048" y="1938528"/>
            <a:ext cx="411480" cy="31089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3366"/>
                </a:solidFill>
                <a:latin typeface="Times New Roman"/>
              </a:rPr>
              <a:t>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81528" y="1938528"/>
            <a:ext cx="1188720" cy="43891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move 1</a:t>
            </a:r>
          </a:p>
        </p:txBody>
      </p:sp>
      <p:sp>
        <p:nvSpPr>
          <p:cNvPr id="16" name="Isosceles Triangle 15"/>
          <p:cNvSpPr/>
          <p:nvPr/>
        </p:nvSpPr>
        <p:spPr>
          <a:xfrm rot="10800000">
            <a:off x="3255263" y="2404872"/>
            <a:ext cx="438912" cy="420624"/>
          </a:xfrm>
          <a:prstGeom prst="triangle">
            <a:avLst/>
          </a:prstGeom>
          <a:solidFill>
            <a:srgbClr val="E0E7FF"/>
          </a:solidFill>
          <a:ln>
            <a:solidFill>
              <a:srgbClr val="3232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926079" y="2697480"/>
            <a:ext cx="256032" cy="256032"/>
          </a:xfrm>
          <a:prstGeom prst="ellipse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822191" y="2697480"/>
            <a:ext cx="256032" cy="256032"/>
          </a:xfrm>
          <a:prstGeom prst="ellipse">
            <a:avLst/>
          </a:prstGeom>
          <a:solidFill>
            <a:srgbClr val="94A3B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49808" y="3136392"/>
            <a:ext cx="1764792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59" y="3172968"/>
            <a:ext cx="411480" cy="31089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3366"/>
                </a:solidFill>
                <a:latin typeface="Times New Roman"/>
              </a:rPr>
              <a:t>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3172968"/>
            <a:ext cx="1188720" cy="43891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move 2</a:t>
            </a:r>
          </a:p>
        </p:txBody>
      </p:sp>
      <p:sp>
        <p:nvSpPr>
          <p:cNvPr id="22" name="Isosceles Triangle 21"/>
          <p:cNvSpPr/>
          <p:nvPr/>
        </p:nvSpPr>
        <p:spPr>
          <a:xfrm rot="10800000">
            <a:off x="1408176" y="3639312"/>
            <a:ext cx="438912" cy="420624"/>
          </a:xfrm>
          <a:prstGeom prst="triangle">
            <a:avLst/>
          </a:prstGeom>
          <a:solidFill>
            <a:srgbClr val="E0E7FF"/>
          </a:solidFill>
          <a:ln>
            <a:solidFill>
              <a:srgbClr val="3232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78992" y="3931920"/>
            <a:ext cx="256032" cy="256032"/>
          </a:xfrm>
          <a:prstGeom prst="ellipse">
            <a:avLst/>
          </a:prstGeom>
          <a:solidFill>
            <a:srgbClr val="94A3B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975104" y="3931920"/>
            <a:ext cx="256032" cy="256032"/>
          </a:xfrm>
          <a:prstGeom prst="ellipse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596896" y="3136392"/>
            <a:ext cx="1764792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70048" y="3172968"/>
            <a:ext cx="411480" cy="31089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3366"/>
                </a:solidFill>
                <a:latin typeface="Times New Roman"/>
              </a:rPr>
              <a:t>11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81528" y="3172968"/>
            <a:ext cx="1188720" cy="43891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move 1+2</a:t>
            </a:r>
          </a:p>
        </p:txBody>
      </p:sp>
      <p:sp>
        <p:nvSpPr>
          <p:cNvPr id="28" name="Isosceles Triangle 27"/>
          <p:cNvSpPr/>
          <p:nvPr/>
        </p:nvSpPr>
        <p:spPr>
          <a:xfrm rot="10800000">
            <a:off x="3255263" y="3639312"/>
            <a:ext cx="438912" cy="420624"/>
          </a:xfrm>
          <a:prstGeom prst="triangle">
            <a:avLst/>
          </a:prstGeom>
          <a:solidFill>
            <a:srgbClr val="E0E7FF"/>
          </a:solidFill>
          <a:ln>
            <a:solidFill>
              <a:srgbClr val="3232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926079" y="3931920"/>
            <a:ext cx="256032" cy="256032"/>
          </a:xfrm>
          <a:prstGeom prst="ellipse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822191" y="3931920"/>
            <a:ext cx="256032" cy="256032"/>
          </a:xfrm>
          <a:prstGeom prst="ellipse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Matched field callout"/>
          <p:cNvSpPr/>
          <p:nvPr/>
        </p:nvSpPr>
        <p:spPr>
          <a:xfrm>
            <a:off x="749808" y="4489704"/>
            <a:ext cx="3611880" cy="128016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3232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Sealed anchor
Matched fading
Member actions only</a:t>
            </a:r>
          </a:p>
        </p:txBody>
      </p:sp>
      <p:sp>
        <p:nvSpPr>
          <p:cNvPr id="32" name="Teacher formula panel"/>
          <p:cNvSpPr/>
          <p:nvPr/>
        </p:nvSpPr>
        <p:spPr>
          <a:xfrm>
            <a:off x="4645152" y="1325880"/>
            <a:ext cx="6976872" cy="470916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3232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28032" y="1435608"/>
            <a:ext cx="6537960" cy="34747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3366"/>
                </a:solidFill>
                <a:latin typeface="Times New Roman"/>
              </a:rPr>
              <a:t>From local terms to an exact coalition residual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00600" y="1938528"/>
            <a:ext cx="713232" cy="31089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4B5563"/>
                </a:solidFill>
                <a:latin typeface="Times New Roman"/>
              </a:rPr>
              <a:t>Own</a:t>
            </a:r>
          </a:p>
        </p:txBody>
      </p:sp>
      <p:sp>
        <p:nvSpPr>
          <p:cNvPr id="35" name="Math host local" descr="Native Office Math: local"/>
          <p:cNvSpPr/>
          <p:nvPr/>
        </p:nvSpPr>
        <p:spPr>
          <a:xfrm>
            <a:off x="5513832" y="1755648"/>
            <a:ext cx="5861304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36576" bIns="36576"/>
          <a:lstStyle/>
          <a:p>
            <a:pPr algn="ctr"/>
            <a14:m xmlns:a14="http://schemas.microsoft.com/office/drawing/2010/main" xmlns:m="http://schemas.openxmlformats.org/officeDocument/2006/math">
              <m:oMathPara>
                <m:oMath>
                  <m:sSub>
                    <m:e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ℓ</m:t>
                      </m:r>
                    </m:e>
                    <m:sub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i</m:t>
                      </m:r>
                    </m:sub>
                  </m:sSub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=</m:t>
                  </m:r>
                  <m:sSub>
                    <m:e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B</m:t>
                      </m:r>
                    </m:e>
                    <m:sub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i</m:t>
                      </m:r>
                    </m:sub>
                  </m:sSub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(</m:t>
                  </m:r>
                  <m:sSup>
                    <m:e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x</m:t>
                      </m:r>
                    </m:e>
                    <m:sup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i</m:t>
                      </m:r>
                    </m:sup>
                  </m:sSup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)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−</m:t>
                  </m:r>
                  <m:sSub>
                    <m:e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B</m:t>
                      </m:r>
                    </m:e>
                    <m:sub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i</m:t>
                      </m:r>
                    </m:sub>
                  </m:sSub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(</m:t>
                  </m:r>
                  <m:sSup>
                    <m:e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x</m:t>
                      </m:r>
                    </m:e>
                    <m:sup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0</m:t>
                      </m:r>
                    </m:sup>
                  </m:sSup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)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−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λ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[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E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(</m:t>
                  </m:r>
                  <m:sSup>
                    <m:e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x</m:t>
                      </m:r>
                    </m:e>
                    <m:sup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i</m:t>
                      </m:r>
                    </m:sup>
                  </m:sSup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)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−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E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(</m:t>
                  </m:r>
                  <m:sSup>
                    <m:e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x</m:t>
                      </m:r>
                    </m:e>
                    <m:sup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0</m:t>
                      </m:r>
                    </m:sup>
                  </m:sSup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)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]</m:t>
                  </m:r>
                </m:oMath>
              </m:oMathPara>
            </a14:m>
            <a:endParaRPr lang="en-US" altLang="en-US" sz="20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800600" y="2688336"/>
            <a:ext cx="713232" cy="31089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4B5563"/>
                </a:solidFill>
                <a:latin typeface="Times New Roman"/>
              </a:rPr>
              <a:t>Spill</a:t>
            </a:r>
          </a:p>
        </p:txBody>
      </p:sp>
      <p:sp>
        <p:nvSpPr>
          <p:cNvPr id="37" name="Math host externality" descr="Native Office Math: externality"/>
          <p:cNvSpPr/>
          <p:nvPr/>
        </p:nvSpPr>
        <p:spPr>
          <a:xfrm>
            <a:off x="5513832" y="2505456"/>
            <a:ext cx="5861304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36576" bIns="36576"/>
          <a:lstStyle/>
          <a:p>
            <a:pPr algn="ctr"/>
            <a14:m xmlns:a14="http://schemas.microsoft.com/office/drawing/2010/main" xmlns:m="http://schemas.openxmlformats.org/officeDocument/2006/math">
              <m:oMathPara>
                <m:oMath>
                  <m:sSub>
                    <m:e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e</m:t>
                      </m:r>
                    </m:e>
                    <m:sub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i</m:t>
                      </m:r>
                    </m:sub>
                  </m:sSub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=</m:t>
                  </m:r>
                  <m:nary>
                    <m:naryPr>
                      <m:chr m:val="∑"/>
                      <m:limLoc m:val="undOvr"/>
                      <m:subHide m:val="off"/>
                      <m:supHide m:val="on"/>
                    </m:naryPr>
                    <m:sub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u</m:t>
                      </m:r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≠</m:t>
                      </m:r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i</m:t>
                      </m:r>
                    </m:sub>
                    <m:sup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​</m:t>
                      </m:r>
                    </m:sup>
                    <m:e>
                      <m:d>
                        <m:dPr>
                          <m:begChr m:val="["/>
                          <m:sepChr m:val=""/>
                          <m:endChr m:val="]"/>
                          <m:grow/>
                        </m:dPr>
                        <m:e>
                          <m:sSub>
                            <m:e>
                              <m:r>
                                <a:rPr lang="en-US" altLang="en-US" sz="2000" i="1" dirty="0">
                                  <a:latin typeface="Times New Roman"/>
                                  <a:ea typeface="Times New Roman"/>
                                  <a:cs typeface="Times New Roman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altLang="en-US" sz="2000" i="1" dirty="0">
                                  <a:latin typeface="Times New Roman"/>
                                  <a:ea typeface="Times New Roman"/>
                                  <a:cs typeface="Times New Roman"/>
                                </a:rPr>
                                <m:t>u</m:t>
                              </m:r>
                            </m:sub>
                          </m:sSub>
                          <m:r>
                            <a:rPr lang="en-US" altLang="en-US" sz="2000" i="1" dirty="0">
                              <a:latin typeface="Times New Roman"/>
                              <a:ea typeface="Times New Roman"/>
                              <a:cs typeface="Times New Roman"/>
                            </a:rPr>
                            <m:t>(</m:t>
                          </m:r>
                          <m:sSup>
                            <m:e>
                              <m:r>
                                <a:rPr lang="en-US" altLang="en-US" sz="2000" i="1" dirty="0">
                                  <a:latin typeface="Times New Roman"/>
                                  <a:ea typeface="Times New Roman"/>
                                  <a:cs typeface="Times New Roman"/>
                                </a:rPr>
                                <m:t>x</m:t>
                              </m:r>
                            </m:e>
                            <m:sup>
                              <m:r>
                                <a:rPr lang="en-US" altLang="en-US" sz="2000" i="1" dirty="0">
                                  <a:latin typeface="Times New Roman"/>
                                  <a:ea typeface="Times New Roman"/>
                                  <a:cs typeface="Times New Roman"/>
                                </a:rPr>
                                <m:t>i</m:t>
                              </m:r>
                            </m:sup>
                          </m:sSup>
                          <m:r>
                            <a:rPr lang="en-US" altLang="en-US" sz="2000" i="1" dirty="0">
                              <a:latin typeface="Times New Roman"/>
                              <a:ea typeface="Times New Roman"/>
                              <a:cs typeface="Times New Roman"/>
                            </a:rPr>
                            <m:t>)</m:t>
                          </m:r>
                          <m:r>
                            <a:rPr lang="en-US" altLang="en-US" sz="2000" i="1" dirty="0">
                              <a:latin typeface="Times New Roman"/>
                              <a:ea typeface="Times New Roman"/>
                              <a:cs typeface="Times New Roman"/>
                            </a:rPr>
                            <m:t>−</m:t>
                          </m:r>
                          <m:sSub>
                            <m:e>
                              <m:r>
                                <a:rPr lang="en-US" altLang="en-US" sz="2000" i="1" dirty="0">
                                  <a:latin typeface="Times New Roman"/>
                                  <a:ea typeface="Times New Roman"/>
                                  <a:cs typeface="Times New Roman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altLang="en-US" sz="2000" i="1" dirty="0">
                                  <a:latin typeface="Times New Roman"/>
                                  <a:ea typeface="Times New Roman"/>
                                  <a:cs typeface="Times New Roman"/>
                                </a:rPr>
                                <m:t>u</m:t>
                              </m:r>
                            </m:sub>
                          </m:sSub>
                          <m:r>
                            <a:rPr lang="en-US" altLang="en-US" sz="2000" i="1" dirty="0">
                              <a:latin typeface="Times New Roman"/>
                              <a:ea typeface="Times New Roman"/>
                              <a:cs typeface="Times New Roman"/>
                            </a:rPr>
                            <m:t>(</m:t>
                          </m:r>
                          <m:sSup>
                            <m:e>
                              <m:r>
                                <a:rPr lang="en-US" altLang="en-US" sz="2000" i="1" dirty="0">
                                  <a:latin typeface="Times New Roman"/>
                                  <a:ea typeface="Times New Roman"/>
                                  <a:cs typeface="Times New Roman"/>
                                </a:rPr>
                                <m:t>x</m:t>
                              </m:r>
                            </m:e>
                            <m:sup>
                              <m:r>
                                <a:rPr lang="en-US" altLang="en-US" sz="2000" i="1" dirty="0">
                                  <a:latin typeface="Times New Roman"/>
                                  <a:ea typeface="Times New Roman"/>
                                  <a:cs typeface="Times New Roman"/>
                                </a:rPr>
                                <m:t>0</m:t>
                              </m:r>
                            </m:sup>
                          </m:sSup>
                          <m:r>
                            <a:rPr lang="en-US" altLang="en-US" sz="2000" i="1" dirty="0">
                              <a:latin typeface="Times New Roman"/>
                              <a:ea typeface="Times New Roman"/>
                              <a:cs typeface="Times New Roman"/>
                            </a:rPr>
                            <m:t>)</m:t>
                          </m:r>
                        </m:e>
                      </m:d>
                    </m:e>
                  </m:nary>
                </m:oMath>
              </m:oMathPara>
            </a14:m>
            <a:endParaRPr lang="en-US" altLang="en-US" sz="20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4800600" y="3474720"/>
            <a:ext cx="713232" cy="31089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4B5563"/>
                </a:solidFill>
                <a:latin typeface="Times New Roman"/>
              </a:rPr>
              <a:t>C3</a:t>
            </a:r>
          </a:p>
        </p:txBody>
      </p:sp>
      <p:sp>
        <p:nvSpPr>
          <p:cNvPr id="39" name="Math host target" descr="Native Office Math: target"/>
          <p:cNvSpPr/>
          <p:nvPr/>
        </p:nvSpPr>
        <p:spPr>
          <a:xfrm>
            <a:off x="5513832" y="3255264"/>
            <a:ext cx="5861304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36576" bIns="36576"/>
          <a:lstStyle/>
          <a:p>
            <a:pPr algn="ctr"/>
            <a14:m xmlns:a14="http://schemas.microsoft.com/office/drawing/2010/main" xmlns:m="http://schemas.openxmlformats.org/officeDocument/2006/math">
              <m:oMathPara>
                <m:oMath>
                  <m:sSub>
                    <m:e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z</m:t>
                      </m:r>
                    </m:e>
                    <m:sub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3</m:t>
                      </m:r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,</m:t>
                      </m:r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i</m:t>
                      </m:r>
                    </m:sub>
                  </m:sSub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=</m:t>
                  </m:r>
                  <m:sSub>
                    <m:e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e</m:t>
                      </m:r>
                    </m:e>
                    <m:sub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i</m:t>
                      </m:r>
                    </m:sub>
                  </m:sSub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+</m:t>
                  </m:r>
                  <m:f>
                    <m:fPr>
                      <m:type m:val="bar"/>
                    </m:fPr>
                    <m:num>
                      <m:sSub>
                        <m:e>
                          <m:r>
                            <a:rPr lang="en-US" altLang="en-US" sz="2000" i="1" dirty="0">
                              <a:latin typeface="Times New Roman"/>
                              <a:ea typeface="Times New Roman"/>
                              <a:cs typeface="Times New Roman"/>
                            </a:rPr>
                            <m:t>Ψ</m:t>
                          </m:r>
                        </m:e>
                        <m:sub>
                          <m:r>
                            <a:rPr lang="en-US" altLang="en-US" sz="2000" i="1" dirty="0">
                              <a:latin typeface="Times New Roman"/>
                              <a:ea typeface="Times New Roman"/>
                              <a:cs typeface="Times New Roman"/>
                            </a:rPr>
                            <m:t>B</m:t>
                          </m:r>
                        </m:sub>
                      </m:sSub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−</m:t>
                      </m:r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λ</m:t>
                      </m:r>
                      <m:sSub>
                        <m:e>
                          <m:r>
                            <a:rPr lang="en-US" altLang="en-US" sz="2000" i="1" dirty="0">
                              <a:latin typeface="Times New Roman"/>
                              <a:ea typeface="Times New Roman"/>
                              <a:cs typeface="Times New Roman"/>
                            </a:rPr>
                            <m:t>Ψ</m:t>
                          </m:r>
                        </m:e>
                        <m:sub>
                          <m:r>
                            <a:rPr lang="en-US" altLang="en-US" sz="2000" i="1" dirty="0">
                              <a:latin typeface="Times New Roman"/>
                              <a:ea typeface="Times New Roman"/>
                              <a:cs typeface="Times New Roman"/>
                            </a:rPr>
                            <m:t>E</m:t>
                          </m:r>
                        </m:sub>
                      </m:sSub>
                    </m:num>
                    <m:den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2</m:t>
                      </m:r>
                    </m:den>
                  </m:f>
                </m:oMath>
              </m:oMathPara>
            </a14:m>
            <a:endParaRPr lang="en-US" altLang="en-US" sz="20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800600" y="4325112"/>
            <a:ext cx="713232" cy="31089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6A34A"/>
                </a:solidFill>
                <a:latin typeface="Times New Roman"/>
              </a:rPr>
              <a:t>Sum</a:t>
            </a:r>
          </a:p>
        </p:txBody>
      </p:sp>
      <p:sp>
        <p:nvSpPr>
          <p:cNvPr id="41" name="Math host identity" descr="Native Office Math: identity"/>
          <p:cNvSpPr/>
          <p:nvPr/>
        </p:nvSpPr>
        <p:spPr>
          <a:xfrm>
            <a:off x="5513832" y="4050791"/>
            <a:ext cx="5861304" cy="877824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45720" bIns="45720"/>
          <a:lstStyle/>
          <a:p>
            <a:pPr algn="ctr"/>
            <a14:m xmlns:a14="http://schemas.microsoft.com/office/drawing/2010/main" xmlns:m="http://schemas.openxmlformats.org/officeDocument/2006/math">
              <m:oMathPara>
                <m:oMath>
                  <m:nary>
                    <m:naryPr>
                      <m:chr m:val="∑"/>
                      <m:limLoc m:val="undOvr"/>
                      <m:subHide m:val="off"/>
                      <m:supHide m:val="off"/>
                    </m:naryPr>
                    <m:sub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i</m:t>
                      </m:r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=</m:t>
                      </m:r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1</m:t>
                      </m:r>
                    </m:sub>
                    <m:sup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2</m:t>
                      </m:r>
                    </m:sup>
                    <m:e>
                      <m:d>
                        <m:dPr>
                          <m:begChr m:val="["/>
                          <m:sepChr m:val=""/>
                          <m:endChr m:val="]"/>
                          <m:grow/>
                        </m:dPr>
                        <m:e>
                          <m:sSub>
                            <m:e>
                              <m:r>
                                <a:rPr lang="en-US" altLang="en-US" sz="2000" i="1" dirty="0">
                                  <a:latin typeface="Times New Roman"/>
                                  <a:ea typeface="Times New Roman"/>
                                  <a:cs typeface="Times New Roman"/>
                                </a:rPr>
                                <m:t>ℓ</m:t>
                              </m:r>
                            </m:e>
                            <m:sub>
                              <m:r>
                                <a:rPr lang="en-US" altLang="en-US" sz="2000" i="1" dirty="0">
                                  <a:latin typeface="Times New Roman"/>
                                  <a:ea typeface="Times New Roman"/>
                                  <a:cs typeface="Times New Roman"/>
                                </a:rPr>
                                <m:t>i</m:t>
                              </m:r>
                            </m:sub>
                          </m:sSub>
                          <m:r>
                            <a:rPr lang="en-US" altLang="en-US" sz="2000" i="1" dirty="0">
                              <a:latin typeface="Times New Roman"/>
                              <a:ea typeface="Times New Roman"/>
                              <a:cs typeface="Times New Roman"/>
                            </a:rPr>
                            <m:t>+</m:t>
                          </m:r>
                          <m:sSub>
                            <m:e>
                              <m:r>
                                <a:rPr lang="en-US" altLang="en-US" sz="2000" i="1" dirty="0">
                                  <a:latin typeface="Times New Roman"/>
                                  <a:ea typeface="Times New Roman"/>
                                  <a:cs typeface="Times New Roman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US" altLang="en-US" sz="2000" i="1" dirty="0">
                                  <a:latin typeface="Times New Roman"/>
                                  <a:ea typeface="Times New Roman"/>
                                  <a:cs typeface="Times New Roman"/>
                                </a:rPr>
                                <m:t>3</m:t>
                              </m:r>
                              <m:r>
                                <a:rPr lang="en-US" altLang="en-US" sz="2000" i="1" dirty="0">
                                  <a:latin typeface="Times New Roman"/>
                                  <a:ea typeface="Times New Roman"/>
                                  <a:cs typeface="Times New Roman"/>
                                </a:rPr>
                                <m:t>,</m:t>
                              </m:r>
                              <m:r>
                                <a:rPr lang="en-US" altLang="en-US" sz="2000" i="1" dirty="0">
                                  <a:latin typeface="Times New Roman"/>
                                  <a:ea typeface="Times New Roman"/>
                                  <a:cs typeface="Times New Roman"/>
                                </a:rPr>
                                <m:t>i</m:t>
                              </m:r>
                            </m:sub>
                          </m:sSub>
                        </m:e>
                      </m:d>
                    </m:e>
                  </m:nary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=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G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(</m:t>
                  </m:r>
                  <m:sSup>
                    <m:e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x</m:t>
                      </m:r>
                    </m:e>
                    <m:sup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c</m:t>
                      </m:r>
                    </m:sup>
                  </m:sSup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)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−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G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(</m:t>
                  </m:r>
                  <m:sSup>
                    <m:e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x</m:t>
                      </m:r>
                    </m:e>
                    <m:sup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0</m:t>
                      </m:r>
                    </m:sup>
                  </m:sSup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)</m:t>
                  </m:r>
                </m:oMath>
              </m:oMathPara>
            </a14:m>
            <a:endParaRPr lang="en-US" altLang="en-US" sz="20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2" name="Teacher runtime boundary"/>
          <p:cNvSpPr/>
          <p:nvPr/>
        </p:nvSpPr>
        <p:spPr>
          <a:xfrm>
            <a:off x="4846320" y="5129784"/>
            <a:ext cx="6528816" cy="713232"/>
          </a:xfrm>
          <a:prstGeom prst="roundRect">
            <a:avLst/>
          </a:prstGeom>
          <a:solidFill>
            <a:srgbClr val="FFF3CD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Teacher only: four profiles are offline. Runtime keeps one masked argmax and no coordinator.</a:t>
            </a:r>
          </a:p>
        </p:txBody>
      </p:sp>
    </p:spTree>
    <p:extLst>
      <p:ext uri="{BB962C8B-B14F-4D97-AF65-F5344CB8AC3E}">
        <p14:creationId xmlns:p14="http://schemas.microsoft.com/office/powerpoint/2010/main" val="3382300312"/>
      </p:ext>
    </p:extLst>
  </p:cSld>
  <p:clrMapOvr>
    <a:masterClrMapping/>
  </p:clrMapOvr>
</p:sld>
</file>

<file path=ppt/theme/theme1.xml><?xml version="1.0" encoding="utf-8"?>
<a:theme xmlns:a="http://schemas.openxmlformats.org/drawingml/2006/main" name="佈景主題1">
  <a:themeElements>
    <a:clrScheme name="自訂 1">
      <a:dk1>
        <a:srgbClr val="35377F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正式文體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hk1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8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佈景主題1" id="{929F1AC0-EDE5-4E84-B296-76809860B882}" vid="{D422FDD8-D1F8-4744-A7BD-E0F19A28C553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42497</TotalTime>
  <Words>88</Words>
  <Application>Microsoft Office PowerPoint</Application>
  <PresentationFormat>寬螢幕</PresentationFormat>
  <Paragraphs>18</Paragraphs>
  <Slides>3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9" baseType="lpstr">
      <vt:lpstr>Arial</vt:lpstr>
      <vt:lpstr>Calibri</vt:lpstr>
      <vt:lpstr>Symbol</vt:lpstr>
      <vt:lpstr>Tahoma</vt:lpstr>
      <vt:lpstr>Times New Roman</vt:lpstr>
      <vt:lpstr>佈景主題1</vt:lpstr>
      <vt:lpstr>Hierarchical Reinforcement Learning for RIS-Assisted Energy-Efficient RAN</vt:lpstr>
      <vt:lpstr>Outline</vt:lpstr>
      <vt:lpstr>Abstract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Few-Shot Transfer Learning Approach Using Text-Label Embedding with Legal Attributes for Law Article Prediction</dc:title>
  <dc:creator>Windows 使用者</dc:creator>
  <cp:lastModifiedBy>柏宏 吳</cp:lastModifiedBy>
  <cp:revision>1330</cp:revision>
  <dcterms:created xsi:type="dcterms:W3CDTF">2019-10-21T01:22:34Z</dcterms:created>
  <dcterms:modified xsi:type="dcterms:W3CDTF">2026-06-12T15:51:03Z</dcterms:modified>
</cp:coreProperties>
</file>