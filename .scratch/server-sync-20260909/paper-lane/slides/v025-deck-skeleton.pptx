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63235" autoAdjust="0"/>
  </p:normalViewPr>
  <p:slideViewPr>
    <p:cSldViewPr snapToGrid="0">
      <p:cViewPr varScale="1">
        <p:scale>
          <a:sx n="120" d="100"/>
          <a:sy n="120" d="100"/>
        </p:scale>
        <p:origin x="96" y="24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52DD6A24-A98E-4DBF-988F-7B761AB25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6BD11D22-EE79-47CD-83AD-EA030A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867"/>
            <a:endParaRPr lang="zh-TW" altLang="en-US" b="1" dirty="0"/>
          </a:p>
          <a:p>
            <a:endParaRPr lang="en-US" altLang="zh-TW" dirty="0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00DB4106-20CC-492E-9678-35BDA6FF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70142" indent="-29620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4834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8767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2701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6634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68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4501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8435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CEEE4D-7D97-4912-9E8F-A3A237C6348D}" type="slidenum">
              <a:rPr kumimoji="0" lang="de-DE" altLang="zh-TW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zh-TW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8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5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351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boundary: the method core is frozen, the claim surface is still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map of the delta; every later slide is downstream of one of these four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page: unchanged background plus one new declared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that the three-objective reward vector is gone, not re-weighted.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pivot: occupancy is no longer a fairness concern, it is a power-consumption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this one equation is the whole power model; there is no second historical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both places occupancy appears; that coupling retires load balancing as its own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vocabulary is the honesty device: slow convergence is reported, not engineered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sentence to land: this work claims no guaranteed-rate endpoint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efficiency correction out loud; it is the most quotable error the successor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boundary sentence aloud once; it is the shortest defence against the commonest misreading.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here: everything downstream is a device for improving this one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rename early; the audience will otherwise read Ψ with its V0.23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objective gap is a concession, not a footnote — state it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continuity of question with discontinuity of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load-bearing replacement for the retired LC-SRS teacher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line: an exact identity is a bookkeeping guarantee, never a performance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the V0.23 line that this is not a vote — still true, still the commonest misreading.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equation to take home: the externality term is absorbed, not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withdrawn availability phrasing is a disclosed correction; say it rather than let a reviewer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discipline is what keeps mechanism evidence from being read as performance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objects, three receipt columns; conflating any two is the failure this page prevents.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sentence: the approximation lives in selection only, never in the physics or the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rule: no arm may rank, prune or veto using the score it has had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concession to state plainly: a coordinator now exists; what is preserved is single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Correcting an over-claim in public is cheaper than having it corrected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V0.23's reference-centring is gone; the structural zero is now a gate, not a subtraction.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ceiling before the ambition: a learner cannot beat the exact optimiser it approximates.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distinction separates a Level A claim from a merely suggestive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mechanism certificate; the operational certificate is realised efficiency against the certified comparator.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pre-commitment that matters: a null result is an outcome, not a reason to re-open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footer verbatim; it is the distinction reviewers most often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idealisations, stated in place, each bounding the reach of any positive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symbol table: the fastest way for a reader to re-date any slide they have seen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csie.ntpu.edu.tw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csie.ntpu.edu.tw/" TargetMode="External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6255BC9-C893-4296-A997-467D7DAD9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9977021" cy="137345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Hierarchical Reinforcement Learning for RIS-Assisted Energy-Efficient RAN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CDE54-4770-4C4E-AECD-56FD48A5EA92}"/>
              </a:ext>
            </a:extLst>
          </p:cNvPr>
          <p:cNvSpPr txBox="1"/>
          <p:nvPr/>
        </p:nvSpPr>
        <p:spPr>
          <a:xfrm>
            <a:off x="577434" y="3217012"/>
            <a:ext cx="11037131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Hao Zhou1 , Long Kong1 , Medhat Elsayed2 , Majid Bavand2 , Raimundas Gaigalas3 , Steve Furr2 , and Melike Erol-Kantarci1 , Senior Member, IEEE</a:t>
            </a:r>
          </a:p>
          <a:p>
            <a:pPr algn="ctr"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GLOBECOM 2022 - 2022 IEEE Global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14807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A09081-3339-92F0-D6B1-05D3915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Outline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3481-2081-98BE-1CAD-0250504E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1A7554-8924-48F5-9FA5-C44C8E5DDDA0}"/>
              </a:ext>
            </a:extLst>
          </p:cNvPr>
          <p:cNvSpPr txBox="1">
            <a:spLocks/>
          </p:cNvSpPr>
          <p:nvPr/>
        </p:nvSpPr>
        <p:spPr bwMode="auto">
          <a:xfrm>
            <a:off x="565151" y="1021977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76200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0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2382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619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 marL="2000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  <a:lvl6pPr marL="24574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6pPr>
            <a:lvl7pPr marL="29146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7pPr>
            <a:lvl8pPr marL="33718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8pPr>
            <a:lvl9pPr marL="38290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and system model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Hierarchical reinforcement learning for energy-efficient Ran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5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448ACB-ABD4-4705-87EB-1448D637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2F1F8D-267C-480E-9AE6-50B09A16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Reconfigurable intelligent surface (RIS) is emerging as a promising technology to boost the energy efficiency (EE) of 5G beyond and 6G networks.</a:t>
            </a:r>
          </a:p>
        </p:txBody>
      </p:sp>
    </p:spTree>
    <p:extLst>
      <p:ext uri="{BB962C8B-B14F-4D97-AF65-F5344CB8AC3E}">
        <p14:creationId xmlns:p14="http://schemas.microsoft.com/office/powerpoint/2010/main" val="3382300312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1417320"/>
            <a:ext cx="11055096" cy="2331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42416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Multi-Catfish MCRL V0.25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32304"/>
            <a:ext cx="10424160" cy="12252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physics successor: one terminal objective, a memoryless rate-target physics chain, and a two-layer decision structure that is evaluated rather than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886200"/>
            <a:ext cx="11055096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Baseline: V0.25 successor declaration v1.0 with amendments v1.1–v1.9; stages 6–8 contract; design freeze and closure rule.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Status: PAPER-LANE-A v2 DRAFT. Method description frozen, empirical surface empty. This deck states no efficacy.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Every result slot reads ⟨結果待填⟩ until the formal matrix is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What the Succession Invalidates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V0.23 teaching claims are retired; each has a named successor.</a:t>
            </a:r>
          </a:p>
        </p:txBody>
      </p:sp>
      <p:sp>
        <p:nvSpPr>
          <p:cNvPr id="5" name="Header 1"/>
          <p:cNvSpPr/>
          <p:nvPr/>
        </p:nvSpPr>
        <p:spPr>
          <a:xfrm>
            <a:off x="566928" y="1325880"/>
            <a:ext cx="301752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Retired</a:t>
            </a:r>
          </a:p>
        </p:txBody>
      </p:sp>
      <p:sp>
        <p:nvSpPr>
          <p:cNvPr id="6" name="Header 2"/>
          <p:cNvSpPr/>
          <p:nvPr/>
        </p:nvSpPr>
        <p:spPr>
          <a:xfrm>
            <a:off x="3584448" y="1325880"/>
            <a:ext cx="406908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Successor</a:t>
            </a:r>
          </a:p>
        </p:txBody>
      </p:sp>
      <p:sp>
        <p:nvSpPr>
          <p:cNvPr id="7" name="Header 3"/>
          <p:cNvSpPr/>
          <p:nvPr/>
        </p:nvSpPr>
        <p:spPr>
          <a:xfrm>
            <a:off x="7653528" y="1325880"/>
            <a:ext cx="3968496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Why it matters</a:t>
            </a:r>
          </a:p>
        </p:txBody>
      </p:sp>
      <p:sp>
        <p:nvSpPr>
          <p:cNvPr id="8" name="Cell 1-1"/>
          <p:cNvSpPr/>
          <p:nvPr/>
        </p:nvSpPr>
        <p:spPr>
          <a:xfrm>
            <a:off x="566928" y="1801368"/>
            <a:ext cx="301752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Segment-anchored power</a:t>
            </a:r>
          </a:p>
        </p:txBody>
      </p:sp>
      <p:sp>
        <p:nvSpPr>
          <p:cNvPr id="9" name="Cell 1-2"/>
          <p:cNvSpPr/>
          <p:nvPr/>
        </p:nvSpPr>
        <p:spPr>
          <a:xfrm>
            <a:off x="3584448" y="1801368"/>
            <a:ext cx="406908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Memoryless rate-target power control, re-solved every step</a:t>
            </a:r>
          </a:p>
        </p:txBody>
      </p:sp>
      <p:sp>
        <p:nvSpPr>
          <p:cNvPr id="10" name="Cell 1-3"/>
          <p:cNvSpPr/>
          <p:nvPr/>
        </p:nvSpPr>
        <p:spPr>
          <a:xfrm>
            <a:off x="7653528" y="1801368"/>
            <a:ext cx="3968496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segment, no entry power, no cross-step state</a:t>
            </a:r>
          </a:p>
        </p:txBody>
      </p:sp>
      <p:sp>
        <p:nvSpPr>
          <p:cNvPr id="11" name="Cell 2-1"/>
          <p:cNvSpPr/>
          <p:nvPr/>
        </p:nvSpPr>
        <p:spPr>
          <a:xfrm>
            <a:off x="566928" y="2800350"/>
            <a:ext cx="301752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Shannon rate; mask-based service</a:t>
            </a:r>
          </a:p>
        </p:txBody>
      </p:sp>
      <p:sp>
        <p:nvSpPr>
          <p:cNvPr id="12" name="Cell 2-2"/>
          <p:cNvSpPr/>
          <p:nvPr/>
        </p:nvSpPr>
        <p:spPr>
          <a:xfrm>
            <a:off x="3584448" y="2800350"/>
            <a:ext cx="406908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ACM staircase, airtime TDM, decodability after the solve</a:t>
            </a:r>
          </a:p>
        </p:txBody>
      </p:sp>
      <p:sp>
        <p:nvSpPr>
          <p:cNvPr id="13" name="Cell 2-3"/>
          <p:cNvSpPr/>
          <p:nvPr/>
        </p:nvSpPr>
        <p:spPr>
          <a:xfrm>
            <a:off x="7653528" y="2800350"/>
            <a:ext cx="3968496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Occupancy now reaches energy through required SINR</a:t>
            </a:r>
          </a:p>
        </p:txBody>
      </p:sp>
      <p:sp>
        <p:nvSpPr>
          <p:cNvPr id="14" name="Cell 3-1"/>
          <p:cNvSpPr/>
          <p:nvPr/>
        </p:nvSpPr>
        <p:spPr>
          <a:xfrm>
            <a:off x="566928" y="3799331"/>
            <a:ext cx="301752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LC-SRS teacher C3</a:t>
            </a:r>
          </a:p>
        </p:txBody>
      </p:sp>
      <p:sp>
        <p:nvSpPr>
          <p:cNvPr id="15" name="Cell 3-2"/>
          <p:cNvSpPr/>
          <p:nvPr/>
        </p:nvSpPr>
        <p:spPr>
          <a:xfrm>
            <a:off x="3584448" y="3799331"/>
            <a:ext cx="406908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Singleton increments plus a set-level interaction residual</a:t>
            </a:r>
          </a:p>
        </p:txBody>
      </p:sp>
      <p:sp>
        <p:nvSpPr>
          <p:cNvPr id="16" name="Cell 3-3"/>
          <p:cNvSpPr/>
          <p:nvPr/>
        </p:nvSpPr>
        <p:spPr>
          <a:xfrm>
            <a:off x="7653528" y="3799331"/>
            <a:ext cx="3968496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externality term is absorbed by C1, not deleted</a:t>
            </a:r>
          </a:p>
        </p:txBody>
      </p:sp>
      <p:sp>
        <p:nvSpPr>
          <p:cNvPr id="17" name="Cell 4-1"/>
          <p:cNvSpPr/>
          <p:nvPr/>
        </p:nvSpPr>
        <p:spPr>
          <a:xfrm>
            <a:off x="566928" y="4798314"/>
            <a:ext cx="301752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One-pass three-head argmax</a:t>
            </a:r>
          </a:p>
        </p:txBody>
      </p:sp>
      <p:sp>
        <p:nvSpPr>
          <p:cNvPr id="18" name="Cell 4-2"/>
          <p:cNvSpPr/>
          <p:nvPr/>
        </p:nvSpPr>
        <p:spPr>
          <a:xfrm>
            <a:off x="3584448" y="4798314"/>
            <a:ext cx="406908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Per-user proposal, then a set-level selector over a catalogue</a:t>
            </a:r>
          </a:p>
        </p:txBody>
      </p:sp>
      <p:sp>
        <p:nvSpPr>
          <p:cNvPr id="19" name="Cell 4-3"/>
          <p:cNvSpPr/>
          <p:nvPr/>
        </p:nvSpPr>
        <p:spPr>
          <a:xfrm>
            <a:off x="7653528" y="4798314"/>
            <a:ext cx="3968496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coordinator now exists and is under evaluation</a:t>
            </a:r>
          </a:p>
        </p:txBody>
      </p:sp>
      <p:sp>
        <p:nvSpPr>
          <p:cNvPr id="20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set-level layer is a layer under evaluation, not a layer assumed effective.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LEO Context: Dynamics and Narrow Beams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CARRIED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Unchanged background physics, plus one new declared visibility rule.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Fast geometry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Satellites move quickly past ground users.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Slant range and off-axis angle drift within and across steps.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Users must repeatedly re-select a serving beam.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Narrow steerable beams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Transmit gain falls sharply off-axis.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Geometry reaches power only through link gain times transmit gain.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That product is the sole entrance of angle into energy.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Minimum elevation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NEW: below 10° a satellite is not a candidate.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Crossing the threshold mid-step stops radiating and decoding there.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Bits and energy stop together; the rest of the step is unserved.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10° threshold is a declared model choice and a registered deviation from the 0° legacy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Why Multi-Objective Handover Fails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CARRIED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case for one canonical endpoint is untouched by the succession.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983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Conventional MODQN: heuristic scalarisation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Disparate metrics summed with hand-chosen weights.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Bits per second, handover counts and user ratios cannot physically sum into an efficiency.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Greedy link optimisation ignores shared activation cost and non-focal harm.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Load balancing appears as a third reward that duplicates the first.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V0.25: one canonical endpoint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single terminal objective: pooled ratio-of-sums efficiency.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QoS is reported as co-primary outcomes and acts as a non-inferiority condition, never as a weight.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Occupancy is not a separate objective; it already enters energy through the required-SINR staircase.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Decomposition assigns credit. It is never a vote.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Coupled Resources Under Airtime TDM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Occupancy reaches energy twice: the rate denominator and required SINR.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Beam activation cost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Lighting a beam draws chain circuitry plus a declared processing increment.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One beam maps to one switchable RF chain — declared, not surveyed.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Emptying a beam is the only way to remove that cost.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Equal-airtime TDM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Users on a beam take turns over the whole beam bandwidth.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Each gets a 1/occupancy airtime share, aligned by user index.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So beam RF power is that one user's power; max-over-users aggregation retires.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Interference is a fixed point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Same-colour interference is a function of the whole power vector.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Cross gains are keyed by satellite and beam chain, not folded to satellite level.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Colour belongs to the chain; a user inherits its serving chain's colour.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Memoryless Rate-Target Power Control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Power is re-solved every step; nothing at all is carried across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Power</a:t>
            </a:r>
          </a:p>
        </p:txBody>
      </p:sp>
      <p:sp>
        <p:nvSpPr>
          <p:cNvPr id="6" name="Math host power" descr="Native Office Math: power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p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v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>min</m:t>
                  </m:r>
                  <m:d>
                    <m:dPr>
                      <m:begChr m:val="{"/>
                      <m:sepChr m:val=""/>
                      <m:endChr m:val="}"/>
                      <m:grow/>
                    </m:dPr>
                    <m:e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p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</m:sup>
                      </m:s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r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s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v</m:t>
                                  </m:r>
                                </m:sub>
                              </m:s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(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t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sSup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u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s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v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t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;</m:t>
                                  </m:r>
                                  <m:r>
                                    <a:rPr lang="en-US" altLang="en-US" sz="2000" b="1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p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u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s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)</m:t>
                          </m:r>
                          <m:r>
                            <a:rPr lang="en-US" altLang="en-US" sz="2000" i="0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 xml:space="preserve"> </m:t>
                          </m:r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G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u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s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v</m:t>
                                  </m:r>
                                </m:sub>
                              </m:s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(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t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)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e>
                  </m:d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replaced the recursion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segment, no entry power, no segment age, no cross-step state. Power follows this step's rate target and this step's geometry and interference.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Geometry enters only through composite link gain times transmit pattern gain — the denominator above. The cap is a physical ceiling, not a feasibility screen.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In-place deviation statement: a history-recursive rule was replaced during simulator development, and the register discloses that timing.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right-hand side is a standard interference function, so iterating from zero converges to the unique capped fixed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Discrete ACM Staircase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Rate is a staircase of frozen modes divided by beam occupancy.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7675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Rate</a:t>
            </a:r>
          </a:p>
        </p:txBody>
      </p:sp>
      <p:sp>
        <p:nvSpPr>
          <p:cNvPr id="6" name="Math host acm" descr="Native Office Math: acm"/>
          <p:cNvSpPr/>
          <p:nvPr/>
        </p:nvSpPr>
        <p:spPr>
          <a:xfrm>
            <a:off x="1389888" y="1325880"/>
            <a:ext cx="1023213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R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v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f>
                    <m:fPr>
                      <m:type m:val="bar"/>
                    </m:fPr>
                    <m:num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B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w</m:t>
                          </m:r>
                        </m:sup>
                      </m:sSup>
                      <m:r>
                        <a:rPr lang="en-US" altLang="en-US" sz="2000" i="0" dirty="0">
                          <a:latin typeface="Times New Roman"/>
                          <a:ea typeface="Times New Roman"/>
                          <a:cs typeface="Times New Roman"/>
                        </a:rPr>
                        <m:t xml:space="preserve"> </m:t>
                      </m:r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ν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m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v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)</m:t>
                      </m:r>
                    </m:den>
                  </m:f>
                </m:oMath>
              </m:oMathPara>
            </a14:m>
            <a:endParaRPr lang="en-US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2382012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Mode</a:t>
            </a:r>
          </a:p>
        </p:txBody>
      </p:sp>
      <p:sp>
        <p:nvSpPr>
          <p:cNvPr id="8" name="Math host modcod" descr="Native Office Math: modcod"/>
          <p:cNvSpPr/>
          <p:nvPr/>
        </p:nvSpPr>
        <p:spPr>
          <a:xfrm>
            <a:off x="1389888" y="2231136"/>
            <a:ext cx="1023213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m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v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r</m:t>
                      </m:r>
                    </m:sup>
                  </m:sSub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>min</m:t>
                  </m:r>
                  <m:d>
                    <m:dPr>
                      <m:begChr m:val="{"/>
                      <m:sepChr m:val=""/>
                      <m:endChr m:val="}"/>
                      <m:grow/>
                    </m:dPr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m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∈</m:t>
                      </m:r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ℳ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: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w</m:t>
                              </m:r>
                            </m:sup>
                          </m:sSup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s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)</m:t>
                          </m:r>
                        </m:den>
                      </m:f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≥</m:t>
                      </m:r>
                      <m:r>
                        <a:rPr lang="en-US" altLang="en-US" sz="2000" i="0" dirty="0">
                          <a:latin typeface="Times New Roman"/>
                          <a:ea typeface="Times New Roman"/>
                          <a:cs typeface="Times New Roman"/>
                        </a:rPr>
                        <m:t xml:space="preserve"> </m:t>
                      </m:r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R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⋆</m:t>
                          </m:r>
                        </m:sup>
                      </m:sSup>
                    </m:e>
                  </m:d>
                </m:oMath>
              </m:oMathPara>
            </a14:m>
            <a:endParaRPr lang="en-US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3287268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SINR</a:t>
            </a:r>
          </a:p>
        </p:txBody>
      </p:sp>
      <p:sp>
        <p:nvSpPr>
          <p:cNvPr id="10" name="Math host gammar" descr="Native Office Math: gammar"/>
          <p:cNvSpPr/>
          <p:nvPr/>
        </p:nvSpPr>
        <p:spPr>
          <a:xfrm>
            <a:off x="1389888" y="3136391"/>
            <a:ext cx="10232136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Γ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r</m:t>
                      </m:r>
                    </m:sub>
                  </m:sSub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v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)</m:t>
                      </m:r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γ</m:t>
                      </m:r>
                    </m:e>
                    <m:sub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m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r</m:t>
                          </m:r>
                        </m:sup>
                      </m:sSup>
                    </m:sub>
                  </m:sSub>
                </m:oMath>
              </m:oMathPara>
            </a14:m>
            <a:endParaRPr lang="en-US" altLang="en-US" sz="2000" dirty="0"/>
          </a:p>
        </p:txBody>
      </p:sp>
      <p:sp>
        <p:nvSpPr>
          <p:cNvPr id="11" name="Reading panel"/>
          <p:cNvSpPr/>
          <p:nvPr/>
        </p:nvSpPr>
        <p:spPr>
          <a:xfrm>
            <a:off x="566928" y="4133087"/>
            <a:ext cx="11055096" cy="21762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Reading the staircase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Modes come row by row from EN 302 307-1 Table 13, with a 1.7 dB implementation margin and a 0.20 roll-off conversion; no DVB-S2X performance is claimed.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rate target is a synthetic operating point that fixes the power set-point only. Occupancy sits in the rate denominator and in the required-SINR argument.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Coupled Solve and Its Certificates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Every simultaneously radiating configuration is solved as one system.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Why it is coupled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Each link's required power depends on the interference it sees.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That interference depends on every other link's power.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So the per-link rule is a system, not a closed form.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Iteration starts from the all-zero vector.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Convergence rule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Judged on the update itself, not on a residual that special-cases capped rows.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Max absolute change 1e-10 W, or max relative change 1e-9.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Iteration budget 65 536.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Three certificates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CONVERGED — tolerance reached.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CONVERGED_SLOW — budget spent, last iterations monotone and small.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INVALID — non-finite or non-monotone; an implementation fault, and the unit halts.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Infeasible or slow states are legal physics, not errors.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Share of CONVERGED_SLOW configurations: ⟨結果待填⟩ — a physical finding to discuss, never a reason to change the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Service Is Decodability After the Solve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mask says what may be chosen; decodability says what becomes a 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Serve</a:t>
            </a:r>
          </a:p>
        </p:txBody>
      </p:sp>
      <p:sp>
        <p:nvSpPr>
          <p:cNvPr id="6" name="Math host service" descr="Native Office Math: service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γ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v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≥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γ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,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   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γ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1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.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4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4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1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8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>d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>B</m:t>
                  </m:r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changed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OUT: served meant a mask-passing action whose required power fitted under the cap. IN: the realised SINR clears the frozen threshold, judged after the joint solve.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user who cannot reach the rate target under the cap is flagged rate_target_infeasible, transmits at the cap, and keeps its partial delivery, interference and energy.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Unserved means below the decodability threshold. It does not mean the rate target was missed; those are two separate reported fields.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Availability splits three ways — decode, useful, fully-served user-steps — beside a separate rate-attainment rate. No guaranteed-rate endpoint is claimed.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Energy: Saturated Efficiency and Terms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amplifier law applies per slot, then integrates by airtime.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7675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Power</a:t>
            </a:r>
          </a:p>
        </p:txBody>
      </p:sp>
      <p:sp>
        <p:nvSpPr>
          <p:cNvPr id="6" name="Math host pnet" descr="Native Office Math: pnet"/>
          <p:cNvSpPr/>
          <p:nvPr/>
        </p:nvSpPr>
        <p:spPr>
          <a:xfrm>
            <a:off x="1389888" y="1325880"/>
            <a:ext cx="1023213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P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N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∈</m:t>
                      </m:r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𝒮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​</m:t>
                              </m:r>
                            </m:sup>
                            <m:e>
                              <m:sSubSup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s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v</m:t>
                                  </m:r>
                                </m:sub>
                                <m:sup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p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)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sSub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s</m:t>
                              </m:r>
                            </m:sub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sup>
                          </m:sSub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(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)</m:t>
                          </m:r>
                          <m:r>
                            <a:rPr lang="en-US" altLang="en-US" sz="2000" i="0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 xml:space="preserve"> </m:t>
                          </m:r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P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c</m:t>
                              </m:r>
                            </m:sup>
                          </m:s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+</m:t>
                          </m:r>
                          <m:r>
                            <a:rPr lang="en-US" altLang="en-US" sz="2000" i="0" dirty="0">
                              <a:latin typeface="Cambria Math"/>
                              <a:ea typeface="Cambria Math"/>
                              <a:cs typeface="Cambria Math"/>
                            </a:rPr>
                            <m:t>𝟙</m:t>
                          </m:r>
                          <m:d>
                            <m:dPr>
                              <m:begChr m:val="{"/>
                              <m:sepChr m:val=""/>
                              <m:endChr m:val="}"/>
                              <m:grow/>
                            </m:dPr>
                            <m:e>
                              <m:sSubSup>
                                <m:e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a:rPr lang="en-US" altLang="en-US" sz="2000" i="1" dirty="0">
                                      <a:latin typeface="Times New Roman"/>
                                      <a:ea typeface="Times New Roman"/>
                                      <a:cs typeface="Times New Roman"/>
                                    </a:rPr>
                                    <m:t>a</m:t>
                                  </m:r>
                                </m:sup>
                              </m:sSub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(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t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)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&gt;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0</m:t>
                              </m:r>
                            </m:e>
                          </m:d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P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b</m:t>
                              </m:r>
                            </m:sup>
                          </m:sSup>
                        </m:e>
                      </m:d>
                    </m:e>
                  </m:nary>
                </m:oMath>
              </m:oMathPara>
            </a14:m>
            <a:endParaRPr lang="en-US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2382012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Sum</a:t>
            </a:r>
          </a:p>
        </p:txBody>
      </p:sp>
      <p:sp>
        <p:nvSpPr>
          <p:cNvPr id="8" name="Math host energy" descr="Native Office Math: energy"/>
          <p:cNvSpPr/>
          <p:nvPr/>
        </p:nvSpPr>
        <p:spPr>
          <a:xfrm>
            <a:off x="1389888" y="2231136"/>
            <a:ext cx="10232136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k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=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0</m:t>
                          </m:r>
                        </m:sub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4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6</m:t>
                          </m:r>
                        </m:sup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P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N</m:t>
                              </m:r>
                            </m:sup>
                          </m:sSup>
                        </m:e>
                      </m:nary>
                    </m:e>
                  </m:nary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k</m:t>
                      </m:r>
                    </m:e>
                  </m:d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 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Δ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k</m:t>
                      </m:r>
                    </m:sub>
                  </m:sSub>
                </m:oMath>
              </m:oMathPara>
            </a14:m>
            <a:endParaRPr lang="en-US" altLang="en-US" sz="2000" dirty="0"/>
          </a:p>
        </p:txBody>
      </p:sp>
      <p:sp>
        <p:nvSpPr>
          <p:cNvPr id="9" name="Reading panel"/>
          <p:cNvSpPr/>
          <p:nvPr/>
        </p:nvSpPr>
        <p:spPr>
          <a:xfrm>
            <a:off x="566928" y="3227832"/>
            <a:ext cx="11055096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Reading the energy chain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square-root amplifier law is unchanged in shape; only its reading is corrected. The 0.35 figure is the saturated efficiency, not the operating-point efficiency.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realised efficiency at the cap, and again near the single-user pivot, is far lower. The text says saturated efficiency everywhere and never says 35% efficiency.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Idle states are explicit: zero idle power in the primary setting, a declared 12-chain census in the sensitivity setting. Integration uses 48 boundaries per 30.08 s step.</a:t>
            </a:r>
          </a:p>
        </p:txBody>
      </p:sp>
      <p:sp>
        <p:nvSpPr>
          <p:cNvPr id="10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One beam to one switchable chain, and a named common processing increment: both are declared conditions, not measurements.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Metric Boundary, Stated Verbatim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This sentence appears verbatim in the text and in every receipt header.</a:t>
            </a:r>
          </a:p>
        </p:txBody>
      </p:sp>
      <p:sp>
        <p:nvSpPr>
          <p:cNvPr id="5" name="Verbatim boundary sentence"/>
          <p:cNvSpPr/>
          <p:nvPr/>
        </p:nvSpPr>
        <p:spPr>
          <a:xfrm>
            <a:off x="566928" y="1325880"/>
            <a:ext cx="11055096" cy="2103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"Pooled successfully decoded forward-downlink information bits per joule of modelled partial-payload DC energy, comprising user-link PA supply, the declared per-beam chain circuitry and a declared common processing increment, with explicitly stated idle states; spacecraft bus, unmodelled payload functions, feeder and inter-satellite links, and ground/terminal energy are outside this metric."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566160"/>
            <a:ext cx="11055096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Omitted common energy does not cancel between policies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Add a policy-independent energy term to both denominators: the sign of the difference of the two ratios then depends on delivered bits as well as on energy. So whenever two policies deliver different bit totals, a partial-payload-scale gain does not transfer to constellation scale.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Every efficiency claim must therefore name its boundary, and no result may be restated at a wider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Single Terminal Objective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Pooled ratio-of-sums efficiency, with QoS beside it as co-primary.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Ratio</a:t>
            </a:r>
          </a:p>
        </p:txBody>
      </p:sp>
      <p:sp>
        <p:nvSpPr>
          <p:cNvPr id="6" name="Math host eta" descr="Native Office Math: eta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η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N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f>
                    <m:fPr>
                      <m:type m:val="bar"/>
                    </m:fPr>
                    <m:num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</m:naryPr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​</m:t>
                          </m:r>
                        </m:sub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​</m:t>
                          </m:r>
                        </m:sup>
                        <m:e>
                          <m:r>
                            <a:rPr lang="en-US" altLang="en-US" sz="2000" i="0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 xml:space="preserve"> </m:t>
                          </m:r>
                        </m:e>
                      </m:nary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num>
                    <m:den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</m:naryPr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​</m:t>
                          </m:r>
                        </m:sub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​</m:t>
                          </m:r>
                        </m:sup>
                        <m:e>
                          <m:r>
                            <a:rPr lang="en-US" altLang="en-US" sz="2000" i="0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 xml:space="preserve"> </m:t>
                          </m:r>
                        </m:e>
                      </m:nary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den>
                  </m:f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Rules that travel with the ratio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Total successfully decoded bits over total network energy inside the declared boundary, across the whole claim panel.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 may not be rewritten as a mean of per-row efficiencies, and it may not be read as a weighted sum of reward components.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Co-primary outcomes: fully-served availability, handover rate, priced per-user-step handover cost, and rate-target attainment.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These are non-inferiority conditions. A contrast that passes on efficiency but fails a QoS bound does not stand.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three-objective long-run formulation of the previous version is withdrawn, not re-weighted.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Handover and QoS Pricing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per-user handover cost is renamed, re-priced, and charged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Price</a:t>
            </a:r>
          </a:p>
        </p:txBody>
      </p:sp>
      <p:sp>
        <p:nvSpPr>
          <p:cNvPr id="6" name="Math host phi" descr="Native Office Math: phi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Φ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∈</m:t>
                      </m:r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𝒰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Φ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</m:sub>
                      </m:sSub>
                    </m:e>
                  </m:nary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,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   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φ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0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.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5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 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κ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,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   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φ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1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.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0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 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κ</m:t>
                  </m:r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Event accounting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Events are classified by physical identity: hold, intra-satellite beam change, inter-satellite handover, re-entry, and dwell-boundary cell re-key.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Re-entry prices as inter-satellite if the satellite differs from the pre-outage incumbent, otherwise as a beam change. A re-key with no beam change is not a handover.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'before' state is always the incumbent association carried from the previous step — never the same-step reference proposal.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Prices stand for signalling and QoS preference only. They are not time and they are not joules.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Symbol succession: the per-user handover cost moves to Φ so that Ψ can be reserved for the interaction residual.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Residual and the Objective Gap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Selection and learning share one residual; the ratio is what is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Score</a:t>
            </a:r>
          </a:p>
        </p:txBody>
      </p:sp>
      <p:sp>
        <p:nvSpPr>
          <p:cNvPr id="6" name="Math host omega" descr="Native Office Math: omega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B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 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Φ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8496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Definition and its honest caveat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Whole-network delivered bits, minus the frozen bits-per-joule multiplier times whole-network energy, minus the priced handover term counted exactly once.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multiplier is the reference efficiency frozen at calibration, never replaced by a post-outcome price. The residual is normalised before use in learning.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Objective gap, stated once: a higher residual does not imply a higher realised pooled ratio. Dinkelbach methods update the multiplier; this design does not.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So every claim is stated on the realised pooled ratio, and the residual stays a target-consistent but non-equivalent proxy for selection and training.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Attribution Question, Restated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Three causal channels survive; two now attach to different objects.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one move is worth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V0.23: focal opening-step surplus, with the whole opening power difference on the mover.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V0.25: the change in the whole-network residual when only that user moves.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Every other user's effect is already inside this term.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it is worth later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V0.23: a first-successor one-step accounting term.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V0.25: a declared continuation value over three prediction offsets.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Nominal geometry and nominal interference only; an offset lost to absorption is charged at the common scale.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a set is worth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V0.23: a two-user coalition exception with an equal split.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V0.25: the interaction residual of any changed-user set, at K+2 evaluations.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Per-user credit splitting is report-only and stops at four members.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single scalar reward still hides all three; the decomposition is what makes them separately learnable.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Singleton Increment and Interaction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Two definitions on the reference proposal replace the whole teacher.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7675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Solo</a:t>
            </a:r>
          </a:p>
        </p:txBody>
      </p:sp>
      <p:sp>
        <p:nvSpPr>
          <p:cNvPr id="6" name="Math host singleton" descr="Native Office Math: singleton"/>
          <p:cNvSpPr/>
          <p:nvPr/>
        </p:nvSpPr>
        <p:spPr>
          <a:xfrm>
            <a:off x="1389888" y="1325880"/>
            <a:ext cx="1023213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d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sSub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−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sub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0</m:t>
                          </m:r>
                        </m:sup>
                      </m:sSubSup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0</m:t>
                          </m:r>
                        </m:sup>
                      </m:sSup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,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   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D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∈</m:t>
                      </m:r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𝒦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d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sub>
                      </m:sSub>
                    </m:e>
                  </m:nary>
                </m:oMath>
              </m:oMathPara>
            </a14:m>
            <a:endParaRPr lang="en-US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2382012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Set</a:t>
            </a:r>
          </a:p>
        </p:txBody>
      </p:sp>
      <p:sp>
        <p:nvSpPr>
          <p:cNvPr id="8" name="Math host interaction" descr="Native Office Math: interaction"/>
          <p:cNvSpPr/>
          <p:nvPr/>
        </p:nvSpPr>
        <p:spPr>
          <a:xfrm>
            <a:off x="1389888" y="2231136"/>
            <a:ext cx="10232136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𝒦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b>
                          <m:r>
                            <a:rPr lang="en-US" altLang="en-US" sz="2000" i="0" dirty="0">
                              <a:latin typeface="Cambria Math"/>
                              <a:ea typeface="Cambria Math"/>
                              <a:cs typeface="Cambria Math"/>
                            </a:rPr>
                            <m:t>𝒦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sSub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−</m:t>
                          </m:r>
                          <m:r>
                            <a:rPr lang="en-US" altLang="en-US" sz="2000" i="0" dirty="0">
                              <a:latin typeface="Cambria Math"/>
                              <a:ea typeface="Cambria Math"/>
                              <a:cs typeface="Cambria Math"/>
                            </a:rPr>
                            <m:t>𝒦</m:t>
                          </m:r>
                        </m:sub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0</m:t>
                          </m:r>
                        </m:sup>
                      </m:sSubSup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0</m:t>
                          </m:r>
                        </m:sup>
                      </m:sSup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∈</m:t>
                      </m:r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𝒦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d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sub>
                      </m:sSub>
                    </m:e>
                  </m:nary>
                </m:oMath>
              </m:oMathPara>
            </a14:m>
            <a:endParaRPr lang="en-US" altLang="en-US" sz="2000" dirty="0"/>
          </a:p>
        </p:txBody>
      </p:sp>
      <p:sp>
        <p:nvSpPr>
          <p:cNvPr id="9" name="Reading panel"/>
          <p:cNvSpPr/>
          <p:nvPr/>
        </p:nvSpPr>
        <p:spPr>
          <a:xfrm>
            <a:off x="566928" y="3227832"/>
            <a:ext cx="11055096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each term 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singleton increment moves exactly one user off the reference proposal and reads the whole-network residual change; the additive value of a set is their sum.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interaction residual is what the set achieves together beyond that sum. It costs one baseline, K singletons and one joint evaluation.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So it is computed for a selected coalition of any size. Only the exact per-user Shapley split stops at four members; beyond that the receipt records it as not computed.</a:t>
            </a:r>
          </a:p>
        </p:txBody>
      </p:sp>
      <p:sp>
        <p:nvSpPr>
          <p:cNvPr id="10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changed-user set carries a script subscript; its cardinality is the upright capital. The two are never interchanged.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Exact Identity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Conservation survives — on a set of any size, on the configuration residual.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Sum</a:t>
            </a:r>
          </a:p>
        </p:txBody>
      </p:sp>
      <p:sp>
        <p:nvSpPr>
          <p:cNvPr id="6" name="Math host identity" descr="Native Office Math: identity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∈</m:t>
                      </m:r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𝒦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d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sub>
                      </m:sSub>
                    </m:e>
                  </m:nary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𝒦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b>
                          <m:r>
                            <a:rPr lang="en-US" altLang="en-US" sz="2000" i="0" dirty="0">
                              <a:latin typeface="Cambria Math"/>
                              <a:ea typeface="Cambria Math"/>
                              <a:cs typeface="Cambria Math"/>
                            </a:rPr>
                            <m:t>𝒦</m:t>
                          </m:r>
                        </m:sub>
                      </m:sSub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Ω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a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0</m:t>
                          </m:r>
                        </m:sup>
                      </m:sSup>
                    </m:e>
                  </m:d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Status of the identity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Exact by the definitions of the singleton increment and the interaction residual. Nothing here is estimated.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Verified by a known-answer test, not by appeal to simulator traces. A second test checks the same identity on the physical terms with the priced term removed.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V0.23 identity summed a local term and a half-interaction target over exactly two members. That statement retires with its terms.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Numerical residual of the identity check: ⟨結果待填⟩.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Construction-level exactness is a mathematical property. It is not evidence that coordination helps.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Three Routes, Restated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Three surfaces remain; each names a different object than in V0.23.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Roles</a:t>
            </a:r>
          </a:p>
        </p:txBody>
      </p:sp>
      <p:sp>
        <p:nvSpPr>
          <p:cNvPr id="6" name="Math host routes" descr="Native Office Math: routes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D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,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   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 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0" dirty="0">
                          <a:latin typeface="Cambria Math"/>
                          <a:ea typeface="Cambria Math"/>
                          <a:cs typeface="Cambria Math"/>
                        </a:rPr>
                        <m:t>𝒦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a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Route roles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C1 is the additive singleton value of the changed set on the whole-network residual. C3 is the interaction residual — the part that is not additive.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C2 is the declared continuation value and carries no current-step term. Its predictions use nominal geometry and nominal interference only.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C2 judges survival at the focal user and is invalid whenever the solve is invalid, never filled with a surrogate. Unclipped power margin is reported even when negative.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Three surfaces, three questions, one commitment. This is still not three agents, and still not a vote.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Why C3 Carries No Externality Term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most consequential arithmetic change between the two versions.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526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V0.23: the externality was separate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C1 measured the focal user's own surplus against full network energy.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separate externality term measured the unilateral bit impact on everyone else.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C3 target was that externality plus half the two-user interaction.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Coherent only because C1 was focal rather than network-wide.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V0.25: the externality sits inside C1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singleton increment is defined on the whole-network residual.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 therefore already contains every non-focal user's bit and joule change.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Carrying an externality term into C3 as well would be double counting.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So the successor's C3 target is the interaction residual alone.</a:t>
            </a:r>
          </a:p>
        </p:txBody>
      </p:sp>
      <p:sp>
        <p:nvSpPr>
          <p:cNvPr id="7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Same three routes, different arithmetic: read any V0.23 C3 slide with this correction in hand.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Margin-Adjusted Selection View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Selection runs on causal information, and nominal gains carry no reserve.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Score</a:t>
            </a:r>
          </a:p>
        </p:txBody>
      </p:sp>
      <p:sp>
        <p:nvSpPr>
          <p:cNvPr id="6" name="Math host gammaq" descr="Native Office Math: gammaq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γ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s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v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q</m:t>
                      </m:r>
                    </m:sup>
                  </m:sSub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t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f>
                    <m:fPr>
                      <m:type m:val="bar"/>
                    </m:fPr>
                    <m:num>
                      <m:sSub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q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v</m:t>
                          </m:r>
                        </m:sub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α</m:t>
                          </m:r>
                        </m:sup>
                      </m:sSub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)</m:t>
                      </m:r>
                      <m:r>
                        <a:rPr lang="en-US" altLang="en-US" sz="2000" i="0" dirty="0">
                          <a:latin typeface="Times New Roman"/>
                          <a:ea typeface="Times New Roman"/>
                          <a:cs typeface="Times New Roman"/>
                        </a:rPr>
                        <m:t xml:space="preserve"> </m:t>
                      </m:r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H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v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)</m:t>
                      </m:r>
                      <m:r>
                        <a:rPr lang="en-US" altLang="en-US" sz="2000" i="0" dirty="0">
                          <a:latin typeface="Times New Roman"/>
                          <a:ea typeface="Times New Roman"/>
                          <a:cs typeface="Times New Roman"/>
                        </a:rPr>
                        <m:t xml:space="preserve"> </m:t>
                      </m:r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G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u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s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v</m:t>
                              </m:r>
                            </m:sub>
                          </m:s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sSub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en-US" sz="2000" i="0" dirty="0">
                          <a:latin typeface="Times New Roman"/>
                          <a:ea typeface="Times New Roman"/>
                          <a:cs typeface="Times New Roman"/>
                        </a:rPr>
                        <m:t xml:space="preserve"> </m:t>
                      </m:r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p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v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(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t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)</m:t>
                      </m:r>
                    </m:num>
                    <m:den>
                      <m:sSup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σ</m:t>
                          </m:r>
                        </m:e>
                        <m:sup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+</m:t>
                      </m:r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I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s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v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t</m:t>
                          </m:r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;</m:t>
                          </m:r>
                          <m:r>
                            <a:rPr lang="en-US" altLang="en-US" sz="2000" b="1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p</m:t>
                          </m:r>
                        </m:e>
                      </m:d>
                    </m:den>
                  </m:f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Two construction constraints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implementation margin cannot serve twice: counted into both the assumed threshold and the nominal set-point, it provides no fading reserve at all.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First, the quantile never back-solves transmit power. Power stays nominal and the quantile enters only the wanted link's predicted receive side.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Otherwise the link lands back on its threshold, and the margin buys only more power and more interference. Second, the quantile applies to the wanted link only.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Applied to interference it would merely rescale noise. Name it exactly: a pre-specified tenth-percentile channel-gain scoring rule.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Not a standard 90% availability convention — that phrasing is withdrawn. Level 0.10 is frozen; the sweep never selects it. Agreement: ⟨結果待填⟩.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Two Decompositions, Never Mixed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Every reported quantity must name which of the two residuals it came from.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Selection-time 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Evaluated at the decision instant on the margin-adjusted nominal view.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Power, interference and energy stay nominal; only the wanted link's predicted receive side is scaled.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Service, mode, bits and energy are recomputed internally consistently in that view.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Produces mechanism statistics only: selection-time increments and residuals, net collision-avoidance value, reversal frequency.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Outcome 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Evaluated on the realised 48 boundaries.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Produces labels, certificates and endpoints.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learned set-level head must state in writing which residual it estimates.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Without that, replacing the exact residual with a learned estimate silently changes both the approximation and the target.</a:t>
            </a:r>
          </a:p>
        </p:txBody>
      </p:sp>
      <p:sp>
        <p:nvSpPr>
          <p:cNvPr id="7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statistic may straddle the two views, and no reported number may leave its view unnamed.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Target / Transmit MODCOD Pair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Three objects, reported separately for every user-step.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Target mode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lowest mode meeting the rate target at the current occupancy.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Its required SINR fixes the power set-point.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 does not decide what is transmitted.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Transmit mode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Chosen before transmission from the causally available margin-adjusted view.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quantile rule exists to give this choice the decoding reserve the implementation margin does not provide.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Realised outcome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Bits credit at the transmit mode, and only if the realised SINR clears that mode's threshold. Otherwise zero.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failed higher-order frame is never re-decoded at a lower mode.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Crediting a mode chosen from realised information is a defect to fix before the formal matrix.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Bounded Catalogue, Two-Stage Scoring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Selection approximates; the physics and the endpoints do not.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The catalogue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Full legal products are used only on synthetic worlds.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Real worlds take a bounded union: per-user shortlist moves; pairwise joint moves over top-ranked users; a per-lit-beam evacuation set; and set-level proposals.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user with no legal candidate takes the null action and leaves the product; the catalogue never silently collapses to the reference proposal.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Truncated coverage is reported: silence must never read as full coverage.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Shortlist coverage and the best excluded margin: ⟨結果待填⟩.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Two stages and a deadline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Stage one scores every row at the decision instant with that arm's own key.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Stage two adds continuation values for the surviving rows, the proposal, the incumbent and every set-level proposal.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Selection is an argmax within that set; commitment and endpoints are evaluated on the 48 boundaries.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Budget is 10 s per anchor, cancelled by the executor, not the solver.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 timeout the verified proposal executes; timeouts are a reported QoS field and their bits and energy still count.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Per-Arm Sort Keys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Ranking every arm by the full score would restore the removed contribution.</a:t>
            </a:r>
          </a:p>
        </p:txBody>
      </p:sp>
      <p:sp>
        <p:nvSpPr>
          <p:cNvPr id="5" name="Header 1"/>
          <p:cNvSpPr/>
          <p:nvPr/>
        </p:nvSpPr>
        <p:spPr>
          <a:xfrm>
            <a:off x="566928" y="1325880"/>
            <a:ext cx="292608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Arm</a:t>
            </a:r>
          </a:p>
        </p:txBody>
      </p:sp>
      <p:sp>
        <p:nvSpPr>
          <p:cNvPr id="6" name="Header 2"/>
          <p:cNvSpPr/>
          <p:nvPr/>
        </p:nvSpPr>
        <p:spPr>
          <a:xfrm>
            <a:off x="3493008" y="1325880"/>
            <a:ext cx="498348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Primary current-step key</a:t>
            </a:r>
          </a:p>
        </p:txBody>
      </p:sp>
      <p:sp>
        <p:nvSpPr>
          <p:cNvPr id="7" name="Header 3"/>
          <p:cNvSpPr/>
          <p:nvPr/>
        </p:nvSpPr>
        <p:spPr>
          <a:xfrm>
            <a:off x="8476488" y="1325880"/>
            <a:ext cx="3145536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Secondary key</a:t>
            </a:r>
          </a:p>
        </p:txBody>
      </p:sp>
      <p:sp>
        <p:nvSpPr>
          <p:cNvPr id="8" name="Cell 1-1"/>
          <p:cNvSpPr/>
          <p:nvPr/>
        </p:nvSpPr>
        <p:spPr>
          <a:xfrm>
            <a:off x="566928" y="1801368"/>
            <a:ext cx="292608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FULL</a:t>
            </a:r>
          </a:p>
        </p:txBody>
      </p:sp>
      <p:sp>
        <p:nvSpPr>
          <p:cNvPr id="9" name="Cell 1-2"/>
          <p:cNvSpPr/>
          <p:nvPr/>
        </p:nvSpPr>
        <p:spPr>
          <a:xfrm>
            <a:off x="3493008" y="1801368"/>
            <a:ext cx="498348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Additive value plus interaction residual</a:t>
            </a:r>
          </a:p>
        </p:txBody>
      </p:sp>
      <p:sp>
        <p:nvSpPr>
          <p:cNvPr id="10" name="Cell 1-3"/>
          <p:cNvSpPr/>
          <p:nvPr/>
        </p:nvSpPr>
        <p:spPr>
          <a:xfrm>
            <a:off x="8476488" y="1801368"/>
            <a:ext cx="3145536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Continuation value</a:t>
            </a:r>
          </a:p>
        </p:txBody>
      </p:sp>
      <p:sp>
        <p:nvSpPr>
          <p:cNvPr id="11" name="Cell 2-1"/>
          <p:cNvSpPr/>
          <p:nvPr/>
        </p:nvSpPr>
        <p:spPr>
          <a:xfrm>
            <a:off x="566928" y="2800350"/>
            <a:ext cx="292608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DROP_C1</a:t>
            </a:r>
          </a:p>
        </p:txBody>
      </p:sp>
      <p:sp>
        <p:nvSpPr>
          <p:cNvPr id="12" name="Cell 2-2"/>
          <p:cNvSpPr/>
          <p:nvPr/>
        </p:nvSpPr>
        <p:spPr>
          <a:xfrm>
            <a:off x="3493008" y="2800350"/>
            <a:ext cx="498348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Interaction residual only</a:t>
            </a:r>
          </a:p>
        </p:txBody>
      </p:sp>
      <p:sp>
        <p:nvSpPr>
          <p:cNvPr id="13" name="Cell 2-3"/>
          <p:cNvSpPr/>
          <p:nvPr/>
        </p:nvSpPr>
        <p:spPr>
          <a:xfrm>
            <a:off x="8476488" y="2800350"/>
            <a:ext cx="3145536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Continuation value</a:t>
            </a:r>
          </a:p>
        </p:txBody>
      </p:sp>
      <p:sp>
        <p:nvSpPr>
          <p:cNvPr id="14" name="Cell 3-1"/>
          <p:cNvSpPr/>
          <p:nvPr/>
        </p:nvSpPr>
        <p:spPr>
          <a:xfrm>
            <a:off x="566928" y="3799331"/>
            <a:ext cx="292608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DROP_C2</a:t>
            </a:r>
          </a:p>
        </p:txBody>
      </p:sp>
      <p:sp>
        <p:nvSpPr>
          <p:cNvPr id="15" name="Cell 3-2"/>
          <p:cNvSpPr/>
          <p:nvPr/>
        </p:nvSpPr>
        <p:spPr>
          <a:xfrm>
            <a:off x="3493008" y="3799331"/>
            <a:ext cx="4983480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Additive value plus interaction residual</a:t>
            </a:r>
          </a:p>
        </p:txBody>
      </p:sp>
      <p:sp>
        <p:nvSpPr>
          <p:cNvPr id="16" name="Cell 3-3"/>
          <p:cNvSpPr/>
          <p:nvPr/>
        </p:nvSpPr>
        <p:spPr>
          <a:xfrm>
            <a:off x="8476488" y="3799331"/>
            <a:ext cx="3145536" cy="998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Fixed deterministic rule</a:t>
            </a:r>
          </a:p>
        </p:txBody>
      </p:sp>
      <p:sp>
        <p:nvSpPr>
          <p:cNvPr id="17" name="Cell 4-1"/>
          <p:cNvSpPr/>
          <p:nvPr/>
        </p:nvSpPr>
        <p:spPr>
          <a:xfrm>
            <a:off x="566928" y="4798314"/>
            <a:ext cx="292608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DROP_C3</a:t>
            </a:r>
          </a:p>
        </p:txBody>
      </p:sp>
      <p:sp>
        <p:nvSpPr>
          <p:cNvPr id="18" name="Cell 4-2"/>
          <p:cNvSpPr/>
          <p:nvPr/>
        </p:nvSpPr>
        <p:spPr>
          <a:xfrm>
            <a:off x="3493008" y="4798314"/>
            <a:ext cx="4983480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Additive value only</a:t>
            </a:r>
          </a:p>
        </p:txBody>
      </p:sp>
      <p:sp>
        <p:nvSpPr>
          <p:cNvPr id="19" name="Cell 4-3"/>
          <p:cNvSpPr/>
          <p:nvPr/>
        </p:nvSpPr>
        <p:spPr>
          <a:xfrm>
            <a:off x="8476488" y="4798314"/>
            <a:ext cx="3145536" cy="99898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Continuation value</a:t>
            </a:r>
          </a:p>
        </p:txBody>
      </p:sp>
      <p:sp>
        <p:nvSpPr>
          <p:cNvPr id="20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Pruning, feasibility guards and tie handling all use that same arm-specific key. Tie frequency: ⟨結果待填⟩.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Two-Layer Deployment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Per-user proposal, one set-level re-evaluation, exactly one commitment.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Layer one: proposal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Candidate table and native safe mask unchanged.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Two per-user heads with frozen schemas give a masked per-user argmax.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Neither schema holds recursive power, entry gain ratio or segment age.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proposal is then verified jointly legal; conflicts go to a declared repair rule.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Layer two: selection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Sees global nominal geometry with per-beam cross gains, all legal sets, the incumbent, the proposal and the catalogue.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Reads no realised fading, no future actions, no post-hoc state, no labels.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Scores the catalogue and selects one configuration.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whole path is timed; on timeout the verified proposal executes.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Commitment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One configuration is committed.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Afterwards only that same action vector's physical receipt is recorded.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second argmax, no auction, no retry, no post-selection repair.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two references — proposal and incumbent — are never mixed.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Runtime Invariants, Restated Honestly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The V0.23 prohibition list claimed more than the successor can claim.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526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Withdrawn from the prohibition list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'No coordinator of any kind.' The successor introduces a set-level layer, and that layer is under evaluation.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'No joint scoring of the roster.' The roster is exactly what the set-level layer scores.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V0.23 related-work sentence promising no additional coordinator retires with it.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Still prohibited, and still load-bearing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auction, bidding, token or negotiation round.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voting or consensus: the three routes are summed as evidence, never polled.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second argmax after commitment; no retry; no post-selection repair or heuristic override.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message passing between users at runtime.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Set-level reasoning is bounded by a declared budget and a deadline with a verified fallback.</a:t>
            </a:r>
          </a:p>
        </p:txBody>
      </p:sp>
      <p:sp>
        <p:nvSpPr>
          <p:cNvPr id="7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Offline complexity, online single commitment: the slogan survives; the no-coordinator claim does not.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The Learned Interaction Head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SUCCESSION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C3 deploys as one permutation-invariant scalar head over the changed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33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Zero</a:t>
            </a:r>
          </a:p>
        </p:txBody>
      </p:sp>
      <p:sp>
        <p:nvSpPr>
          <p:cNvPr id="6" name="Math host anchor" descr="Native Office Math: anchor"/>
          <p:cNvSpPr/>
          <p:nvPr/>
        </p:nvSpPr>
        <p:spPr>
          <a:xfrm>
            <a:off x="1389888" y="1325880"/>
            <a:ext cx="10232136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∅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f</m:t>
                      </m:r>
                    </m:sup>
                  </m:sSub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</m:e>
                    <m:sub>
                      <m:d>
                        <m:dPr>
                          <m:begChr m:val="{"/>
                          <m:sepChr m:val=""/>
                          <m:endChr m:val="}"/>
                          <m:grow/>
                        </m:dPr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u</m:t>
                          </m:r>
                        </m:e>
                      </m:d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f</m:t>
                      </m:r>
                    </m:sup>
                  </m:sSub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0</m:t>
                  </m:r>
                </m:oMath>
              </m:oMathPara>
            </a14:m>
            <a:endParaRPr lang="en-US" altLang="en-US" sz="2000" dirty="0"/>
          </a:p>
        </p:txBody>
      </p:sp>
      <p:sp>
        <p:nvSpPr>
          <p:cNvPr id="7" name="Reading panel"/>
          <p:cNvSpPr/>
          <p:nvPr/>
        </p:nvSpPr>
        <p:spPr>
          <a:xfrm>
            <a:off x="566928" y="2459736"/>
            <a:ext cx="11055096" cy="3374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Shape and feature sufficiency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Permutation-invariant pooling over the changed users' per-user vectors, concatenated with per-affected-beam global resource context, through a two-layer perceptron.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output is gated so that the empty set and every singleton score exactly zero by construction. No pair head, no allocation head, no positive-credit head.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Feature sufficiency is not optional: the encoder must see pairwise cross-gain blocks between affected beams.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scalar interference summary is insufficient — it can hide precisely the difference that flips the coupled fixed point.</a:t>
            </a:r>
          </a:p>
        </p:txBody>
      </p:sp>
      <p:sp>
        <p:nvSpPr>
          <p:cNvPr id="8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Acceptance tightens accordingly: information twins must be separable in full context and provably inseparable without the cross-gain block.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Learning and What C3 May Claim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Three heads, three sources, one prohibition on gradient leakage.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How the heads are fitted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two per-user heads are fitted by pairwise zero-bootstrap regression on typed deterministic batches.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target networks, no Polyak averaging, no recursive temporal estimates.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set-level head learns only from the residual target at the common scale.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This is a supervised proxy estimate of a declared target, not a Bellman value, and the claim wording follows.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 C3 loss updates the per-user heads, the native state, the mask, the topology or the simulator.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What a learned C3 may claim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 the same exactly evaluated catalogue a learned selector cannot beat the exact selector on the same score.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So three claims are admissible, each named before training.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One: better realised closed-loop efficiency under model mismatch.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Two: comparable decision quality at much lower measured computation.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Three: a measurable residual task, such as reduced evaluation count.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learned escape over a wider neighbourhood is out of scope.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Comparators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Configuration-level arms, and what each is allowed to certify.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Reference and exact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Reference proposal: per-user argmax of the two heads, verified jointly legal.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It is the decomposition reference and the timeout fallback.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Exact set selector: optimises the full score with the exact interaction residual over the catalogue.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That is the exact upper form of C3.</a:t>
            </a:r>
          </a:p>
        </p:txBody>
      </p:sp>
      <p:sp>
        <p:nvSpPr>
          <p:cNvPr id="6" name="Card 2"/>
          <p:cNvSpPr/>
          <p:nvPr/>
        </p:nvSpPr>
        <p:spPr>
          <a:xfrm>
            <a:off x="431596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Learned and certified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Learned set selector: same guards, budget and fallback, with the learned residual. This is the deployable C3 layer.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Certified unilateral optimum: exact best responses over the full legal set until no improving move remains.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Without a full-neighbourhood termination certificate it is only a budget-limited comparator, and its contrast carries nothing.</a:t>
            </a:r>
          </a:p>
        </p:txBody>
      </p:sp>
      <p:sp>
        <p:nvSpPr>
          <p:cNvPr id="7" name="Card 3"/>
          <p:cNvSpPr/>
          <p:nvPr/>
        </p:nvSpPr>
        <p:spPr>
          <a:xfrm>
            <a:off x="8065008" y="1325880"/>
            <a:ext cx="355701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Mechanism, bounds, controls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Additive and interaction-aware picks share anchor, catalogue and rules, differ only in the score, and serve mechanism statistics only.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Upper-bound arms: best single-user and best multi-user configurations under the exact residual.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Controls: null, random feasible, nominal greedy, external baseline. Never factor arms.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Net Collision-Avoidance Value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F1D1D"/>
                </a:solidFill>
                <a:latin typeface="Times New Roman"/>
              </a:rPr>
              <a:t>RESULTS_PENDING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A mechanism certificate, reported with both untruncated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76756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Value</a:t>
            </a:r>
          </a:p>
        </p:txBody>
      </p:sp>
      <p:sp>
        <p:nvSpPr>
          <p:cNvPr id="6" name="Math host upsilon" descr="Native Office Math: upsilon"/>
          <p:cNvSpPr/>
          <p:nvPr/>
        </p:nvSpPr>
        <p:spPr>
          <a:xfrm>
            <a:off x="1389888" y="1325880"/>
            <a:ext cx="10232136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Υ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Ω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ψ</m:t>
                              </m:r>
                            </m:sup>
                          </m:sSup>
                        </m:e>
                      </m:d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Ω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</m:t>
                              </m:r>
                            </m:sup>
                          </m:sSup>
                        </m:e>
                      </m:d>
                    </m:num>
                    <m:den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κ</m:t>
                      </m:r>
                    </m:den>
                  </m:f>
                </m:oMath>
              </m:oMathPara>
            </a14:m>
            <a:endParaRPr lang="en-US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66928" y="2382012"/>
            <a:ext cx="786384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Split</a:t>
            </a:r>
          </a:p>
        </p:txBody>
      </p:sp>
      <p:sp>
        <p:nvSpPr>
          <p:cNvPr id="8" name="Math host upsilon2" descr="Native Office Math: upsilon2"/>
          <p:cNvSpPr/>
          <p:nvPr/>
        </p:nvSpPr>
        <p:spPr>
          <a:xfrm>
            <a:off x="1389888" y="2231136"/>
            <a:ext cx="1023213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κ</m:t>
                  </m:r>
                  <m:r>
                    <a:rPr lang="en-US" altLang="en-US" sz="2000" i="0" dirty="0">
                      <a:latin typeface="Times New Roman"/>
                      <a:ea typeface="Times New Roman"/>
                      <a:cs typeface="Times New Roman"/>
                    </a:rPr>
                    <m:t xml:space="preserve"> 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Υ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ψ</m:t>
                              </m:r>
                            </m:sup>
                          </m:sSup>
                        </m:e>
                      </m:d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Ψ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</m:t>
                              </m:r>
                            </m:sup>
                          </m:sSup>
                        </m:e>
                      </m:d>
                    </m:e>
                  </m:d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d</m:t>
                              </m:r>
                            </m:sup>
                          </m:sSup>
                        </m:e>
                      </m:d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en-US" sz="2000" i="1" dirty="0">
                                  <a:latin typeface="Times New Roman"/>
                                  <a:ea typeface="Times New Roman"/>
                                  <a:cs typeface="Times New Roman"/>
                                </a:rPr>
                                <m:t>ψ</m:t>
                              </m:r>
                            </m:sup>
                          </m:sSup>
                        </m:e>
                      </m:d>
                    </m:e>
                  </m:d>
                </m:oMath>
              </m:oMathPara>
            </a14:m>
            <a:endParaRPr lang="en-US" altLang="en-US" sz="2000" dirty="0"/>
          </a:p>
        </p:txBody>
      </p:sp>
      <p:sp>
        <p:nvSpPr>
          <p:cNvPr id="9" name="Reading panel"/>
          <p:cNvSpPr/>
          <p:nvPr/>
        </p:nvSpPr>
        <p:spPr>
          <a:xfrm>
            <a:off x="566928" y="3227832"/>
            <a:ext cx="11055096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How to read 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Matched anchors, same catalogue and rules; only the score differs. A selector can avoid a large interaction loss while sacrificing more additive value, so both components are reported.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Also reported: the reversal frequency, where additive value is positive but the corrected score is negative, and whether the layer prevented those reversals.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decomposition is reported twice — at the carrier proposal, and re-anchored at the certified unilateral optimum.</a:t>
            </a:r>
          </a:p>
        </p:txBody>
      </p:sp>
      <p:sp>
        <p:nvSpPr>
          <p:cNvPr id="10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Values, components and reversal frequency: ⟨結果待填⟩. A negative interaction total near the carrier is a loss absorbed there, not evidence against coordination.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Named Experiments and Neutral Sources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F1D1D"/>
                </a:solidFill>
                <a:latin typeface="Times New Roman"/>
              </a:rPr>
              <a:t>RESULTS_PENDING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named experiments that are never presented as one another.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The four experiments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Learned neutral-source experiment — primary for all three route claims. Each arm replaces one route's source with a neutral source; every head is retained, updated and deployed.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An all-neutral control and an external baseline sit alongside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Oracle experiment with factorial score removal — the physical regime map.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Checkpoint ablation — secondary; zeroes a deployed contribution.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Architectural removal — named but not executed.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Sealing and the zero result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Neutral sources are sealed before generation: generator, labels, support, strata, overlap, row weights, optimisation dose.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'Same batches across arms' means same within a route and source identity, nothing wider.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Every drop checkpoint keeps all heads, and a neutrally trained head must differ from initialisation and actually deploy.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zero source margin is permitted and informative: it ends the positive claim for that route within this scope.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Arm outcomes: ⟨結果待填⟩.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Claim Ladder and Admission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F1D1D"/>
                </a:solidFill>
                <a:latin typeface="Times New Roman"/>
              </a:rPr>
              <a:t>RESULTS_PENDING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One conditional intersection-union conjunction on the primary setting.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Claim ladder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Level B, primary: higher realised pooled efficiency for the set-level layer against the two-route policy, at equal information and budget.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Describe it as a joint re-evaluation layer, never as coordination.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Level A, secondary: also better than the certified comparator, with decision-relevant non-additivity. A learned Level B positive cannot establish Level A without certified evidence.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Level C: the learned selector reaching the exact standard at lower computation.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Admission trichotomy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ADMIT_FULL: all load-bearing certificates pass, including a decision-relevant interaction term.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ADMIT_C1C2: as above but the C3 condition is unmet. Training is admitted; C3 enters as an evaluated layer lacking an oracle certificate.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NOT_ADMITTED: the C1 oracle margin, or a QoS, validity or deadline condition, fails.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Admission outcome: ⟨結果待填⟩.</a:t>
            </a:r>
          </a:p>
        </p:txBody>
      </p:sp>
      <p:sp>
        <p:nvSpPr>
          <p:cNvPr id="7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Missing the pre-specified margin means the benefit is not established — which is not the same as the effect being non-positive.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Declared Idealisations of the Model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Stated where the model is defined, not deferred to a footnote.</a:t>
            </a:r>
          </a:p>
        </p:txBody>
      </p:sp>
      <p:sp>
        <p:nvSpPr>
          <p:cNvPr id="5" name="Card 1"/>
          <p:cNvSpPr/>
          <p:nvPr/>
        </p:nvSpPr>
        <p:spPr>
          <a:xfrm>
            <a:off x="56692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Application and orbits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Idealised atomic application: the chosen configuration is assumed to apply simultaneously and all-or-nothing.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Standard mechanisms offer no such transaction, and partial completion can flip the sign of a planned evacuation.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Retrospective reconstruction: element sets follow the nearest-epoch rule, future epochs permitted.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Causal availability turns on receipt time, not on epoch sign; the rule is shared by all arms and labelled retrospective.</a:t>
            </a:r>
          </a:p>
        </p:txBody>
      </p:sp>
      <p:sp>
        <p:nvSpPr>
          <p:cNvPr id="6" name="Card 2"/>
          <p:cNvSpPr/>
          <p:nvPr/>
        </p:nvSpPr>
        <p:spPr>
          <a:xfrm>
            <a:off x="6190488" y="1325880"/>
            <a:ext cx="5431536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Boundary and traffic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Partial-payload boundary: see the verbatim sentence and the non-cancellation argument.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Not full payload DC efficiency, not space-segment efficiency, not end-to-end service efficiency.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Full-buffer traffic: the numerator is saturated decodable throughput under rate-target power control.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The rate target is a set-point, not a demand model, and realised rates may exceed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Introducing finite demand later is a versioned model revision, never a relabelling.</a:t>
            </a:r>
          </a:p>
        </p:txBody>
      </p:sp>
      <p:sp>
        <p:nvSpPr>
          <p:cNvPr id="7" name="Footer band"/>
          <p:cNvSpPr/>
          <p:nvPr/>
        </p:nvSpPr>
        <p:spPr>
          <a:xfrm>
            <a:off x="566928" y="5907024"/>
            <a:ext cx="11055096" cy="80467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Each idealisation bounds how far a positive result could travel; none of them is a footnote.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66928" y="118872"/>
            <a:ext cx="827532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Symbol Succession</a:t>
            </a:r>
          </a:p>
        </p:txBody>
      </p:sp>
      <p:sp>
        <p:nvSpPr>
          <p:cNvPr id="3" name="Status badge"/>
          <p:cNvSpPr/>
          <p:nvPr/>
        </p:nvSpPr>
        <p:spPr>
          <a:xfrm>
            <a:off x="8924544" y="182880"/>
            <a:ext cx="269748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532D"/>
                </a:solidFill>
                <a:latin typeface="Times New Roman"/>
              </a:rPr>
              <a:t>FROZEN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85216" y="777240"/>
            <a:ext cx="10927080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Read every V0.23 slide with this table in hand.</a:t>
            </a:r>
          </a:p>
        </p:txBody>
      </p:sp>
      <p:sp>
        <p:nvSpPr>
          <p:cNvPr id="5" name="Header 1"/>
          <p:cNvSpPr/>
          <p:nvPr/>
        </p:nvSpPr>
        <p:spPr>
          <a:xfrm>
            <a:off x="566928" y="1325880"/>
            <a:ext cx="306324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V0.23 symbol</a:t>
            </a:r>
          </a:p>
        </p:txBody>
      </p:sp>
      <p:sp>
        <p:nvSpPr>
          <p:cNvPr id="6" name="Header 2"/>
          <p:cNvSpPr/>
          <p:nvPr/>
        </p:nvSpPr>
        <p:spPr>
          <a:xfrm>
            <a:off x="3630168" y="1325880"/>
            <a:ext cx="210312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Status</a:t>
            </a:r>
          </a:p>
        </p:txBody>
      </p:sp>
      <p:sp>
        <p:nvSpPr>
          <p:cNvPr id="7" name="Header 3"/>
          <p:cNvSpPr/>
          <p:nvPr/>
        </p:nvSpPr>
        <p:spPr>
          <a:xfrm>
            <a:off x="5733288" y="1325880"/>
            <a:ext cx="5888736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Successor and reason</a:t>
            </a:r>
          </a:p>
        </p:txBody>
      </p:sp>
      <p:sp>
        <p:nvSpPr>
          <p:cNvPr id="8" name="Cell 1-1"/>
          <p:cNvSpPr/>
          <p:nvPr/>
        </p:nvSpPr>
        <p:spPr>
          <a:xfrm>
            <a:off x="566928" y="1801368"/>
            <a:ext cx="3063240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Segment age, entry power</a:t>
            </a:r>
          </a:p>
        </p:txBody>
      </p:sp>
      <p:sp>
        <p:nvSpPr>
          <p:cNvPr id="9" name="Cell 1-2"/>
          <p:cNvSpPr/>
          <p:nvPr/>
        </p:nvSpPr>
        <p:spPr>
          <a:xfrm>
            <a:off x="3630168" y="1801368"/>
            <a:ext cx="2103120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Retired</a:t>
            </a:r>
          </a:p>
        </p:txBody>
      </p:sp>
      <p:sp>
        <p:nvSpPr>
          <p:cNvPr id="10" name="Cell 1-3"/>
          <p:cNvSpPr/>
          <p:nvPr/>
        </p:nvSpPr>
        <p:spPr>
          <a:xfrm>
            <a:off x="5733288" y="1801368"/>
            <a:ext cx="5888736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Memoryless power control keeps no cross-step state</a:t>
            </a:r>
          </a:p>
        </p:txBody>
      </p:sp>
      <p:sp>
        <p:nvSpPr>
          <p:cNvPr id="11" name="Cell 2-1"/>
          <p:cNvSpPr/>
          <p:nvPr/>
        </p:nvSpPr>
        <p:spPr>
          <a:xfrm>
            <a:off x="566928" y="2567940"/>
            <a:ext cx="3063240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Per-link efficiency display</a:t>
            </a:r>
          </a:p>
        </p:txBody>
      </p:sp>
      <p:sp>
        <p:nvSpPr>
          <p:cNvPr id="12" name="Cell 2-2"/>
          <p:cNvSpPr/>
          <p:nvPr/>
        </p:nvSpPr>
        <p:spPr>
          <a:xfrm>
            <a:off x="3630168" y="2567940"/>
            <a:ext cx="2103120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Retired</a:t>
            </a:r>
          </a:p>
        </p:txBody>
      </p:sp>
      <p:sp>
        <p:nvSpPr>
          <p:cNvPr id="13" name="Cell 2-3"/>
          <p:cNvSpPr/>
          <p:nvPr/>
        </p:nvSpPr>
        <p:spPr>
          <a:xfrm>
            <a:off x="5733288" y="2567940"/>
            <a:ext cx="5888736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Only the pooled ratio exists; per-row displays invite averaging errors</a:t>
            </a:r>
          </a:p>
        </p:txBody>
      </p:sp>
      <p:sp>
        <p:nvSpPr>
          <p:cNvPr id="14" name="Cell 3-1"/>
          <p:cNvSpPr/>
          <p:nvPr/>
        </p:nvSpPr>
        <p:spPr>
          <a:xfrm>
            <a:off x="566928" y="3334512"/>
            <a:ext cx="3063240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Local term, externality term</a:t>
            </a:r>
          </a:p>
        </p:txBody>
      </p:sp>
      <p:sp>
        <p:nvSpPr>
          <p:cNvPr id="15" name="Cell 3-2"/>
          <p:cNvSpPr/>
          <p:nvPr/>
        </p:nvSpPr>
        <p:spPr>
          <a:xfrm>
            <a:off x="3630168" y="3334512"/>
            <a:ext cx="2103120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Retired</a:t>
            </a:r>
          </a:p>
        </p:txBody>
      </p:sp>
      <p:sp>
        <p:nvSpPr>
          <p:cNvPr id="16" name="Cell 3-3"/>
          <p:cNvSpPr/>
          <p:nvPr/>
        </p:nvSpPr>
        <p:spPr>
          <a:xfrm>
            <a:off x="5733288" y="3334512"/>
            <a:ext cx="5888736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Replaced by the singleton increment on the whole-network residual</a:t>
            </a:r>
          </a:p>
        </p:txBody>
      </p:sp>
      <p:sp>
        <p:nvSpPr>
          <p:cNvPr id="17" name="Cell 4-1"/>
          <p:cNvSpPr/>
          <p:nvPr/>
        </p:nvSpPr>
        <p:spPr>
          <a:xfrm>
            <a:off x="566928" y="4101083"/>
            <a:ext cx="3063240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Interaction pair, C3 target, student label</a:t>
            </a:r>
          </a:p>
        </p:txBody>
      </p:sp>
      <p:sp>
        <p:nvSpPr>
          <p:cNvPr id="18" name="Cell 4-2"/>
          <p:cNvSpPr/>
          <p:nvPr/>
        </p:nvSpPr>
        <p:spPr>
          <a:xfrm>
            <a:off x="3630168" y="4101083"/>
            <a:ext cx="2103120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Retired</a:t>
            </a:r>
          </a:p>
        </p:txBody>
      </p:sp>
      <p:sp>
        <p:nvSpPr>
          <p:cNvPr id="19" name="Cell 4-3"/>
          <p:cNvSpPr/>
          <p:nvPr/>
        </p:nvSpPr>
        <p:spPr>
          <a:xfrm>
            <a:off x="5733288" y="4101083"/>
            <a:ext cx="5888736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Replaced by the set-level interaction residual and its normalised target</a:t>
            </a:r>
          </a:p>
        </p:txBody>
      </p:sp>
      <p:sp>
        <p:nvSpPr>
          <p:cNvPr id="20" name="Cell 5-1"/>
          <p:cNvSpPr/>
          <p:nvPr/>
        </p:nvSpPr>
        <p:spPr>
          <a:xfrm>
            <a:off x="566928" y="4867656"/>
            <a:ext cx="3063240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Per-user handover cost Ψ</a:t>
            </a:r>
          </a:p>
        </p:txBody>
      </p:sp>
      <p:sp>
        <p:nvSpPr>
          <p:cNvPr id="21" name="Cell 5-2"/>
          <p:cNvSpPr/>
          <p:nvPr/>
        </p:nvSpPr>
        <p:spPr>
          <a:xfrm>
            <a:off x="3630168" y="4867656"/>
            <a:ext cx="2103120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Renamed Φ</a:t>
            </a:r>
          </a:p>
        </p:txBody>
      </p:sp>
      <p:sp>
        <p:nvSpPr>
          <p:cNvPr id="22" name="Cell 5-3"/>
          <p:cNvSpPr/>
          <p:nvPr/>
        </p:nvSpPr>
        <p:spPr>
          <a:xfrm>
            <a:off x="5733288" y="4867656"/>
            <a:ext cx="5888736" cy="7665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Ψ is reserved for the interaction residual and always carries a script set subscript</a:t>
            </a:r>
          </a:p>
        </p:txBody>
      </p:sp>
      <p:sp>
        <p:nvSpPr>
          <p:cNvPr id="23" name="Cell 6-1"/>
          <p:cNvSpPr/>
          <p:nvPr/>
        </p:nvSpPr>
        <p:spPr>
          <a:xfrm>
            <a:off x="566928" y="5634228"/>
            <a:ext cx="3063240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Configuration surplus G</a:t>
            </a:r>
          </a:p>
        </p:txBody>
      </p:sp>
      <p:sp>
        <p:nvSpPr>
          <p:cNvPr id="24" name="Cell 6-2"/>
          <p:cNvSpPr/>
          <p:nvPr/>
        </p:nvSpPr>
        <p:spPr>
          <a:xfrm>
            <a:off x="3630168" y="5634228"/>
            <a:ext cx="2103120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Renamed Ω</a:t>
            </a:r>
          </a:p>
        </p:txBody>
      </p:sp>
      <p:sp>
        <p:nvSpPr>
          <p:cNvPr id="25" name="Cell 6-3"/>
          <p:cNvSpPr/>
          <p:nvPr/>
        </p:nvSpPr>
        <p:spPr>
          <a:xfrm>
            <a:off x="5733288" y="5634228"/>
            <a:ext cx="5888736" cy="76657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A superscripted G would collide with the gain family; Ω is freed by dropping scalarisation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42497</TotalTime>
  <Words>88</Words>
  <Application>Microsoft Office PowerPoint</Application>
  <PresentationFormat>寬螢幕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1330</cp:revision>
  <dcterms:created xsi:type="dcterms:W3CDTF">2019-10-21T01:22:34Z</dcterms:created>
  <dcterms:modified xsi:type="dcterms:W3CDTF">2026-06-12T15:51:03Z</dcterms:modified>
</cp:coreProperties>
</file>